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7"/>
    <p:sldId id="263" r:id="rId6"/>
    <p:sldId id="264" r:id="rId5"/>
    <p:sldId id="265" r:id="rId4"/>
    <p:sldId id="266" r:id="rId3"/>
    <p:sldId id="267" r:id="rId2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48640">
          <p15:clr>
            <a:srgbClr val="A4A3A4"/>
          </p15:clr>
        </p15:guide>
        <p15:guide id="2" pos="11643360">
          <p15:clr>
            <a:srgbClr val="A4A3A4"/>
          </p15:clr>
        </p15:guide>
        <p15:guide id="3" orient="horz" pos="502920">
          <p15:clr>
            <a:srgbClr val="A4A3A4"/>
          </p15:clr>
        </p15:guide>
        <p15:guide id="4" orient="horz" pos="64922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9F6"/>
    <a:srgbClr val="314163"/>
    <a:srgbClr val="000000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2990" autoAdjust="0"/>
  </p:normalViewPr>
  <p:slideViewPr>
    <p:cSldViewPr snapToGrid="0" snapToObjects="1">
      <p:cViewPr varScale="1">
        <p:scale>
          <a:sx n="144" d="100"/>
          <a:sy n="144" d="100"/>
        </p:scale>
        <p:origin x="2466" y="126"/>
      </p:cViewPr>
      <p:guideLst>
        <p:guide pos="548640"/>
        <p:guide pos="11643360"/>
        <p:guide orient="horz" pos="502920"/>
        <p:guide orient="horz" pos="64922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napToObjects="1">
      <p:cViewPr varScale="1">
        <p:scale>
          <a:sx n="89" d="100"/>
          <a:sy n="89" d="100"/>
        </p:scale>
        <p:origin x="563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98FEE70-9643-1636-F329-88E1DC2886C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B493B6B-B215-AF4D-52AC-EDDA52D7E4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FC3DDA-5E2B-4F31-BDED-2800E2194720}" type="datetimeFigureOut">
              <a:rPr lang="fr-FR" smtClean="0"/>
              <a:t>06/07/2026</a:t>
            </a:fld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8D63422-FFEB-2CBC-31A5-5264FC32EB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18222-5C0B-48F7-A39C-815EB064AF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47067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31410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de départ, dans LEUR monde. Racontez l'histoire vraie : pendant des années, valider des politiques K8s = déployer Gatekeeper ou Kyverno, avec CRDs et webhook d'admission dans le chemin critique. Du code maison, maintenu, testé. Puis K8s 1.30 rend CEL natif dans l'API server (ValidatingAdmissionPolicy) : la capacité passe sous la ligne de flottaison.</a:t>
            </a:r>
          </a:p>
          <a:p>
            <a:r>
              <a:t>Message clé : ce n'était pas une erreur de l'avoir écrit — c'était en avance sur le socle. Le socle absorbe le MÉCANISME (comment on valide), pas l'INTENTION (quelles règles). Transition : ce schéma va se répéter avec les LLM, mais bien plus vite.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métaphore de Gregor Hohpe (Platform Strategy). Le niveau monte. Deux stratégies : sink — on garde la capacité maison, elle finit sous l'eau, dupliquée et coûteuse ; float — on abandonne au fur et à mesure et on réinvestit plus haut.</a:t>
            </a:r>
          </a:p>
          <a:p>
            <a:r>
              <a:t>Point politique à ne pas rater : le contrat social. Une plateforme qui flotte prévient ses équipes de ce qui sera retiré — sinon retirer = trahir. Reliez à leur rôle : leur métier n'est pas d'accumuler des capacités, mais de savoir lesquelles lâcher.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Enfoncez le clou avec des exemples K8s qu'ils reconnaissent dans leurs tripes : admission policy (déjà vu), sidecars (injection maison type Istio → sidecars natifs gérés par le kubelet), scheduling gates, in-place pod resize. À chaque fois : quelqu'un a écrit du tooling, le socle l'a absorbé — cycle normal d'une plateforme.</a:t>
            </a:r>
          </a:p>
          <a:p>
            <a:r>
              <a:t>Interaction : demandez à la salle quel tooling maison ils ont déjà supprimé grâce à une feature K8s. Ça crée l'adhésion avant le pivot IA.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 cœur du keynote : on garde le modèle mental, on change de socle. Faites la correspondance rôle par rôle (la slide est en regard) : API server → le modèle ; opérateur/webhook → le harnais autour du LLM ; CRD → les formats d'outils propriétaires ; feature native → ce que le modèle suivant sait faire seul.</a:t>
            </a:r>
          </a:p>
          <a:p>
            <a:r>
              <a:t>Le point qui réveille la salle : la VITESSE. En K8s la montée des eaux prend ~5 ans ; côté LLM, ~18 mois entre deux générations. La dette de harnais se rembourse — ou s'accumule — beaucoup plus vite.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Les exemples d'absorption côté IA, en miroir du K8s :</a:t>
            </a:r>
          </a:p>
          <a:p>
            <a:r>
              <a:t>- parsing d'outils à la main (ReAct, regex sur la sortie) → function calling natif ;</a:t>
            </a:r>
          </a:p>
          <a:p>
            <a:r>
              <a:t>- CoT forcé par prompt ("réfléchis étape par étape") → modèles de raisonnement entraînés à le faire seuls. NUANCE forte : forcer le CoT sur un modèle de raisonnement récent peut DÉGRADER la qualité — le vieux harnais devient nuisible ;</a:t>
            </a:r>
          </a:p>
          <a:p>
            <a:r>
              <a:t>- validation JSON par retry → sorties structurées garanties ;</a:t>
            </a:r>
          </a:p>
          <a:p>
            <a:r>
              <a:t>- chunking pour tenir en 4k → fenêtres longues + cache.</a:t>
            </a:r>
          </a:p>
          <a:p>
            <a:r>
              <a:t>Chacun était une bonne idée devenue du poids mort.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Nuance indispensable, sinon la métaphore est fausse. K8s = un substrat unifié. Les LLM = pluriels et concurrents (fermés : OpenAI, Anthropic, Google, xAI ; open-weight : DeepSeek, Qwen, Llama, Mistral).</a:t>
            </a:r>
          </a:p>
          <a:p>
            <a:r>
              <a:t>Donc TROIS issues, pas deux : absorption (le socle avale → on supprime) ; normalisation (une interface se fige → on garde un adaptateur : CRI/CNI/CSI côté K8s, l'API compatible OpenAI côté LLM) ; divergence durable (rien ne converge → on maintient, coût assumé).</a:t>
            </a:r>
          </a:p>
          <a:p>
            <a:r>
              <a:t>C'est l'outil de décision de la platform team : pour chaque capacité maison, dans quelle case je suis 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MCP illustre la normalisation PAR LE HAUT — contre-intuitif : d'habitude les standards montent du bas. Ici un lab frontière (Anthropic, fin 2024) publie un protocole ouvert, et les concurrents l'adoptent : faire grossir l'écosystème vaut mieux que le verrouiller.</a:t>
            </a:r>
          </a:p>
          <a:p>
            <a:r>
              <a:t>Résultat : le point d'intégration devient une interface fine et stable — le "col du sablier" — exactement comme CRI/CNI/CSI ont fait du kubelet un point neutre.</a:t>
            </a:r>
          </a:p>
          <a:p>
            <a:r>
              <a:t>C'est LE moment de transition vers le workshop : on va passer deux jours à construire sur cette interface normalisée.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conclusion rassurante du keynote : tout ne monte pas. Cinq zones ne seront jamais absorbées par le modèle parce qu'elles sont propres à VOUS, pas au modèle : identité &amp; accès, audit &amp; traçabilité, coût &amp; routing multi-modèle, règles métier &amp; réglementaire, évaluation.</a:t>
            </a:r>
          </a:p>
          <a:p>
            <a:r>
              <a:t>C'est le périmètre durable de la platform team — la vraie ligne de flottaison. Ces cinq zones structurent le Jour 2. Message : lâchez le harnais, gardez la gouvernance.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RAPPEL, pas un cours — restez en surface. Vocabulaire commun.</a:t>
            </a:r>
          </a:p>
          <a:p>
            <a:r>
              <a:t>- Frontier vs open-weight. Frontier = propriétaires, API, poids non publiés (exemples À DATE sept. 2026 : GPT-6/GPT-5.x d'OpenAI, Claude Opus 5 / Fable d'Anthropic, Gemini 3.x, Grok 4.x). Open-weight = poids téléchargeables, auto-hébergeables (DeepSeek V4, Qwen 3.x, Llama 4, Mistral, GLM, Kimi).</a:t>
            </a:r>
          </a:p>
          <a:p>
            <a:r>
              <a:t>- À corriger absolument : open weights ≠ open source. Poids ouverts, mais données et code d'entraînement rarement.</a:t>
            </a:r>
          </a:p>
          <a:p>
            <a:r>
              <a:t>- Fait marquant 2026 : l'open-weight est revenu à quelques points des fermés sur beaucoup de benchmarks → alimente la "normalisation par le bas" de M0.</a:t>
            </a:r>
          </a:p>
          <a:p>
            <a:r>
              <a:t>- Paramètres : petits ~1-8B (laptop), moyens ~8-70B, grands 100B+. C'est un PROXY, pas une garantie (données + post-training + archi pèsent autant).</a:t>
            </a:r>
          </a:p>
          <a:p>
            <a:r>
              <a:t>- Caveat : les noms de modèles datent en semaines. Donnez-les en illustration, rafraîchissez avant chaque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Dense vs MoE. Dense = tous les paramètres actifs à chaque token. MoE (Mixture of Experts) = un routeur n'active que quelques experts → total ≠ actif. Exemple parlant (à date) : DeepSeek V4 ≈ 1,6 T paramètres TOTAUX mais ~50 B ACTIFS ; Llama 4 Maverick 400B/17B. À l'inférence, un gros MoE coûte le prix de sa fraction active, pas de sa taille affichée. En 2026 le MoE est l'archi par défaut au frontier open ; le milieu (dense 70-100B) s'est vidé.</a:t>
            </a:r>
          </a:p>
          <a:p>
            <a:r>
              <a:t>- Variantes : base (brut, ne suit pas les instructions, inutilisable en chat) ; instruct/chat (aligné, conversationnel) ; reasoning (entraîné à raisonner par étapes avant de répondre) ; distilled (petit modèle entraîné sur les sorties d'un gros).</a:t>
            </a:r>
          </a:p>
          <a:p>
            <a:r>
              <a:t>- Lien M0 : le "reasoning" natif, c'est le CoT qu'on forçait à la main hier, désormais absorbé.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Formats. safetensors = format de stockage standard des poids (l'artefact "source", Hugging Face), sûr (pas d'exécution de code, contrairement aux vieux pickles). GGUF = format des runtimes locaux (llama.cpp, Ollama sous le capot), embarque poids + métadonnées et porte la quantization. (Ancêtre : GGML.)</a:t>
            </a:r>
          </a:p>
          <a:p>
            <a:r>
              <a:t>- Quantization = réduire la précision des poids (FP16 → int8 → int4…) pour l'empreinte mémoire et la vitesse, au prix d'un peu de qualité. Notations type Q4_K_M dans l'univers GGUF.</a:t>
            </a:r>
          </a:p>
          <a:p>
            <a:r>
              <a:t>- Enjeu PLATEFORME (c'est là que ça les concerne) : la quantization décide si un open-weight tient en on-prem / sur matériel modeste. Levier souveraineté + coût. Un open-weight frontier-class (ex. DeepSeek V4) reste lourd (plusieurs H100) ; ses variantes quantisées descendent vers du GPU unique.</a:t>
            </a:r>
          </a:p>
          <a:p>
            <a:r>
              <a:t>- Transition : voilà la carte. Maintenant ce qu'on met AUTOUR du modèle — les agents.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Définition sobre : un agent = un LLM dans une boucle, capable d'agir. Percevoir → décider → agir → observer, jusqu'à l'objectif. Différence avec un simple appel LLM : l'agent choisit ses actions, appelle des outils, lit les résultats, recommence.</a:t>
            </a:r>
          </a:p>
          <a:p>
            <a:r>
              <a:t>Patterns à nommer sans jargonner : ReAct (raisonner puis agir), planification (décomposer avant d'exécuter), réflexion/critique (relire sa propre sortie). L'essentiel : qu'ils voient la boucle.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Les trois briques que la platform team devra outiller :</a:t>
            </a:r>
          </a:p>
          <a:p>
            <a:r>
              <a:t>- Tools : les actions (appels de fonction, accès SI) — ce que MCP standardise, on y passe la journée ;</a:t>
            </a:r>
          </a:p>
          <a:p>
            <a:r>
              <a:t>- Skills : le savoir-faire réutilisable chargé à la demande — le cœur du fil rouge (TP2) ;</a:t>
            </a:r>
          </a:p>
          <a:p>
            <a:r>
              <a:t>- Mémoire : le contexte qui persiste (historique, préférences, connaissances).</a:t>
            </a:r>
          </a:p>
          <a:p>
            <a:r>
              <a:t>Message : ce sont des ACTIFS PARTAGÉS à gouverner, pas des détails d'implémentation. Bascule vers M3.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Deux idées.</a:t>
            </a:r>
          </a:p>
          <a:p>
            <a:r>
              <a:t>- Composition : un orchestrateur délègue à des sous-agents spécialisés → plus de modularité, mais plus de coordination, de latence et de coût. Ne pas multiplier les agents par réflexe.</a:t>
            </a:r>
          </a:p>
          <a:p>
            <a:r>
              <a:t>- Human-in-the-loop : points de validation et garde-fous sur les actions sensibles.</a:t>
            </a:r>
          </a:p>
          <a:p>
            <a:r>
              <a:t>Insistez : la supervision humaine est un choix d'ARCHITECTURE, décidé à la conception, pas une case cochée après coup. Prépare M5 (guardrails) et la gouvernance.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Panorama : MCP n'est pas seul, c'est une pile ; chaque protocole résout une couche.</a:t>
            </a:r>
          </a:p>
          <a:p>
            <a:r>
              <a:t>- MCP (Anthropic, nov. 2024) : relie un agent aux outils/données/prompts. Agent-agnostique : le même serveur marche avec n'importe quel client. Notre sujet.</a:t>
            </a:r>
          </a:p>
          <a:p>
            <a:r>
              <a:t>- A2A (Agent2Agent, Google, avr. 2025 → Linux Foundation) : la communication ENTRE agents. Découverte via "Agent Cards" (/.well-known/agent-card.json), délégation de tâches. MCP = agent↔outils ; A2A = agent↔agent : la distinction à marteler.</a:t>
            </a:r>
          </a:p>
          <a:p>
            <a:r>
              <a:t>- A2UI / AG-UI : la couche interface — l'agent génère de l'UI (A2UI, déclaratif) ou dialogue en temps réel (AG-UI, CopilotKit).</a:t>
            </a:r>
          </a:p>
          <a:p>
            <a:r>
              <a:t>- AP2 (Agent Payments Protocol, Google + 60 orgs, sept. 2025) : autorisation de paiement agentique, preuves cryptographiques d'intention ; extension d'A2A et de MCP.</a:t>
            </a:r>
          </a:p>
          <a:p>
            <a:r>
              <a:t>- NUANCE à jour (crédibilité) : ACP (Agent Communication Protocol d'IBM), souvent cité avec AP2, a FUSIONNÉ dans A2A mi-2025. En 2026, A2A a absorbé son principal concurrent.</a:t>
            </a:r>
          </a:p>
          <a:p>
            <a:r>
              <a:t>- Fil conceptuel : ces protocoles sont eux-mêmes de la normalisation par le haut (labs frontière + Linux Foundation). Critère plateforme : n'adoptez que la couche utile, ils sont modulaires. Pour l'accès outils/données, MCP est le socle → d'où le workshop.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PanelBackground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5" name="CoverPhoto">
            <a:extLst>
              <a:ext uri="{FF2B5EF4-FFF2-40B4-BE49-F238E27FC236}">
                <a16:creationId xmlns:a16="http://schemas.microsoft.com/office/drawing/2014/main" id="{E6F8A69B-C948-877E-9934-74E67B8450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rcRect r="53500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4" name="TitleAccentMark"/>
          <p:cNvSpPr/>
          <p:nvPr/>
        </p:nvSpPr>
        <p:spPr>
          <a:xfrm>
            <a:off x="640080" y="4846320"/>
            <a:ext cx="548640" cy="36576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CoverAccentGraphic" descr="sci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828800"/>
            <a:ext cx="2926080" cy="3840480"/>
          </a:xfrm>
          <a:prstGeom prst="rect">
            <a:avLst/>
          </a:prstGeom>
        </p:spPr>
      </p:pic>
      <p:sp>
        <p:nvSpPr>
          <p:cNvPr id="6" name="PreparedForLabel"/>
          <p:cNvSpPr/>
          <p:nvPr/>
        </p:nvSpPr>
        <p:spPr>
          <a:xfrm>
            <a:off x="64008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4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PRÉPARÉ POUR</a:t>
            </a:r>
            <a:endParaRPr lang="en-US" sz="900" dirty="0"/>
          </a:p>
        </p:txBody>
      </p:sp>
      <p:sp>
        <p:nvSpPr>
          <p:cNvPr id="7" name="CompanyTagline"/>
          <p:cNvSpPr/>
          <p:nvPr/>
        </p:nvSpPr>
        <p:spPr>
          <a:xfrm>
            <a:off x="768096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Architectes du logiciel</a:t>
            </a:r>
            <a:endParaRPr lang="en-US" sz="1200" dirty="0"/>
          </a:p>
        </p:txBody>
      </p:sp>
      <p:sp>
        <p:nvSpPr>
          <p:cNvPr id="8" name="CompanyName"/>
          <p:cNvSpPr/>
          <p:nvPr/>
        </p:nvSpPr>
        <p:spPr>
          <a:xfrm>
            <a:off x="7680960" y="6126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0" dirty="0">
                <a:solidFill>
                  <a:schemeClr val="accent6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SCIAM</a:t>
            </a:r>
            <a:endParaRPr lang="en-US" sz="1100" dirty="0"/>
          </a:p>
        </p:txBody>
      </p:sp>
      <p:sp>
        <p:nvSpPr>
          <p:cNvPr id="9" name="DocumentTypeLabel"/>
          <p:cNvSpPr>
            <a:spLocks noGrp="1"/>
          </p:cNvSpPr>
          <p:nvPr>
            <p:ph type="body" idx="107" hasCustomPrompt="1"/>
          </p:nvPr>
        </p:nvSpPr>
        <p:spPr>
          <a:xfrm>
            <a:off x="640080" y="640080"/>
            <a:ext cx="49377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43000"/>
              </a:lnSpc>
              <a:buNone/>
              <a:defRPr lang="en-US" sz="1100" b="1" kern="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100" b="1" kern="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TYPE DE DOCUMENT</a:t>
            </a:r>
            <a:endParaRPr lang="en-US" sz="1100" dirty="0"/>
          </a:p>
        </p:txBody>
      </p:sp>
      <p:sp>
        <p:nvSpPr>
          <p:cNvPr id="10" name="DocumentDate"/>
          <p:cNvSpPr>
            <a:spLocks noGrp="1"/>
          </p:cNvSpPr>
          <p:nvPr>
            <p:ph type="body" idx="108" hasCustomPrompt="1"/>
          </p:nvPr>
        </p:nvSpPr>
        <p:spPr>
          <a:xfrm>
            <a:off x="640080" y="1005840"/>
            <a:ext cx="49377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kern="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kern="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Mois Année</a:t>
            </a:r>
            <a:endParaRPr lang="en-US" sz="1200" dirty="0"/>
          </a:p>
        </p:txBody>
      </p:sp>
      <p:sp>
        <p:nvSpPr>
          <p:cNvPr id="11" name="Title"/>
          <p:cNvSpPr>
            <a:spLocks noGrp="1"/>
          </p:cNvSpPr>
          <p:nvPr>
            <p:ph type="title" idx="109" hasCustomPrompt="1"/>
          </p:nvPr>
        </p:nvSpPr>
        <p:spPr>
          <a:xfrm>
            <a:off x="64008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05000"/>
              </a:lnSpc>
              <a:buNone/>
              <a:defRPr lang="en-US" sz="3600" spc="-144" dirty="0">
                <a:solidFill>
                  <a:schemeClr val="lt2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l">
              <a:buNone/>
            </a:pPr>
            <a:r>
              <a:rPr lang="en-US" sz="3600" dirty="0">
                <a:solidFill>
                  <a:schemeClr val="lt2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Titre principal sur deux ou trois lignes</a:t>
            </a:r>
            <a:endParaRPr lang="en-US" sz="3600" dirty="0"/>
          </a:p>
        </p:txBody>
      </p:sp>
      <p:sp>
        <p:nvSpPr>
          <p:cNvPr id="12" name="Subtitle"/>
          <p:cNvSpPr>
            <a:spLocks noGrp="1"/>
          </p:cNvSpPr>
          <p:nvPr>
            <p:ph type="body" idx="110" hasCustomPrompt="1"/>
          </p:nvPr>
        </p:nvSpPr>
        <p:spPr>
          <a:xfrm>
            <a:off x="640080" y="5029200"/>
            <a:ext cx="5029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i="1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i="1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Sous-titre descriptif</a:t>
            </a:r>
            <a:endParaRPr lang="en-US" sz="1600" dirty="0"/>
          </a:p>
        </p:txBody>
      </p:sp>
      <p:sp>
        <p:nvSpPr>
          <p:cNvPr id="13" name="ClientName"/>
          <p:cNvSpPr>
            <a:spLocks noGrp="1"/>
          </p:cNvSpPr>
          <p:nvPr>
            <p:ph type="body" idx="111" hasCustomPrompt="1"/>
          </p:nvPr>
        </p:nvSpPr>
        <p:spPr>
          <a:xfrm>
            <a:off x="640080" y="6172200"/>
            <a:ext cx="3657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35000"/>
              </a:lnSpc>
              <a:buNone/>
              <a:defRPr lang="en-US" sz="2000" b="1" spc="-4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2000" b="1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Nom du client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SOMMAIRE_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BackgroundGraphic">
            <a:extLst>
              <a:ext uri="{FF2B5EF4-FFF2-40B4-BE49-F238E27FC236}">
                <a16:creationId xmlns:a16="http://schemas.microsoft.com/office/drawing/2014/main" id="{EA4B5E84-9047-6DAC-CDC0-A5EA97F2B0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39224" y="217124"/>
            <a:ext cx="6429376" cy="6507572"/>
          </a:xfrm>
          <a:prstGeom prst="rect">
            <a:avLst/>
          </a:prstGeom>
        </p:spPr>
      </p:pic>
      <p:sp>
        <p:nvSpPr>
          <p:cNvPr id="6" name="Title"/>
          <p:cNvSpPr>
            <a:spLocks noGrp="1"/>
          </p:cNvSpPr>
          <p:nvPr>
            <p:ph type="title" idx="104" hasCustomPrompt="1"/>
          </p:nvPr>
        </p:nvSpPr>
        <p:spPr>
          <a:xfrm>
            <a:off x="548640" y="45720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05000"/>
              </a:lnSpc>
              <a:buNone/>
              <a:defRPr lang="en-US" sz="3400" spc="-136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l">
              <a:buNone/>
            </a:pPr>
            <a:r>
              <a:rPr lang="en-US" sz="34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Sommaire</a:t>
            </a:r>
            <a:endParaRPr lang="en-US" sz="3400" dirty="0"/>
          </a:p>
        </p:txBody>
      </p:sp>
      <p:grpSp>
        <p:nvGrpSpPr>
          <p:cNvPr id="31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128016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Subtitle"/>
          <p:cNvSpPr>
            <a:spLocks noGrp="1"/>
          </p:cNvSpPr>
          <p:nvPr>
            <p:ph type="body" idx="105" hasCustomPrompt="1"/>
          </p:nvPr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50000"/>
              </a:lnSpc>
              <a:buNone/>
              <a:defRPr lang="en-US" sz="1600" i="1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en-US" sz="1600" i="1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Sous-titre descriptif</a:t>
            </a:r>
            <a:endParaRPr lang="en-US" sz="1600" dirty="0"/>
          </a:p>
        </p:txBody>
      </p:sp>
      <p:sp>
        <p:nvSpPr>
          <p:cNvPr id="9" name="Entry1_Number"/>
          <p:cNvSpPr>
            <a:spLocks noGrp="1"/>
          </p:cNvSpPr>
          <p:nvPr>
            <p:ph type="body" idx="107" hasCustomPrompt="1"/>
          </p:nvPr>
        </p:nvSpPr>
        <p:spPr>
          <a:xfrm>
            <a:off x="731520" y="2103120"/>
            <a:ext cx="1097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05000"/>
              </a:lnSpc>
              <a:buNone/>
              <a:defRPr lang="en-US" sz="4000" spc="-16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01</a:t>
            </a:r>
            <a:endParaRPr lang="en-US" sz="4000" dirty="0"/>
          </a:p>
        </p:txBody>
      </p:sp>
      <p:sp>
        <p:nvSpPr>
          <p:cNvPr id="10" name="Entry1_Title"/>
          <p:cNvSpPr>
            <a:spLocks noGrp="1"/>
          </p:cNvSpPr>
          <p:nvPr>
            <p:ph type="body" idx="108" hasCustomPrompt="1"/>
          </p:nvPr>
        </p:nvSpPr>
        <p:spPr>
          <a:xfrm>
            <a:off x="1920240" y="2121408"/>
            <a:ext cx="73152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35000"/>
              </a:lnSpc>
              <a:buNone/>
              <a:defRPr lang="en-US" sz="2000" b="1" spc="-4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section</a:t>
            </a:r>
            <a:endParaRPr lang="en-US" sz="2000" dirty="0"/>
          </a:p>
        </p:txBody>
      </p:sp>
      <p:sp>
        <p:nvSpPr>
          <p:cNvPr id="11" name="Entry1_Pages"/>
          <p:cNvSpPr>
            <a:spLocks noGrp="1"/>
          </p:cNvSpPr>
          <p:nvPr>
            <p:ph type="body" idx="109" hasCustomPrompt="1"/>
          </p:nvPr>
        </p:nvSpPr>
        <p:spPr>
          <a:xfrm>
            <a:off x="1920240" y="248716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Slides X — Y</a:t>
            </a:r>
            <a:endParaRPr lang="en-US" sz="1200" dirty="0"/>
          </a:p>
        </p:txBody>
      </p:sp>
      <p:sp>
        <p:nvSpPr>
          <p:cNvPr id="13" name="Entry2_Number"/>
          <p:cNvSpPr>
            <a:spLocks noGrp="1"/>
          </p:cNvSpPr>
          <p:nvPr>
            <p:ph type="body" idx="111" hasCustomPrompt="1"/>
          </p:nvPr>
        </p:nvSpPr>
        <p:spPr>
          <a:xfrm>
            <a:off x="731520" y="2926080"/>
            <a:ext cx="1097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05000"/>
              </a:lnSpc>
              <a:buNone/>
              <a:defRPr lang="en-US" sz="4000" spc="-16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02</a:t>
            </a:r>
            <a:endParaRPr lang="en-US" sz="4000" dirty="0"/>
          </a:p>
        </p:txBody>
      </p:sp>
      <p:sp>
        <p:nvSpPr>
          <p:cNvPr id="14" name="Entry2_Title"/>
          <p:cNvSpPr>
            <a:spLocks noGrp="1"/>
          </p:cNvSpPr>
          <p:nvPr>
            <p:ph type="body" idx="112" hasCustomPrompt="1"/>
          </p:nvPr>
        </p:nvSpPr>
        <p:spPr>
          <a:xfrm>
            <a:off x="1920240" y="2944368"/>
            <a:ext cx="73152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35000"/>
              </a:lnSpc>
              <a:buNone/>
              <a:defRPr lang="en-US" sz="2000" b="1" spc="-4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section</a:t>
            </a:r>
            <a:endParaRPr lang="en-US" sz="2000" dirty="0"/>
          </a:p>
        </p:txBody>
      </p:sp>
      <p:sp>
        <p:nvSpPr>
          <p:cNvPr id="15" name="Entry2_Pages"/>
          <p:cNvSpPr>
            <a:spLocks noGrp="1"/>
          </p:cNvSpPr>
          <p:nvPr>
            <p:ph type="body" idx="113" hasCustomPrompt="1"/>
          </p:nvPr>
        </p:nvSpPr>
        <p:spPr>
          <a:xfrm>
            <a:off x="1920240" y="331012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Slides X — Y</a:t>
            </a:r>
            <a:endParaRPr lang="en-US" sz="1200" dirty="0"/>
          </a:p>
        </p:txBody>
      </p:sp>
      <p:sp>
        <p:nvSpPr>
          <p:cNvPr id="17" name="Entry3_Number"/>
          <p:cNvSpPr>
            <a:spLocks noGrp="1"/>
          </p:cNvSpPr>
          <p:nvPr>
            <p:ph type="body" idx="115" hasCustomPrompt="1"/>
          </p:nvPr>
        </p:nvSpPr>
        <p:spPr>
          <a:xfrm>
            <a:off x="731520" y="3749040"/>
            <a:ext cx="1097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05000"/>
              </a:lnSpc>
              <a:buNone/>
              <a:defRPr lang="en-US" sz="4000" spc="-16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03</a:t>
            </a:r>
            <a:endParaRPr lang="en-US" sz="4000" dirty="0"/>
          </a:p>
        </p:txBody>
      </p:sp>
      <p:sp>
        <p:nvSpPr>
          <p:cNvPr id="18" name="Entry3_Title"/>
          <p:cNvSpPr>
            <a:spLocks noGrp="1"/>
          </p:cNvSpPr>
          <p:nvPr>
            <p:ph type="body" idx="116" hasCustomPrompt="1"/>
          </p:nvPr>
        </p:nvSpPr>
        <p:spPr>
          <a:xfrm>
            <a:off x="1920240" y="3767328"/>
            <a:ext cx="73152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35000"/>
              </a:lnSpc>
              <a:buNone/>
              <a:defRPr lang="en-US" sz="2000" b="1" spc="-4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section</a:t>
            </a:r>
            <a:endParaRPr lang="en-US" sz="2000" dirty="0"/>
          </a:p>
        </p:txBody>
      </p:sp>
      <p:sp>
        <p:nvSpPr>
          <p:cNvPr id="19" name="Entry3_Pages"/>
          <p:cNvSpPr>
            <a:spLocks noGrp="1"/>
          </p:cNvSpPr>
          <p:nvPr>
            <p:ph type="body" idx="117" hasCustomPrompt="1"/>
          </p:nvPr>
        </p:nvSpPr>
        <p:spPr>
          <a:xfrm>
            <a:off x="1920240" y="413308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Slides X — Y</a:t>
            </a:r>
            <a:endParaRPr lang="en-US" sz="1200" dirty="0"/>
          </a:p>
        </p:txBody>
      </p:sp>
      <p:sp>
        <p:nvSpPr>
          <p:cNvPr id="21" name="Entry4_Number"/>
          <p:cNvSpPr>
            <a:spLocks noGrp="1"/>
          </p:cNvSpPr>
          <p:nvPr>
            <p:ph type="body" idx="119" hasCustomPrompt="1"/>
          </p:nvPr>
        </p:nvSpPr>
        <p:spPr>
          <a:xfrm>
            <a:off x="731520" y="4572000"/>
            <a:ext cx="1097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05000"/>
              </a:lnSpc>
              <a:buNone/>
              <a:defRPr lang="en-US" sz="4000" spc="-16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04</a:t>
            </a:r>
            <a:endParaRPr lang="en-US" sz="4000" dirty="0"/>
          </a:p>
        </p:txBody>
      </p:sp>
      <p:sp>
        <p:nvSpPr>
          <p:cNvPr id="22" name="Entry4_Title"/>
          <p:cNvSpPr>
            <a:spLocks noGrp="1"/>
          </p:cNvSpPr>
          <p:nvPr>
            <p:ph type="body" idx="120" hasCustomPrompt="1"/>
          </p:nvPr>
        </p:nvSpPr>
        <p:spPr>
          <a:xfrm>
            <a:off x="1920240" y="4590288"/>
            <a:ext cx="73152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35000"/>
              </a:lnSpc>
              <a:buNone/>
              <a:defRPr lang="en-US" sz="2000" b="1" spc="-4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section</a:t>
            </a:r>
            <a:endParaRPr lang="en-US" sz="2000" dirty="0"/>
          </a:p>
        </p:txBody>
      </p:sp>
      <p:sp>
        <p:nvSpPr>
          <p:cNvPr id="23" name="Entry4_Pages"/>
          <p:cNvSpPr>
            <a:spLocks noGrp="1"/>
          </p:cNvSpPr>
          <p:nvPr>
            <p:ph type="body" idx="121" hasCustomPrompt="1"/>
          </p:nvPr>
        </p:nvSpPr>
        <p:spPr>
          <a:xfrm>
            <a:off x="1920240" y="495604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Slides X — Y</a:t>
            </a:r>
            <a:endParaRPr lang="en-US" sz="1200" dirty="0"/>
          </a:p>
        </p:txBody>
      </p:sp>
      <p:sp>
        <p:nvSpPr>
          <p:cNvPr id="25" name="Entry5_Number"/>
          <p:cNvSpPr>
            <a:spLocks noGrp="1"/>
          </p:cNvSpPr>
          <p:nvPr>
            <p:ph type="body" idx="123" hasCustomPrompt="1"/>
          </p:nvPr>
        </p:nvSpPr>
        <p:spPr>
          <a:xfrm>
            <a:off x="731520" y="5394960"/>
            <a:ext cx="1097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05000"/>
              </a:lnSpc>
              <a:buNone/>
              <a:defRPr lang="en-US" sz="4000" spc="-16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05</a:t>
            </a:r>
            <a:endParaRPr lang="en-US" sz="4000" dirty="0"/>
          </a:p>
        </p:txBody>
      </p:sp>
      <p:sp>
        <p:nvSpPr>
          <p:cNvPr id="26" name="Entry5_Title"/>
          <p:cNvSpPr>
            <a:spLocks noGrp="1"/>
          </p:cNvSpPr>
          <p:nvPr>
            <p:ph type="body" idx="124" hasCustomPrompt="1"/>
          </p:nvPr>
        </p:nvSpPr>
        <p:spPr>
          <a:xfrm>
            <a:off x="1920240" y="5413248"/>
            <a:ext cx="73152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35000"/>
              </a:lnSpc>
              <a:buNone/>
              <a:defRPr lang="en-US" sz="2000" b="1" spc="-4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section</a:t>
            </a:r>
            <a:endParaRPr lang="en-US" sz="2000" dirty="0"/>
          </a:p>
        </p:txBody>
      </p:sp>
      <p:sp>
        <p:nvSpPr>
          <p:cNvPr id="27" name="Entry5_Pages"/>
          <p:cNvSpPr>
            <a:spLocks noGrp="1"/>
          </p:cNvSpPr>
          <p:nvPr>
            <p:ph type="body" idx="125" hasCustomPrompt="1"/>
          </p:nvPr>
        </p:nvSpPr>
        <p:spPr>
          <a:xfrm>
            <a:off x="1920240" y="577900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Slides X — Y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9_ANNEXE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288000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2948487"/>
            <a:ext cx="110947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95000"/>
              </a:lnSpc>
              <a:buNone/>
              <a:defRPr lang="fr-FR" sz="54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54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Annexes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DEUX_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128016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0" name="LeftColumnGroup"/>
          <p:cNvGrpSpPr/>
          <p:nvPr/>
        </p:nvGrpSpPr>
        <p:grpSpPr>
          <a:xfrm>
            <a:off x="548640" y="1920240"/>
            <a:ext cx="5394960" cy="4114800"/>
            <a:chOff x="548640" y="1920240"/>
            <a:chExt cx="5394960" cy="4114800"/>
          </a:xfrm>
        </p:grpSpPr>
        <p:sp>
          <p:nvSpPr>
            <p:cNvPr id="6" name="LeftColumnBackground"/>
            <p:cNvSpPr/>
            <p:nvPr/>
          </p:nvSpPr>
          <p:spPr>
            <a:xfrm>
              <a:off x="548640" y="1920240"/>
              <a:ext cx="5394960" cy="4114800"/>
            </a:xfrm>
            <a:prstGeom prst="rect">
              <a:avLst/>
            </a:prstGeom>
            <a:noFill/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LeftColumnAccentBar"/>
            <p:cNvSpPr/>
            <p:nvPr/>
          </p:nvSpPr>
          <p:spPr>
            <a:xfrm>
              <a:off x="722007" y="2103120"/>
              <a:ext cx="29186" cy="370332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1" name="RightColumnGroup"/>
          <p:cNvGrpSpPr/>
          <p:nvPr/>
        </p:nvGrpSpPr>
        <p:grpSpPr>
          <a:xfrm>
            <a:off x="6263640" y="1920240"/>
            <a:ext cx="5394960" cy="4114800"/>
            <a:chOff x="6263640" y="1920240"/>
            <a:chExt cx="5394960" cy="4114800"/>
          </a:xfrm>
        </p:grpSpPr>
        <p:sp>
          <p:nvSpPr>
            <p:cNvPr id="8" name="RightColumnBackground"/>
            <p:cNvSpPr/>
            <p:nvPr/>
          </p:nvSpPr>
          <p:spPr>
            <a:xfrm>
              <a:off x="6263640" y="1920240"/>
              <a:ext cx="5394960" cy="4114800"/>
            </a:xfrm>
            <a:prstGeom prst="rect">
              <a:avLst/>
            </a:prstGeom>
            <a:noFill/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RightColumnAccentBar"/>
            <p:cNvSpPr/>
            <p:nvPr/>
          </p:nvSpPr>
          <p:spPr>
            <a:xfrm>
              <a:off x="6437007" y="2103120"/>
              <a:ext cx="29186" cy="370332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" name="Title"/>
          <p:cNvSpPr>
            <a:spLocks noGrp="1"/>
          </p:cNvSpPr>
          <p:nvPr>
            <p:ph type="title" idx="108" hasCustomPrompt="1"/>
          </p:nvPr>
        </p:nvSpPr>
        <p:spPr>
          <a:xfrm>
            <a:off x="548640" y="45720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05000"/>
              </a:lnSpc>
              <a:buNone/>
              <a:defRPr lang="en-US" sz="3400" spc="-136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l">
              <a:buNone/>
            </a:pPr>
            <a:r>
              <a:rPr lang="en-US" sz="34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Titre de la slide</a:t>
            </a:r>
            <a:endParaRPr lang="en-US" sz="3400" dirty="0"/>
          </a:p>
        </p:txBody>
      </p:sp>
      <p:sp>
        <p:nvSpPr>
          <p:cNvPr id="11" name="Subtitle"/>
          <p:cNvSpPr>
            <a:spLocks noGrp="1"/>
          </p:cNvSpPr>
          <p:nvPr>
            <p:ph type="body" idx="109" hasCustomPrompt="1"/>
          </p:nvPr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i="1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i="1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Sous-titre descriptif</a:t>
            </a:r>
            <a:endParaRPr lang="en-US" sz="1600" dirty="0"/>
          </a:p>
        </p:txBody>
      </p:sp>
      <p:sp>
        <p:nvSpPr>
          <p:cNvPr id="13" name="LeftLabel"/>
          <p:cNvSpPr>
            <a:spLocks noGrp="1"/>
          </p:cNvSpPr>
          <p:nvPr>
            <p:ph type="body" idx="111" hasCustomPrompt="1"/>
          </p:nvPr>
        </p:nvSpPr>
        <p:spPr>
          <a:xfrm>
            <a:off x="868680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ÉTIQUETTE GAUCHE</a:t>
            </a:r>
            <a:endParaRPr lang="en-US" sz="1200" dirty="0"/>
          </a:p>
        </p:txBody>
      </p:sp>
      <p:sp>
        <p:nvSpPr>
          <p:cNvPr id="14" name="LeftTitle"/>
          <p:cNvSpPr>
            <a:spLocks noGrp="1"/>
          </p:cNvSpPr>
          <p:nvPr>
            <p:ph type="body" idx="112" hasCustomPrompt="1"/>
          </p:nvPr>
        </p:nvSpPr>
        <p:spPr>
          <a:xfrm>
            <a:off x="868680" y="2423160"/>
            <a:ext cx="45720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20000"/>
              </a:lnSpc>
              <a:buNone/>
              <a:defRPr lang="en-US" sz="2800" spc="-56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Titre principal</a:t>
            </a:r>
            <a:endParaRPr lang="en-US" sz="2800" dirty="0"/>
          </a:p>
        </p:txBody>
      </p:sp>
      <p:sp>
        <p:nvSpPr>
          <p:cNvPr id="15" name="LeftBody"/>
          <p:cNvSpPr>
            <a:spLocks noGrp="1"/>
          </p:cNvSpPr>
          <p:nvPr>
            <p:ph type="body" idx="113" hasCustomPrompt="1"/>
          </p:nvPr>
        </p:nvSpPr>
        <p:spPr>
          <a:xfrm>
            <a:off x="868680" y="3063240"/>
            <a:ext cx="493776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spc="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Lorem ipsum dolor sit amet, consectetur adipiscing elit. Sed do eiusmod tempor incididunt ut labore et dolore magna aliqua.</a:t>
            </a:r>
            <a:endParaRPr lang="en-US" sz="1600" dirty="0"/>
          </a:p>
        </p:txBody>
      </p:sp>
      <p:sp>
        <p:nvSpPr>
          <p:cNvPr id="16" name="RightLabel"/>
          <p:cNvSpPr>
            <a:spLocks noGrp="1"/>
          </p:cNvSpPr>
          <p:nvPr>
            <p:ph type="body" idx="114" hasCustomPrompt="1"/>
          </p:nvPr>
        </p:nvSpPr>
        <p:spPr>
          <a:xfrm>
            <a:off x="6583680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ÉTIQUETTE DROITE</a:t>
            </a:r>
            <a:endParaRPr lang="en-US" sz="1200" dirty="0"/>
          </a:p>
        </p:txBody>
      </p:sp>
      <p:sp>
        <p:nvSpPr>
          <p:cNvPr id="17" name="RightTitle"/>
          <p:cNvSpPr>
            <a:spLocks noGrp="1"/>
          </p:cNvSpPr>
          <p:nvPr>
            <p:ph type="body" idx="115" hasCustomPrompt="1"/>
          </p:nvPr>
        </p:nvSpPr>
        <p:spPr>
          <a:xfrm>
            <a:off x="6583680" y="2423160"/>
            <a:ext cx="45720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20000"/>
              </a:lnSpc>
              <a:buNone/>
              <a:defRPr lang="en-US" sz="2800" spc="-56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Titre principal</a:t>
            </a:r>
            <a:endParaRPr lang="en-US" sz="2800" dirty="0"/>
          </a:p>
        </p:txBody>
      </p:sp>
      <p:sp>
        <p:nvSpPr>
          <p:cNvPr id="18" name="RightBody"/>
          <p:cNvSpPr>
            <a:spLocks noGrp="1"/>
          </p:cNvSpPr>
          <p:nvPr>
            <p:ph type="body" idx="116" hasCustomPrompt="1"/>
          </p:nvPr>
        </p:nvSpPr>
        <p:spPr>
          <a:xfrm>
            <a:off x="6583680" y="3063240"/>
            <a:ext cx="493776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spc="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Lorem ipsum dolor sit amet, consectetur adipiscing elit.</a:t>
            </a:r>
            <a:endParaRPr lang="en-US" sz="1600" dirty="0"/>
          </a:p>
        </p:txBody>
      </p:sp>
      <p:sp>
        <p:nvSpPr>
          <p:cNvPr id="12" name="TopRightImage">
            <a:extLst>
              <a:ext uri="{FF2B5EF4-FFF2-40B4-BE49-F238E27FC236}">
                <a16:creationId xmlns:a16="http://schemas.microsoft.com/office/drawing/2014/main" id="{2F319756-D80D-E91F-6EDA-E9F0056D704D}"/>
              </a:ext>
            </a:extLst>
          </p:cNvPr>
          <p:cNvSpPr>
            <a:spLocks noGrp="1"/>
          </p:cNvSpPr>
          <p:nvPr>
            <p:ph type="pic" sz="quarter" idx="117"/>
          </p:nvPr>
        </p:nvSpPr>
        <p:spPr>
          <a:xfrm>
            <a:off x="9207500" y="256032"/>
            <a:ext cx="2314575" cy="1828800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Cliquez sur l'icône pour ajouter une image</a:t>
            </a:r>
            <a:endParaRPr lang="fr-FR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_GRILLE_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128016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itle"/>
          <p:cNvSpPr>
            <a:spLocks noGrp="1"/>
          </p:cNvSpPr>
          <p:nvPr>
            <p:ph type="title" idx="104" hasCustomPrompt="1"/>
          </p:nvPr>
        </p:nvSpPr>
        <p:spPr>
          <a:xfrm>
            <a:off x="548640" y="45720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05000"/>
              </a:lnSpc>
              <a:buNone/>
              <a:defRPr lang="en-US" sz="3400" spc="-136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l">
              <a:buNone/>
            </a:pPr>
            <a:r>
              <a:rPr lang="en-US" sz="34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Titre de la slide</a:t>
            </a:r>
            <a:endParaRPr lang="en-US" sz="3400" dirty="0"/>
          </a:p>
        </p:txBody>
      </p:sp>
      <p:sp>
        <p:nvSpPr>
          <p:cNvPr id="7" name="Subtitle"/>
          <p:cNvSpPr>
            <a:spLocks noGrp="1"/>
          </p:cNvSpPr>
          <p:nvPr>
            <p:ph type="body" idx="105" hasCustomPrompt="1"/>
          </p:nvPr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i="1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i="1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Sous-titre</a:t>
            </a:r>
            <a:endParaRPr lang="en-US" sz="1600" dirty="0"/>
          </a:p>
        </p:txBody>
      </p:sp>
      <p:sp>
        <p:nvSpPr>
          <p:cNvPr id="10" name="Card1_NumberBadge"/>
          <p:cNvSpPr/>
          <p:nvPr/>
        </p:nvSpPr>
        <p:spPr>
          <a:xfrm>
            <a:off x="1196340" y="2236470"/>
            <a:ext cx="228600" cy="228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Card1_Title"/>
          <p:cNvSpPr>
            <a:spLocks noGrp="1"/>
          </p:cNvSpPr>
          <p:nvPr>
            <p:ph type="body" idx="110" hasCustomPrompt="1"/>
          </p:nvPr>
        </p:nvSpPr>
        <p:spPr>
          <a:xfrm>
            <a:off x="1508760" y="2121408"/>
            <a:ext cx="42976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carte</a:t>
            </a:r>
            <a:endParaRPr lang="en-US" sz="1600" dirty="0"/>
          </a:p>
        </p:txBody>
      </p:sp>
      <p:sp>
        <p:nvSpPr>
          <p:cNvPr id="13" name="Card1_Description"/>
          <p:cNvSpPr>
            <a:spLocks noGrp="1"/>
          </p:cNvSpPr>
          <p:nvPr>
            <p:ph type="body" idx="111" hasCustomPrompt="1"/>
          </p:nvPr>
        </p:nvSpPr>
        <p:spPr>
          <a:xfrm>
            <a:off x="822960" y="2743200"/>
            <a:ext cx="49377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3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3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de l'élément en deux lignes maximum pour un rendu équilibré.</a:t>
            </a:r>
            <a:endParaRPr lang="en-US" sz="1300" dirty="0"/>
          </a:p>
        </p:txBody>
      </p:sp>
      <p:sp>
        <p:nvSpPr>
          <p:cNvPr id="15" name="Card2_NumberBadge"/>
          <p:cNvSpPr/>
          <p:nvPr/>
        </p:nvSpPr>
        <p:spPr>
          <a:xfrm>
            <a:off x="6819900" y="2236470"/>
            <a:ext cx="228600" cy="228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Card2_Title"/>
          <p:cNvSpPr>
            <a:spLocks noGrp="1"/>
          </p:cNvSpPr>
          <p:nvPr>
            <p:ph type="body" idx="115" hasCustomPrompt="1"/>
          </p:nvPr>
        </p:nvSpPr>
        <p:spPr>
          <a:xfrm>
            <a:off x="7132320" y="2121408"/>
            <a:ext cx="42976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carte</a:t>
            </a:r>
            <a:endParaRPr lang="en-US" sz="1600" dirty="0"/>
          </a:p>
        </p:txBody>
      </p:sp>
      <p:sp>
        <p:nvSpPr>
          <p:cNvPr id="18" name="Card2_Description"/>
          <p:cNvSpPr>
            <a:spLocks noGrp="1"/>
          </p:cNvSpPr>
          <p:nvPr>
            <p:ph type="body" idx="116" hasCustomPrompt="1"/>
          </p:nvPr>
        </p:nvSpPr>
        <p:spPr>
          <a:xfrm>
            <a:off x="6446520" y="2743200"/>
            <a:ext cx="49377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3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3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de l'élément en deux lignes maximum pour un rendu équilibré.</a:t>
            </a:r>
            <a:endParaRPr lang="en-US" sz="1300" dirty="0"/>
          </a:p>
        </p:txBody>
      </p:sp>
      <p:sp>
        <p:nvSpPr>
          <p:cNvPr id="20" name="Card3_NumberBadge"/>
          <p:cNvSpPr/>
          <p:nvPr/>
        </p:nvSpPr>
        <p:spPr>
          <a:xfrm>
            <a:off x="1196340" y="4476750"/>
            <a:ext cx="228600" cy="228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Card3_Title"/>
          <p:cNvSpPr>
            <a:spLocks noGrp="1"/>
          </p:cNvSpPr>
          <p:nvPr>
            <p:ph type="body" idx="120" hasCustomPrompt="1"/>
          </p:nvPr>
        </p:nvSpPr>
        <p:spPr>
          <a:xfrm>
            <a:off x="1508760" y="4361688"/>
            <a:ext cx="42976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carte</a:t>
            </a:r>
            <a:endParaRPr lang="en-US" sz="1600" dirty="0"/>
          </a:p>
        </p:txBody>
      </p:sp>
      <p:sp>
        <p:nvSpPr>
          <p:cNvPr id="23" name="Card3_Description"/>
          <p:cNvSpPr>
            <a:spLocks noGrp="1"/>
          </p:cNvSpPr>
          <p:nvPr>
            <p:ph type="body" idx="121" hasCustomPrompt="1"/>
          </p:nvPr>
        </p:nvSpPr>
        <p:spPr>
          <a:xfrm>
            <a:off x="822960" y="4983480"/>
            <a:ext cx="49377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3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3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de l'élément en deux lignes maximum pour un rendu équilibré.</a:t>
            </a:r>
            <a:endParaRPr lang="en-US" sz="1300" dirty="0"/>
          </a:p>
        </p:txBody>
      </p:sp>
      <p:sp>
        <p:nvSpPr>
          <p:cNvPr id="25" name="Card4_NumberBadge"/>
          <p:cNvSpPr/>
          <p:nvPr userDrawn="1"/>
        </p:nvSpPr>
        <p:spPr>
          <a:xfrm>
            <a:off x="6819900" y="4476750"/>
            <a:ext cx="228600" cy="228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Card4_Title"/>
          <p:cNvSpPr>
            <a:spLocks noGrp="1"/>
          </p:cNvSpPr>
          <p:nvPr>
            <p:ph type="body" idx="125" hasCustomPrompt="1"/>
          </p:nvPr>
        </p:nvSpPr>
        <p:spPr>
          <a:xfrm>
            <a:off x="7132320" y="4361688"/>
            <a:ext cx="42976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carte</a:t>
            </a:r>
            <a:endParaRPr lang="en-US" sz="1600" dirty="0"/>
          </a:p>
        </p:txBody>
      </p:sp>
      <p:sp>
        <p:nvSpPr>
          <p:cNvPr id="28" name="Card4_Description"/>
          <p:cNvSpPr>
            <a:spLocks noGrp="1"/>
          </p:cNvSpPr>
          <p:nvPr>
            <p:ph type="body" idx="126" hasCustomPrompt="1"/>
          </p:nvPr>
        </p:nvSpPr>
        <p:spPr>
          <a:xfrm>
            <a:off x="6446520" y="4983480"/>
            <a:ext cx="49377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3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3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de l'élément en deux lignes maximum pour un rendu équilibré.</a:t>
            </a:r>
            <a:endParaRPr lang="en-US" sz="1300" dirty="0"/>
          </a:p>
        </p:txBody>
      </p:sp>
      <p:sp>
        <p:nvSpPr>
          <p:cNvPr id="8" name="TopRightImage">
            <a:extLst>
              <a:ext uri="{FF2B5EF4-FFF2-40B4-BE49-F238E27FC236}">
                <a16:creationId xmlns:a16="http://schemas.microsoft.com/office/drawing/2014/main" id="{567A6567-821E-F80F-0EC1-0F94D8F2F638}"/>
              </a:ext>
            </a:extLst>
          </p:cNvPr>
          <p:cNvSpPr>
            <a:spLocks noGrp="1"/>
          </p:cNvSpPr>
          <p:nvPr>
            <p:ph type="pic" sz="quarter" idx="127"/>
          </p:nvPr>
        </p:nvSpPr>
        <p:spPr>
          <a:xfrm>
            <a:off x="9156700" y="241300"/>
            <a:ext cx="2692400" cy="15414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_TROIS_COLONNES_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128016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itle"/>
          <p:cNvSpPr>
            <a:spLocks noGrp="1"/>
          </p:cNvSpPr>
          <p:nvPr>
            <p:ph type="title" idx="104" hasCustomPrompt="1"/>
          </p:nvPr>
        </p:nvSpPr>
        <p:spPr>
          <a:xfrm>
            <a:off x="548640" y="45720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05000"/>
              </a:lnSpc>
              <a:buNone/>
              <a:defRPr lang="en-US" sz="3400" spc="-136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l">
              <a:buNone/>
            </a:pPr>
            <a:r>
              <a:rPr lang="en-US" sz="34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Titre de la slide</a:t>
            </a:r>
            <a:endParaRPr lang="en-US" sz="3400" dirty="0"/>
          </a:p>
        </p:txBody>
      </p:sp>
      <p:sp>
        <p:nvSpPr>
          <p:cNvPr id="7" name="Subtitle"/>
          <p:cNvSpPr>
            <a:spLocks noGrp="1"/>
          </p:cNvSpPr>
          <p:nvPr>
            <p:ph type="body" idx="105" hasCustomPrompt="1"/>
          </p:nvPr>
        </p:nvSpPr>
        <p:spPr>
          <a:xfrm>
            <a:off x="548640" y="1402652"/>
            <a:ext cx="10058400" cy="34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i="1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i="1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Sous-titre</a:t>
            </a:r>
            <a:endParaRPr lang="en-US" sz="1600" dirty="0"/>
          </a:p>
        </p:txBody>
      </p:sp>
      <p:sp>
        <p:nvSpPr>
          <p:cNvPr id="10" name="Column1_Number"/>
          <p:cNvSpPr/>
          <p:nvPr/>
        </p:nvSpPr>
        <p:spPr>
          <a:xfrm>
            <a:off x="548640" y="1881479"/>
            <a:ext cx="356616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6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01</a:t>
            </a:r>
            <a:endParaRPr lang="en-US" sz="5600" dirty="0"/>
          </a:p>
        </p:txBody>
      </p:sp>
      <p:sp>
        <p:nvSpPr>
          <p:cNvPr id="11" name="Column1_Title"/>
          <p:cNvSpPr>
            <a:spLocks noGrp="1"/>
          </p:cNvSpPr>
          <p:nvPr>
            <p:ph type="body" idx="109" hasCustomPrompt="1"/>
          </p:nvPr>
        </p:nvSpPr>
        <p:spPr>
          <a:xfrm>
            <a:off x="548640" y="2737485"/>
            <a:ext cx="35661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8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colonne</a:t>
            </a:r>
            <a:endParaRPr lang="en-US" sz="1800" dirty="0"/>
          </a:p>
        </p:txBody>
      </p:sp>
      <p:sp>
        <p:nvSpPr>
          <p:cNvPr id="12" name="Column1_Description"/>
          <p:cNvSpPr>
            <a:spLocks noGrp="1"/>
          </p:cNvSpPr>
          <p:nvPr>
            <p:ph type="body" idx="110" hasCustomPrompt="1"/>
          </p:nvPr>
        </p:nvSpPr>
        <p:spPr>
          <a:xfrm>
            <a:off x="548640" y="3474252"/>
            <a:ext cx="3566160" cy="296769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4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courte, claire et synthétique pour expliquer ce point.</a:t>
            </a:r>
            <a:endParaRPr lang="en-US" sz="1400" dirty="0"/>
          </a:p>
        </p:txBody>
      </p:sp>
      <p:sp>
        <p:nvSpPr>
          <p:cNvPr id="13" name="Column2_Number"/>
          <p:cNvSpPr/>
          <p:nvPr/>
        </p:nvSpPr>
        <p:spPr>
          <a:xfrm>
            <a:off x="4297680" y="1881479"/>
            <a:ext cx="356616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6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02</a:t>
            </a:r>
            <a:endParaRPr lang="en-US" sz="5600" dirty="0"/>
          </a:p>
        </p:txBody>
      </p:sp>
      <p:sp>
        <p:nvSpPr>
          <p:cNvPr id="14" name="Column2_Title"/>
          <p:cNvSpPr>
            <a:spLocks noGrp="1"/>
          </p:cNvSpPr>
          <p:nvPr>
            <p:ph type="body" idx="112" hasCustomPrompt="1"/>
          </p:nvPr>
        </p:nvSpPr>
        <p:spPr>
          <a:xfrm>
            <a:off x="4297680" y="2737485"/>
            <a:ext cx="35661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8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colonne</a:t>
            </a:r>
            <a:endParaRPr lang="en-US" sz="1800" dirty="0"/>
          </a:p>
        </p:txBody>
      </p:sp>
      <p:sp>
        <p:nvSpPr>
          <p:cNvPr id="15" name="Column2_Description"/>
          <p:cNvSpPr>
            <a:spLocks noGrp="1"/>
          </p:cNvSpPr>
          <p:nvPr>
            <p:ph type="body" idx="113" hasCustomPrompt="1"/>
          </p:nvPr>
        </p:nvSpPr>
        <p:spPr>
          <a:xfrm>
            <a:off x="4297680" y="3474252"/>
            <a:ext cx="3566160" cy="296769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4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courte, claire et synthétique pour expliquer ce point.</a:t>
            </a:r>
            <a:endParaRPr lang="en-US" sz="1400" dirty="0"/>
          </a:p>
        </p:txBody>
      </p:sp>
      <p:sp>
        <p:nvSpPr>
          <p:cNvPr id="16" name="Column3_Number"/>
          <p:cNvSpPr/>
          <p:nvPr/>
        </p:nvSpPr>
        <p:spPr>
          <a:xfrm>
            <a:off x="8046720" y="1881479"/>
            <a:ext cx="356616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6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03</a:t>
            </a:r>
            <a:endParaRPr lang="en-US" sz="5600" dirty="0"/>
          </a:p>
        </p:txBody>
      </p:sp>
      <p:sp>
        <p:nvSpPr>
          <p:cNvPr id="17" name="Column3_Title"/>
          <p:cNvSpPr>
            <a:spLocks noGrp="1"/>
          </p:cNvSpPr>
          <p:nvPr>
            <p:ph type="body" idx="115" hasCustomPrompt="1"/>
          </p:nvPr>
        </p:nvSpPr>
        <p:spPr>
          <a:xfrm>
            <a:off x="8046720" y="2737485"/>
            <a:ext cx="35661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8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Titre de la colonne</a:t>
            </a:r>
            <a:endParaRPr lang="en-US" sz="1800" dirty="0"/>
          </a:p>
        </p:txBody>
      </p:sp>
      <p:sp>
        <p:nvSpPr>
          <p:cNvPr id="18" name="Column3_Description"/>
          <p:cNvSpPr>
            <a:spLocks noGrp="1"/>
          </p:cNvSpPr>
          <p:nvPr>
            <p:ph type="body" idx="116" hasCustomPrompt="1"/>
          </p:nvPr>
        </p:nvSpPr>
        <p:spPr>
          <a:xfrm>
            <a:off x="8046720" y="3474252"/>
            <a:ext cx="3566160" cy="296769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4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courte, claire et synthétique pour expliquer ce point.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8_GRILLE_3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/>
          <p:cNvSpPr>
            <a:spLocks noGrp="1"/>
          </p:cNvSpPr>
          <p:nvPr>
            <p:ph type="title" idx="104" hasCustomPrompt="1"/>
          </p:nvPr>
        </p:nvSpPr>
        <p:spPr>
          <a:xfrm>
            <a:off x="548640" y="45720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05000"/>
              </a:lnSpc>
              <a:buNone/>
              <a:defRPr lang="en-US" sz="3400" spc="-136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l">
              <a:buNone/>
            </a:pPr>
            <a:r>
              <a:rPr lang="en-US" sz="34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Titre de la slide</a:t>
            </a:r>
            <a:endParaRPr lang="en-US" sz="3400" dirty="0"/>
          </a:p>
        </p:txBody>
      </p:sp>
      <p:grpSp>
        <p:nvGrpSpPr>
          <p:cNvPr id="35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128016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Subtitle"/>
          <p:cNvSpPr>
            <a:spLocks noGrp="1"/>
          </p:cNvSpPr>
          <p:nvPr>
            <p:ph type="body" idx="105" hasCustomPrompt="1"/>
          </p:nvPr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600" i="1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600" i="1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Sous-titre</a:t>
            </a:r>
            <a:endParaRPr lang="en-US" sz="1600" dirty="0"/>
          </a:p>
        </p:txBody>
      </p:sp>
      <p:sp>
        <p:nvSpPr>
          <p:cNvPr id="12" name="Item1_LeftBorder"/>
          <p:cNvSpPr/>
          <p:nvPr/>
        </p:nvSpPr>
        <p:spPr>
          <a:xfrm>
            <a:off x="569704" y="2193718"/>
            <a:ext cx="31024" cy="1407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Item1_Title"/>
          <p:cNvSpPr>
            <a:spLocks noGrp="1"/>
          </p:cNvSpPr>
          <p:nvPr>
            <p:ph type="body" idx="111" hasCustomPrompt="1"/>
          </p:nvPr>
        </p:nvSpPr>
        <p:spPr>
          <a:xfrm>
            <a:off x="822960" y="2193718"/>
            <a:ext cx="3246120" cy="343501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Élément 1</a:t>
            </a:r>
            <a:endParaRPr lang="en-US" sz="1500" dirty="0"/>
          </a:p>
        </p:txBody>
      </p:sp>
      <p:sp>
        <p:nvSpPr>
          <p:cNvPr id="14" name="Item1_Description"/>
          <p:cNvSpPr>
            <a:spLocks noGrp="1"/>
          </p:cNvSpPr>
          <p:nvPr>
            <p:ph type="body" idx="112" hasCustomPrompt="1"/>
          </p:nvPr>
        </p:nvSpPr>
        <p:spPr>
          <a:xfrm>
            <a:off x="822960" y="2627208"/>
            <a:ext cx="3246120" cy="97411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de l'élément</a:t>
            </a:r>
            <a:endParaRPr lang="en-US" sz="1200" dirty="0"/>
          </a:p>
        </p:txBody>
      </p:sp>
      <p:sp>
        <p:nvSpPr>
          <p:cNvPr id="16" name="Item2_LeftBorder"/>
          <p:cNvSpPr/>
          <p:nvPr/>
        </p:nvSpPr>
        <p:spPr>
          <a:xfrm>
            <a:off x="4346176" y="2193718"/>
            <a:ext cx="31024" cy="1407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Item2_Title"/>
          <p:cNvSpPr>
            <a:spLocks noGrp="1"/>
          </p:cNvSpPr>
          <p:nvPr>
            <p:ph type="body" idx="115" hasCustomPrompt="1"/>
          </p:nvPr>
        </p:nvSpPr>
        <p:spPr>
          <a:xfrm>
            <a:off x="4599432" y="2193718"/>
            <a:ext cx="3246120" cy="343501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Élément 2</a:t>
            </a:r>
            <a:endParaRPr lang="en-US" sz="1500" dirty="0"/>
          </a:p>
        </p:txBody>
      </p:sp>
      <p:sp>
        <p:nvSpPr>
          <p:cNvPr id="18" name="Item2_Description"/>
          <p:cNvSpPr>
            <a:spLocks noGrp="1"/>
          </p:cNvSpPr>
          <p:nvPr>
            <p:ph type="body" idx="116" hasCustomPrompt="1"/>
          </p:nvPr>
        </p:nvSpPr>
        <p:spPr>
          <a:xfrm>
            <a:off x="4599432" y="2627208"/>
            <a:ext cx="3246120" cy="97411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de l'élément</a:t>
            </a:r>
            <a:endParaRPr lang="en-US" sz="1200" dirty="0"/>
          </a:p>
        </p:txBody>
      </p:sp>
      <p:sp>
        <p:nvSpPr>
          <p:cNvPr id="20" name="Item3_LeftBorder"/>
          <p:cNvSpPr/>
          <p:nvPr/>
        </p:nvSpPr>
        <p:spPr>
          <a:xfrm>
            <a:off x="8122647" y="2193718"/>
            <a:ext cx="32400" cy="14076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Item3_Title"/>
          <p:cNvSpPr>
            <a:spLocks noGrp="1"/>
          </p:cNvSpPr>
          <p:nvPr>
            <p:ph type="body" idx="119" hasCustomPrompt="1"/>
          </p:nvPr>
        </p:nvSpPr>
        <p:spPr>
          <a:xfrm>
            <a:off x="8375904" y="2193718"/>
            <a:ext cx="3246120" cy="34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Élément 3</a:t>
            </a:r>
            <a:endParaRPr lang="en-US" sz="1500" dirty="0"/>
          </a:p>
        </p:txBody>
      </p:sp>
      <p:sp>
        <p:nvSpPr>
          <p:cNvPr id="22" name="Item3_Description"/>
          <p:cNvSpPr>
            <a:spLocks noGrp="1"/>
          </p:cNvSpPr>
          <p:nvPr>
            <p:ph type="body" idx="120" hasCustomPrompt="1"/>
          </p:nvPr>
        </p:nvSpPr>
        <p:spPr>
          <a:xfrm>
            <a:off x="8375904" y="2627208"/>
            <a:ext cx="3246120" cy="97411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de l'élément</a:t>
            </a:r>
            <a:endParaRPr lang="en-US" sz="1200" dirty="0"/>
          </a:p>
        </p:txBody>
      </p:sp>
      <p:sp>
        <p:nvSpPr>
          <p:cNvPr id="24" name="Item4_LeftBorder"/>
          <p:cNvSpPr/>
          <p:nvPr/>
        </p:nvSpPr>
        <p:spPr>
          <a:xfrm>
            <a:off x="569704" y="4265422"/>
            <a:ext cx="31024" cy="1408176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Item4_Title"/>
          <p:cNvSpPr>
            <a:spLocks noGrp="1"/>
          </p:cNvSpPr>
          <p:nvPr>
            <p:ph type="body" idx="123" hasCustomPrompt="1"/>
          </p:nvPr>
        </p:nvSpPr>
        <p:spPr>
          <a:xfrm>
            <a:off x="822960" y="4265422"/>
            <a:ext cx="3246120" cy="34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Élément 4</a:t>
            </a:r>
            <a:endParaRPr lang="en-US" sz="1500" dirty="0"/>
          </a:p>
        </p:txBody>
      </p:sp>
      <p:sp>
        <p:nvSpPr>
          <p:cNvPr id="26" name="Item4_Description"/>
          <p:cNvSpPr>
            <a:spLocks noGrp="1"/>
          </p:cNvSpPr>
          <p:nvPr>
            <p:ph type="body" idx="124" hasCustomPrompt="1"/>
          </p:nvPr>
        </p:nvSpPr>
        <p:spPr>
          <a:xfrm>
            <a:off x="822960" y="4766056"/>
            <a:ext cx="3246120" cy="90754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de l'élément</a:t>
            </a:r>
            <a:endParaRPr lang="en-US" sz="1200" dirty="0"/>
          </a:p>
        </p:txBody>
      </p:sp>
      <p:sp>
        <p:nvSpPr>
          <p:cNvPr id="28" name="Item5_LeftBorder"/>
          <p:cNvSpPr/>
          <p:nvPr/>
        </p:nvSpPr>
        <p:spPr>
          <a:xfrm>
            <a:off x="4346176" y="4265422"/>
            <a:ext cx="31024" cy="1408176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Item5_Title"/>
          <p:cNvSpPr>
            <a:spLocks noGrp="1"/>
          </p:cNvSpPr>
          <p:nvPr>
            <p:ph type="body" idx="127" hasCustomPrompt="1"/>
          </p:nvPr>
        </p:nvSpPr>
        <p:spPr>
          <a:xfrm>
            <a:off x="4599432" y="4265422"/>
            <a:ext cx="3246120" cy="34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Élément 5</a:t>
            </a:r>
            <a:endParaRPr lang="en-US" sz="1500" dirty="0"/>
          </a:p>
        </p:txBody>
      </p:sp>
      <p:sp>
        <p:nvSpPr>
          <p:cNvPr id="30" name="Item5_Description"/>
          <p:cNvSpPr>
            <a:spLocks noGrp="1"/>
          </p:cNvSpPr>
          <p:nvPr>
            <p:ph type="body" idx="128" hasCustomPrompt="1"/>
          </p:nvPr>
        </p:nvSpPr>
        <p:spPr>
          <a:xfrm>
            <a:off x="4599432" y="4766056"/>
            <a:ext cx="3246120" cy="90754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de l'élément</a:t>
            </a:r>
            <a:endParaRPr lang="en-US" sz="1200" dirty="0"/>
          </a:p>
        </p:txBody>
      </p:sp>
      <p:sp>
        <p:nvSpPr>
          <p:cNvPr id="32" name="Item6_LeftBorder"/>
          <p:cNvSpPr/>
          <p:nvPr/>
        </p:nvSpPr>
        <p:spPr>
          <a:xfrm>
            <a:off x="8122648" y="4265422"/>
            <a:ext cx="31024" cy="1408176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Item6_Title"/>
          <p:cNvSpPr>
            <a:spLocks noGrp="1"/>
          </p:cNvSpPr>
          <p:nvPr>
            <p:ph type="body" idx="131" hasCustomPrompt="1"/>
          </p:nvPr>
        </p:nvSpPr>
        <p:spPr>
          <a:xfrm>
            <a:off x="8244459" y="4265422"/>
            <a:ext cx="3246120" cy="34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Élément 6</a:t>
            </a:r>
            <a:endParaRPr lang="en-US" sz="1500" dirty="0"/>
          </a:p>
        </p:txBody>
      </p:sp>
      <p:sp>
        <p:nvSpPr>
          <p:cNvPr id="34" name="Item6_Description"/>
          <p:cNvSpPr>
            <a:spLocks noGrp="1"/>
          </p:cNvSpPr>
          <p:nvPr>
            <p:ph type="body" idx="132" hasCustomPrompt="1"/>
          </p:nvPr>
        </p:nvSpPr>
        <p:spPr>
          <a:xfrm>
            <a:off x="8244459" y="4766056"/>
            <a:ext cx="3246120" cy="90754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de l'élément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FICHE_C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" name="HeaderBackground"/>
          <p:cNvSpPr/>
          <p:nvPr userDrawn="1"/>
        </p:nvSpPr>
        <p:spPr>
          <a:xfrm>
            <a:off x="0" y="73152"/>
            <a:ext cx="12188952" cy="128016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ExperienceBadgeBackground"/>
          <p:cNvSpPr/>
          <p:nvPr/>
        </p:nvSpPr>
        <p:spPr>
          <a:xfrm>
            <a:off x="10058400" y="365760"/>
            <a:ext cx="1691640" cy="777240"/>
          </a:xfrm>
          <a:prstGeom prst="rect">
            <a:avLst/>
          </a:prstGeom>
          <a:solidFill>
            <a:schemeClr val="lt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killsPanelBackground"/>
          <p:cNvSpPr/>
          <p:nvPr/>
        </p:nvSpPr>
        <p:spPr>
          <a:xfrm>
            <a:off x="8229600" y="1554480"/>
            <a:ext cx="3566160" cy="4983480"/>
          </a:xfrm>
          <a:prstGeom prst="rect">
            <a:avLst/>
          </a:prstGeom>
          <a:noFill/>
          <a:ln/>
        </p:spPr>
        <p:txBody>
          <a:bodyPr/>
          <a:lstStyle/>
          <a:p>
            <a:endParaRPr lang="fr-FR"/>
          </a:p>
        </p:txBody>
      </p:sp>
      <p:sp>
        <p:nvSpPr>
          <p:cNvPr id="8" name="Title"/>
          <p:cNvSpPr>
            <a:spLocks noGrp="1"/>
          </p:cNvSpPr>
          <p:nvPr>
            <p:ph type="title" idx="106" hasCustomPrompt="1"/>
          </p:nvPr>
        </p:nvSpPr>
        <p:spPr>
          <a:xfrm>
            <a:off x="54864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20000"/>
              </a:lnSpc>
              <a:buNone/>
              <a:defRPr lang="en-US" sz="3000" spc="-60" dirty="0">
                <a:solidFill>
                  <a:schemeClr val="lt2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l">
              <a:buNone/>
            </a:pPr>
            <a:r>
              <a:rPr lang="en-US" sz="3000" dirty="0">
                <a:solidFill>
                  <a:schemeClr val="lt2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PRÉNOM NOM</a:t>
            </a:r>
            <a:endParaRPr lang="en-US" sz="3000" dirty="0"/>
          </a:p>
        </p:txBody>
      </p:sp>
      <p:sp>
        <p:nvSpPr>
          <p:cNvPr id="9" name="JobTitle"/>
          <p:cNvSpPr>
            <a:spLocks noGrp="1"/>
          </p:cNvSpPr>
          <p:nvPr>
            <p:ph type="body" idx="107" hasCustomPrompt="1"/>
          </p:nvPr>
        </p:nvSpPr>
        <p:spPr>
          <a:xfrm>
            <a:off x="548640" y="868680"/>
            <a:ext cx="94183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400" i="1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400" i="1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Poste — Rôle — Mention complémentaire</a:t>
            </a:r>
            <a:endParaRPr lang="en-US" sz="1400" dirty="0"/>
          </a:p>
        </p:txBody>
      </p:sp>
      <p:sp>
        <p:nvSpPr>
          <p:cNvPr id="10" name="ExperienceYears"/>
          <p:cNvSpPr>
            <a:spLocks noGrp="1"/>
          </p:cNvSpPr>
          <p:nvPr>
            <p:ph type="body" idx="108" hasCustomPrompt="1"/>
          </p:nvPr>
        </p:nvSpPr>
        <p:spPr>
          <a:xfrm>
            <a:off x="10058400" y="411480"/>
            <a:ext cx="16916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lnSpc>
                <a:spcPct val="135000"/>
              </a:lnSpc>
              <a:buNone/>
              <a:defRPr lang="en-US" sz="2200" b="1" spc="-44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22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X ans</a:t>
            </a:r>
            <a:endParaRPr lang="en-US" sz="2200" dirty="0"/>
          </a:p>
        </p:txBody>
      </p:sp>
      <p:sp>
        <p:nvSpPr>
          <p:cNvPr id="11" name="ExperienceUnit"/>
          <p:cNvSpPr/>
          <p:nvPr/>
        </p:nvSpPr>
        <p:spPr>
          <a:xfrm>
            <a:off x="10058400" y="8229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d'expérience</a:t>
            </a:r>
            <a:endParaRPr lang="en-US" sz="1000" dirty="0"/>
          </a:p>
        </p:txBody>
      </p:sp>
      <p:sp>
        <p:nvSpPr>
          <p:cNvPr id="12" name="ProfileSectionLabel"/>
          <p:cNvSpPr/>
          <p:nvPr/>
        </p:nvSpPr>
        <p:spPr>
          <a:xfrm>
            <a:off x="54864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PROFIL</a:t>
            </a:r>
            <a:endParaRPr lang="en-US" sz="1100" dirty="0"/>
          </a:p>
        </p:txBody>
      </p:sp>
      <p:sp>
        <p:nvSpPr>
          <p:cNvPr id="13" name="ProfileText"/>
          <p:cNvSpPr>
            <a:spLocks noGrp="1"/>
          </p:cNvSpPr>
          <p:nvPr>
            <p:ph type="body" idx="111" hasCustomPrompt="1"/>
          </p:nvPr>
        </p:nvSpPr>
        <p:spPr>
          <a:xfrm>
            <a:off x="548640" y="1874520"/>
            <a:ext cx="731520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spc="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Présentation du profil en quatre à cinq lignes. Mettre en avant les expertises clés, les expériences marquantes, les domaines d'intervention.</a:t>
            </a:r>
            <a:endParaRPr lang="en-US" sz="1200" dirty="0"/>
          </a:p>
        </p:txBody>
      </p:sp>
      <p:sp>
        <p:nvSpPr>
          <p:cNvPr id="14" name="ExperienceSectionLabel"/>
          <p:cNvSpPr/>
          <p:nvPr/>
        </p:nvSpPr>
        <p:spPr>
          <a:xfrm>
            <a:off x="548640" y="3474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PARCOURS</a:t>
            </a:r>
            <a:endParaRPr lang="en-US" sz="1100" dirty="0"/>
          </a:p>
        </p:txBody>
      </p:sp>
      <p:sp>
        <p:nvSpPr>
          <p:cNvPr id="15" name="ExperienceHistory"/>
          <p:cNvSpPr>
            <a:spLocks noGrp="1"/>
          </p:cNvSpPr>
          <p:nvPr>
            <p:ph type="body" idx="113" hasCustomPrompt="1"/>
          </p:nvPr>
        </p:nvSpPr>
        <p:spPr>
          <a:xfrm>
            <a:off x="548640" y="3749040"/>
            <a:ext cx="75895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43000"/>
              </a:lnSpc>
              <a:buNone/>
              <a:defRPr lang="en-US" sz="1100" spc="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1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Poste / Fonction — Entreprise · Période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des responsabilités et réalisations.</a:t>
            </a:r>
            <a:endParaRPr lang="en-US" sz="1100" dirty="0"/>
          </a:p>
        </p:txBody>
      </p:sp>
      <p:sp>
        <p:nvSpPr>
          <p:cNvPr id="16" name="SkillsSectionLabel"/>
          <p:cNvSpPr/>
          <p:nvPr/>
        </p:nvSpPr>
        <p:spPr>
          <a:xfrm>
            <a:off x="845820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COMPÉTENCES CLÉS</a:t>
            </a:r>
            <a:endParaRPr lang="en-US" sz="1100" dirty="0"/>
          </a:p>
        </p:txBody>
      </p:sp>
      <p:sp>
        <p:nvSpPr>
          <p:cNvPr id="17" name="SkillsList"/>
          <p:cNvSpPr>
            <a:spLocks noGrp="1"/>
          </p:cNvSpPr>
          <p:nvPr>
            <p:ph type="body" idx="115" hasCustomPrompt="1"/>
          </p:nvPr>
        </p:nvSpPr>
        <p:spPr>
          <a:xfrm>
            <a:off x="8458200" y="2011680"/>
            <a:ext cx="32461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43000"/>
              </a:lnSpc>
              <a:buNone/>
              <a:defRPr lang="en-US" sz="1100" spc="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1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• Compétence 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• Compétence 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• Compétence 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• Compétence 4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• Compétence 5</a:t>
            </a:r>
            <a:endParaRPr lang="en-US" sz="1100" dirty="0"/>
          </a:p>
        </p:txBody>
      </p:sp>
      <p:sp>
        <p:nvSpPr>
          <p:cNvPr id="18" name="TechnologiesSectionLabel"/>
          <p:cNvSpPr/>
          <p:nvPr/>
        </p:nvSpPr>
        <p:spPr>
          <a:xfrm>
            <a:off x="845820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TECHNOLOGIES</a:t>
            </a:r>
            <a:endParaRPr lang="en-US" sz="1100" dirty="0"/>
          </a:p>
        </p:txBody>
      </p:sp>
      <p:sp>
        <p:nvSpPr>
          <p:cNvPr id="19" name="TechnologiesList"/>
          <p:cNvSpPr>
            <a:spLocks noGrp="1"/>
          </p:cNvSpPr>
          <p:nvPr>
            <p:ph type="body" idx="117" hasCustomPrompt="1"/>
          </p:nvPr>
        </p:nvSpPr>
        <p:spPr>
          <a:xfrm>
            <a:off x="8458200" y="4343400"/>
            <a:ext cx="32461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43000"/>
              </a:lnSpc>
              <a:buNone/>
              <a:defRPr lang="en-US" sz="1100" spc="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1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Technologie 1 · Technologie 2 · Technologie 3 · Technologie 4</a:t>
            </a:r>
            <a:endParaRPr lang="en-US" sz="1100" dirty="0"/>
          </a:p>
        </p:txBody>
      </p:sp>
      <p:sp>
        <p:nvSpPr>
          <p:cNvPr id="20" name="EducationSectionLabel"/>
          <p:cNvSpPr/>
          <p:nvPr/>
        </p:nvSpPr>
        <p:spPr>
          <a:xfrm>
            <a:off x="8458200" y="5349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FORMATION</a:t>
            </a:r>
            <a:endParaRPr lang="en-US" sz="1100" dirty="0"/>
          </a:p>
        </p:txBody>
      </p:sp>
      <p:sp>
        <p:nvSpPr>
          <p:cNvPr id="21" name="EducationText"/>
          <p:cNvSpPr>
            <a:spLocks noGrp="1"/>
          </p:cNvSpPr>
          <p:nvPr>
            <p:ph type="body" idx="119" hasCustomPrompt="1"/>
          </p:nvPr>
        </p:nvSpPr>
        <p:spPr>
          <a:xfrm>
            <a:off x="8458200" y="5623560"/>
            <a:ext cx="32461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43000"/>
              </a:lnSpc>
              <a:buNone/>
              <a:defRPr lang="en-US" sz="1100" spc="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1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Diplôme — École, Année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ROPOSITION_COMMERCI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/>
          <p:cNvSpPr>
            <a:spLocks noGrp="1"/>
          </p:cNvSpPr>
          <p:nvPr>
            <p:ph type="title" idx="104" hasCustomPrompt="1"/>
          </p:nvPr>
        </p:nvSpPr>
        <p:spPr>
          <a:xfrm>
            <a:off x="548640" y="45720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05000"/>
              </a:lnSpc>
              <a:buNone/>
              <a:defRPr lang="en-US" sz="3400" spc="-136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l">
              <a:buNone/>
            </a:pPr>
            <a:r>
              <a:rPr lang="en-US" sz="34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Titre de la slide</a:t>
            </a:r>
            <a:endParaRPr lang="en-US" sz="3400" dirty="0"/>
          </a:p>
        </p:txBody>
      </p:sp>
      <p:grpSp>
        <p:nvGrpSpPr>
          <p:cNvPr id="30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128016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IntroSentence"/>
          <p:cNvSpPr>
            <a:spLocks noGrp="1"/>
          </p:cNvSpPr>
          <p:nvPr>
            <p:ph type="body" idx="105" hasCustomPrompt="1"/>
          </p:nvPr>
        </p:nvSpPr>
        <p:spPr>
          <a:xfrm>
            <a:off x="548640" y="1437894"/>
            <a:ext cx="11064240" cy="4973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5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5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Phrase d'introduction commerciale.</a:t>
            </a:r>
            <a:endParaRPr lang="en-US" sz="1500" dirty="0"/>
          </a:p>
        </p:txBody>
      </p:sp>
      <p:sp>
        <p:nvSpPr>
          <p:cNvPr id="9" name="CategoryALabel"/>
          <p:cNvSpPr/>
          <p:nvPr/>
        </p:nvSpPr>
        <p:spPr>
          <a:xfrm>
            <a:off x="548640" y="220853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CATÉGORIE A</a:t>
            </a:r>
            <a:endParaRPr lang="en-US" sz="1200" dirty="0"/>
          </a:p>
        </p:txBody>
      </p:sp>
      <p:sp>
        <p:nvSpPr>
          <p:cNvPr id="11" name="LineItem2Highlight"/>
          <p:cNvSpPr/>
          <p:nvPr/>
        </p:nvSpPr>
        <p:spPr>
          <a:xfrm>
            <a:off x="548640" y="3351530"/>
            <a:ext cx="5486400" cy="685800"/>
          </a:xfrm>
          <a:prstGeom prst="rect">
            <a:avLst/>
          </a:prstGeom>
          <a:noFill/>
          <a:ln/>
        </p:spPr>
        <p:txBody>
          <a:bodyPr/>
          <a:lstStyle/>
          <a:p>
            <a:endParaRPr lang="fr-FR"/>
          </a:p>
        </p:txBody>
      </p:sp>
      <p:sp>
        <p:nvSpPr>
          <p:cNvPr id="12" name="LineItem1_Label"/>
          <p:cNvSpPr>
            <a:spLocks noGrp="1"/>
          </p:cNvSpPr>
          <p:nvPr>
            <p:ph type="body" idx="110" hasCustomPrompt="1"/>
          </p:nvPr>
        </p:nvSpPr>
        <p:spPr>
          <a:xfrm>
            <a:off x="731520" y="2574290"/>
            <a:ext cx="3657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Intitulé de la ligne</a:t>
            </a:r>
            <a:endParaRPr lang="en-US" sz="1500" dirty="0"/>
          </a:p>
        </p:txBody>
      </p:sp>
      <p:sp>
        <p:nvSpPr>
          <p:cNvPr id="13" name="LineItem1_Price"/>
          <p:cNvSpPr>
            <a:spLocks noGrp="1"/>
          </p:cNvSpPr>
          <p:nvPr>
            <p:ph type="body" idx="111" hasCustomPrompt="1"/>
          </p:nvPr>
        </p:nvSpPr>
        <p:spPr>
          <a:xfrm>
            <a:off x="4114800" y="2574290"/>
            <a:ext cx="18288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lnSpc>
                <a:spcPct val="150000"/>
              </a:lnSpc>
              <a:buNone/>
              <a:defRPr lang="en-US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r">
              <a:buNone/>
            </a:pPr>
            <a:r>
              <a:rPr lang="en-US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X 000 € HT</a:t>
            </a:r>
            <a:endParaRPr lang="en-US" sz="1500" dirty="0"/>
          </a:p>
        </p:txBody>
      </p:sp>
      <p:sp>
        <p:nvSpPr>
          <p:cNvPr id="14" name="LineItem2_Label"/>
          <p:cNvSpPr>
            <a:spLocks noGrp="1"/>
          </p:cNvSpPr>
          <p:nvPr>
            <p:ph type="body" idx="112" hasCustomPrompt="1"/>
          </p:nvPr>
        </p:nvSpPr>
        <p:spPr>
          <a:xfrm>
            <a:off x="731520" y="3351530"/>
            <a:ext cx="3657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Intitulé de la ligne</a:t>
            </a:r>
            <a:endParaRPr lang="en-US" sz="1500" dirty="0"/>
          </a:p>
        </p:txBody>
      </p:sp>
      <p:sp>
        <p:nvSpPr>
          <p:cNvPr id="15" name="LineItem2_Price"/>
          <p:cNvSpPr>
            <a:spLocks noGrp="1"/>
          </p:cNvSpPr>
          <p:nvPr>
            <p:ph type="body" idx="113" hasCustomPrompt="1"/>
          </p:nvPr>
        </p:nvSpPr>
        <p:spPr>
          <a:xfrm>
            <a:off x="4114800" y="3351530"/>
            <a:ext cx="18288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lnSpc>
                <a:spcPct val="150000"/>
              </a:lnSpc>
              <a:buNone/>
              <a:defRPr lang="en-US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r">
              <a:buNone/>
            </a:pPr>
            <a:r>
              <a:rPr lang="en-US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X 000 € HT</a:t>
            </a:r>
            <a:endParaRPr lang="en-US" sz="1500" dirty="0"/>
          </a:p>
        </p:txBody>
      </p:sp>
      <p:sp>
        <p:nvSpPr>
          <p:cNvPr id="16" name="CategoryBLabel"/>
          <p:cNvSpPr/>
          <p:nvPr/>
        </p:nvSpPr>
        <p:spPr>
          <a:xfrm>
            <a:off x="548640" y="427863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CATÉGORIE B</a:t>
            </a:r>
            <a:endParaRPr lang="en-US" sz="1200" dirty="0"/>
          </a:p>
        </p:txBody>
      </p:sp>
      <p:sp>
        <p:nvSpPr>
          <p:cNvPr id="18" name="Option2Highlight"/>
          <p:cNvSpPr/>
          <p:nvPr/>
        </p:nvSpPr>
        <p:spPr>
          <a:xfrm>
            <a:off x="3383280" y="4598670"/>
            <a:ext cx="2651760" cy="1143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Option1_Percentage"/>
          <p:cNvSpPr>
            <a:spLocks noGrp="1"/>
          </p:cNvSpPr>
          <p:nvPr>
            <p:ph type="body" idx="117" hasCustomPrompt="1"/>
          </p:nvPr>
        </p:nvSpPr>
        <p:spPr>
          <a:xfrm>
            <a:off x="548640" y="4690110"/>
            <a:ext cx="26517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lnSpc>
                <a:spcPct val="120000"/>
              </a:lnSpc>
              <a:buNone/>
              <a:defRPr lang="en-US" sz="3000" spc="-6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ctr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XX %</a:t>
            </a:r>
            <a:endParaRPr lang="en-US" sz="3000" dirty="0"/>
          </a:p>
        </p:txBody>
      </p:sp>
      <p:sp>
        <p:nvSpPr>
          <p:cNvPr id="20" name="Option1_Caption"/>
          <p:cNvSpPr>
            <a:spLocks noGrp="1"/>
          </p:cNvSpPr>
          <p:nvPr>
            <p:ph type="body" idx="118" hasCustomPrompt="1"/>
          </p:nvPr>
        </p:nvSpPr>
        <p:spPr>
          <a:xfrm>
            <a:off x="548640" y="5193030"/>
            <a:ext cx="26517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lnSpc>
                <a:spcPct val="150000"/>
              </a:lnSpc>
              <a:buNone/>
              <a:defRPr lang="en-US" sz="1200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légende option 1</a:t>
            </a:r>
            <a:endParaRPr lang="en-US" sz="1200" dirty="0"/>
          </a:p>
        </p:txBody>
      </p:sp>
      <p:sp>
        <p:nvSpPr>
          <p:cNvPr id="21" name="Option2_Percentage"/>
          <p:cNvSpPr>
            <a:spLocks noGrp="1"/>
          </p:cNvSpPr>
          <p:nvPr>
            <p:ph type="body" idx="119" hasCustomPrompt="1"/>
          </p:nvPr>
        </p:nvSpPr>
        <p:spPr>
          <a:xfrm>
            <a:off x="3383280" y="4690110"/>
            <a:ext cx="26517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lnSpc>
                <a:spcPct val="120000"/>
              </a:lnSpc>
              <a:buNone/>
              <a:defRPr lang="en-US" sz="3000" spc="-60" dirty="0">
                <a:solidFill>
                  <a:schemeClr val="lt2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ctr">
              <a:buNone/>
            </a:pPr>
            <a:r>
              <a:rPr lang="en-US" sz="3000" dirty="0">
                <a:solidFill>
                  <a:schemeClr val="lt2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XX %</a:t>
            </a:r>
            <a:endParaRPr lang="en-US" sz="3000" dirty="0"/>
          </a:p>
        </p:txBody>
      </p:sp>
      <p:sp>
        <p:nvSpPr>
          <p:cNvPr id="22" name="Option2_Caption"/>
          <p:cNvSpPr>
            <a:spLocks noGrp="1"/>
          </p:cNvSpPr>
          <p:nvPr>
            <p:ph type="body" idx="120" hasCustomPrompt="1"/>
          </p:nvPr>
        </p:nvSpPr>
        <p:spPr>
          <a:xfrm>
            <a:off x="3383280" y="5193030"/>
            <a:ext cx="26517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lnSpc>
                <a:spcPct val="150000"/>
              </a:lnSpc>
              <a:buNone/>
              <a:defRPr lang="en-US" sz="120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légende option 2</a:t>
            </a:r>
            <a:endParaRPr lang="en-US" sz="1200" dirty="0"/>
          </a:p>
        </p:txBody>
      </p:sp>
      <p:grpSp>
        <p:nvGrpSpPr>
          <p:cNvPr id="31" name="SummaryCardGroup"/>
          <p:cNvGrpSpPr/>
          <p:nvPr/>
        </p:nvGrpSpPr>
        <p:grpSpPr>
          <a:xfrm>
            <a:off x="6766560" y="2221230"/>
            <a:ext cx="4892040" cy="3520440"/>
            <a:chOff x="6766560" y="2926080"/>
            <a:chExt cx="4892040" cy="3520440"/>
          </a:xfrm>
        </p:grpSpPr>
        <p:sp>
          <p:nvSpPr>
            <p:cNvPr id="23" name="SummaryCardBackground"/>
            <p:cNvSpPr/>
            <p:nvPr/>
          </p:nvSpPr>
          <p:spPr>
            <a:xfrm>
              <a:off x="6766560" y="2926080"/>
              <a:ext cx="4892040" cy="3520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SummaryCardAccentTop"/>
            <p:cNvSpPr/>
            <p:nvPr/>
          </p:nvSpPr>
          <p:spPr>
            <a:xfrm>
              <a:off x="6766560" y="2926080"/>
              <a:ext cx="4892040" cy="36576"/>
            </a:xfrm>
            <a:prstGeom prst="rect">
              <a:avLst/>
            </a:prstGeom>
            <a:solidFill>
              <a:schemeClr val="lt2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SummaryCardAccentMark"/>
            <p:cNvSpPr/>
            <p:nvPr/>
          </p:nvSpPr>
          <p:spPr>
            <a:xfrm>
              <a:off x="6949440" y="5623560"/>
              <a:ext cx="457200" cy="36576"/>
            </a:xfrm>
            <a:prstGeom prst="rect">
              <a:avLst/>
            </a:prstGeom>
            <a:solidFill>
              <a:schemeClr val="lt2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6" name="SummaryLabel"/>
          <p:cNvSpPr>
            <a:spLocks noGrp="1"/>
          </p:cNvSpPr>
          <p:nvPr>
            <p:ph type="body" idx="124" hasCustomPrompt="1"/>
          </p:nvPr>
        </p:nvSpPr>
        <p:spPr>
          <a:xfrm>
            <a:off x="6949440" y="254127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b="1" kern="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b="1" kern="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CHIFFRE CLÉ</a:t>
            </a:r>
            <a:endParaRPr lang="en-US" sz="1200" dirty="0"/>
          </a:p>
        </p:txBody>
      </p:sp>
      <p:sp>
        <p:nvSpPr>
          <p:cNvPr id="27" name="SummaryValue"/>
          <p:cNvSpPr>
            <a:spLocks noGrp="1"/>
          </p:cNvSpPr>
          <p:nvPr>
            <p:ph type="body" idx="125" hasCustomPrompt="1"/>
          </p:nvPr>
        </p:nvSpPr>
        <p:spPr>
          <a:xfrm>
            <a:off x="6949440" y="2952750"/>
            <a:ext cx="4572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95000"/>
              </a:lnSpc>
              <a:buNone/>
              <a:defRPr lang="en-US" sz="7600" kern="0" spc="-456" dirty="0">
                <a:solidFill>
                  <a:schemeClr val="lt2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>
              <a:buNone/>
            </a:pPr>
            <a:r>
              <a:rPr lang="en-US" sz="7600" kern="0" spc="-456" dirty="0">
                <a:solidFill>
                  <a:schemeClr val="lt2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000 000</a:t>
            </a:r>
            <a:endParaRPr lang="en-US" sz="7600" dirty="0"/>
          </a:p>
        </p:txBody>
      </p:sp>
      <p:sp>
        <p:nvSpPr>
          <p:cNvPr id="28" name="SummaryUnit"/>
          <p:cNvSpPr>
            <a:spLocks noGrp="1"/>
          </p:cNvSpPr>
          <p:nvPr>
            <p:ph type="body" idx="126" hasCustomPrompt="1"/>
          </p:nvPr>
        </p:nvSpPr>
        <p:spPr>
          <a:xfrm>
            <a:off x="6949440" y="4278630"/>
            <a:ext cx="4572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20000"/>
              </a:lnSpc>
              <a:buNone/>
              <a:defRPr lang="en-US" sz="2600" spc="-52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260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€ HT</a:t>
            </a:r>
            <a:endParaRPr lang="en-US" sz="2600" dirty="0"/>
          </a:p>
        </p:txBody>
      </p:sp>
      <p:sp>
        <p:nvSpPr>
          <p:cNvPr id="29" name="SummaryCaption"/>
          <p:cNvSpPr>
            <a:spLocks noGrp="1"/>
          </p:cNvSpPr>
          <p:nvPr>
            <p:ph type="body" idx="127" hasCustomPrompt="1"/>
          </p:nvPr>
        </p:nvSpPr>
        <p:spPr>
          <a:xfrm>
            <a:off x="6949440" y="5055870"/>
            <a:ext cx="4572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200" i="1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200" i="1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Légende du chiffre clé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34747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PhotoCardGroup"/>
          <p:cNvGrpSpPr/>
          <p:nvPr/>
        </p:nvGrpSpPr>
        <p:grpSpPr>
          <a:xfrm>
            <a:off x="7772400" y="1645920"/>
            <a:ext cx="3931920" cy="4572000"/>
            <a:chOff x="7772400" y="1645920"/>
            <a:chExt cx="3931920" cy="4572000"/>
          </a:xfrm>
        </p:grpSpPr>
        <p:sp>
          <p:nvSpPr>
            <p:cNvPr id="6" name="PhotoCardBackground"/>
            <p:cNvSpPr/>
            <p:nvPr/>
          </p:nvSpPr>
          <p:spPr>
            <a:xfrm>
              <a:off x="7772400" y="1645920"/>
              <a:ext cx="3931920" cy="4572000"/>
            </a:xfrm>
            <a:prstGeom prst="rect">
              <a:avLst/>
            </a:prstGeom>
            <a:noFill/>
            <a:ln/>
          </p:spPr>
          <p:txBody>
            <a:bodyPr/>
            <a:lstStyle/>
            <a:p>
              <a:endParaRPr lang="fr-FR"/>
            </a:p>
          </p:txBody>
        </p:sp>
        <p:pic>
          <p:nvPicPr>
            <p:cNvPr id="8" name="PhotoCardImage" descr="sciam_logo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95360" y="2103120"/>
              <a:ext cx="2286000" cy="3017520"/>
            </a:xfrm>
            <a:prstGeom prst="rect">
              <a:avLst/>
            </a:prstGeom>
          </p:spPr>
        </p:pic>
        <p:sp>
          <p:nvSpPr>
            <p:cNvPr id="9" name="PhotoCardCompanyName"/>
            <p:cNvSpPr/>
            <p:nvPr/>
          </p:nvSpPr>
          <p:spPr>
            <a:xfrm>
              <a:off x="7772400" y="5166360"/>
              <a:ext cx="39319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kern="0" spc="-44" dirty="0">
                  <a:solidFill>
                    <a:schemeClr val="accent1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SCIAM</a:t>
              </a:r>
              <a:endParaRPr lang="en-US" sz="2200" dirty="0"/>
            </a:p>
          </p:txBody>
        </p:sp>
        <p:sp>
          <p:nvSpPr>
            <p:cNvPr id="10" name="PhotoCardTagline"/>
            <p:cNvSpPr/>
            <p:nvPr/>
          </p:nvSpPr>
          <p:spPr>
            <a:xfrm>
              <a:off x="7772400" y="5623560"/>
              <a:ext cx="39319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i="1" dirty="0">
                  <a:solidFill>
                    <a:schemeClr val="accent2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Architectes du logiciel</a:t>
              </a:r>
              <a:endParaRPr lang="en-US" sz="1200" dirty="0"/>
            </a:p>
          </p:txBody>
        </p:sp>
      </p:grpSp>
      <p:sp>
        <p:nvSpPr>
          <p:cNvPr id="11" name="ContactSectionLabel"/>
          <p:cNvSpPr/>
          <p:nvPr/>
        </p:nvSpPr>
        <p:spPr>
          <a:xfrm>
            <a:off x="548640" y="1645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VOTRE INTERLOCUTEUR</a:t>
            </a:r>
            <a:endParaRPr lang="en-US" sz="1200" dirty="0"/>
          </a:p>
        </p:txBody>
      </p:sp>
      <p:sp>
        <p:nvSpPr>
          <p:cNvPr id="12" name="Title"/>
          <p:cNvSpPr>
            <a:spLocks noGrp="1"/>
          </p:cNvSpPr>
          <p:nvPr>
            <p:ph type="title" idx="110" hasCustomPrompt="1"/>
          </p:nvPr>
        </p:nvSpPr>
        <p:spPr>
          <a:xfrm>
            <a:off x="548640" y="201168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100000"/>
              </a:lnSpc>
              <a:buNone/>
              <a:defRPr lang="en-US" sz="4400" spc="-264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defRPr>
            </a:lvl1pPr>
          </a:lstStyle>
          <a:p>
            <a:pPr marL="0" indent="0" algn="l">
              <a:buNone/>
            </a:pPr>
            <a:r>
              <a:rPr lang="en-US" sz="4400" dirty="0">
                <a:solidFill>
                  <a:schemeClr val="accent1"/>
                </a:solidFill>
                <a:latin typeface="+mj-lt" pitchFamily="18" charset="0"/>
                <a:ea typeface="+mj-ea" pitchFamily="18" charset="-122"/>
                <a:cs typeface="+mj-cs" pitchFamily="18" charset="-120"/>
              </a:rPr>
              <a:t>Prénom NOM</a:t>
            </a:r>
            <a:endParaRPr lang="en-US" sz="4400" dirty="0"/>
          </a:p>
        </p:txBody>
      </p:sp>
      <p:sp>
        <p:nvSpPr>
          <p:cNvPr id="13" name="JobTitle"/>
          <p:cNvSpPr>
            <a:spLocks noGrp="1"/>
          </p:cNvSpPr>
          <p:nvPr>
            <p:ph type="body" idx="111" hasCustomPrompt="1"/>
          </p:nvPr>
        </p:nvSpPr>
        <p:spPr>
          <a:xfrm>
            <a:off x="548640" y="2880360"/>
            <a:ext cx="7315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50000"/>
              </a:lnSpc>
              <a:buNone/>
              <a:defRPr lang="en-US" sz="1800" i="1" spc="0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800" i="1" dirty="0">
                <a:solidFill>
                  <a:schemeClr val="accen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Fonction — Entreprise</a:t>
            </a:r>
            <a:endParaRPr lang="en-US" sz="1800" dirty="0"/>
          </a:p>
        </p:txBody>
      </p:sp>
      <p:grpSp>
        <p:nvGrpSpPr>
          <p:cNvPr id="23" name="PhoneIconGroup"/>
          <p:cNvGrpSpPr/>
          <p:nvPr/>
        </p:nvGrpSpPr>
        <p:grpSpPr>
          <a:xfrm>
            <a:off x="548640" y="3886200"/>
            <a:ext cx="457200" cy="457200"/>
            <a:chOff x="548640" y="3886200"/>
            <a:chExt cx="457200" cy="457200"/>
          </a:xfrm>
        </p:grpSpPr>
        <p:sp>
          <p:nvSpPr>
            <p:cNvPr id="14" name="PhoneIconBackground"/>
            <p:cNvSpPr/>
            <p:nvPr/>
          </p:nvSpPr>
          <p:spPr>
            <a:xfrm>
              <a:off x="548640" y="3886200"/>
              <a:ext cx="457200" cy="457200"/>
            </a:xfrm>
            <a:prstGeom prst="rect">
              <a:avLst/>
            </a:prstGeom>
            <a:solidFill>
              <a:schemeClr val="lt2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PhoneIcon"/>
            <p:cNvSpPr/>
            <p:nvPr/>
          </p:nvSpPr>
          <p:spPr>
            <a:xfrm>
              <a:off x="548640" y="38862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  <a:latin typeface="+mn-lt"/>
                </a:rPr>
                <a:t>☎</a:t>
              </a:r>
              <a:endParaRPr lang="en-US" sz="1800" dirty="0"/>
            </a:p>
          </p:txBody>
        </p:sp>
      </p:grpSp>
      <p:sp>
        <p:nvSpPr>
          <p:cNvPr id="16" name="PhoneNumber"/>
          <p:cNvSpPr>
            <a:spLocks noGrp="1"/>
          </p:cNvSpPr>
          <p:nvPr>
            <p:ph type="body" idx="114" hasCustomPrompt="1"/>
          </p:nvPr>
        </p:nvSpPr>
        <p:spPr>
          <a:xfrm>
            <a:off x="1188720" y="388620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35000"/>
              </a:lnSpc>
              <a:buNone/>
              <a:defRPr lang="en-US" sz="2000" spc="-4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20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+33 X XX XX XX XX</a:t>
            </a:r>
            <a:endParaRPr lang="en-US" sz="2000" dirty="0"/>
          </a:p>
        </p:txBody>
      </p:sp>
      <p:grpSp>
        <p:nvGrpSpPr>
          <p:cNvPr id="24" name="EmailIconGroup"/>
          <p:cNvGrpSpPr/>
          <p:nvPr/>
        </p:nvGrpSpPr>
        <p:grpSpPr>
          <a:xfrm>
            <a:off x="548640" y="4526280"/>
            <a:ext cx="457200" cy="457200"/>
            <a:chOff x="548640" y="4526280"/>
            <a:chExt cx="457200" cy="457200"/>
          </a:xfrm>
        </p:grpSpPr>
        <p:sp>
          <p:nvSpPr>
            <p:cNvPr id="17" name="EmailIconBackground"/>
            <p:cNvSpPr/>
            <p:nvPr/>
          </p:nvSpPr>
          <p:spPr>
            <a:xfrm>
              <a:off x="548640" y="4526280"/>
              <a:ext cx="457200" cy="457200"/>
            </a:xfrm>
            <a:prstGeom prst="rect">
              <a:avLst/>
            </a:prstGeom>
            <a:solidFill>
              <a:schemeClr val="lt2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EmailIcon"/>
            <p:cNvSpPr/>
            <p:nvPr/>
          </p:nvSpPr>
          <p:spPr>
            <a:xfrm>
              <a:off x="548640" y="452628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chemeClr val="accent1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@</a:t>
              </a:r>
              <a:endParaRPr lang="en-US" sz="1800" dirty="0"/>
            </a:p>
          </p:txBody>
        </p:sp>
      </p:grpSp>
      <p:sp>
        <p:nvSpPr>
          <p:cNvPr id="19" name="Email"/>
          <p:cNvSpPr>
            <a:spLocks noGrp="1"/>
          </p:cNvSpPr>
          <p:nvPr>
            <p:ph type="body" idx="117" hasCustomPrompt="1"/>
          </p:nvPr>
        </p:nvSpPr>
        <p:spPr>
          <a:xfrm>
            <a:off x="1188720" y="452628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35000"/>
              </a:lnSpc>
              <a:buNone/>
              <a:defRPr lang="en-US" sz="2000" spc="-4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2000" dirty="0">
                <a:solidFill>
                  <a:schemeClr val="dk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prenom.nom@sciam.fr</a:t>
            </a:r>
            <a:endParaRPr lang="en-US" sz="2000" dirty="0"/>
          </a:p>
        </p:txBody>
      </p:sp>
      <p:sp>
        <p:nvSpPr>
          <p:cNvPr id="20" name="DocumentMeta"/>
          <p:cNvSpPr>
            <a:spLocks noGrp="1"/>
          </p:cNvSpPr>
          <p:nvPr>
            <p:ph type="body" idx="118" hasCustomPrompt="1"/>
          </p:nvPr>
        </p:nvSpPr>
        <p:spPr>
          <a:xfrm>
            <a:off x="54864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43000"/>
              </a:lnSpc>
              <a:buNone/>
              <a:defRPr lang="en-US" sz="1000" i="1" spc="0" dirty="0">
                <a:solidFill>
                  <a:schemeClr val="accent6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>
              <a:buNone/>
            </a:pPr>
            <a:r>
              <a:rPr lang="en-US" sz="1000" i="1" dirty="0">
                <a:solidFill>
                  <a:schemeClr val="accent6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Mois Année · Type de document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FRISE_CHRONOLOGIQ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Titre de la frise</a:t>
            </a:r>
          </a:p>
        </p:txBody>
      </p:sp>
      <p:sp>
        <p:nvSpPr>
          <p:cNvPr id="8" name="TimelineLine"/>
          <p:cNvSpPr/>
          <p:nvPr/>
        </p:nvSpPr>
        <p:spPr>
          <a:xfrm>
            <a:off x="1866900" y="3571240"/>
            <a:ext cx="8458200" cy="274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Milestone1_Dot"/>
          <p:cNvSpPr/>
          <p:nvPr/>
        </p:nvSpPr>
        <p:spPr>
          <a:xfrm>
            <a:off x="1775460" y="3479800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Milestone1_Year"/>
          <p:cNvSpPr>
            <a:spLocks noGrp="1"/>
          </p:cNvSpPr>
          <p:nvPr>
            <p:ph type="body" idx="11" hasCustomPrompt="1"/>
          </p:nvPr>
        </p:nvSpPr>
        <p:spPr>
          <a:xfrm>
            <a:off x="548640" y="2291080"/>
            <a:ext cx="26365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20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20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2024</a:t>
            </a:r>
          </a:p>
        </p:txBody>
      </p:sp>
      <p:sp>
        <p:nvSpPr>
          <p:cNvPr id="11" name="Milestone1_Description"/>
          <p:cNvSpPr>
            <a:spLocks noGrp="1"/>
          </p:cNvSpPr>
          <p:nvPr>
            <p:ph type="body" idx="12" hasCustomPrompt="1"/>
          </p:nvPr>
        </p:nvSpPr>
        <p:spPr>
          <a:xfrm>
            <a:off x="548640" y="3845560"/>
            <a:ext cx="2636520" cy="1280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5000"/>
              </a:lnSpc>
              <a:buNone/>
              <a:defRPr lang="fr-FR" sz="12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Décrivez l’étape clé de cette période.</a:t>
            </a:r>
          </a:p>
        </p:txBody>
      </p:sp>
      <p:sp>
        <p:nvSpPr>
          <p:cNvPr id="12" name="Milestone2_Dot"/>
          <p:cNvSpPr/>
          <p:nvPr/>
        </p:nvSpPr>
        <p:spPr>
          <a:xfrm>
            <a:off x="4594860" y="3479800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Milestone2_Year"/>
          <p:cNvSpPr>
            <a:spLocks noGrp="1"/>
          </p:cNvSpPr>
          <p:nvPr>
            <p:ph type="body" idx="13" hasCustomPrompt="1"/>
          </p:nvPr>
        </p:nvSpPr>
        <p:spPr>
          <a:xfrm>
            <a:off x="3368040" y="2291080"/>
            <a:ext cx="26365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20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20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2025</a:t>
            </a:r>
          </a:p>
        </p:txBody>
      </p:sp>
      <p:sp>
        <p:nvSpPr>
          <p:cNvPr id="14" name="Milestone2_Description"/>
          <p:cNvSpPr>
            <a:spLocks noGrp="1"/>
          </p:cNvSpPr>
          <p:nvPr>
            <p:ph type="body" idx="14" hasCustomPrompt="1"/>
          </p:nvPr>
        </p:nvSpPr>
        <p:spPr>
          <a:xfrm>
            <a:off x="3368040" y="3845560"/>
            <a:ext cx="2636520" cy="1280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5000"/>
              </a:lnSpc>
              <a:buNone/>
              <a:defRPr lang="fr-FR" sz="12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Décrivez l’étape clé de cette période.</a:t>
            </a:r>
          </a:p>
        </p:txBody>
      </p:sp>
      <p:sp>
        <p:nvSpPr>
          <p:cNvPr id="15" name="Milestone3_Dot"/>
          <p:cNvSpPr/>
          <p:nvPr/>
        </p:nvSpPr>
        <p:spPr>
          <a:xfrm>
            <a:off x="7414260" y="3479800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Milestone3_Year"/>
          <p:cNvSpPr>
            <a:spLocks noGrp="1"/>
          </p:cNvSpPr>
          <p:nvPr>
            <p:ph type="body" idx="15" hasCustomPrompt="1"/>
          </p:nvPr>
        </p:nvSpPr>
        <p:spPr>
          <a:xfrm>
            <a:off x="6187440" y="2291080"/>
            <a:ext cx="26365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20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20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2026</a:t>
            </a:r>
          </a:p>
        </p:txBody>
      </p:sp>
      <p:sp>
        <p:nvSpPr>
          <p:cNvPr id="17" name="Milestone3_Description"/>
          <p:cNvSpPr>
            <a:spLocks noGrp="1"/>
          </p:cNvSpPr>
          <p:nvPr>
            <p:ph type="body" idx="16" hasCustomPrompt="1"/>
          </p:nvPr>
        </p:nvSpPr>
        <p:spPr>
          <a:xfrm>
            <a:off x="6187440" y="3845560"/>
            <a:ext cx="2636520" cy="1280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5000"/>
              </a:lnSpc>
              <a:buNone/>
              <a:defRPr lang="fr-FR" sz="12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Décrivez l’étape clé de cette période.</a:t>
            </a:r>
          </a:p>
        </p:txBody>
      </p:sp>
      <p:sp>
        <p:nvSpPr>
          <p:cNvPr id="18" name="Milestone4_Dot"/>
          <p:cNvSpPr/>
          <p:nvPr/>
        </p:nvSpPr>
        <p:spPr>
          <a:xfrm>
            <a:off x="10233660" y="3479800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Milestone4_Year"/>
          <p:cNvSpPr>
            <a:spLocks noGrp="1"/>
          </p:cNvSpPr>
          <p:nvPr>
            <p:ph type="body" idx="17" hasCustomPrompt="1"/>
          </p:nvPr>
        </p:nvSpPr>
        <p:spPr>
          <a:xfrm>
            <a:off x="9006840" y="2291080"/>
            <a:ext cx="26365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20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20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2027</a:t>
            </a:r>
          </a:p>
        </p:txBody>
      </p:sp>
      <p:sp>
        <p:nvSpPr>
          <p:cNvPr id="20" name="Milestone4_Description"/>
          <p:cNvSpPr>
            <a:spLocks noGrp="1"/>
          </p:cNvSpPr>
          <p:nvPr>
            <p:ph type="body" idx="18" hasCustomPrompt="1"/>
          </p:nvPr>
        </p:nvSpPr>
        <p:spPr>
          <a:xfrm>
            <a:off x="9006840" y="3845560"/>
            <a:ext cx="2636520" cy="1280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5000"/>
              </a:lnSpc>
              <a:buNone/>
              <a:defRPr lang="fr-FR" sz="12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Décrivez l’étape clé de cette période.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PROCESSUS_ET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tep4_Icon">
            <a:extLst>
              <a:ext uri="{FF2B5EF4-FFF2-40B4-BE49-F238E27FC236}">
                <a16:creationId xmlns:a16="http://schemas.microsoft.com/office/drawing/2014/main" id="{3BAE0160-3793-7384-B39E-71DBD87D32C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31255" y="1892300"/>
            <a:ext cx="487362" cy="4889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1" name="Step3_Title"/>
          <p:cNvSpPr>
            <a:spLocks noGrp="1"/>
          </p:cNvSpPr>
          <p:nvPr>
            <p:ph type="body" idx="15" hasCustomPrompt="1"/>
          </p:nvPr>
        </p:nvSpPr>
        <p:spPr>
          <a:xfrm>
            <a:off x="6565392" y="2472690"/>
            <a:ext cx="1926336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Étape</a:t>
            </a:r>
          </a:p>
        </p:txBody>
      </p:sp>
      <p:sp>
        <p:nvSpPr>
          <p:cNvPr id="22" name="Step3_Description"/>
          <p:cNvSpPr>
            <a:spLocks noGrp="1"/>
          </p:cNvSpPr>
          <p:nvPr>
            <p:ph type="body" idx="16" hasCustomPrompt="1"/>
          </p:nvPr>
        </p:nvSpPr>
        <p:spPr>
          <a:xfrm>
            <a:off x="6565392" y="3067050"/>
            <a:ext cx="1926336" cy="2697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5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Décrivez brièvement cette étape.</a:t>
            </a:r>
          </a:p>
        </p:txBody>
      </p:sp>
      <p:sp>
        <p:nvSpPr>
          <p:cNvPr id="26" name="Step4_Title"/>
          <p:cNvSpPr>
            <a:spLocks noGrp="1"/>
          </p:cNvSpPr>
          <p:nvPr userDrawn="1">
            <p:ph type="body" idx="17" hasCustomPrompt="1"/>
          </p:nvPr>
        </p:nvSpPr>
        <p:spPr>
          <a:xfrm>
            <a:off x="8811768" y="2472690"/>
            <a:ext cx="1926336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Étape</a:t>
            </a:r>
          </a:p>
        </p:txBody>
      </p:sp>
      <p:sp>
        <p:nvSpPr>
          <p:cNvPr id="27" name="Step4_Description"/>
          <p:cNvSpPr>
            <a:spLocks noGrp="1"/>
          </p:cNvSpPr>
          <p:nvPr userDrawn="1">
            <p:ph type="body" idx="18" hasCustomPrompt="1"/>
          </p:nvPr>
        </p:nvSpPr>
        <p:spPr>
          <a:xfrm>
            <a:off x="8811768" y="3067050"/>
            <a:ext cx="1926336" cy="2697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5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Décrivez brièvement cette étape.</a:t>
            </a:r>
          </a:p>
        </p:txBody>
      </p:sp>
      <p:sp>
        <p:nvSpPr>
          <p:cNvPr id="46" name="Step3_Icon">
            <a:extLst>
              <a:ext uri="{FF2B5EF4-FFF2-40B4-BE49-F238E27FC236}">
                <a16:creationId xmlns:a16="http://schemas.microsoft.com/office/drawing/2014/main" id="{4E1C503D-B7B9-078E-510D-AC698AB2E9B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284879" y="1894713"/>
            <a:ext cx="487362" cy="4889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36" name="Step2_Title">
            <a:extLst>
              <a:ext uri="{FF2B5EF4-FFF2-40B4-BE49-F238E27FC236}">
                <a16:creationId xmlns:a16="http://schemas.microsoft.com/office/drawing/2014/main" id="{53A0B17B-79B6-330C-1FCD-5D627038112A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319016" y="2470277"/>
            <a:ext cx="1926336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Étape</a:t>
            </a:r>
          </a:p>
        </p:txBody>
      </p:sp>
      <p:sp>
        <p:nvSpPr>
          <p:cNvPr id="37" name="Step2_Description">
            <a:extLst>
              <a:ext uri="{FF2B5EF4-FFF2-40B4-BE49-F238E27FC236}">
                <a16:creationId xmlns:a16="http://schemas.microsoft.com/office/drawing/2014/main" id="{55353439-A9BD-6C91-28DB-F8565C0F42BB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319016" y="3064637"/>
            <a:ext cx="1926336" cy="2697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5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Décrivez brièvement cette étape.</a:t>
            </a:r>
          </a:p>
        </p:txBody>
      </p:sp>
      <p:sp>
        <p:nvSpPr>
          <p:cNvPr id="38" name="Step2_Icon">
            <a:extLst>
              <a:ext uri="{FF2B5EF4-FFF2-40B4-BE49-F238E27FC236}">
                <a16:creationId xmlns:a16="http://schemas.microsoft.com/office/drawing/2014/main" id="{3A74A08F-41B2-0557-057F-BCE6E3B4EA8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038503" y="1889887"/>
            <a:ext cx="487362" cy="4889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Notre démarche en étapes</a:t>
            </a:r>
          </a:p>
        </p:txBody>
      </p:sp>
      <p:grpSp>
        <p:nvGrpSpPr>
          <p:cNvPr id="47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" name="Step1_Title"/>
          <p:cNvSpPr>
            <a:spLocks noGrp="1"/>
          </p:cNvSpPr>
          <p:nvPr>
            <p:ph type="body" idx="11" hasCustomPrompt="1"/>
          </p:nvPr>
        </p:nvSpPr>
        <p:spPr>
          <a:xfrm>
            <a:off x="2072640" y="2472690"/>
            <a:ext cx="1926336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Étape</a:t>
            </a:r>
          </a:p>
        </p:txBody>
      </p:sp>
      <p:sp>
        <p:nvSpPr>
          <p:cNvPr id="12" name="Step1_Description"/>
          <p:cNvSpPr>
            <a:spLocks noGrp="1"/>
          </p:cNvSpPr>
          <p:nvPr>
            <p:ph type="body" idx="12" hasCustomPrompt="1"/>
          </p:nvPr>
        </p:nvSpPr>
        <p:spPr>
          <a:xfrm>
            <a:off x="2072640" y="3067050"/>
            <a:ext cx="1926336" cy="2697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5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Décrivez brièvement cette étape.</a:t>
            </a:r>
          </a:p>
        </p:txBody>
      </p:sp>
      <p:sp>
        <p:nvSpPr>
          <p:cNvPr id="34" name="Step1_Icon">
            <a:extLst>
              <a:ext uri="{FF2B5EF4-FFF2-40B4-BE49-F238E27FC236}">
                <a16:creationId xmlns:a16="http://schemas.microsoft.com/office/drawing/2014/main" id="{F16091C6-7065-0347-45D0-B9DBB5C332A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792127" y="1892300"/>
            <a:ext cx="487362" cy="488950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HIFFRES_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Chiffres clés</a:t>
            </a:r>
          </a:p>
        </p:txBody>
      </p:sp>
      <p:grpSp>
        <p:nvGrpSpPr>
          <p:cNvPr id="21" name="Kpi1_CardGroup"/>
          <p:cNvGrpSpPr/>
          <p:nvPr/>
        </p:nvGrpSpPr>
        <p:grpSpPr>
          <a:xfrm>
            <a:off x="548640" y="2767330"/>
            <a:ext cx="3576320" cy="2926080"/>
            <a:chOff x="548640" y="2697480"/>
            <a:chExt cx="3576320" cy="2926080"/>
          </a:xfrm>
        </p:grpSpPr>
        <p:sp>
          <p:nvSpPr>
            <p:cNvPr id="8" name="Kpi1_CardBackground"/>
            <p:cNvSpPr/>
            <p:nvPr/>
          </p:nvSpPr>
          <p:spPr>
            <a:xfrm>
              <a:off x="548640" y="2697480"/>
              <a:ext cx="3576320" cy="2926080"/>
            </a:xfrm>
            <a:prstGeom prst="rect">
              <a:avLst/>
            </a:prstGeom>
            <a:solidFill>
              <a:srgbClr val="ECEEF2"/>
            </a:solidFill>
            <a:ln/>
          </p:spPr>
        </p:sp>
        <p:sp>
          <p:nvSpPr>
            <p:cNvPr id="9" name="Kpi1_CardAccentTop"/>
            <p:cNvSpPr/>
            <p:nvPr/>
          </p:nvSpPr>
          <p:spPr>
            <a:xfrm>
              <a:off x="548640" y="2697480"/>
              <a:ext cx="3576320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</p:grpSp>
      <p:sp>
        <p:nvSpPr>
          <p:cNvPr id="10" name="Kpi1_Value"/>
          <p:cNvSpPr>
            <a:spLocks noGrp="1"/>
          </p:cNvSpPr>
          <p:nvPr>
            <p:ph type="body" idx="11" hasCustomPrompt="1"/>
          </p:nvPr>
        </p:nvSpPr>
        <p:spPr>
          <a:xfrm>
            <a:off x="640080" y="3315970"/>
            <a:ext cx="339344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6600" b="1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6600" b="1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87%</a:t>
            </a:r>
          </a:p>
        </p:txBody>
      </p:sp>
      <p:sp>
        <p:nvSpPr>
          <p:cNvPr id="11" name="Kpi1_Caption"/>
          <p:cNvSpPr>
            <a:spLocks noGrp="1"/>
          </p:cNvSpPr>
          <p:nvPr>
            <p:ph type="body" idx="12" hasCustomPrompt="1"/>
          </p:nvPr>
        </p:nvSpPr>
        <p:spPr>
          <a:xfrm>
            <a:off x="640080" y="4596130"/>
            <a:ext cx="339344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0000"/>
              </a:lnSpc>
              <a:buNone/>
              <a:defRPr lang="fr-FR" sz="13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3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Légende du chiffre clé.</a:t>
            </a:r>
          </a:p>
        </p:txBody>
      </p:sp>
      <p:grpSp>
        <p:nvGrpSpPr>
          <p:cNvPr id="22" name="Kpi2_CardGroup"/>
          <p:cNvGrpSpPr/>
          <p:nvPr/>
        </p:nvGrpSpPr>
        <p:grpSpPr>
          <a:xfrm>
            <a:off x="4307840" y="2767330"/>
            <a:ext cx="3576320" cy="2926080"/>
            <a:chOff x="4307840" y="2697480"/>
            <a:chExt cx="3576320" cy="2926080"/>
          </a:xfrm>
        </p:grpSpPr>
        <p:sp>
          <p:nvSpPr>
            <p:cNvPr id="12" name="Kpi2_CardBackground"/>
            <p:cNvSpPr/>
            <p:nvPr/>
          </p:nvSpPr>
          <p:spPr>
            <a:xfrm>
              <a:off x="4307840" y="2697480"/>
              <a:ext cx="3576320" cy="2926080"/>
            </a:xfrm>
            <a:prstGeom prst="rect">
              <a:avLst/>
            </a:prstGeom>
            <a:solidFill>
              <a:srgbClr val="ECEEF2"/>
            </a:solidFill>
            <a:ln/>
          </p:spPr>
        </p:sp>
        <p:sp>
          <p:nvSpPr>
            <p:cNvPr id="13" name="Kpi2_CardAccentTop"/>
            <p:cNvSpPr/>
            <p:nvPr/>
          </p:nvSpPr>
          <p:spPr>
            <a:xfrm>
              <a:off x="4307840" y="2697480"/>
              <a:ext cx="3576320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</p:grpSp>
      <p:sp>
        <p:nvSpPr>
          <p:cNvPr id="14" name="Kpi2_Value"/>
          <p:cNvSpPr>
            <a:spLocks noGrp="1"/>
          </p:cNvSpPr>
          <p:nvPr>
            <p:ph type="body" idx="13" hasCustomPrompt="1"/>
          </p:nvPr>
        </p:nvSpPr>
        <p:spPr>
          <a:xfrm>
            <a:off x="4399280" y="3315970"/>
            <a:ext cx="339344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6600" b="1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6600" b="1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87%</a:t>
            </a:r>
          </a:p>
        </p:txBody>
      </p:sp>
      <p:sp>
        <p:nvSpPr>
          <p:cNvPr id="15" name="Kpi2_Caption"/>
          <p:cNvSpPr>
            <a:spLocks noGrp="1"/>
          </p:cNvSpPr>
          <p:nvPr>
            <p:ph type="body" idx="14" hasCustomPrompt="1"/>
          </p:nvPr>
        </p:nvSpPr>
        <p:spPr>
          <a:xfrm>
            <a:off x="4399280" y="4596130"/>
            <a:ext cx="339344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0000"/>
              </a:lnSpc>
              <a:buNone/>
              <a:defRPr lang="fr-FR" sz="13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3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Légende du chiffre clé.</a:t>
            </a:r>
          </a:p>
        </p:txBody>
      </p:sp>
      <p:grpSp>
        <p:nvGrpSpPr>
          <p:cNvPr id="23" name="Kpi3_CardGroup"/>
          <p:cNvGrpSpPr/>
          <p:nvPr/>
        </p:nvGrpSpPr>
        <p:grpSpPr>
          <a:xfrm>
            <a:off x="8067040" y="2767330"/>
            <a:ext cx="3576320" cy="2926080"/>
            <a:chOff x="8067040" y="2697480"/>
            <a:chExt cx="3576320" cy="2926080"/>
          </a:xfrm>
        </p:grpSpPr>
        <p:sp>
          <p:nvSpPr>
            <p:cNvPr id="16" name="Kpi3_CardBackground"/>
            <p:cNvSpPr/>
            <p:nvPr/>
          </p:nvSpPr>
          <p:spPr>
            <a:xfrm>
              <a:off x="8067040" y="2697480"/>
              <a:ext cx="3576320" cy="2926080"/>
            </a:xfrm>
            <a:prstGeom prst="rect">
              <a:avLst/>
            </a:prstGeom>
            <a:solidFill>
              <a:srgbClr val="ECEEF2"/>
            </a:solidFill>
            <a:ln/>
          </p:spPr>
        </p:sp>
        <p:sp>
          <p:nvSpPr>
            <p:cNvPr id="17" name="Kpi3_CardAccentTop"/>
            <p:cNvSpPr/>
            <p:nvPr/>
          </p:nvSpPr>
          <p:spPr>
            <a:xfrm>
              <a:off x="8067040" y="2697480"/>
              <a:ext cx="3576320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</p:grpSp>
      <p:sp>
        <p:nvSpPr>
          <p:cNvPr id="18" name="Kpi3_Value"/>
          <p:cNvSpPr>
            <a:spLocks noGrp="1"/>
          </p:cNvSpPr>
          <p:nvPr>
            <p:ph type="body" idx="15" hasCustomPrompt="1"/>
          </p:nvPr>
        </p:nvSpPr>
        <p:spPr>
          <a:xfrm>
            <a:off x="8158480" y="3315970"/>
            <a:ext cx="339344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6600" b="1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6600" b="1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87%</a:t>
            </a:r>
          </a:p>
        </p:txBody>
      </p:sp>
      <p:sp>
        <p:nvSpPr>
          <p:cNvPr id="19" name="Kpi3_Caption"/>
          <p:cNvSpPr>
            <a:spLocks noGrp="1"/>
          </p:cNvSpPr>
          <p:nvPr>
            <p:ph type="body" idx="16" hasCustomPrompt="1"/>
          </p:nvPr>
        </p:nvSpPr>
        <p:spPr>
          <a:xfrm>
            <a:off x="8158480" y="4596130"/>
            <a:ext cx="339344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0000"/>
              </a:lnSpc>
              <a:buNone/>
              <a:defRPr lang="fr-FR" sz="13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3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Légende du chiffre clé.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ABLEAU_COMPARATI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omparisonTable">
            <a:extLst>
              <a:ext uri="{FF2B5EF4-FFF2-40B4-BE49-F238E27FC236}">
                <a16:creationId xmlns:a16="http://schemas.microsoft.com/office/drawing/2014/main" id="{06E7DB0F-1CA1-07B9-AA45-03A8810C7A14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543560" y="1655825"/>
            <a:ext cx="11094719" cy="4291585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Cliquez sur l'icône pour ajouter un tableau</a:t>
            </a:r>
          </a:p>
        </p:txBody>
      </p:sp>
      <p:grpSp>
        <p:nvGrpSpPr>
          <p:cNvPr id="36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Tableau comparatif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ETUDE_DE_C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Étude de cas client</a:t>
            </a:r>
          </a:p>
        </p:txBody>
      </p:sp>
      <p:sp>
        <p:nvSpPr>
          <p:cNvPr id="9" name="ContextCardAccentTop"/>
          <p:cNvSpPr/>
          <p:nvPr/>
        </p:nvSpPr>
        <p:spPr>
          <a:xfrm>
            <a:off x="548640" y="1751330"/>
            <a:ext cx="5455920" cy="3657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ContextTitle"/>
          <p:cNvSpPr>
            <a:spLocks noGrp="1"/>
          </p:cNvSpPr>
          <p:nvPr>
            <p:ph type="body" idx="11" hasCustomPrompt="1"/>
          </p:nvPr>
        </p:nvSpPr>
        <p:spPr>
          <a:xfrm>
            <a:off x="708660" y="1934210"/>
            <a:ext cx="513588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Contexte</a:t>
            </a:r>
          </a:p>
        </p:txBody>
      </p:sp>
      <p:sp>
        <p:nvSpPr>
          <p:cNvPr id="11" name="ContextDescription"/>
          <p:cNvSpPr>
            <a:spLocks noGrp="1"/>
          </p:cNvSpPr>
          <p:nvPr>
            <p:ph type="body" idx="12" hasCustomPrompt="1"/>
          </p:nvPr>
        </p:nvSpPr>
        <p:spPr>
          <a:xfrm>
            <a:off x="708660" y="2527490"/>
            <a:ext cx="513588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2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2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Situation initiale et enjeux du client.</a:t>
            </a:r>
          </a:p>
        </p:txBody>
      </p:sp>
      <p:sp>
        <p:nvSpPr>
          <p:cNvPr id="13" name="SolutionCardAccentTop"/>
          <p:cNvSpPr/>
          <p:nvPr/>
        </p:nvSpPr>
        <p:spPr>
          <a:xfrm>
            <a:off x="6187440" y="1751330"/>
            <a:ext cx="5455920" cy="3657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4" name="SolutionTitle"/>
          <p:cNvSpPr>
            <a:spLocks noGrp="1"/>
          </p:cNvSpPr>
          <p:nvPr>
            <p:ph type="body" idx="13" hasCustomPrompt="1"/>
          </p:nvPr>
        </p:nvSpPr>
        <p:spPr>
          <a:xfrm>
            <a:off x="6347460" y="1934210"/>
            <a:ext cx="513588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Solution</a:t>
            </a:r>
          </a:p>
        </p:txBody>
      </p:sp>
      <p:sp>
        <p:nvSpPr>
          <p:cNvPr id="15" name="SolutionDescription"/>
          <p:cNvSpPr>
            <a:spLocks noGrp="1"/>
          </p:cNvSpPr>
          <p:nvPr>
            <p:ph type="body" idx="14" hasCustomPrompt="1"/>
          </p:nvPr>
        </p:nvSpPr>
        <p:spPr>
          <a:xfrm>
            <a:off x="6347460" y="2527490"/>
            <a:ext cx="513588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2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2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Dispositif mis en place par SCIAM.</a:t>
            </a:r>
          </a:p>
        </p:txBody>
      </p:sp>
      <p:sp>
        <p:nvSpPr>
          <p:cNvPr id="17" name="ResultsCardAccentTop"/>
          <p:cNvSpPr/>
          <p:nvPr/>
        </p:nvSpPr>
        <p:spPr>
          <a:xfrm>
            <a:off x="548640" y="4037330"/>
            <a:ext cx="7985760" cy="3657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ResultsTitle"/>
          <p:cNvSpPr>
            <a:spLocks noGrp="1"/>
          </p:cNvSpPr>
          <p:nvPr>
            <p:ph type="body" idx="15" hasCustomPrompt="1"/>
          </p:nvPr>
        </p:nvSpPr>
        <p:spPr>
          <a:xfrm>
            <a:off x="708660" y="4220210"/>
            <a:ext cx="766572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Résultats</a:t>
            </a:r>
          </a:p>
        </p:txBody>
      </p:sp>
      <p:sp>
        <p:nvSpPr>
          <p:cNvPr id="19" name="ResultsDescription"/>
          <p:cNvSpPr>
            <a:spLocks noGrp="1"/>
          </p:cNvSpPr>
          <p:nvPr>
            <p:ph type="body" idx="16" hasCustomPrompt="1"/>
          </p:nvPr>
        </p:nvSpPr>
        <p:spPr>
          <a:xfrm>
            <a:off x="708660" y="4723130"/>
            <a:ext cx="7665720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2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2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Bénéfices mesurés et gains obtenus.</a:t>
            </a:r>
          </a:p>
        </p:txBody>
      </p:sp>
      <p:sp>
        <p:nvSpPr>
          <p:cNvPr id="20" name="KpiCardBackground"/>
          <p:cNvSpPr/>
          <p:nvPr userDrawn="1"/>
        </p:nvSpPr>
        <p:spPr>
          <a:xfrm>
            <a:off x="8717280" y="4037330"/>
            <a:ext cx="2926080" cy="20116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KpiValue"/>
          <p:cNvSpPr>
            <a:spLocks noGrp="1"/>
          </p:cNvSpPr>
          <p:nvPr>
            <p:ph type="body" idx="17" hasCustomPrompt="1"/>
          </p:nvPr>
        </p:nvSpPr>
        <p:spPr>
          <a:xfrm>
            <a:off x="8808720" y="422021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4000" b="1" spc="0" dirty="0">
                <a:solidFill>
                  <a:schemeClr val="lt2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4000" b="1" dirty="0">
                <a:solidFill>
                  <a:schemeClr val="l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+40%</a:t>
            </a:r>
          </a:p>
        </p:txBody>
      </p:sp>
      <p:sp>
        <p:nvSpPr>
          <p:cNvPr id="22" name="KpiLabel"/>
          <p:cNvSpPr>
            <a:spLocks noGrp="1"/>
          </p:cNvSpPr>
          <p:nvPr>
            <p:ph type="body" idx="18" hasCustomPrompt="1"/>
          </p:nvPr>
        </p:nvSpPr>
        <p:spPr>
          <a:xfrm>
            <a:off x="8808720" y="504317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20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KPI principal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EQUI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L’équipe</a:t>
            </a:r>
          </a:p>
        </p:txBody>
      </p:sp>
      <p:grpSp>
        <p:nvGrpSpPr>
          <p:cNvPr id="26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Member1_Photo"/>
          <p:cNvSpPr>
            <a:spLocks noGrp="1"/>
          </p:cNvSpPr>
          <p:nvPr>
            <p:ph type="pic" idx="11" hasCustomPrompt="1"/>
          </p:nvPr>
        </p:nvSpPr>
        <p:spPr>
          <a:xfrm>
            <a:off x="1788160" y="2011680"/>
            <a:ext cx="1097280" cy="1097280"/>
          </a:xfrm>
          <a:prstGeom prst="ellipse">
            <a:avLst/>
          </a:prstGeom>
          <a:solidFill>
            <a:srgbClr val="ECEEF2"/>
          </a:solidFill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0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0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Photo</a:t>
            </a:r>
          </a:p>
        </p:txBody>
      </p:sp>
      <p:sp>
        <p:nvSpPr>
          <p:cNvPr id="9" name="Member1_Name"/>
          <p:cNvSpPr>
            <a:spLocks noGrp="1"/>
          </p:cNvSpPr>
          <p:nvPr>
            <p:ph type="body" idx="12" hasCustomPrompt="1"/>
          </p:nvPr>
        </p:nvSpPr>
        <p:spPr>
          <a:xfrm>
            <a:off x="548640" y="3154680"/>
            <a:ext cx="357632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Prénom Nom</a:t>
            </a:r>
          </a:p>
        </p:txBody>
      </p:sp>
      <p:sp>
        <p:nvSpPr>
          <p:cNvPr id="10" name="Member1_Role"/>
          <p:cNvSpPr>
            <a:spLocks noGrp="1"/>
          </p:cNvSpPr>
          <p:nvPr>
            <p:ph type="body" idx="13" hasCustomPrompt="1"/>
          </p:nvPr>
        </p:nvSpPr>
        <p:spPr>
          <a:xfrm>
            <a:off x="548640" y="3520440"/>
            <a:ext cx="357632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Rôle / fonction</a:t>
            </a:r>
          </a:p>
        </p:txBody>
      </p:sp>
      <p:sp>
        <p:nvSpPr>
          <p:cNvPr id="11" name="Member2_Photo"/>
          <p:cNvSpPr>
            <a:spLocks noGrp="1"/>
          </p:cNvSpPr>
          <p:nvPr>
            <p:ph type="pic" idx="14" hasCustomPrompt="1"/>
          </p:nvPr>
        </p:nvSpPr>
        <p:spPr>
          <a:xfrm>
            <a:off x="5547360" y="2011680"/>
            <a:ext cx="1097280" cy="1097280"/>
          </a:xfrm>
          <a:prstGeom prst="ellipse">
            <a:avLst/>
          </a:prstGeom>
          <a:solidFill>
            <a:srgbClr val="ECEEF2"/>
          </a:solidFill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0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0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Photo</a:t>
            </a:r>
          </a:p>
        </p:txBody>
      </p:sp>
      <p:sp>
        <p:nvSpPr>
          <p:cNvPr id="12" name="Member2_Name"/>
          <p:cNvSpPr>
            <a:spLocks noGrp="1"/>
          </p:cNvSpPr>
          <p:nvPr>
            <p:ph type="body" idx="15" hasCustomPrompt="1"/>
          </p:nvPr>
        </p:nvSpPr>
        <p:spPr>
          <a:xfrm>
            <a:off x="4307840" y="3154680"/>
            <a:ext cx="357632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Prénom Nom</a:t>
            </a:r>
          </a:p>
        </p:txBody>
      </p:sp>
      <p:sp>
        <p:nvSpPr>
          <p:cNvPr id="13" name="Member2_Role"/>
          <p:cNvSpPr>
            <a:spLocks noGrp="1"/>
          </p:cNvSpPr>
          <p:nvPr>
            <p:ph type="body" idx="16" hasCustomPrompt="1"/>
          </p:nvPr>
        </p:nvSpPr>
        <p:spPr>
          <a:xfrm>
            <a:off x="4307840" y="3520440"/>
            <a:ext cx="357632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Rôle / fonction</a:t>
            </a:r>
          </a:p>
        </p:txBody>
      </p:sp>
      <p:sp>
        <p:nvSpPr>
          <p:cNvPr id="14" name="Member3_Photo"/>
          <p:cNvSpPr>
            <a:spLocks noGrp="1"/>
          </p:cNvSpPr>
          <p:nvPr>
            <p:ph type="pic" idx="17" hasCustomPrompt="1"/>
          </p:nvPr>
        </p:nvSpPr>
        <p:spPr>
          <a:xfrm>
            <a:off x="9306560" y="2011680"/>
            <a:ext cx="1097280" cy="1097280"/>
          </a:xfrm>
          <a:prstGeom prst="ellipse">
            <a:avLst/>
          </a:prstGeom>
          <a:solidFill>
            <a:srgbClr val="ECEEF2"/>
          </a:solidFill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0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0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Photo</a:t>
            </a:r>
          </a:p>
        </p:txBody>
      </p:sp>
      <p:sp>
        <p:nvSpPr>
          <p:cNvPr id="15" name="Member3_Name"/>
          <p:cNvSpPr>
            <a:spLocks noGrp="1"/>
          </p:cNvSpPr>
          <p:nvPr>
            <p:ph type="body" idx="18" hasCustomPrompt="1"/>
          </p:nvPr>
        </p:nvSpPr>
        <p:spPr>
          <a:xfrm>
            <a:off x="8067040" y="3154680"/>
            <a:ext cx="357632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Prénom Nom</a:t>
            </a:r>
          </a:p>
        </p:txBody>
      </p:sp>
      <p:sp>
        <p:nvSpPr>
          <p:cNvPr id="16" name="Member3_Role"/>
          <p:cNvSpPr>
            <a:spLocks noGrp="1"/>
          </p:cNvSpPr>
          <p:nvPr>
            <p:ph type="body" idx="19" hasCustomPrompt="1"/>
          </p:nvPr>
        </p:nvSpPr>
        <p:spPr>
          <a:xfrm>
            <a:off x="8067040" y="3520440"/>
            <a:ext cx="357632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Rôle / fonction</a:t>
            </a:r>
          </a:p>
        </p:txBody>
      </p:sp>
      <p:sp>
        <p:nvSpPr>
          <p:cNvPr id="17" name="Member4_Photo"/>
          <p:cNvSpPr>
            <a:spLocks noGrp="1"/>
          </p:cNvSpPr>
          <p:nvPr>
            <p:ph type="pic" idx="20" hasCustomPrompt="1"/>
          </p:nvPr>
        </p:nvSpPr>
        <p:spPr>
          <a:xfrm>
            <a:off x="1788160" y="4160520"/>
            <a:ext cx="1097280" cy="1097280"/>
          </a:xfrm>
          <a:prstGeom prst="ellipse">
            <a:avLst/>
          </a:prstGeom>
          <a:solidFill>
            <a:srgbClr val="ECEEF2"/>
          </a:solidFill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0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0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Photo</a:t>
            </a:r>
          </a:p>
        </p:txBody>
      </p:sp>
      <p:sp>
        <p:nvSpPr>
          <p:cNvPr id="18" name="Member4_Name"/>
          <p:cNvSpPr>
            <a:spLocks noGrp="1"/>
          </p:cNvSpPr>
          <p:nvPr>
            <p:ph type="body" idx="21" hasCustomPrompt="1"/>
          </p:nvPr>
        </p:nvSpPr>
        <p:spPr>
          <a:xfrm>
            <a:off x="548640" y="5303520"/>
            <a:ext cx="357632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Prénom Nom</a:t>
            </a:r>
          </a:p>
        </p:txBody>
      </p:sp>
      <p:sp>
        <p:nvSpPr>
          <p:cNvPr id="19" name="Member4_Role"/>
          <p:cNvSpPr>
            <a:spLocks noGrp="1"/>
          </p:cNvSpPr>
          <p:nvPr>
            <p:ph type="body" idx="22" hasCustomPrompt="1"/>
          </p:nvPr>
        </p:nvSpPr>
        <p:spPr>
          <a:xfrm>
            <a:off x="548640" y="5669280"/>
            <a:ext cx="357632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Rôle / fonction</a:t>
            </a:r>
          </a:p>
        </p:txBody>
      </p:sp>
      <p:sp>
        <p:nvSpPr>
          <p:cNvPr id="20" name="Member5_Photo"/>
          <p:cNvSpPr>
            <a:spLocks noGrp="1"/>
          </p:cNvSpPr>
          <p:nvPr>
            <p:ph type="pic" idx="23" hasCustomPrompt="1"/>
          </p:nvPr>
        </p:nvSpPr>
        <p:spPr>
          <a:xfrm>
            <a:off x="5547360" y="4160520"/>
            <a:ext cx="1097280" cy="1097280"/>
          </a:xfrm>
          <a:prstGeom prst="ellipse">
            <a:avLst/>
          </a:prstGeom>
          <a:solidFill>
            <a:srgbClr val="ECEEF2"/>
          </a:solidFill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0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0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Photo</a:t>
            </a:r>
          </a:p>
        </p:txBody>
      </p:sp>
      <p:sp>
        <p:nvSpPr>
          <p:cNvPr id="21" name="Member5_Name"/>
          <p:cNvSpPr>
            <a:spLocks noGrp="1"/>
          </p:cNvSpPr>
          <p:nvPr>
            <p:ph type="body" idx="24" hasCustomPrompt="1"/>
          </p:nvPr>
        </p:nvSpPr>
        <p:spPr>
          <a:xfrm>
            <a:off x="4307840" y="5303520"/>
            <a:ext cx="357632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Prénom Nom</a:t>
            </a:r>
          </a:p>
        </p:txBody>
      </p:sp>
      <p:sp>
        <p:nvSpPr>
          <p:cNvPr id="22" name="Member5_Role"/>
          <p:cNvSpPr>
            <a:spLocks noGrp="1"/>
          </p:cNvSpPr>
          <p:nvPr>
            <p:ph type="body" idx="25" hasCustomPrompt="1"/>
          </p:nvPr>
        </p:nvSpPr>
        <p:spPr>
          <a:xfrm>
            <a:off x="4307840" y="5669280"/>
            <a:ext cx="357632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Rôle / fonction</a:t>
            </a:r>
          </a:p>
        </p:txBody>
      </p:sp>
      <p:sp>
        <p:nvSpPr>
          <p:cNvPr id="23" name="Member6_Photo"/>
          <p:cNvSpPr>
            <a:spLocks noGrp="1"/>
          </p:cNvSpPr>
          <p:nvPr>
            <p:ph type="pic" idx="26" hasCustomPrompt="1"/>
          </p:nvPr>
        </p:nvSpPr>
        <p:spPr>
          <a:xfrm>
            <a:off x="9306560" y="4160520"/>
            <a:ext cx="1097280" cy="1097280"/>
          </a:xfrm>
          <a:prstGeom prst="ellipse">
            <a:avLst/>
          </a:prstGeom>
          <a:solidFill>
            <a:srgbClr val="ECEEF2"/>
          </a:solidFill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0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0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Photo</a:t>
            </a:r>
          </a:p>
        </p:txBody>
      </p:sp>
      <p:sp>
        <p:nvSpPr>
          <p:cNvPr id="24" name="Member6_Name"/>
          <p:cNvSpPr>
            <a:spLocks noGrp="1"/>
          </p:cNvSpPr>
          <p:nvPr>
            <p:ph type="body" idx="27" hasCustomPrompt="1"/>
          </p:nvPr>
        </p:nvSpPr>
        <p:spPr>
          <a:xfrm>
            <a:off x="8067040" y="5303520"/>
            <a:ext cx="357632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Prénom Nom</a:t>
            </a:r>
          </a:p>
        </p:txBody>
      </p:sp>
      <p:sp>
        <p:nvSpPr>
          <p:cNvPr id="25" name="Member6_Role"/>
          <p:cNvSpPr>
            <a:spLocks noGrp="1"/>
          </p:cNvSpPr>
          <p:nvPr>
            <p:ph type="body" idx="28" hasCustomPrompt="1"/>
          </p:nvPr>
        </p:nvSpPr>
        <p:spPr>
          <a:xfrm>
            <a:off x="8067040" y="5669280"/>
            <a:ext cx="357632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Rôle / fonction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GRAPHIQUE_INS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Analyse et enseignements</a:t>
            </a:r>
          </a:p>
        </p:txBody>
      </p:sp>
      <p:sp>
        <p:nvSpPr>
          <p:cNvPr id="8" name="Chart"/>
          <p:cNvSpPr>
            <a:spLocks noGrp="1"/>
          </p:cNvSpPr>
          <p:nvPr>
            <p:ph type="chart" idx="11"/>
          </p:nvPr>
        </p:nvSpPr>
        <p:spPr>
          <a:xfrm>
            <a:off x="548640" y="2011680"/>
            <a:ext cx="6656832" cy="4297680"/>
          </a:xfrm>
          <a:prstGeom prst="rect">
            <a:avLst/>
          </a:prstGeom>
          <a:solidFill>
            <a:srgbClr val="ECEEF2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6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60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Cliquez sur l'icône pour ajouter un graphique</a:t>
            </a:r>
            <a:endParaRPr lang="fr-FR" sz="1600" dirty="0">
              <a:solidFill>
                <a:srgbClr val="6B7280"/>
              </a:solidFill>
              <a:latin typeface="+mn-lt" pitchFamily="34" charset="0"/>
              <a:ea typeface="+mn-ea" pitchFamily="34" charset="-122"/>
              <a:cs typeface="+mn-cs" pitchFamily="34" charset="-120"/>
            </a:endParaRPr>
          </a:p>
        </p:txBody>
      </p:sp>
      <p:sp>
        <p:nvSpPr>
          <p:cNvPr id="9" name="InsightAccentTop"/>
          <p:cNvSpPr/>
          <p:nvPr/>
        </p:nvSpPr>
        <p:spPr>
          <a:xfrm>
            <a:off x="7479792" y="2011680"/>
            <a:ext cx="4163568" cy="3657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InsightTitle"/>
          <p:cNvSpPr>
            <a:spLocks noGrp="1"/>
          </p:cNvSpPr>
          <p:nvPr>
            <p:ph type="body" idx="12" hasCustomPrompt="1"/>
          </p:nvPr>
        </p:nvSpPr>
        <p:spPr>
          <a:xfrm>
            <a:off x="7479792" y="2148840"/>
            <a:ext cx="4163568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6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6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À retenir</a:t>
            </a:r>
          </a:p>
        </p:txBody>
      </p:sp>
      <p:sp>
        <p:nvSpPr>
          <p:cNvPr id="11" name="InsightText"/>
          <p:cNvSpPr>
            <a:spLocks noGrp="1"/>
          </p:cNvSpPr>
          <p:nvPr>
            <p:ph type="body" idx="13" hasCustomPrompt="1"/>
          </p:nvPr>
        </p:nvSpPr>
        <p:spPr>
          <a:xfrm>
            <a:off x="7479792" y="2697480"/>
            <a:ext cx="4163568" cy="3611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40000"/>
              </a:lnSpc>
              <a:buNone/>
              <a:defRPr lang="fr-FR" sz="13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3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Premier enseignement clé.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MATRICE_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Matrice de positionnement</a:t>
            </a:r>
          </a:p>
        </p:txBody>
      </p:sp>
      <p:sp>
        <p:nvSpPr>
          <p:cNvPr id="8" name="StrengthsBackground"/>
          <p:cNvSpPr/>
          <p:nvPr/>
        </p:nvSpPr>
        <p:spPr>
          <a:xfrm>
            <a:off x="548640" y="2286000"/>
            <a:ext cx="5501640" cy="1828800"/>
          </a:xfrm>
          <a:prstGeom prst="rect">
            <a:avLst/>
          </a:prstGeom>
          <a:solidFill>
            <a:srgbClr val="ECEEF2"/>
          </a:solidFill>
          <a:ln/>
        </p:spPr>
      </p:sp>
      <p:sp>
        <p:nvSpPr>
          <p:cNvPr id="9" name="StrengthsTitle"/>
          <p:cNvSpPr>
            <a:spLocks noGrp="1"/>
          </p:cNvSpPr>
          <p:nvPr>
            <p:ph type="body" idx="11" hasCustomPrompt="1"/>
          </p:nvPr>
        </p:nvSpPr>
        <p:spPr>
          <a:xfrm>
            <a:off x="662940" y="2377440"/>
            <a:ext cx="527304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Forces</a:t>
            </a:r>
          </a:p>
        </p:txBody>
      </p:sp>
      <p:sp>
        <p:nvSpPr>
          <p:cNvPr id="10" name="StrengthsItem"/>
          <p:cNvSpPr>
            <a:spLocks noGrp="1"/>
          </p:cNvSpPr>
          <p:nvPr>
            <p:ph type="body" idx="12" hasCustomPrompt="1"/>
          </p:nvPr>
        </p:nvSpPr>
        <p:spPr>
          <a:xfrm>
            <a:off x="662940" y="2834640"/>
            <a:ext cx="527304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Élément…</a:t>
            </a:r>
          </a:p>
        </p:txBody>
      </p:sp>
      <p:sp>
        <p:nvSpPr>
          <p:cNvPr id="11" name="WeaknessesBackground"/>
          <p:cNvSpPr/>
          <p:nvPr/>
        </p:nvSpPr>
        <p:spPr>
          <a:xfrm>
            <a:off x="6141720" y="2286000"/>
            <a:ext cx="5501640" cy="1828800"/>
          </a:xfrm>
          <a:prstGeom prst="rect">
            <a:avLst/>
          </a:prstGeom>
          <a:solidFill>
            <a:srgbClr val="ECEEF2"/>
          </a:solidFill>
          <a:ln/>
        </p:spPr>
      </p:sp>
      <p:sp>
        <p:nvSpPr>
          <p:cNvPr id="12" name="WeaknessesTitle"/>
          <p:cNvSpPr>
            <a:spLocks noGrp="1"/>
          </p:cNvSpPr>
          <p:nvPr>
            <p:ph type="body" idx="13" hasCustomPrompt="1"/>
          </p:nvPr>
        </p:nvSpPr>
        <p:spPr>
          <a:xfrm>
            <a:off x="6256020" y="2377440"/>
            <a:ext cx="527304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Faiblesses</a:t>
            </a:r>
          </a:p>
        </p:txBody>
      </p:sp>
      <p:sp>
        <p:nvSpPr>
          <p:cNvPr id="13" name="WeaknessesItem"/>
          <p:cNvSpPr>
            <a:spLocks noGrp="1"/>
          </p:cNvSpPr>
          <p:nvPr>
            <p:ph type="body" idx="14" hasCustomPrompt="1"/>
          </p:nvPr>
        </p:nvSpPr>
        <p:spPr>
          <a:xfrm>
            <a:off x="6256020" y="2834640"/>
            <a:ext cx="527304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Élément…</a:t>
            </a:r>
          </a:p>
        </p:txBody>
      </p:sp>
      <p:sp>
        <p:nvSpPr>
          <p:cNvPr id="14" name="OpportunitiesBackground"/>
          <p:cNvSpPr/>
          <p:nvPr/>
        </p:nvSpPr>
        <p:spPr>
          <a:xfrm>
            <a:off x="548640" y="4206240"/>
            <a:ext cx="5501640" cy="1828800"/>
          </a:xfrm>
          <a:prstGeom prst="rect">
            <a:avLst/>
          </a:prstGeom>
          <a:solidFill>
            <a:srgbClr val="ECEEF2"/>
          </a:solidFill>
          <a:ln/>
        </p:spPr>
      </p:sp>
      <p:sp>
        <p:nvSpPr>
          <p:cNvPr id="15" name="OpportunitiesTitle"/>
          <p:cNvSpPr>
            <a:spLocks noGrp="1"/>
          </p:cNvSpPr>
          <p:nvPr>
            <p:ph type="body" idx="15" hasCustomPrompt="1"/>
          </p:nvPr>
        </p:nvSpPr>
        <p:spPr>
          <a:xfrm>
            <a:off x="662940" y="4297680"/>
            <a:ext cx="527304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Opportunités</a:t>
            </a:r>
          </a:p>
        </p:txBody>
      </p:sp>
      <p:sp>
        <p:nvSpPr>
          <p:cNvPr id="16" name="OpportunitiesItem"/>
          <p:cNvSpPr>
            <a:spLocks noGrp="1"/>
          </p:cNvSpPr>
          <p:nvPr>
            <p:ph type="body" idx="16" hasCustomPrompt="1"/>
          </p:nvPr>
        </p:nvSpPr>
        <p:spPr>
          <a:xfrm>
            <a:off x="662940" y="4754880"/>
            <a:ext cx="527304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Élément…</a:t>
            </a:r>
          </a:p>
        </p:txBody>
      </p:sp>
      <p:sp>
        <p:nvSpPr>
          <p:cNvPr id="17" name="ThreatsBackground"/>
          <p:cNvSpPr/>
          <p:nvPr/>
        </p:nvSpPr>
        <p:spPr>
          <a:xfrm>
            <a:off x="6141720" y="4206240"/>
            <a:ext cx="5501640" cy="1828800"/>
          </a:xfrm>
          <a:prstGeom prst="rect">
            <a:avLst/>
          </a:prstGeom>
          <a:solidFill>
            <a:srgbClr val="ECEEF2"/>
          </a:solidFill>
          <a:ln/>
        </p:spPr>
      </p:sp>
      <p:sp>
        <p:nvSpPr>
          <p:cNvPr id="18" name="ThreatsTitle"/>
          <p:cNvSpPr>
            <a:spLocks noGrp="1"/>
          </p:cNvSpPr>
          <p:nvPr>
            <p:ph type="body" idx="17" hasCustomPrompt="1"/>
          </p:nvPr>
        </p:nvSpPr>
        <p:spPr>
          <a:xfrm>
            <a:off x="6256020" y="4297680"/>
            <a:ext cx="527304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Menaces</a:t>
            </a:r>
          </a:p>
        </p:txBody>
      </p:sp>
      <p:sp>
        <p:nvSpPr>
          <p:cNvPr id="19" name="ThreatsItem"/>
          <p:cNvSpPr>
            <a:spLocks noGrp="1"/>
          </p:cNvSpPr>
          <p:nvPr>
            <p:ph type="body" idx="18" hasCustomPrompt="1"/>
          </p:nvPr>
        </p:nvSpPr>
        <p:spPr>
          <a:xfrm>
            <a:off x="6256020" y="4754880"/>
            <a:ext cx="527304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Élément…</a:t>
            </a:r>
          </a:p>
        </p:txBody>
      </p:sp>
      <p:grpSp>
        <p:nvGrpSpPr>
          <p:cNvPr id="25" name="QuadrantDividerGroup"/>
          <p:cNvGrpSpPr/>
          <p:nvPr/>
        </p:nvGrpSpPr>
        <p:grpSpPr>
          <a:xfrm>
            <a:off x="548640" y="2286000"/>
            <a:ext cx="11094720" cy="3749040"/>
            <a:chOff x="548640" y="2286000"/>
            <a:chExt cx="11094720" cy="3749040"/>
          </a:xfrm>
        </p:grpSpPr>
        <p:sp>
          <p:nvSpPr>
            <p:cNvPr id="20" name="QuadrantDividerVertical"/>
            <p:cNvSpPr/>
            <p:nvPr/>
          </p:nvSpPr>
          <p:spPr>
            <a:xfrm>
              <a:off x="6082284" y="2286000"/>
              <a:ext cx="27432" cy="374904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21" name="QuadrantDividerHorizontal"/>
            <p:cNvSpPr/>
            <p:nvPr/>
          </p:nvSpPr>
          <p:spPr>
            <a:xfrm>
              <a:off x="548640" y="4146804"/>
              <a:ext cx="11094720" cy="27432"/>
            </a:xfrm>
            <a:prstGeom prst="rect">
              <a:avLst/>
            </a:prstGeom>
            <a:solidFill>
              <a:schemeClr val="accent1"/>
            </a:solidFill>
            <a:ln/>
          </p:spPr>
        </p:sp>
      </p:grpSp>
      <p:sp>
        <p:nvSpPr>
          <p:cNvPr id="22" name="AxisYLabel"/>
          <p:cNvSpPr txBox="1"/>
          <p:nvPr/>
        </p:nvSpPr>
        <p:spPr>
          <a:xfrm>
            <a:off x="563880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fr-FR" sz="9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AXE Y</a:t>
            </a:r>
          </a:p>
        </p:txBody>
      </p:sp>
      <p:sp>
        <p:nvSpPr>
          <p:cNvPr id="23" name="AxisXLabel"/>
          <p:cNvSpPr txBox="1"/>
          <p:nvPr/>
        </p:nvSpPr>
        <p:spPr>
          <a:xfrm>
            <a:off x="5638800" y="6080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fr-FR" sz="9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AXE X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LOGOS_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Ils nous font confiance</a:t>
            </a:r>
          </a:p>
        </p:txBody>
      </p:sp>
      <p:grpSp>
        <p:nvGrpSpPr>
          <p:cNvPr id="20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8" name="Logo1"/>
          <p:cNvSpPr>
            <a:spLocks noGrp="1"/>
          </p:cNvSpPr>
          <p:nvPr>
            <p:ph type="pic" idx="11" hasCustomPrompt="1"/>
          </p:nvPr>
        </p:nvSpPr>
        <p:spPr>
          <a:xfrm>
            <a:off x="548640" y="208026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9" name="Logo2"/>
          <p:cNvSpPr>
            <a:spLocks noGrp="1"/>
          </p:cNvSpPr>
          <p:nvPr>
            <p:ph type="pic" idx="12" hasCustomPrompt="1"/>
          </p:nvPr>
        </p:nvSpPr>
        <p:spPr>
          <a:xfrm>
            <a:off x="3368040" y="208026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10" name="Logo3"/>
          <p:cNvSpPr>
            <a:spLocks noGrp="1"/>
          </p:cNvSpPr>
          <p:nvPr>
            <p:ph type="pic" idx="13" hasCustomPrompt="1"/>
          </p:nvPr>
        </p:nvSpPr>
        <p:spPr>
          <a:xfrm>
            <a:off x="6187440" y="208026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11" name="Logo4"/>
          <p:cNvSpPr>
            <a:spLocks noGrp="1"/>
          </p:cNvSpPr>
          <p:nvPr>
            <p:ph type="pic" idx="14" hasCustomPrompt="1"/>
          </p:nvPr>
        </p:nvSpPr>
        <p:spPr>
          <a:xfrm>
            <a:off x="9006840" y="208026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12" name="Logo5"/>
          <p:cNvSpPr>
            <a:spLocks noGrp="1"/>
          </p:cNvSpPr>
          <p:nvPr>
            <p:ph type="pic" idx="15" hasCustomPrompt="1"/>
          </p:nvPr>
        </p:nvSpPr>
        <p:spPr>
          <a:xfrm>
            <a:off x="548640" y="351282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13" name="Logo6"/>
          <p:cNvSpPr>
            <a:spLocks noGrp="1"/>
          </p:cNvSpPr>
          <p:nvPr>
            <p:ph type="pic" idx="16" hasCustomPrompt="1"/>
          </p:nvPr>
        </p:nvSpPr>
        <p:spPr>
          <a:xfrm>
            <a:off x="3368040" y="351282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14" name="Logo7"/>
          <p:cNvSpPr>
            <a:spLocks noGrp="1"/>
          </p:cNvSpPr>
          <p:nvPr>
            <p:ph type="pic" idx="17" hasCustomPrompt="1"/>
          </p:nvPr>
        </p:nvSpPr>
        <p:spPr>
          <a:xfrm>
            <a:off x="6187440" y="351282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15" name="Logo8"/>
          <p:cNvSpPr>
            <a:spLocks noGrp="1"/>
          </p:cNvSpPr>
          <p:nvPr>
            <p:ph type="pic" idx="18" hasCustomPrompt="1"/>
          </p:nvPr>
        </p:nvSpPr>
        <p:spPr>
          <a:xfrm>
            <a:off x="9006840" y="351282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16" name="Logo9"/>
          <p:cNvSpPr>
            <a:spLocks noGrp="1"/>
          </p:cNvSpPr>
          <p:nvPr>
            <p:ph type="pic" idx="19" hasCustomPrompt="1"/>
          </p:nvPr>
        </p:nvSpPr>
        <p:spPr>
          <a:xfrm>
            <a:off x="548640" y="494538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17" name="Logo10"/>
          <p:cNvSpPr>
            <a:spLocks noGrp="1"/>
          </p:cNvSpPr>
          <p:nvPr>
            <p:ph type="pic" idx="20" hasCustomPrompt="1"/>
          </p:nvPr>
        </p:nvSpPr>
        <p:spPr>
          <a:xfrm>
            <a:off x="3368040" y="494538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18" name="Logo11"/>
          <p:cNvSpPr>
            <a:spLocks noGrp="1"/>
          </p:cNvSpPr>
          <p:nvPr>
            <p:ph type="pic" idx="21" hasCustomPrompt="1"/>
          </p:nvPr>
        </p:nvSpPr>
        <p:spPr>
          <a:xfrm>
            <a:off x="6187440" y="494538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  <p:sp>
        <p:nvSpPr>
          <p:cNvPr id="19" name="Logo12"/>
          <p:cNvSpPr>
            <a:spLocks noGrp="1"/>
          </p:cNvSpPr>
          <p:nvPr>
            <p:ph type="pic" idx="22" hasCustomPrompt="1"/>
          </p:nvPr>
        </p:nvSpPr>
        <p:spPr>
          <a:xfrm>
            <a:off x="9006840" y="4945380"/>
            <a:ext cx="2636520" cy="1295400"/>
          </a:xfrm>
          <a:prstGeom prst="rect">
            <a:avLst/>
          </a:prstGeom>
          <a:solidFill>
            <a:schemeClr val="lt1"/>
          </a:solidFill>
          <a:ln w="12700">
            <a:solidFill>
              <a:srgbClr val="D2D7E0"/>
            </a:solidFill>
          </a:ln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Logo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PILI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illar3_Icon">
            <a:extLst>
              <a:ext uri="{FF2B5EF4-FFF2-40B4-BE49-F238E27FC236}">
                <a16:creationId xmlns:a16="http://schemas.microsoft.com/office/drawing/2014/main" id="{B542C7F4-C5C6-2C55-760E-42CD1C155A7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048500" y="2011363"/>
            <a:ext cx="914400" cy="9144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5" name="Pillar4_Icon">
            <a:extLst>
              <a:ext uri="{FF2B5EF4-FFF2-40B4-BE49-F238E27FC236}">
                <a16:creationId xmlns:a16="http://schemas.microsoft.com/office/drawing/2014/main" id="{075F228D-52BB-2E0F-81A6-56E6355BEDF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67900" y="2011363"/>
            <a:ext cx="914400" cy="9144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6" name="Pillar2_Icon">
            <a:extLst>
              <a:ext uri="{FF2B5EF4-FFF2-40B4-BE49-F238E27FC236}">
                <a16:creationId xmlns:a16="http://schemas.microsoft.com/office/drawing/2014/main" id="{EA5DCE3B-2DAA-5289-8E6D-CAFC0474940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23331" y="2002536"/>
            <a:ext cx="914400" cy="9144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7" name="Pillar1_Icon">
            <a:extLst>
              <a:ext uri="{FF2B5EF4-FFF2-40B4-BE49-F238E27FC236}">
                <a16:creationId xmlns:a16="http://schemas.microsoft.com/office/drawing/2014/main" id="{8027FAC8-0EAB-8AF1-6B50-A366197AB22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03931" y="2011363"/>
            <a:ext cx="914400" cy="9144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Nos piliers</a:t>
            </a:r>
          </a:p>
        </p:txBody>
      </p:sp>
      <p:grpSp>
        <p:nvGrpSpPr>
          <p:cNvPr id="28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" name="Pillar1_Title"/>
          <p:cNvSpPr>
            <a:spLocks noGrp="1"/>
          </p:cNvSpPr>
          <p:nvPr>
            <p:ph type="body" idx="12" hasCustomPrompt="1"/>
          </p:nvPr>
        </p:nvSpPr>
        <p:spPr>
          <a:xfrm>
            <a:off x="548640" y="3017520"/>
            <a:ext cx="263652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Pilier</a:t>
            </a:r>
          </a:p>
        </p:txBody>
      </p:sp>
      <p:sp>
        <p:nvSpPr>
          <p:cNvPr id="11" name="Pillar1_Description"/>
          <p:cNvSpPr>
            <a:spLocks noGrp="1"/>
          </p:cNvSpPr>
          <p:nvPr>
            <p:ph type="body" idx="13" hasCustomPrompt="1"/>
          </p:nvPr>
        </p:nvSpPr>
        <p:spPr>
          <a:xfrm>
            <a:off x="548640" y="3520440"/>
            <a:ext cx="2636520" cy="2697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30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du pilier.</a:t>
            </a:r>
          </a:p>
        </p:txBody>
      </p:sp>
      <p:sp>
        <p:nvSpPr>
          <p:cNvPr id="14" name="Pillar2_Title"/>
          <p:cNvSpPr>
            <a:spLocks noGrp="1"/>
          </p:cNvSpPr>
          <p:nvPr>
            <p:ph type="body" idx="15" hasCustomPrompt="1"/>
          </p:nvPr>
        </p:nvSpPr>
        <p:spPr>
          <a:xfrm>
            <a:off x="3368040" y="3017520"/>
            <a:ext cx="263652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Pilier</a:t>
            </a:r>
          </a:p>
        </p:txBody>
      </p:sp>
      <p:sp>
        <p:nvSpPr>
          <p:cNvPr id="15" name="Pillar2_Description"/>
          <p:cNvSpPr>
            <a:spLocks noGrp="1"/>
          </p:cNvSpPr>
          <p:nvPr>
            <p:ph type="body" idx="16" hasCustomPrompt="1"/>
          </p:nvPr>
        </p:nvSpPr>
        <p:spPr>
          <a:xfrm>
            <a:off x="3368040" y="3520440"/>
            <a:ext cx="2636520" cy="2697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30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du pilier.</a:t>
            </a:r>
          </a:p>
        </p:txBody>
      </p:sp>
      <p:sp>
        <p:nvSpPr>
          <p:cNvPr id="18" name="Pillar3_Title"/>
          <p:cNvSpPr>
            <a:spLocks noGrp="1"/>
          </p:cNvSpPr>
          <p:nvPr>
            <p:ph type="body" idx="18" hasCustomPrompt="1"/>
          </p:nvPr>
        </p:nvSpPr>
        <p:spPr>
          <a:xfrm>
            <a:off x="6187440" y="3017520"/>
            <a:ext cx="263652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Pilier</a:t>
            </a:r>
          </a:p>
        </p:txBody>
      </p:sp>
      <p:sp>
        <p:nvSpPr>
          <p:cNvPr id="19" name="Pillar3_Description"/>
          <p:cNvSpPr>
            <a:spLocks noGrp="1"/>
          </p:cNvSpPr>
          <p:nvPr>
            <p:ph type="body" idx="19" hasCustomPrompt="1"/>
          </p:nvPr>
        </p:nvSpPr>
        <p:spPr>
          <a:xfrm>
            <a:off x="6187440" y="3520440"/>
            <a:ext cx="2636520" cy="2697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30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du pilier.</a:t>
            </a:r>
          </a:p>
        </p:txBody>
      </p:sp>
      <p:sp>
        <p:nvSpPr>
          <p:cNvPr id="22" name="Pillar4_Title"/>
          <p:cNvSpPr>
            <a:spLocks noGrp="1"/>
          </p:cNvSpPr>
          <p:nvPr>
            <p:ph type="body" idx="21" hasCustomPrompt="1"/>
          </p:nvPr>
        </p:nvSpPr>
        <p:spPr>
          <a:xfrm>
            <a:off x="9006840" y="3017520"/>
            <a:ext cx="263652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5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5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Pilier</a:t>
            </a:r>
          </a:p>
        </p:txBody>
      </p:sp>
      <p:sp>
        <p:nvSpPr>
          <p:cNvPr id="23" name="Pillar4_Description"/>
          <p:cNvSpPr>
            <a:spLocks noGrp="1"/>
          </p:cNvSpPr>
          <p:nvPr>
            <p:ph type="body" idx="22" hasCustomPrompt="1"/>
          </p:nvPr>
        </p:nvSpPr>
        <p:spPr>
          <a:xfrm>
            <a:off x="9006840" y="3520440"/>
            <a:ext cx="2636520" cy="2697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30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courte du pilier.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INTRO_ENTREPR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Présentation de SCIAM</a:t>
            </a:r>
          </a:p>
        </p:txBody>
      </p:sp>
      <p:sp>
        <p:nvSpPr>
          <p:cNvPr id="8" name="IntroText"/>
          <p:cNvSpPr>
            <a:spLocks noGrp="1"/>
          </p:cNvSpPr>
          <p:nvPr>
            <p:ph type="body" idx="11" hasCustomPrompt="1"/>
          </p:nvPr>
        </p:nvSpPr>
        <p:spPr>
          <a:xfrm>
            <a:off x="548640" y="2011680"/>
            <a:ext cx="6656832" cy="4297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45000"/>
              </a:lnSpc>
              <a:buNone/>
              <a:defRPr lang="fr-FR" sz="160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60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Présentez l’entreprise : positionnement, expertise, valeurs. Mettez en gras les mots clés.</a:t>
            </a:r>
          </a:p>
        </p:txBody>
      </p:sp>
      <p:grpSp>
        <p:nvGrpSpPr>
          <p:cNvPr id="22" name="Fact1_CardGroup"/>
          <p:cNvGrpSpPr/>
          <p:nvPr/>
        </p:nvGrpSpPr>
        <p:grpSpPr>
          <a:xfrm>
            <a:off x="7479792" y="2011680"/>
            <a:ext cx="4163568" cy="1310640"/>
            <a:chOff x="7479792" y="2011680"/>
            <a:chExt cx="4163568" cy="1310640"/>
          </a:xfrm>
        </p:grpSpPr>
        <p:sp>
          <p:nvSpPr>
            <p:cNvPr id="9" name="Fact1_CardBackground"/>
            <p:cNvSpPr/>
            <p:nvPr/>
          </p:nvSpPr>
          <p:spPr>
            <a:xfrm>
              <a:off x="7479792" y="2011680"/>
              <a:ext cx="4163568" cy="1310640"/>
            </a:xfrm>
            <a:prstGeom prst="rect">
              <a:avLst/>
            </a:prstGeom>
            <a:solidFill>
              <a:srgbClr val="ECEEF2"/>
            </a:solidFill>
            <a:ln/>
          </p:spPr>
        </p:sp>
        <p:sp>
          <p:nvSpPr>
            <p:cNvPr id="10" name="Fact1_CardAccentLeft"/>
            <p:cNvSpPr/>
            <p:nvPr/>
          </p:nvSpPr>
          <p:spPr>
            <a:xfrm>
              <a:off x="7479792" y="2011680"/>
              <a:ext cx="18288" cy="1310640"/>
            </a:xfrm>
            <a:prstGeom prst="rect">
              <a:avLst/>
            </a:prstGeom>
            <a:solidFill>
              <a:schemeClr val="accent1"/>
            </a:solidFill>
            <a:ln/>
          </p:spPr>
        </p:sp>
      </p:grpSp>
      <p:sp>
        <p:nvSpPr>
          <p:cNvPr id="11" name="Fact1_Label"/>
          <p:cNvSpPr>
            <a:spLocks noGrp="1"/>
          </p:cNvSpPr>
          <p:nvPr>
            <p:ph type="body" idx="12" hasCustomPrompt="1"/>
          </p:nvPr>
        </p:nvSpPr>
        <p:spPr>
          <a:xfrm>
            <a:off x="7616952" y="2057400"/>
            <a:ext cx="3889248" cy="655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2000" b="1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2000" b="1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Fait clé</a:t>
            </a:r>
          </a:p>
        </p:txBody>
      </p:sp>
      <p:sp>
        <p:nvSpPr>
          <p:cNvPr id="12" name="Fact1_Detail"/>
          <p:cNvSpPr>
            <a:spLocks noGrp="1"/>
          </p:cNvSpPr>
          <p:nvPr>
            <p:ph type="body" idx="13" hasCustomPrompt="1"/>
          </p:nvPr>
        </p:nvSpPr>
        <p:spPr>
          <a:xfrm>
            <a:off x="7616952" y="2667000"/>
            <a:ext cx="3889248" cy="655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Précision.</a:t>
            </a:r>
          </a:p>
        </p:txBody>
      </p:sp>
      <p:grpSp>
        <p:nvGrpSpPr>
          <p:cNvPr id="23" name="Fact2_CardGroup"/>
          <p:cNvGrpSpPr/>
          <p:nvPr/>
        </p:nvGrpSpPr>
        <p:grpSpPr>
          <a:xfrm>
            <a:off x="7479792" y="3505200"/>
            <a:ext cx="4163568" cy="1310640"/>
            <a:chOff x="7479792" y="3505200"/>
            <a:chExt cx="4163568" cy="1310640"/>
          </a:xfrm>
        </p:grpSpPr>
        <p:sp>
          <p:nvSpPr>
            <p:cNvPr id="13" name="Fact2_CardBackground"/>
            <p:cNvSpPr/>
            <p:nvPr/>
          </p:nvSpPr>
          <p:spPr>
            <a:xfrm>
              <a:off x="7479792" y="3505200"/>
              <a:ext cx="4163568" cy="1310640"/>
            </a:xfrm>
            <a:prstGeom prst="rect">
              <a:avLst/>
            </a:prstGeom>
            <a:solidFill>
              <a:srgbClr val="ECEEF2"/>
            </a:solidFill>
            <a:ln/>
          </p:spPr>
        </p:sp>
        <p:sp>
          <p:nvSpPr>
            <p:cNvPr id="14" name="Fact2_CardAccentLeft"/>
            <p:cNvSpPr/>
            <p:nvPr/>
          </p:nvSpPr>
          <p:spPr>
            <a:xfrm>
              <a:off x="7479792" y="3505200"/>
              <a:ext cx="18288" cy="1310640"/>
            </a:xfrm>
            <a:prstGeom prst="rect">
              <a:avLst/>
            </a:prstGeom>
            <a:solidFill>
              <a:schemeClr val="accent1"/>
            </a:solidFill>
            <a:ln/>
          </p:spPr>
        </p:sp>
      </p:grpSp>
      <p:sp>
        <p:nvSpPr>
          <p:cNvPr id="15" name="Fact2_Label"/>
          <p:cNvSpPr>
            <a:spLocks noGrp="1"/>
          </p:cNvSpPr>
          <p:nvPr>
            <p:ph type="body" idx="14" hasCustomPrompt="1"/>
          </p:nvPr>
        </p:nvSpPr>
        <p:spPr>
          <a:xfrm>
            <a:off x="7616952" y="3550920"/>
            <a:ext cx="3889248" cy="655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2000" b="1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2000" b="1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Fait clé</a:t>
            </a:r>
          </a:p>
        </p:txBody>
      </p:sp>
      <p:sp>
        <p:nvSpPr>
          <p:cNvPr id="16" name="Fact2_Detail"/>
          <p:cNvSpPr>
            <a:spLocks noGrp="1"/>
          </p:cNvSpPr>
          <p:nvPr>
            <p:ph type="body" idx="15" hasCustomPrompt="1"/>
          </p:nvPr>
        </p:nvSpPr>
        <p:spPr>
          <a:xfrm>
            <a:off x="7616952" y="4160520"/>
            <a:ext cx="3889248" cy="655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Précision.</a:t>
            </a:r>
          </a:p>
        </p:txBody>
      </p:sp>
      <p:grpSp>
        <p:nvGrpSpPr>
          <p:cNvPr id="24" name="Fact3_CardGroup"/>
          <p:cNvGrpSpPr/>
          <p:nvPr/>
        </p:nvGrpSpPr>
        <p:grpSpPr>
          <a:xfrm>
            <a:off x="7479792" y="4998720"/>
            <a:ext cx="4163568" cy="1310640"/>
            <a:chOff x="7479792" y="4998720"/>
            <a:chExt cx="4163568" cy="1310640"/>
          </a:xfrm>
        </p:grpSpPr>
        <p:sp>
          <p:nvSpPr>
            <p:cNvPr id="17" name="Fact3_CardBackground"/>
            <p:cNvSpPr/>
            <p:nvPr/>
          </p:nvSpPr>
          <p:spPr>
            <a:xfrm>
              <a:off x="7479792" y="4998720"/>
              <a:ext cx="4163568" cy="1310640"/>
            </a:xfrm>
            <a:prstGeom prst="rect">
              <a:avLst/>
            </a:prstGeom>
            <a:solidFill>
              <a:srgbClr val="ECEEF2"/>
            </a:solidFill>
            <a:ln/>
          </p:spPr>
        </p:sp>
        <p:sp>
          <p:nvSpPr>
            <p:cNvPr id="18" name="Fact3_CardAccentLeft"/>
            <p:cNvSpPr/>
            <p:nvPr/>
          </p:nvSpPr>
          <p:spPr>
            <a:xfrm>
              <a:off x="7479792" y="4998720"/>
              <a:ext cx="18288" cy="1310640"/>
            </a:xfrm>
            <a:prstGeom prst="rect">
              <a:avLst/>
            </a:prstGeom>
            <a:solidFill>
              <a:schemeClr val="accent1"/>
            </a:solidFill>
            <a:ln/>
          </p:spPr>
        </p:sp>
      </p:grpSp>
      <p:sp>
        <p:nvSpPr>
          <p:cNvPr id="19" name="Fact3_Label"/>
          <p:cNvSpPr>
            <a:spLocks noGrp="1"/>
          </p:cNvSpPr>
          <p:nvPr>
            <p:ph type="body" idx="16" hasCustomPrompt="1"/>
          </p:nvPr>
        </p:nvSpPr>
        <p:spPr>
          <a:xfrm>
            <a:off x="7616952" y="5044440"/>
            <a:ext cx="3889248" cy="655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2000" b="1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2000" b="1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Fait clé</a:t>
            </a:r>
          </a:p>
        </p:txBody>
      </p:sp>
      <p:sp>
        <p:nvSpPr>
          <p:cNvPr id="20" name="Fact3_Detail"/>
          <p:cNvSpPr>
            <a:spLocks noGrp="1"/>
          </p:cNvSpPr>
          <p:nvPr>
            <p:ph type="body" idx="17" hasCustomPrompt="1"/>
          </p:nvPr>
        </p:nvSpPr>
        <p:spPr>
          <a:xfrm>
            <a:off x="7616952" y="5654040"/>
            <a:ext cx="3889248" cy="655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Précision.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ECHELLE_MATUR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Trajectoire de maturité</a:t>
            </a:r>
          </a:p>
        </p:txBody>
      </p:sp>
      <p:sp>
        <p:nvSpPr>
          <p:cNvPr id="9" name="Level1_CardAccentLeft"/>
          <p:cNvSpPr/>
          <p:nvPr/>
        </p:nvSpPr>
        <p:spPr>
          <a:xfrm>
            <a:off x="548640" y="3775647"/>
            <a:ext cx="36576" cy="2557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Level1_Title"/>
          <p:cNvSpPr>
            <a:spLocks noGrp="1"/>
          </p:cNvSpPr>
          <p:nvPr>
            <p:ph type="body" idx="11" hasCustomPrompt="1"/>
          </p:nvPr>
        </p:nvSpPr>
        <p:spPr>
          <a:xfrm>
            <a:off x="708660" y="3900831"/>
            <a:ext cx="231648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Niveau</a:t>
            </a:r>
          </a:p>
        </p:txBody>
      </p:sp>
      <p:sp>
        <p:nvSpPr>
          <p:cNvPr id="12" name="Level1_Description"/>
          <p:cNvSpPr>
            <a:spLocks noGrp="1"/>
          </p:cNvSpPr>
          <p:nvPr>
            <p:ph type="body" idx="12" hasCustomPrompt="1"/>
          </p:nvPr>
        </p:nvSpPr>
        <p:spPr>
          <a:xfrm>
            <a:off x="708660" y="4403751"/>
            <a:ext cx="2316480" cy="176844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Caractéristiques du palier.</a:t>
            </a:r>
          </a:p>
        </p:txBody>
      </p:sp>
      <p:sp>
        <p:nvSpPr>
          <p:cNvPr id="14" name="Level2_CardAccentLeft"/>
          <p:cNvSpPr/>
          <p:nvPr/>
        </p:nvSpPr>
        <p:spPr>
          <a:xfrm>
            <a:off x="3368040" y="3422421"/>
            <a:ext cx="36576" cy="2876959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Level2_Title"/>
          <p:cNvSpPr>
            <a:spLocks noGrp="1"/>
          </p:cNvSpPr>
          <p:nvPr>
            <p:ph type="body" idx="13" hasCustomPrompt="1"/>
          </p:nvPr>
        </p:nvSpPr>
        <p:spPr>
          <a:xfrm>
            <a:off x="3528060" y="3514040"/>
            <a:ext cx="231648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Niveau</a:t>
            </a:r>
          </a:p>
        </p:txBody>
      </p:sp>
      <p:sp>
        <p:nvSpPr>
          <p:cNvPr id="17" name="Level2_Description"/>
          <p:cNvSpPr>
            <a:spLocks noGrp="1"/>
          </p:cNvSpPr>
          <p:nvPr>
            <p:ph type="body" idx="14" hasCustomPrompt="1"/>
          </p:nvPr>
        </p:nvSpPr>
        <p:spPr>
          <a:xfrm>
            <a:off x="3528060" y="4016960"/>
            <a:ext cx="2316480" cy="2155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Caractéristiques du palier.</a:t>
            </a:r>
          </a:p>
        </p:txBody>
      </p:sp>
      <p:sp>
        <p:nvSpPr>
          <p:cNvPr id="19" name="Level3_CardAccentLeft"/>
          <p:cNvSpPr/>
          <p:nvPr/>
        </p:nvSpPr>
        <p:spPr>
          <a:xfrm>
            <a:off x="6187440" y="3069193"/>
            <a:ext cx="36576" cy="319662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Level3_Title"/>
          <p:cNvSpPr>
            <a:spLocks noGrp="1"/>
          </p:cNvSpPr>
          <p:nvPr>
            <p:ph type="body" idx="15" hasCustomPrompt="1"/>
          </p:nvPr>
        </p:nvSpPr>
        <p:spPr>
          <a:xfrm>
            <a:off x="6347460" y="3127248"/>
            <a:ext cx="231648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Niveau</a:t>
            </a:r>
          </a:p>
        </p:txBody>
      </p:sp>
      <p:sp>
        <p:nvSpPr>
          <p:cNvPr id="22" name="Level3_Description"/>
          <p:cNvSpPr>
            <a:spLocks noGrp="1"/>
          </p:cNvSpPr>
          <p:nvPr>
            <p:ph type="body" idx="16" hasCustomPrompt="1"/>
          </p:nvPr>
        </p:nvSpPr>
        <p:spPr>
          <a:xfrm>
            <a:off x="6347460" y="3630168"/>
            <a:ext cx="2316480" cy="25420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Caractéristiques du palier.</a:t>
            </a:r>
          </a:p>
        </p:txBody>
      </p:sp>
      <p:sp>
        <p:nvSpPr>
          <p:cNvPr id="24" name="Level4_CardAccentLeft"/>
          <p:cNvSpPr/>
          <p:nvPr/>
        </p:nvSpPr>
        <p:spPr>
          <a:xfrm>
            <a:off x="9006840" y="2676719"/>
            <a:ext cx="36576" cy="355180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Level4_Title"/>
          <p:cNvSpPr>
            <a:spLocks noGrp="1"/>
          </p:cNvSpPr>
          <p:nvPr>
            <p:ph type="body" idx="17" hasCustomPrompt="1"/>
          </p:nvPr>
        </p:nvSpPr>
        <p:spPr>
          <a:xfrm>
            <a:off x="9166860" y="2697480"/>
            <a:ext cx="231648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Niveau</a:t>
            </a:r>
          </a:p>
        </p:txBody>
      </p:sp>
      <p:sp>
        <p:nvSpPr>
          <p:cNvPr id="27" name="Level4_Description"/>
          <p:cNvSpPr>
            <a:spLocks noGrp="1"/>
          </p:cNvSpPr>
          <p:nvPr>
            <p:ph type="body" idx="18" hasCustomPrompt="1"/>
          </p:nvPr>
        </p:nvSpPr>
        <p:spPr>
          <a:xfrm>
            <a:off x="9166860" y="3200400"/>
            <a:ext cx="2316480" cy="2971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Caractéristiques du palier.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FICHE_A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Phase d’audit</a:t>
            </a:r>
          </a:p>
        </p:txBody>
      </p:sp>
      <p:sp>
        <p:nvSpPr>
          <p:cNvPr id="8" name="ObjectiveBackground"/>
          <p:cNvSpPr/>
          <p:nvPr/>
        </p:nvSpPr>
        <p:spPr>
          <a:xfrm>
            <a:off x="548640" y="1586230"/>
            <a:ext cx="11094720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ObjectiveText"/>
          <p:cNvSpPr>
            <a:spLocks noGrp="1"/>
          </p:cNvSpPr>
          <p:nvPr>
            <p:ph type="body" idx="11" hasCustomPrompt="1"/>
          </p:nvPr>
        </p:nvSpPr>
        <p:spPr>
          <a:xfrm>
            <a:off x="708660" y="1586230"/>
            <a:ext cx="107746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500" b="1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500" b="1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Objectif : décrivez l’objectif de cette phase.</a:t>
            </a:r>
          </a:p>
        </p:txBody>
      </p:sp>
      <p:sp>
        <p:nvSpPr>
          <p:cNvPr id="10" name="ActivitiesTitle"/>
          <p:cNvSpPr>
            <a:spLocks noGrp="1"/>
          </p:cNvSpPr>
          <p:nvPr>
            <p:ph type="body" idx="12" hasCustomPrompt="1"/>
          </p:nvPr>
        </p:nvSpPr>
        <p:spPr>
          <a:xfrm>
            <a:off x="548640" y="2466340"/>
            <a:ext cx="6878726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6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6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Activités clés</a:t>
            </a:r>
          </a:p>
        </p:txBody>
      </p:sp>
      <p:sp>
        <p:nvSpPr>
          <p:cNvPr id="11" name="ActivitiesText"/>
          <p:cNvSpPr>
            <a:spLocks noGrp="1"/>
          </p:cNvSpPr>
          <p:nvPr>
            <p:ph type="body" idx="13" hasCustomPrompt="1"/>
          </p:nvPr>
        </p:nvSpPr>
        <p:spPr>
          <a:xfrm>
            <a:off x="548640" y="2969259"/>
            <a:ext cx="6878726" cy="325718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45000"/>
              </a:lnSpc>
              <a:buNone/>
              <a:defRPr lang="fr-FR" sz="13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3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Listez les activités principales de la phase.</a:t>
            </a:r>
          </a:p>
        </p:txBody>
      </p:sp>
      <p:sp>
        <p:nvSpPr>
          <p:cNvPr id="13" name="ModalitiesCardAccentTop"/>
          <p:cNvSpPr/>
          <p:nvPr/>
        </p:nvSpPr>
        <p:spPr>
          <a:xfrm>
            <a:off x="7701686" y="2466340"/>
            <a:ext cx="3941674" cy="3657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4" name="ModalitiesTitle"/>
          <p:cNvSpPr>
            <a:spLocks noGrp="1"/>
          </p:cNvSpPr>
          <p:nvPr>
            <p:ph type="body" idx="14" hasCustomPrompt="1"/>
          </p:nvPr>
        </p:nvSpPr>
        <p:spPr>
          <a:xfrm>
            <a:off x="7838846" y="2603500"/>
            <a:ext cx="3667354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Modalités</a:t>
            </a:r>
          </a:p>
        </p:txBody>
      </p:sp>
      <p:sp>
        <p:nvSpPr>
          <p:cNvPr id="15" name="ModalitiesText"/>
          <p:cNvSpPr>
            <a:spLocks noGrp="1"/>
          </p:cNvSpPr>
          <p:nvPr>
            <p:ph type="body" idx="15" hasCustomPrompt="1"/>
          </p:nvPr>
        </p:nvSpPr>
        <p:spPr>
          <a:xfrm>
            <a:off x="7838846" y="3060700"/>
            <a:ext cx="3667354" cy="315696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35000"/>
              </a:lnSpc>
              <a:buNone/>
              <a:defRPr lang="fr-FR" sz="12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2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Durée · participants · livrables.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CYCLE_DE_V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Cycle de vie</a:t>
            </a:r>
          </a:p>
        </p:txBody>
      </p:sp>
      <p:sp>
        <p:nvSpPr>
          <p:cNvPr id="8" name="CycleLine"/>
          <p:cNvSpPr/>
          <p:nvPr/>
        </p:nvSpPr>
        <p:spPr>
          <a:xfrm>
            <a:off x="1427480" y="2651760"/>
            <a:ext cx="9337040" cy="27432"/>
          </a:xfrm>
          <a:prstGeom prst="rect">
            <a:avLst/>
          </a:prstGeom>
          <a:solidFill>
            <a:schemeClr val="accent1"/>
          </a:solidFill>
          <a:ln/>
        </p:spPr>
      </p:sp>
      <p:grpSp>
        <p:nvGrpSpPr>
          <p:cNvPr id="28" name="Phase1_MarkerGroup"/>
          <p:cNvGrpSpPr/>
          <p:nvPr userDrawn="1"/>
        </p:nvGrpSpPr>
        <p:grpSpPr>
          <a:xfrm>
            <a:off x="1107440" y="2331720"/>
            <a:ext cx="640080" cy="640080"/>
            <a:chOff x="1107440" y="2331720"/>
            <a:chExt cx="640080" cy="640080"/>
          </a:xfrm>
        </p:grpSpPr>
        <p:sp>
          <p:nvSpPr>
            <p:cNvPr id="9" name="Phase1_MarkerBackground"/>
            <p:cNvSpPr/>
            <p:nvPr/>
          </p:nvSpPr>
          <p:spPr>
            <a:xfrm>
              <a:off x="1107440" y="2331720"/>
              <a:ext cx="640080" cy="640080"/>
            </a:xfrm>
            <a:prstGeom prst="ellipse">
              <a:avLst/>
            </a:prstGeom>
            <a:solidFill>
              <a:srgbClr val="FBF9F6"/>
            </a:solidFill>
            <a:ln w="12700">
              <a:solidFill>
                <a:schemeClr val="accent1"/>
              </a:solidFill>
            </a:ln>
          </p:spPr>
        </p:sp>
        <p:sp>
          <p:nvSpPr>
            <p:cNvPr id="10" name="Phase1_Number"/>
            <p:cNvSpPr txBox="1"/>
            <p:nvPr userDrawn="1"/>
          </p:nvSpPr>
          <p:spPr>
            <a:xfrm>
              <a:off x="1107440" y="2331720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 algn="ctr">
                <a:buNone/>
              </a:pPr>
              <a:r>
                <a:rPr lang="fr-FR" sz="1800" b="1" spc="0" dirty="0">
                  <a:solidFill>
                    <a:schemeClr val="accent1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1</a:t>
              </a:r>
            </a:p>
          </p:txBody>
        </p:sp>
      </p:grpSp>
      <p:sp>
        <p:nvSpPr>
          <p:cNvPr id="11" name="Phase1_Title"/>
          <p:cNvSpPr>
            <a:spLocks noGrp="1"/>
          </p:cNvSpPr>
          <p:nvPr>
            <p:ph type="body" idx="11" hasCustomPrompt="1"/>
          </p:nvPr>
        </p:nvSpPr>
        <p:spPr>
          <a:xfrm>
            <a:off x="548640" y="3291840"/>
            <a:ext cx="175768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0000"/>
              </a:lnSpc>
              <a:buNone/>
              <a:defRPr lang="fr-FR" sz="12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Phase</a:t>
            </a:r>
          </a:p>
        </p:txBody>
      </p:sp>
      <p:grpSp>
        <p:nvGrpSpPr>
          <p:cNvPr id="29" name="Phase2_MarkerGroup"/>
          <p:cNvGrpSpPr/>
          <p:nvPr/>
        </p:nvGrpSpPr>
        <p:grpSpPr>
          <a:xfrm>
            <a:off x="2974848" y="2331720"/>
            <a:ext cx="640080" cy="640080"/>
            <a:chOff x="2974848" y="2331720"/>
            <a:chExt cx="640080" cy="640080"/>
          </a:xfrm>
        </p:grpSpPr>
        <p:sp>
          <p:nvSpPr>
            <p:cNvPr id="12" name="Phase2_MarkerBackground"/>
            <p:cNvSpPr/>
            <p:nvPr/>
          </p:nvSpPr>
          <p:spPr>
            <a:xfrm>
              <a:off x="2974848" y="2331720"/>
              <a:ext cx="640080" cy="640080"/>
            </a:xfrm>
            <a:prstGeom prst="ellipse">
              <a:avLst/>
            </a:prstGeom>
            <a:solidFill>
              <a:srgbClr val="FBF9F6"/>
            </a:solidFill>
            <a:ln w="12700">
              <a:solidFill>
                <a:schemeClr val="accent1"/>
              </a:solidFill>
            </a:ln>
          </p:spPr>
        </p:sp>
        <p:sp>
          <p:nvSpPr>
            <p:cNvPr id="13" name="Phase2_Number"/>
            <p:cNvSpPr txBox="1"/>
            <p:nvPr/>
          </p:nvSpPr>
          <p:spPr>
            <a:xfrm>
              <a:off x="2974848" y="2331720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 algn="ctr">
                <a:buNone/>
              </a:pPr>
              <a:r>
                <a:rPr lang="fr-FR" sz="1800" b="1" spc="0" dirty="0">
                  <a:solidFill>
                    <a:schemeClr val="accent1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2</a:t>
              </a:r>
            </a:p>
          </p:txBody>
        </p:sp>
      </p:grpSp>
      <p:sp>
        <p:nvSpPr>
          <p:cNvPr id="14" name="Phase2_Title"/>
          <p:cNvSpPr>
            <a:spLocks noGrp="1"/>
          </p:cNvSpPr>
          <p:nvPr>
            <p:ph type="body" idx="12" hasCustomPrompt="1"/>
          </p:nvPr>
        </p:nvSpPr>
        <p:spPr>
          <a:xfrm>
            <a:off x="2416048" y="3291840"/>
            <a:ext cx="175768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0000"/>
              </a:lnSpc>
              <a:buNone/>
              <a:defRPr lang="fr-FR" sz="12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Phase</a:t>
            </a:r>
          </a:p>
        </p:txBody>
      </p:sp>
      <p:grpSp>
        <p:nvGrpSpPr>
          <p:cNvPr id="30" name="Phase3_MarkerGroup"/>
          <p:cNvGrpSpPr/>
          <p:nvPr userDrawn="1"/>
        </p:nvGrpSpPr>
        <p:grpSpPr>
          <a:xfrm>
            <a:off x="4842256" y="2331720"/>
            <a:ext cx="640080" cy="640080"/>
            <a:chOff x="4842256" y="2331720"/>
            <a:chExt cx="640080" cy="640080"/>
          </a:xfrm>
        </p:grpSpPr>
        <p:sp>
          <p:nvSpPr>
            <p:cNvPr id="15" name="Phase3_MarkerBackground"/>
            <p:cNvSpPr/>
            <p:nvPr userDrawn="1"/>
          </p:nvSpPr>
          <p:spPr>
            <a:xfrm>
              <a:off x="4842256" y="2331720"/>
              <a:ext cx="640080" cy="640080"/>
            </a:xfrm>
            <a:prstGeom prst="ellipse">
              <a:avLst/>
            </a:prstGeom>
            <a:solidFill>
              <a:srgbClr val="FBF9F6"/>
            </a:solidFill>
            <a:ln w="12700">
              <a:solidFill>
                <a:schemeClr val="accent1"/>
              </a:solidFill>
            </a:ln>
          </p:spPr>
        </p:sp>
        <p:sp>
          <p:nvSpPr>
            <p:cNvPr id="16" name="Phase3_Number"/>
            <p:cNvSpPr txBox="1"/>
            <p:nvPr/>
          </p:nvSpPr>
          <p:spPr>
            <a:xfrm>
              <a:off x="4842256" y="2331720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 algn="ctr">
                <a:buNone/>
              </a:pPr>
              <a:r>
                <a:rPr lang="fr-FR" sz="1800" b="1" spc="0" dirty="0">
                  <a:solidFill>
                    <a:schemeClr val="accent1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3</a:t>
              </a:r>
            </a:p>
          </p:txBody>
        </p:sp>
      </p:grpSp>
      <p:sp>
        <p:nvSpPr>
          <p:cNvPr id="17" name="Phase3_Title"/>
          <p:cNvSpPr>
            <a:spLocks noGrp="1"/>
          </p:cNvSpPr>
          <p:nvPr>
            <p:ph type="body" idx="13" hasCustomPrompt="1"/>
          </p:nvPr>
        </p:nvSpPr>
        <p:spPr>
          <a:xfrm>
            <a:off x="4283456" y="3291840"/>
            <a:ext cx="175768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0000"/>
              </a:lnSpc>
              <a:buNone/>
              <a:defRPr lang="fr-FR" sz="12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Phase</a:t>
            </a:r>
          </a:p>
        </p:txBody>
      </p:sp>
      <p:grpSp>
        <p:nvGrpSpPr>
          <p:cNvPr id="31" name="Phase4_MarkerGroup"/>
          <p:cNvGrpSpPr/>
          <p:nvPr/>
        </p:nvGrpSpPr>
        <p:grpSpPr>
          <a:xfrm>
            <a:off x="6709664" y="2331720"/>
            <a:ext cx="640080" cy="640080"/>
            <a:chOff x="6709664" y="2331720"/>
            <a:chExt cx="640080" cy="640080"/>
          </a:xfrm>
        </p:grpSpPr>
        <p:sp>
          <p:nvSpPr>
            <p:cNvPr id="18" name="Phase4_MarkerBackground"/>
            <p:cNvSpPr/>
            <p:nvPr/>
          </p:nvSpPr>
          <p:spPr>
            <a:xfrm>
              <a:off x="6709664" y="2331720"/>
              <a:ext cx="640080" cy="640080"/>
            </a:xfrm>
            <a:prstGeom prst="ellipse">
              <a:avLst/>
            </a:prstGeom>
            <a:solidFill>
              <a:srgbClr val="FBF9F6"/>
            </a:solidFill>
            <a:ln w="12700">
              <a:solidFill>
                <a:schemeClr val="accent1"/>
              </a:solidFill>
            </a:ln>
          </p:spPr>
        </p:sp>
        <p:sp>
          <p:nvSpPr>
            <p:cNvPr id="19" name="Phase4_Number"/>
            <p:cNvSpPr txBox="1"/>
            <p:nvPr/>
          </p:nvSpPr>
          <p:spPr>
            <a:xfrm>
              <a:off x="6709664" y="2331720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 algn="ctr">
                <a:buNone/>
              </a:pPr>
              <a:r>
                <a:rPr lang="fr-FR" sz="1800" b="1" spc="0" dirty="0">
                  <a:solidFill>
                    <a:schemeClr val="accent1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4</a:t>
              </a:r>
            </a:p>
          </p:txBody>
        </p:sp>
      </p:grpSp>
      <p:sp>
        <p:nvSpPr>
          <p:cNvPr id="20" name="Phase4_Title"/>
          <p:cNvSpPr>
            <a:spLocks noGrp="1"/>
          </p:cNvSpPr>
          <p:nvPr>
            <p:ph type="body" idx="14" hasCustomPrompt="1"/>
          </p:nvPr>
        </p:nvSpPr>
        <p:spPr>
          <a:xfrm>
            <a:off x="6150864" y="3291840"/>
            <a:ext cx="175768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0000"/>
              </a:lnSpc>
              <a:buNone/>
              <a:defRPr lang="fr-FR" sz="12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Phase</a:t>
            </a:r>
          </a:p>
        </p:txBody>
      </p:sp>
      <p:grpSp>
        <p:nvGrpSpPr>
          <p:cNvPr id="32" name="Phase5_MarkerGroup"/>
          <p:cNvGrpSpPr/>
          <p:nvPr/>
        </p:nvGrpSpPr>
        <p:grpSpPr>
          <a:xfrm>
            <a:off x="8577072" y="2331720"/>
            <a:ext cx="640080" cy="640080"/>
            <a:chOff x="8577072" y="2331720"/>
            <a:chExt cx="640080" cy="640080"/>
          </a:xfrm>
        </p:grpSpPr>
        <p:sp>
          <p:nvSpPr>
            <p:cNvPr id="21" name="Phase5_MarkerBackground"/>
            <p:cNvSpPr/>
            <p:nvPr/>
          </p:nvSpPr>
          <p:spPr>
            <a:xfrm>
              <a:off x="8577072" y="2331720"/>
              <a:ext cx="640080" cy="640080"/>
            </a:xfrm>
            <a:prstGeom prst="ellipse">
              <a:avLst/>
            </a:prstGeom>
            <a:solidFill>
              <a:srgbClr val="FBF9F6"/>
            </a:solidFill>
            <a:ln w="12700">
              <a:solidFill>
                <a:schemeClr val="accent1"/>
              </a:solidFill>
            </a:ln>
          </p:spPr>
        </p:sp>
        <p:sp>
          <p:nvSpPr>
            <p:cNvPr id="22" name="Phase5_Number"/>
            <p:cNvSpPr txBox="1"/>
            <p:nvPr/>
          </p:nvSpPr>
          <p:spPr>
            <a:xfrm>
              <a:off x="8577072" y="2331720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 algn="ctr">
                <a:buNone/>
              </a:pPr>
              <a:r>
                <a:rPr lang="fr-FR" sz="1800" b="1" spc="0" dirty="0">
                  <a:solidFill>
                    <a:schemeClr val="accent1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5</a:t>
              </a:r>
            </a:p>
          </p:txBody>
        </p:sp>
      </p:grpSp>
      <p:sp>
        <p:nvSpPr>
          <p:cNvPr id="23" name="Phase5_Title"/>
          <p:cNvSpPr>
            <a:spLocks noGrp="1"/>
          </p:cNvSpPr>
          <p:nvPr>
            <p:ph type="body" idx="15" hasCustomPrompt="1"/>
          </p:nvPr>
        </p:nvSpPr>
        <p:spPr>
          <a:xfrm>
            <a:off x="8018272" y="3291840"/>
            <a:ext cx="175768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0000"/>
              </a:lnSpc>
              <a:buNone/>
              <a:defRPr lang="fr-FR" sz="12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Phase</a:t>
            </a:r>
          </a:p>
        </p:txBody>
      </p:sp>
      <p:grpSp>
        <p:nvGrpSpPr>
          <p:cNvPr id="33" name="Phase6_MarkerGroup"/>
          <p:cNvGrpSpPr/>
          <p:nvPr/>
        </p:nvGrpSpPr>
        <p:grpSpPr>
          <a:xfrm>
            <a:off x="10444480" y="2331720"/>
            <a:ext cx="640080" cy="640080"/>
            <a:chOff x="10444480" y="2331720"/>
            <a:chExt cx="640080" cy="640080"/>
          </a:xfrm>
        </p:grpSpPr>
        <p:sp>
          <p:nvSpPr>
            <p:cNvPr id="24" name="Phase6_MarkerBackground"/>
            <p:cNvSpPr/>
            <p:nvPr/>
          </p:nvSpPr>
          <p:spPr>
            <a:xfrm>
              <a:off x="10444480" y="2331720"/>
              <a:ext cx="640080" cy="640080"/>
            </a:xfrm>
            <a:prstGeom prst="ellipse">
              <a:avLst/>
            </a:prstGeom>
            <a:solidFill>
              <a:srgbClr val="FBF9F6"/>
            </a:solidFill>
            <a:ln w="12700">
              <a:solidFill>
                <a:schemeClr val="accent1"/>
              </a:solidFill>
            </a:ln>
          </p:spPr>
        </p:sp>
        <p:sp>
          <p:nvSpPr>
            <p:cNvPr id="25" name="Phase6_Number"/>
            <p:cNvSpPr txBox="1"/>
            <p:nvPr/>
          </p:nvSpPr>
          <p:spPr>
            <a:xfrm>
              <a:off x="10444480" y="2331720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 algn="ctr">
                <a:buNone/>
              </a:pPr>
              <a:r>
                <a:rPr lang="fr-FR" sz="1800" b="1" spc="0" dirty="0">
                  <a:solidFill>
                    <a:schemeClr val="accent1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6</a:t>
              </a:r>
            </a:p>
          </p:txBody>
        </p:sp>
      </p:grpSp>
      <p:sp>
        <p:nvSpPr>
          <p:cNvPr id="26" name="Phase6_Title"/>
          <p:cNvSpPr>
            <a:spLocks noGrp="1"/>
          </p:cNvSpPr>
          <p:nvPr>
            <p:ph type="body" idx="16" hasCustomPrompt="1"/>
          </p:nvPr>
        </p:nvSpPr>
        <p:spPr>
          <a:xfrm>
            <a:off x="9885680" y="3291840"/>
            <a:ext cx="175768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ctr">
              <a:lnSpc>
                <a:spcPct val="120000"/>
              </a:lnSpc>
              <a:buNone/>
              <a:defRPr lang="fr-FR" sz="12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2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Phase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DEUX_AXES_NUMER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Deux axes de travail</a:t>
            </a:r>
          </a:p>
        </p:txBody>
      </p:sp>
      <p:grpSp>
        <p:nvGrpSpPr>
          <p:cNvPr id="24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grpSp>
        <p:nvGrpSpPr>
          <p:cNvPr id="25" name="Axis1_DecorGroup"/>
          <p:cNvGrpSpPr/>
          <p:nvPr/>
        </p:nvGrpSpPr>
        <p:grpSpPr>
          <a:xfrm>
            <a:off x="548640" y="2011680"/>
            <a:ext cx="5455920" cy="4206240"/>
            <a:chOff x="548640" y="2011680"/>
            <a:chExt cx="5455920" cy="4206240"/>
          </a:xfrm>
        </p:grpSpPr>
        <p:sp>
          <p:nvSpPr>
            <p:cNvPr id="8" name="Axis1_NumberMarker"/>
            <p:cNvSpPr txBox="1"/>
            <p:nvPr/>
          </p:nvSpPr>
          <p:spPr>
            <a:xfrm>
              <a:off x="548640" y="2011680"/>
              <a:ext cx="548640" cy="548640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fr-FR" sz="2400" b="1" spc="0" dirty="0">
                  <a:solidFill>
                    <a:schemeClr val="lt1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1</a:t>
              </a:r>
            </a:p>
          </p:txBody>
        </p:sp>
        <p:sp>
          <p:nvSpPr>
            <p:cNvPr id="10" name="Axis1_SubTheme1_Background"/>
            <p:cNvSpPr/>
            <p:nvPr/>
          </p:nvSpPr>
          <p:spPr>
            <a:xfrm>
              <a:off x="548640" y="2834640"/>
              <a:ext cx="5455920" cy="1645920"/>
            </a:xfrm>
            <a:prstGeom prst="rect">
              <a:avLst/>
            </a:prstGeom>
            <a:solidFill>
              <a:srgbClr val="ECEEF2"/>
            </a:solidFill>
            <a:ln/>
          </p:spPr>
        </p:sp>
        <p:sp>
          <p:nvSpPr>
            <p:cNvPr id="13" name="Axis1_SubTheme2_Background"/>
            <p:cNvSpPr/>
            <p:nvPr/>
          </p:nvSpPr>
          <p:spPr>
            <a:xfrm>
              <a:off x="548640" y="4572000"/>
              <a:ext cx="5455920" cy="1645920"/>
            </a:xfrm>
            <a:prstGeom prst="rect">
              <a:avLst/>
            </a:prstGeom>
            <a:solidFill>
              <a:srgbClr val="ECEEF2"/>
            </a:solidFill>
            <a:ln/>
          </p:spPr>
        </p:sp>
      </p:grpSp>
      <p:sp>
        <p:nvSpPr>
          <p:cNvPr id="9" name="Axis1_Title"/>
          <p:cNvSpPr>
            <a:spLocks noGrp="1"/>
          </p:cNvSpPr>
          <p:nvPr>
            <p:ph type="body" idx="11" hasCustomPrompt="1"/>
          </p:nvPr>
        </p:nvSpPr>
        <p:spPr>
          <a:xfrm>
            <a:off x="1234440" y="2011680"/>
            <a:ext cx="4770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7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7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Axe de travail</a:t>
            </a:r>
          </a:p>
        </p:txBody>
      </p:sp>
      <p:sp>
        <p:nvSpPr>
          <p:cNvPr id="11" name="Axis1_SubTheme1_Label"/>
          <p:cNvSpPr>
            <a:spLocks noGrp="1"/>
          </p:cNvSpPr>
          <p:nvPr>
            <p:ph type="body" idx="12" hasCustomPrompt="1"/>
          </p:nvPr>
        </p:nvSpPr>
        <p:spPr>
          <a:xfrm>
            <a:off x="685800" y="2880360"/>
            <a:ext cx="518160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Sous-thème</a:t>
            </a:r>
          </a:p>
        </p:txBody>
      </p:sp>
      <p:sp>
        <p:nvSpPr>
          <p:cNvPr id="12" name="Axis1_SubTheme1_Detail"/>
          <p:cNvSpPr>
            <a:spLocks noGrp="1"/>
          </p:cNvSpPr>
          <p:nvPr>
            <p:ph type="body" idx="13" hasCustomPrompt="1"/>
          </p:nvPr>
        </p:nvSpPr>
        <p:spPr>
          <a:xfrm>
            <a:off x="685800" y="3291840"/>
            <a:ext cx="518160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Détail.</a:t>
            </a:r>
          </a:p>
        </p:txBody>
      </p:sp>
      <p:sp>
        <p:nvSpPr>
          <p:cNvPr id="14" name="Axis1_SubTheme2_Label"/>
          <p:cNvSpPr>
            <a:spLocks noGrp="1"/>
          </p:cNvSpPr>
          <p:nvPr>
            <p:ph type="body" idx="14" hasCustomPrompt="1"/>
          </p:nvPr>
        </p:nvSpPr>
        <p:spPr>
          <a:xfrm>
            <a:off x="685800" y="4617720"/>
            <a:ext cx="518160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Sous-thème</a:t>
            </a:r>
          </a:p>
        </p:txBody>
      </p:sp>
      <p:sp>
        <p:nvSpPr>
          <p:cNvPr id="15" name="Axis1_SubTheme2_Detail"/>
          <p:cNvSpPr>
            <a:spLocks noGrp="1"/>
          </p:cNvSpPr>
          <p:nvPr>
            <p:ph type="body" idx="15" hasCustomPrompt="1"/>
          </p:nvPr>
        </p:nvSpPr>
        <p:spPr>
          <a:xfrm>
            <a:off x="685800" y="5029200"/>
            <a:ext cx="518160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Détail.</a:t>
            </a:r>
          </a:p>
        </p:txBody>
      </p:sp>
      <p:grpSp>
        <p:nvGrpSpPr>
          <p:cNvPr id="26" name="Axis2_DecorGroup"/>
          <p:cNvGrpSpPr/>
          <p:nvPr/>
        </p:nvGrpSpPr>
        <p:grpSpPr>
          <a:xfrm>
            <a:off x="6187440" y="2011680"/>
            <a:ext cx="5455920" cy="4206240"/>
            <a:chOff x="6187440" y="2011680"/>
            <a:chExt cx="5455920" cy="4206240"/>
          </a:xfrm>
        </p:grpSpPr>
        <p:sp>
          <p:nvSpPr>
            <p:cNvPr id="16" name="Axis2_NumberMarker"/>
            <p:cNvSpPr txBox="1"/>
            <p:nvPr/>
          </p:nvSpPr>
          <p:spPr>
            <a:xfrm>
              <a:off x="6187440" y="2011680"/>
              <a:ext cx="548640" cy="548640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fr-FR" sz="2400" b="1" spc="0" dirty="0">
                  <a:solidFill>
                    <a:schemeClr val="lt1"/>
                  </a:solidFill>
                  <a:latin typeface="+mn-lt" pitchFamily="34" charset="0"/>
                  <a:ea typeface="+mn-ea" pitchFamily="34" charset="-122"/>
                  <a:cs typeface="+mn-cs" pitchFamily="34" charset="-120"/>
                </a:rPr>
                <a:t>2</a:t>
              </a:r>
            </a:p>
          </p:txBody>
        </p:sp>
        <p:sp>
          <p:nvSpPr>
            <p:cNvPr id="18" name="Axis2_SubTheme1_Background"/>
            <p:cNvSpPr/>
            <p:nvPr/>
          </p:nvSpPr>
          <p:spPr>
            <a:xfrm>
              <a:off x="6187440" y="2834640"/>
              <a:ext cx="5455920" cy="1645920"/>
            </a:xfrm>
            <a:prstGeom prst="rect">
              <a:avLst/>
            </a:prstGeom>
            <a:solidFill>
              <a:srgbClr val="ECEEF2"/>
            </a:solidFill>
            <a:ln/>
          </p:spPr>
        </p:sp>
        <p:sp>
          <p:nvSpPr>
            <p:cNvPr id="21" name="Axis2_SubTheme2_Background"/>
            <p:cNvSpPr/>
            <p:nvPr/>
          </p:nvSpPr>
          <p:spPr>
            <a:xfrm>
              <a:off x="6187440" y="4572000"/>
              <a:ext cx="5455920" cy="1645920"/>
            </a:xfrm>
            <a:prstGeom prst="rect">
              <a:avLst/>
            </a:prstGeom>
            <a:solidFill>
              <a:srgbClr val="ECEEF2"/>
            </a:solidFill>
            <a:ln/>
          </p:spPr>
        </p:sp>
      </p:grpSp>
      <p:sp>
        <p:nvSpPr>
          <p:cNvPr id="17" name="Axis2_Title"/>
          <p:cNvSpPr>
            <a:spLocks noGrp="1"/>
          </p:cNvSpPr>
          <p:nvPr>
            <p:ph type="body" idx="16" hasCustomPrompt="1"/>
          </p:nvPr>
        </p:nvSpPr>
        <p:spPr>
          <a:xfrm>
            <a:off x="6873240" y="2011680"/>
            <a:ext cx="4770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7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7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Axe de travail</a:t>
            </a:r>
          </a:p>
        </p:txBody>
      </p:sp>
      <p:sp>
        <p:nvSpPr>
          <p:cNvPr id="19" name="Axis2_SubTheme1_Label"/>
          <p:cNvSpPr>
            <a:spLocks noGrp="1"/>
          </p:cNvSpPr>
          <p:nvPr>
            <p:ph type="body" idx="17" hasCustomPrompt="1"/>
          </p:nvPr>
        </p:nvSpPr>
        <p:spPr>
          <a:xfrm>
            <a:off x="6324600" y="2880360"/>
            <a:ext cx="518160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Sous-thème</a:t>
            </a:r>
          </a:p>
        </p:txBody>
      </p:sp>
      <p:sp>
        <p:nvSpPr>
          <p:cNvPr id="20" name="Axis2_SubTheme1_Detail"/>
          <p:cNvSpPr>
            <a:spLocks noGrp="1"/>
          </p:cNvSpPr>
          <p:nvPr>
            <p:ph type="body" idx="18" hasCustomPrompt="1"/>
          </p:nvPr>
        </p:nvSpPr>
        <p:spPr>
          <a:xfrm>
            <a:off x="6324600" y="3291840"/>
            <a:ext cx="518160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Détail.</a:t>
            </a:r>
          </a:p>
        </p:txBody>
      </p:sp>
      <p:sp>
        <p:nvSpPr>
          <p:cNvPr id="22" name="Axis2_SubTheme2_Label"/>
          <p:cNvSpPr>
            <a:spLocks noGrp="1"/>
          </p:cNvSpPr>
          <p:nvPr>
            <p:ph type="body" idx="19" hasCustomPrompt="1"/>
          </p:nvPr>
        </p:nvSpPr>
        <p:spPr>
          <a:xfrm>
            <a:off x="6324600" y="4617720"/>
            <a:ext cx="5181600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Sous-thème</a:t>
            </a:r>
          </a:p>
        </p:txBody>
      </p:sp>
      <p:sp>
        <p:nvSpPr>
          <p:cNvPr id="23" name="Axis2_SubTheme2_Detail"/>
          <p:cNvSpPr>
            <a:spLocks noGrp="1"/>
          </p:cNvSpPr>
          <p:nvPr>
            <p:ph type="body" idx="20" hasCustomPrompt="1"/>
          </p:nvPr>
        </p:nvSpPr>
        <p:spPr>
          <a:xfrm>
            <a:off x="6324600" y="5029200"/>
            <a:ext cx="518160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Détail.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BENEFICES_3_CAR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Bénéfices</a:t>
            </a:r>
          </a:p>
        </p:txBody>
      </p:sp>
      <p:grpSp>
        <p:nvGrpSpPr>
          <p:cNvPr id="25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grpSp>
        <p:nvGrpSpPr>
          <p:cNvPr id="26" name="Card1_DecorGroup"/>
          <p:cNvGrpSpPr/>
          <p:nvPr/>
        </p:nvGrpSpPr>
        <p:grpSpPr>
          <a:xfrm>
            <a:off x="548640" y="2011680"/>
            <a:ext cx="3576320" cy="3474720"/>
            <a:chOff x="548640" y="2011680"/>
            <a:chExt cx="3576320" cy="3474720"/>
          </a:xfrm>
        </p:grpSpPr>
        <p:sp>
          <p:nvSpPr>
            <p:cNvPr id="8" name="Card1_Background"/>
            <p:cNvSpPr/>
            <p:nvPr/>
          </p:nvSpPr>
          <p:spPr>
            <a:xfrm>
              <a:off x="548640" y="2011680"/>
              <a:ext cx="3576320" cy="347472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D2D7E0"/>
              </a:solidFill>
            </a:ln>
          </p:spPr>
        </p:sp>
        <p:sp>
          <p:nvSpPr>
            <p:cNvPr id="9" name="Card1_IconBackground"/>
            <p:cNvSpPr/>
            <p:nvPr/>
          </p:nvSpPr>
          <p:spPr>
            <a:xfrm>
              <a:off x="685800" y="2194560"/>
              <a:ext cx="640080" cy="640080"/>
            </a:xfrm>
            <a:prstGeom prst="ellipse">
              <a:avLst/>
            </a:prstGeom>
            <a:solidFill>
              <a:srgbClr val="ECEEF2"/>
            </a:solidFill>
            <a:ln/>
          </p:spPr>
        </p:sp>
      </p:grpSp>
      <p:sp>
        <p:nvSpPr>
          <p:cNvPr id="10" name="Card1_Icon"/>
          <p:cNvSpPr>
            <a:spLocks noGrp="1"/>
          </p:cNvSpPr>
          <p:nvPr>
            <p:ph type="body" idx="11" hasCustomPrompt="1"/>
          </p:nvPr>
        </p:nvSpPr>
        <p:spPr>
          <a:xfrm>
            <a:off x="685800" y="2194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90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90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icône</a:t>
            </a:r>
          </a:p>
        </p:txBody>
      </p:sp>
      <p:sp>
        <p:nvSpPr>
          <p:cNvPr id="11" name="Card1_Title"/>
          <p:cNvSpPr>
            <a:spLocks noGrp="1"/>
          </p:cNvSpPr>
          <p:nvPr>
            <p:ph type="body" idx="12" hasCustomPrompt="1"/>
          </p:nvPr>
        </p:nvSpPr>
        <p:spPr>
          <a:xfrm>
            <a:off x="685800" y="2971800"/>
            <a:ext cx="330200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Bénéfice</a:t>
            </a:r>
          </a:p>
        </p:txBody>
      </p:sp>
      <p:sp>
        <p:nvSpPr>
          <p:cNvPr id="12" name="Card1_Description"/>
          <p:cNvSpPr>
            <a:spLocks noGrp="1"/>
          </p:cNvSpPr>
          <p:nvPr>
            <p:ph type="body" idx="13" hasCustomPrompt="1"/>
          </p:nvPr>
        </p:nvSpPr>
        <p:spPr>
          <a:xfrm>
            <a:off x="685800" y="3429000"/>
            <a:ext cx="3302000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30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du bénéfice.</a:t>
            </a:r>
          </a:p>
        </p:txBody>
      </p:sp>
      <p:grpSp>
        <p:nvGrpSpPr>
          <p:cNvPr id="27" name="Card2_DecorGroup"/>
          <p:cNvGrpSpPr/>
          <p:nvPr/>
        </p:nvGrpSpPr>
        <p:grpSpPr>
          <a:xfrm>
            <a:off x="4307840" y="2011680"/>
            <a:ext cx="3576320" cy="3474720"/>
            <a:chOff x="4307840" y="2011680"/>
            <a:chExt cx="3576320" cy="3474720"/>
          </a:xfrm>
        </p:grpSpPr>
        <p:sp>
          <p:nvSpPr>
            <p:cNvPr id="13" name="Card2_Background"/>
            <p:cNvSpPr/>
            <p:nvPr/>
          </p:nvSpPr>
          <p:spPr>
            <a:xfrm>
              <a:off x="4307840" y="2011680"/>
              <a:ext cx="3576320" cy="347472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D2D7E0"/>
              </a:solidFill>
            </a:ln>
          </p:spPr>
        </p:sp>
        <p:sp>
          <p:nvSpPr>
            <p:cNvPr id="14" name="Card2_IconBackground"/>
            <p:cNvSpPr/>
            <p:nvPr/>
          </p:nvSpPr>
          <p:spPr>
            <a:xfrm>
              <a:off x="4445000" y="2194560"/>
              <a:ext cx="640080" cy="640080"/>
            </a:xfrm>
            <a:prstGeom prst="ellipse">
              <a:avLst/>
            </a:prstGeom>
            <a:solidFill>
              <a:srgbClr val="ECEEF2"/>
            </a:solidFill>
            <a:ln/>
          </p:spPr>
        </p:sp>
      </p:grpSp>
      <p:sp>
        <p:nvSpPr>
          <p:cNvPr id="15" name="Card2_Icon"/>
          <p:cNvSpPr>
            <a:spLocks noGrp="1"/>
          </p:cNvSpPr>
          <p:nvPr>
            <p:ph type="body" idx="14" hasCustomPrompt="1"/>
          </p:nvPr>
        </p:nvSpPr>
        <p:spPr>
          <a:xfrm>
            <a:off x="4445000" y="2194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90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90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icône</a:t>
            </a:r>
          </a:p>
        </p:txBody>
      </p:sp>
      <p:sp>
        <p:nvSpPr>
          <p:cNvPr id="16" name="Card2_Title"/>
          <p:cNvSpPr>
            <a:spLocks noGrp="1"/>
          </p:cNvSpPr>
          <p:nvPr>
            <p:ph type="body" idx="15" hasCustomPrompt="1"/>
          </p:nvPr>
        </p:nvSpPr>
        <p:spPr>
          <a:xfrm>
            <a:off x="4445000" y="2971800"/>
            <a:ext cx="330200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Bénéfice</a:t>
            </a:r>
          </a:p>
        </p:txBody>
      </p:sp>
      <p:sp>
        <p:nvSpPr>
          <p:cNvPr id="17" name="Card2_Description"/>
          <p:cNvSpPr>
            <a:spLocks noGrp="1"/>
          </p:cNvSpPr>
          <p:nvPr>
            <p:ph type="body" idx="16" hasCustomPrompt="1"/>
          </p:nvPr>
        </p:nvSpPr>
        <p:spPr>
          <a:xfrm>
            <a:off x="4445000" y="3429000"/>
            <a:ext cx="3302000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30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du bénéfice.</a:t>
            </a:r>
          </a:p>
        </p:txBody>
      </p:sp>
      <p:grpSp>
        <p:nvGrpSpPr>
          <p:cNvPr id="28" name="Card3_DecorGroup"/>
          <p:cNvGrpSpPr/>
          <p:nvPr/>
        </p:nvGrpSpPr>
        <p:grpSpPr>
          <a:xfrm>
            <a:off x="8067040" y="2011680"/>
            <a:ext cx="3576320" cy="3474720"/>
            <a:chOff x="8067040" y="2011680"/>
            <a:chExt cx="3576320" cy="3474720"/>
          </a:xfrm>
        </p:grpSpPr>
        <p:sp>
          <p:nvSpPr>
            <p:cNvPr id="18" name="Card3_Background"/>
            <p:cNvSpPr/>
            <p:nvPr/>
          </p:nvSpPr>
          <p:spPr>
            <a:xfrm>
              <a:off x="8067040" y="2011680"/>
              <a:ext cx="3576320" cy="347472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D2D7E0"/>
              </a:solidFill>
            </a:ln>
          </p:spPr>
        </p:sp>
        <p:sp>
          <p:nvSpPr>
            <p:cNvPr id="19" name="Card3_IconBackground"/>
            <p:cNvSpPr/>
            <p:nvPr/>
          </p:nvSpPr>
          <p:spPr>
            <a:xfrm>
              <a:off x="8204200" y="2194560"/>
              <a:ext cx="640080" cy="640080"/>
            </a:xfrm>
            <a:prstGeom prst="ellipse">
              <a:avLst/>
            </a:prstGeom>
            <a:solidFill>
              <a:srgbClr val="ECEEF2"/>
            </a:solidFill>
            <a:ln/>
          </p:spPr>
        </p:sp>
      </p:grpSp>
      <p:sp>
        <p:nvSpPr>
          <p:cNvPr id="20" name="Card3_Icon"/>
          <p:cNvSpPr>
            <a:spLocks noGrp="1"/>
          </p:cNvSpPr>
          <p:nvPr>
            <p:ph type="body" idx="17" hasCustomPrompt="1"/>
          </p:nvPr>
        </p:nvSpPr>
        <p:spPr>
          <a:xfrm>
            <a:off x="8204200" y="2194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90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90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icône</a:t>
            </a:r>
          </a:p>
        </p:txBody>
      </p:sp>
      <p:sp>
        <p:nvSpPr>
          <p:cNvPr id="21" name="Card3_Title"/>
          <p:cNvSpPr>
            <a:spLocks noGrp="1"/>
          </p:cNvSpPr>
          <p:nvPr>
            <p:ph type="body" idx="18" hasCustomPrompt="1"/>
          </p:nvPr>
        </p:nvSpPr>
        <p:spPr>
          <a:xfrm>
            <a:off x="8204200" y="2971800"/>
            <a:ext cx="330200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Bénéfice</a:t>
            </a:r>
          </a:p>
        </p:txBody>
      </p:sp>
      <p:sp>
        <p:nvSpPr>
          <p:cNvPr id="22" name="Card3_Description"/>
          <p:cNvSpPr>
            <a:spLocks noGrp="1"/>
          </p:cNvSpPr>
          <p:nvPr>
            <p:ph type="body" idx="19" hasCustomPrompt="1"/>
          </p:nvPr>
        </p:nvSpPr>
        <p:spPr>
          <a:xfrm>
            <a:off x="8204200" y="3429000"/>
            <a:ext cx="3302000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30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Description du bénéfice.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CONTEXTE_NARRATI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Contexte</a:t>
            </a:r>
          </a:p>
        </p:txBody>
      </p:sp>
      <p:sp>
        <p:nvSpPr>
          <p:cNvPr id="8" name="ContentAccentBar"/>
          <p:cNvSpPr/>
          <p:nvPr/>
        </p:nvSpPr>
        <p:spPr>
          <a:xfrm>
            <a:off x="548640" y="2011680"/>
            <a:ext cx="109728" cy="40233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BodyText"/>
          <p:cNvSpPr>
            <a:spLocks noGrp="1"/>
          </p:cNvSpPr>
          <p:nvPr>
            <p:ph type="body" idx="11" hasCustomPrompt="1"/>
          </p:nvPr>
        </p:nvSpPr>
        <p:spPr>
          <a:xfrm>
            <a:off x="868680" y="2194560"/>
            <a:ext cx="1063752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35000"/>
              </a:lnSpc>
              <a:buNone/>
              <a:defRPr lang="fr-FR" sz="28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28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Énoncez le constat ou le problème en une idée forte, avec les mots clés en gras.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EQUIPE_RO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Équipe d’intervention</a:t>
            </a:r>
          </a:p>
        </p:txBody>
      </p:sp>
      <p:sp>
        <p:nvSpPr>
          <p:cNvPr id="8" name="IntroBackground"/>
          <p:cNvSpPr/>
          <p:nvPr/>
        </p:nvSpPr>
        <p:spPr>
          <a:xfrm>
            <a:off x="548640" y="2011680"/>
            <a:ext cx="1109472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IntroText"/>
          <p:cNvSpPr>
            <a:spLocks noGrp="1"/>
          </p:cNvSpPr>
          <p:nvPr>
            <p:ph type="body" idx="11" hasCustomPrompt="1"/>
          </p:nvPr>
        </p:nvSpPr>
        <p:spPr>
          <a:xfrm>
            <a:off x="708660" y="2011680"/>
            <a:ext cx="107746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Équipe socle — périmètre du dispositif</a:t>
            </a:r>
          </a:p>
        </p:txBody>
      </p:sp>
      <p:grpSp>
        <p:nvGrpSpPr>
          <p:cNvPr id="23" name="Row1_DecorGroup"/>
          <p:cNvGrpSpPr/>
          <p:nvPr/>
        </p:nvGrpSpPr>
        <p:grpSpPr>
          <a:xfrm>
            <a:off x="548640" y="2606040"/>
            <a:ext cx="11094720" cy="1234440"/>
            <a:chOff x="548640" y="2606040"/>
            <a:chExt cx="11094720" cy="1234440"/>
          </a:xfrm>
        </p:grpSpPr>
        <p:sp>
          <p:nvSpPr>
            <p:cNvPr id="10" name="Row1_RoleBackground"/>
            <p:cNvSpPr/>
            <p:nvPr/>
          </p:nvSpPr>
          <p:spPr>
            <a:xfrm>
              <a:off x="548640" y="2606040"/>
              <a:ext cx="4215993" cy="1234440"/>
            </a:xfrm>
            <a:prstGeom prst="rect">
              <a:avLst/>
            </a:prstGeom>
            <a:solidFill>
              <a:srgbClr val="ECEEF2"/>
            </a:solidFill>
            <a:ln/>
          </p:spPr>
        </p:sp>
        <p:sp>
          <p:nvSpPr>
            <p:cNvPr id="11" name="Row1_MissionsBackground"/>
            <p:cNvSpPr/>
            <p:nvPr/>
          </p:nvSpPr>
          <p:spPr>
            <a:xfrm>
              <a:off x="4764633" y="2606040"/>
              <a:ext cx="6878727" cy="1234440"/>
            </a:xfrm>
            <a:prstGeom prst="rect">
              <a:avLst/>
            </a:prstGeom>
            <a:solidFill>
              <a:schemeClr val="accent1"/>
            </a:solidFill>
            <a:ln/>
          </p:spPr>
        </p:sp>
      </p:grpSp>
      <p:sp>
        <p:nvSpPr>
          <p:cNvPr id="12" name="Row1_Role"/>
          <p:cNvSpPr>
            <a:spLocks noGrp="1"/>
          </p:cNvSpPr>
          <p:nvPr>
            <p:ph type="body" idx="12" hasCustomPrompt="1"/>
          </p:nvPr>
        </p:nvSpPr>
        <p:spPr>
          <a:xfrm>
            <a:off x="662940" y="2606040"/>
            <a:ext cx="3987393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3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3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Rôle</a:t>
            </a:r>
          </a:p>
        </p:txBody>
      </p:sp>
      <p:sp>
        <p:nvSpPr>
          <p:cNvPr id="13" name="Row1_Missions"/>
          <p:cNvSpPr>
            <a:spLocks noGrp="1"/>
          </p:cNvSpPr>
          <p:nvPr>
            <p:ph type="body" idx="13" hasCustomPrompt="1"/>
          </p:nvPr>
        </p:nvSpPr>
        <p:spPr>
          <a:xfrm>
            <a:off x="4878933" y="2606040"/>
            <a:ext cx="6650127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300" b="1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300" b="1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Missions</a:t>
            </a:r>
          </a:p>
        </p:txBody>
      </p:sp>
      <p:grpSp>
        <p:nvGrpSpPr>
          <p:cNvPr id="24" name="Row2_DecorGroup"/>
          <p:cNvGrpSpPr/>
          <p:nvPr/>
        </p:nvGrpSpPr>
        <p:grpSpPr>
          <a:xfrm>
            <a:off x="548640" y="3840480"/>
            <a:ext cx="11094720" cy="1234440"/>
            <a:chOff x="548640" y="3840480"/>
            <a:chExt cx="11094720" cy="1234440"/>
          </a:xfrm>
        </p:grpSpPr>
        <p:sp>
          <p:nvSpPr>
            <p:cNvPr id="14" name="Row2_RoleBackground"/>
            <p:cNvSpPr/>
            <p:nvPr/>
          </p:nvSpPr>
          <p:spPr>
            <a:xfrm>
              <a:off x="548640" y="3840480"/>
              <a:ext cx="4215993" cy="123444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D2D7E0"/>
              </a:solidFill>
            </a:ln>
          </p:spPr>
        </p:sp>
        <p:sp>
          <p:nvSpPr>
            <p:cNvPr id="15" name="Row2_MissionsBackground"/>
            <p:cNvSpPr/>
            <p:nvPr/>
          </p:nvSpPr>
          <p:spPr>
            <a:xfrm>
              <a:off x="4764633" y="3840480"/>
              <a:ext cx="6878727" cy="123444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D2D7E0"/>
              </a:solidFill>
            </a:ln>
          </p:spPr>
        </p:sp>
      </p:grpSp>
      <p:sp>
        <p:nvSpPr>
          <p:cNvPr id="16" name="Row2_Role"/>
          <p:cNvSpPr>
            <a:spLocks noGrp="1"/>
          </p:cNvSpPr>
          <p:nvPr>
            <p:ph type="body" idx="14" hasCustomPrompt="1"/>
          </p:nvPr>
        </p:nvSpPr>
        <p:spPr>
          <a:xfrm>
            <a:off x="662940" y="3840480"/>
            <a:ext cx="3987393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25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25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Rôle</a:t>
            </a:r>
          </a:p>
        </p:txBody>
      </p:sp>
      <p:sp>
        <p:nvSpPr>
          <p:cNvPr id="17" name="Row2_Missions"/>
          <p:cNvSpPr>
            <a:spLocks noGrp="1"/>
          </p:cNvSpPr>
          <p:nvPr>
            <p:ph type="body" idx="15" hasCustomPrompt="1"/>
          </p:nvPr>
        </p:nvSpPr>
        <p:spPr>
          <a:xfrm>
            <a:off x="4878933" y="3840480"/>
            <a:ext cx="6650127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2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2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Responsabilités.</a:t>
            </a:r>
          </a:p>
        </p:txBody>
      </p:sp>
      <p:grpSp>
        <p:nvGrpSpPr>
          <p:cNvPr id="25" name="Row3_DecorGroup"/>
          <p:cNvGrpSpPr/>
          <p:nvPr/>
        </p:nvGrpSpPr>
        <p:grpSpPr>
          <a:xfrm>
            <a:off x="548640" y="5074920"/>
            <a:ext cx="11094720" cy="1234440"/>
            <a:chOff x="548640" y="5074920"/>
            <a:chExt cx="11094720" cy="1234440"/>
          </a:xfrm>
        </p:grpSpPr>
        <p:sp>
          <p:nvSpPr>
            <p:cNvPr id="18" name="Row3_RoleBackground"/>
            <p:cNvSpPr/>
            <p:nvPr/>
          </p:nvSpPr>
          <p:spPr>
            <a:xfrm>
              <a:off x="548640" y="5074920"/>
              <a:ext cx="4215993" cy="123444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D2D7E0"/>
              </a:solidFill>
            </a:ln>
          </p:spPr>
        </p:sp>
        <p:sp>
          <p:nvSpPr>
            <p:cNvPr id="19" name="Row3_MissionsBackground"/>
            <p:cNvSpPr/>
            <p:nvPr/>
          </p:nvSpPr>
          <p:spPr>
            <a:xfrm>
              <a:off x="4764633" y="5074920"/>
              <a:ext cx="6878727" cy="123444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D2D7E0"/>
              </a:solidFill>
            </a:ln>
          </p:spPr>
        </p:sp>
      </p:grpSp>
      <p:sp>
        <p:nvSpPr>
          <p:cNvPr id="20" name="Row3_Role"/>
          <p:cNvSpPr>
            <a:spLocks noGrp="1"/>
          </p:cNvSpPr>
          <p:nvPr>
            <p:ph type="body" idx="16" hasCustomPrompt="1"/>
          </p:nvPr>
        </p:nvSpPr>
        <p:spPr>
          <a:xfrm>
            <a:off x="662940" y="5074920"/>
            <a:ext cx="3987393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25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25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Rôle</a:t>
            </a:r>
          </a:p>
        </p:txBody>
      </p:sp>
      <p:sp>
        <p:nvSpPr>
          <p:cNvPr id="21" name="Row3_Missions"/>
          <p:cNvSpPr>
            <a:spLocks noGrp="1"/>
          </p:cNvSpPr>
          <p:nvPr>
            <p:ph type="body" idx="17" hasCustomPrompt="1"/>
          </p:nvPr>
        </p:nvSpPr>
        <p:spPr>
          <a:xfrm>
            <a:off x="4878933" y="5074920"/>
            <a:ext cx="6650127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20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20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Responsabilités.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FICHE_SYNTHESE_SC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Synthèse des scores</a:t>
            </a:r>
          </a:p>
        </p:txBody>
      </p:sp>
      <p:sp>
        <p:nvSpPr>
          <p:cNvPr id="11" name="StrengthsCardAccentTop"/>
          <p:cNvSpPr/>
          <p:nvPr/>
        </p:nvSpPr>
        <p:spPr>
          <a:xfrm>
            <a:off x="5926531" y="2011680"/>
            <a:ext cx="5716829" cy="3657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StrengthsTitle"/>
          <p:cNvSpPr>
            <a:spLocks noGrp="1"/>
          </p:cNvSpPr>
          <p:nvPr>
            <p:ph type="body" idx="12" hasCustomPrompt="1"/>
          </p:nvPr>
        </p:nvSpPr>
        <p:spPr>
          <a:xfrm>
            <a:off x="6063691" y="2148840"/>
            <a:ext cx="5442509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Forces</a:t>
            </a:r>
          </a:p>
        </p:txBody>
      </p:sp>
      <p:sp>
        <p:nvSpPr>
          <p:cNvPr id="13" name="StrengthsText"/>
          <p:cNvSpPr>
            <a:spLocks noGrp="1"/>
          </p:cNvSpPr>
          <p:nvPr>
            <p:ph type="body" idx="13" hasCustomPrompt="1"/>
          </p:nvPr>
        </p:nvSpPr>
        <p:spPr>
          <a:xfrm>
            <a:off x="6063691" y="2606040"/>
            <a:ext cx="5442509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Points forts identifiés.</a:t>
            </a:r>
          </a:p>
        </p:txBody>
      </p:sp>
      <p:sp>
        <p:nvSpPr>
          <p:cNvPr id="15" name="WeaknessesCardAccentTop"/>
          <p:cNvSpPr/>
          <p:nvPr/>
        </p:nvSpPr>
        <p:spPr>
          <a:xfrm>
            <a:off x="5926531" y="4251960"/>
            <a:ext cx="5716829" cy="3657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WeaknessesTitle"/>
          <p:cNvSpPr>
            <a:spLocks noGrp="1"/>
          </p:cNvSpPr>
          <p:nvPr>
            <p:ph type="body" idx="14" hasCustomPrompt="1"/>
          </p:nvPr>
        </p:nvSpPr>
        <p:spPr>
          <a:xfrm>
            <a:off x="6063691" y="4389120"/>
            <a:ext cx="5442509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400" b="1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b="1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Fragilités</a:t>
            </a:r>
          </a:p>
        </p:txBody>
      </p:sp>
      <p:sp>
        <p:nvSpPr>
          <p:cNvPr id="17" name="WeaknessesText"/>
          <p:cNvSpPr>
            <a:spLocks noGrp="1"/>
          </p:cNvSpPr>
          <p:nvPr>
            <p:ph type="body" idx="15" hasCustomPrompt="1"/>
          </p:nvPr>
        </p:nvSpPr>
        <p:spPr>
          <a:xfrm>
            <a:off x="6063691" y="4846320"/>
            <a:ext cx="5442509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lang="fr-FR" sz="1150" spc="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150" dirty="0">
                <a:solidFill>
                  <a:srgbClr val="6B7280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Zones de fragilité.</a:t>
            </a:r>
          </a:p>
        </p:txBody>
      </p:sp>
      <p:sp>
        <p:nvSpPr>
          <p:cNvPr id="24" name="Chart">
            <a:extLst>
              <a:ext uri="{FF2B5EF4-FFF2-40B4-BE49-F238E27FC236}">
                <a16:creationId xmlns:a16="http://schemas.microsoft.com/office/drawing/2014/main" id="{B207105C-3B04-BB04-C74D-7AA466CE068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48639" y="2011679"/>
            <a:ext cx="5158423" cy="4297045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Cliquez sur l'icône pour ajouter un graphique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TITRE_PLEINE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Titre de la page</a:t>
            </a:r>
          </a:p>
        </p:txBody>
      </p:sp>
      <p:sp>
        <p:nvSpPr>
          <p:cNvPr id="6" name="BodyText">
            <a:extLst>
              <a:ext uri="{FF2B5EF4-FFF2-40B4-BE49-F238E27FC236}">
                <a16:creationId xmlns:a16="http://schemas.microsoft.com/office/drawing/2014/main" id="{B88CFD7A-8D5C-E0B9-450D-EC6B1572C8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49275" y="2011363"/>
            <a:ext cx="11093450" cy="42973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TITRE_DEMI_IMAGE_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Titre de la page</a:t>
            </a:r>
          </a:p>
        </p:txBody>
      </p:sp>
      <p:sp>
        <p:nvSpPr>
          <p:cNvPr id="8" name="Image"/>
          <p:cNvSpPr>
            <a:spLocks noGrp="1"/>
          </p:cNvSpPr>
          <p:nvPr>
            <p:ph type="pic" idx="11" hasCustomPrompt="1"/>
          </p:nvPr>
        </p:nvSpPr>
        <p:spPr>
          <a:xfrm>
            <a:off x="548640" y="2011680"/>
            <a:ext cx="5103571" cy="4297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50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50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Image</a:t>
            </a:r>
          </a:p>
        </p:txBody>
      </p:sp>
      <p:sp>
        <p:nvSpPr>
          <p:cNvPr id="6" name="Content">
            <a:extLst>
              <a:ext uri="{FF2B5EF4-FFF2-40B4-BE49-F238E27FC236}">
                <a16:creationId xmlns:a16="http://schemas.microsoft.com/office/drawing/2014/main" id="{E5991ACB-F6AC-A6C4-9E21-F7590986873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72175" y="2011363"/>
            <a:ext cx="5670550" cy="42973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3_TITRE_DEMI_IMAGE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Titre de la page</a:t>
            </a:r>
          </a:p>
        </p:txBody>
      </p:sp>
      <p:sp>
        <p:nvSpPr>
          <p:cNvPr id="8" name="Image"/>
          <p:cNvSpPr>
            <a:spLocks noGrp="1"/>
          </p:cNvSpPr>
          <p:nvPr>
            <p:ph type="pic" idx="11" hasCustomPrompt="1"/>
          </p:nvPr>
        </p:nvSpPr>
        <p:spPr>
          <a:xfrm>
            <a:off x="6539789" y="2011680"/>
            <a:ext cx="5103571" cy="4297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50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50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Image</a:t>
            </a:r>
          </a:p>
        </p:txBody>
      </p:sp>
      <p:sp>
        <p:nvSpPr>
          <p:cNvPr id="9" name="Content"/>
          <p:cNvSpPr>
            <a:spLocks noGrp="1"/>
          </p:cNvSpPr>
          <p:nvPr>
            <p:ph type="body" idx="12" hasCustomPrompt="1"/>
          </p:nvPr>
        </p:nvSpPr>
        <p:spPr>
          <a:xfrm>
            <a:off x="548640" y="2011680"/>
            <a:ext cx="5671109" cy="4297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40000"/>
              </a:lnSpc>
              <a:buNone/>
              <a:defRPr lang="fr-FR" sz="170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70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Contenu à gauche de l’image.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4_TITRE_BANDEAU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Titre de la page</a:t>
            </a:r>
          </a:p>
        </p:txBody>
      </p:sp>
      <p:sp>
        <p:nvSpPr>
          <p:cNvPr id="8" name="BannerImage"/>
          <p:cNvSpPr>
            <a:spLocks noGrp="1"/>
          </p:cNvSpPr>
          <p:nvPr>
            <p:ph type="pic" idx="11" hasCustomPrompt="1"/>
          </p:nvPr>
        </p:nvSpPr>
        <p:spPr>
          <a:xfrm>
            <a:off x="548640" y="2011680"/>
            <a:ext cx="11094720" cy="21031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lang="fr-FR" sz="150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ctr">
              <a:buNone/>
            </a:pPr>
            <a:r>
              <a:rPr lang="fr-FR" sz="150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Image (bandeau)</a:t>
            </a:r>
          </a:p>
        </p:txBody>
      </p:sp>
      <p:sp>
        <p:nvSpPr>
          <p:cNvPr id="9" name="Content"/>
          <p:cNvSpPr>
            <a:spLocks noGrp="1"/>
          </p:cNvSpPr>
          <p:nvPr>
            <p:ph type="body" idx="12" hasCustomPrompt="1"/>
          </p:nvPr>
        </p:nvSpPr>
        <p:spPr>
          <a:xfrm>
            <a:off x="548640" y="4297680"/>
            <a:ext cx="11094720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40000"/>
              </a:lnSpc>
              <a:buNone/>
              <a:defRPr lang="fr-FR" sz="1600" spc="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600" dirty="0">
                <a:solidFill>
                  <a:schemeClr val="accent1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Contenu sous le bandeau.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APPEL_A_A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ageFurniture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2" name="HeaderRuleTop"/>
            <p:cNvSpPr/>
            <p:nvPr/>
          </p:nvSpPr>
          <p:spPr>
            <a:xfrm>
              <a:off x="0" y="0"/>
              <a:ext cx="12188952" cy="3657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3" name="FooterRuleBottom"/>
            <p:cNvSpPr/>
            <p:nvPr/>
          </p:nvSpPr>
          <p:spPr>
            <a:xfrm>
              <a:off x="0" y="6821424"/>
              <a:ext cx="12188952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TitleAccentMark"/>
            <p:cNvSpPr/>
            <p:nvPr/>
          </p:nvSpPr>
          <p:spPr>
            <a:xfrm>
              <a:off x="548640" y="502920"/>
              <a:ext cx="457200" cy="36576"/>
            </a:xfrm>
            <a:prstGeom prst="rect">
              <a:avLst/>
            </a:prstGeom>
            <a:solidFill>
              <a:schemeClr val="accent5"/>
            </a:solidFill>
            <a:ln/>
          </p:spPr>
        </p:sp>
      </p:grp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548640" y="616458"/>
            <a:ext cx="110947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3200" spc="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Prochaines étapes</a:t>
            </a:r>
          </a:p>
        </p:txBody>
      </p:sp>
      <p:sp>
        <p:nvSpPr>
          <p:cNvPr id="9" name="CtaBackground"/>
          <p:cNvSpPr/>
          <p:nvPr/>
        </p:nvSpPr>
        <p:spPr>
          <a:xfrm>
            <a:off x="7257897" y="2011680"/>
            <a:ext cx="4385463" cy="42976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CtaTitle"/>
          <p:cNvSpPr>
            <a:spLocks noGrp="1"/>
          </p:cNvSpPr>
          <p:nvPr>
            <p:ph type="body" idx="12" hasCustomPrompt="1"/>
          </p:nvPr>
        </p:nvSpPr>
        <p:spPr>
          <a:xfrm>
            <a:off x="7440777" y="2286000"/>
            <a:ext cx="4019703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10000"/>
              </a:lnSpc>
              <a:buNone/>
              <a:defRPr lang="fr-FR" sz="1600" b="1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600" b="1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Passons à l’action</a:t>
            </a:r>
          </a:p>
        </p:txBody>
      </p:sp>
      <p:sp>
        <p:nvSpPr>
          <p:cNvPr id="11" name="CtaText"/>
          <p:cNvSpPr>
            <a:spLocks noGrp="1"/>
          </p:cNvSpPr>
          <p:nvPr>
            <p:ph type="body" idx="13" hasCustomPrompt="1"/>
          </p:nvPr>
        </p:nvSpPr>
        <p:spPr>
          <a:xfrm>
            <a:off x="7440777" y="2834640"/>
            <a:ext cx="4019703" cy="3200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>
            <a:lvl1pPr marL="0" indent="0" algn="l">
              <a:lnSpc>
                <a:spcPct val="140000"/>
              </a:lnSpc>
              <a:buNone/>
              <a:defRPr lang="fr-FR" sz="1400" spc="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defRPr>
            </a:lvl1pPr>
          </a:lstStyle>
          <a:p>
            <a:pPr marL="0" indent="0" algn="l">
              <a:buNone/>
            </a:pPr>
            <a:r>
              <a:rPr lang="fr-FR" sz="1400" dirty="0">
                <a:solidFill>
                  <a:schemeClr val="lt2"/>
                </a:solidFill>
                <a:latin typeface="+mn-lt" pitchFamily="34" charset="0"/>
                <a:ea typeface="+mn-ea" pitchFamily="34" charset="-122"/>
                <a:cs typeface="+mn-cs" pitchFamily="34" charset="-120"/>
              </a:rPr>
              <a:t>Contactez-nous pour démarrer.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F2ED6600-9314-469E-06A7-D4E9274EBE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49275" y="2011363"/>
            <a:ext cx="6434138" cy="42973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1.xml"/><Relationship Id="rId37" Type="http://schemas.openxmlformats.org/officeDocument/2006/relationships/image" Target="../media/image1.png"/><Relationship Id="rId38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7DD10B5-4186-2EAB-67B4-AD88512E24D5}"/>
              </a:ext>
            </a:extLst>
          </p:cNvPr>
          <p:cNvPicPr>
            <a:picLocks noChangeAspect="1"/>
          </p:cNvPicPr>
          <p:nvPr userDrawn="1"/>
        </p:nvPicPr>
        <p:blipFill>
          <a:blip r:embed="rId37">
            <a:alphaModFix amt="50000"/>
            <a:extLst>
              <a:ext uri="{BEBA8EAE-BF5A-486C-A8C5-ECC9F3942E4B}">
                <a14:imgProps xmlns:a14="http://schemas.microsoft.com/office/drawing/2010/main">
                  <a14:imgLayer r:embed="rId3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A8613DE9-B4CE-B274-8859-8AE4EA106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07040" y="6356350"/>
            <a:ext cx="1371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89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  <p:sldLayoutId id="2147483687" r:id="rId35"/>
  </p:sldLayoutIdLst>
  <p:hf sldNum="0" hdr="0" ftr="0" dt="0"/>
  <p:txStyles>
    <p:titleStyle>
      <a:lvl1pPr algn="ctr" defTabSz="914400" rtl="0" eaLnBrk="1" latinLnBrk="0" hangingPunct="1">
        <a:lnSpc>
          <a:spcPct val="100000"/>
        </a:lnSpc>
        <a:spcBef>
          <a:spcPct val="0"/>
        </a:spcBef>
        <a:buNone/>
        <a:defRPr sz="4400" kern="1200" spc="-264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05000"/>
        </a:lnSpc>
        <a:spcBef>
          <a:spcPct val="20000"/>
        </a:spcBef>
        <a:buFont typeface="+mn-lt" pitchFamily="34" charset="0"/>
        <a:buChar char="•"/>
        <a:defRPr sz="3200" kern="1200" spc="-128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120000"/>
        </a:lnSpc>
        <a:spcBef>
          <a:spcPct val="20000"/>
        </a:spcBef>
        <a:buFont typeface="+mn-lt" pitchFamily="34" charset="0"/>
        <a:buChar char="–"/>
        <a:defRPr sz="2800" kern="1200" spc="-56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35000"/>
        </a:lnSpc>
        <a:spcBef>
          <a:spcPct val="20000"/>
        </a:spcBef>
        <a:buFont typeface="+mn-lt" pitchFamily="34" charset="0"/>
        <a:buChar char="•"/>
        <a:defRPr sz="2400" kern="1200" spc="-48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35000"/>
        </a:lnSpc>
        <a:spcBef>
          <a:spcPct val="20000"/>
        </a:spcBef>
        <a:buFont typeface="+mn-lt" pitchFamily="34" charset="0"/>
        <a:buChar char="–"/>
        <a:defRPr sz="2000" kern="1200" spc="-4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35000"/>
        </a:lnSpc>
        <a:spcBef>
          <a:spcPct val="20000"/>
        </a:spcBef>
        <a:buFont typeface="+mn-lt" pitchFamily="34" charset="0"/>
        <a:buChar char="»"/>
        <a:defRPr sz="2000" kern="1200" spc="-4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35000"/>
        </a:lnSpc>
        <a:spcBef>
          <a:spcPct val="20000"/>
        </a:spcBef>
        <a:buFont typeface="+mn-lt" pitchFamily="34" charset="0"/>
        <a:buChar char="•"/>
        <a:defRPr sz="2000" kern="1200" spc="-4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35000"/>
        </a:lnSpc>
        <a:spcBef>
          <a:spcPct val="20000"/>
        </a:spcBef>
        <a:buFont typeface="+mn-lt" pitchFamily="34" charset="0"/>
        <a:buChar char="•"/>
        <a:defRPr sz="2000" kern="1200" spc="-4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35000"/>
        </a:lnSpc>
        <a:spcBef>
          <a:spcPct val="20000"/>
        </a:spcBef>
        <a:buFont typeface="+mn-lt" pitchFamily="34" charset="0"/>
        <a:buChar char="•"/>
        <a:defRPr sz="2000" kern="1200" spc="-4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35000"/>
        </a:lnSpc>
        <a:spcBef>
          <a:spcPct val="20000"/>
        </a:spcBef>
        <a:buFont typeface="+mn-lt" pitchFamily="34" charset="0"/>
        <a:buChar char="•"/>
        <a:defRPr sz="2000" kern="1200" spc="-4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>
          <a:latin typeface="+mn-lt"/>
        </a:defRPr>
      </a:defPPr>
      <a:lvl1pPr marL="0" algn="l" defTabSz="914400" rtl="0" eaLnBrk="1" latinLnBrk="0" hangingPunct="1">
        <a:lnSpc>
          <a:spcPct val="150000"/>
        </a:lnSpc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lnSpc>
          <a:spcPct val="150000"/>
        </a:lnSpc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lnSpc>
          <a:spcPct val="150000"/>
        </a:lnSpc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lnSpc>
          <a:spcPct val="150000"/>
        </a:lnSpc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lnSpc>
          <a:spcPct val="150000"/>
        </a:lnSpc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lnSpc>
          <a:spcPct val="150000"/>
        </a:lnSpc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lnSpc>
          <a:spcPct val="150000"/>
        </a:lnSpc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lnSpc>
          <a:spcPct val="150000"/>
        </a:lnSpc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lnSpc>
          <a:spcPct val="150000"/>
        </a:lnSpc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t>SUPPORT DE 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t>2 jours · 14 heures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9"/>
          </p:nvPr>
        </p:nvSpPr>
        <p:spPr/>
        <p:txBody>
          <a:bodyPr/>
          <a:lstStyle/>
          <a:p>
            <a:r>
              <a:t>Industrialiser et gouverner l’IA générative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Du protocole MCP à l’usine logicielle IA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Platform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14 h · parcours essentiel ; approfondissements hors programme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t>La ligne de flottaison &amp; fondations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Jour 1 · matin — M0–M1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MCP : de l’architecture à l’implémentation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Jour 1 · matin/après-midi — M2, TP1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Le contexte partagé &amp; les Skills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r>
              <a:t>Jour 1 · après-midi — M3, TP2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9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t>Évaluer &amp; sécuriser les produits IA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r>
              <a:t>Jour 2 · matin — M4, TP3, M5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123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124"/>
          </p:nvPr>
        </p:nvSpPr>
        <p:spPr/>
        <p:txBody>
          <a:bodyPr/>
          <a:lstStyle/>
          <a:p>
            <a:r>
              <a:t>Gouverner &amp; industrialiser l’usine IA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r>
              <a:t>Jour 2 · après-midi — M6, TP4, M7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 1 — Construire et partager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>
            <a:r>
              <a:t>Construire un serveur MCP, puis partager son contexte.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M0 — La ligne de flottaison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/>
        </p:txBody>
      </p:sp>
      <p:pic>
        <p:nvPicPr>
          <p:cNvPr id="4" name="Picture 3" descr="hohpe_sinkflo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200" y="2184400"/>
            <a:ext cx="7200900" cy="4191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L’histoire de ValidatingAdmissionPolicy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Hier — un opérateur maison (Gatekeeper, Kyverno), ses CRDs et un webhook dans le chemin critique.</a:t>
            </a:r>
          </a:p>
          <a:p>
            <a:r>
              <a:t>Aujourd’hui — depuis Kubernetes 1.30, CEL évalue les politiques nativement.</a:t>
            </a:r>
          </a:p>
          <a:p>
            <a:r>
              <a:t>La leçon — le socle a rattrapé un outillage qu’on maintenait à la main. À nous de suivre la montée des eaux et de retirer ce qui est désormais fourni.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Le modèle mental : couler ou flotter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Gregor Hohpe — « is your platform sinking or floating? »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LA PLATEFORME QUI COULE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Dupliquer le socle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On maintient des capacités maison que le socle fournit désormais. Le code se duplique, la dette s’accumule, l’effort part dans l’entretien.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LA PLATEFORME QUI FLOTTE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Réinvestir plus haut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On retire les capacités absorbées au fil de l’eau et on réinvestit l’effort là où on crée de la valeur. Contrat social : les équipes savent d’avance ce qui sera retiré.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La montée des eaux — Kubernetes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Ce qu’on écrivait, ce que le socle a absorbé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Admission policy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Opérateur + webhook → CEL natif dans l’API server (VAP, 1.30).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Sidecars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Injection maison → sidecars natifs gérés par le kubelet.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t>Ordonnancement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r>
              <a:t>Hacks d’ordonnancement → scheduling gates natifs.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r>
              <a:t>Ressources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6"/>
          </p:nvPr>
        </p:nvSpPr>
        <p:spPr/>
        <p:txBody>
          <a:bodyPr/>
          <a:lstStyle/>
          <a:p>
            <a:r>
              <a:t>Redémarrage pour redimensionner → in-place resize.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idx="127" sz="quarter"/>
          </p:nvPr>
        </p:nvSpPr>
        <p:spPr/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Le pivot : changer de socle, garder le modèle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Les mêmes rôles, transposés — et la montée des eaux va plus vite : 18 mois, pas 5 ans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KUBERNETES (HIER)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Quatre rôles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Socle : l’API server</a:t>
            </a:r>
          </a:p>
          <a:p>
            <a:r>
              <a:t>Plateforme maison : l’opérateur / webhook</a:t>
            </a:r>
          </a:p>
          <a:p>
            <a:r>
              <a:t>Format maison : le CRD</a:t>
            </a:r>
          </a:p>
          <a:p>
            <a:r>
              <a:t>Capacité absorbée : la feature native (VAP)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IA (AUJOURD’HUI)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Les mêmes rôles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Socle : le modèle</a:t>
            </a:r>
          </a:p>
          <a:p>
            <a:r>
              <a:t>Plateforme maison : le harnais</a:t>
            </a:r>
          </a:p>
          <a:p>
            <a:r>
              <a:t>Format maison : le schéma d’outil propriétaire</a:t>
            </a:r>
          </a:p>
          <a:p>
            <a:r>
              <a:t>Capacité absorbée : le function calling natif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La montée des eaux — 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Des harnais d’hier, déjà absorbés par les modèles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Appel d’outils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Parsing maison (ReAct, regex) → function calling natif.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Raisonnement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CoT forcé par prompt → modèles de raisonnement natifs.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t>Sorties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r>
              <a:t>Validation JSON par retry → sorties structurées garanties.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r>
              <a:t>Contexte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6"/>
          </p:nvPr>
        </p:nvSpPr>
        <p:spPr/>
        <p:txBody>
          <a:bodyPr/>
          <a:lstStyle/>
          <a:p>
            <a:r>
              <a:t>Chunking pour tenir en 4k → contexte long + cache.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idx="127" sz="quarter"/>
          </p:nvPr>
        </p:nvSpPr>
        <p:spPr/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Un socle, ou plusieurs 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Les LLM sont pluriels et concurrents — trois issues possibles, pas deux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Absorption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Le socle avale la capacité ; le code maison est supprimé. Ex. VAP, function calling.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Normalisation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L’interface se fige ; le code maison est réduit à un adaptateur. Ex. CRI/CNI/CSI, OpenAI-compat.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Divergence durable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Rien ne converge ; la capacité maison est maintenue — un coût assumé.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MCP : la normalisation par le haut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Quand la convergence vient d’en haut plutôt que d’en bas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LE MÉCANISME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Un protocole ouvert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Un lab frontière publie un protocole ouvert ; les concurrents l’adoptent, parce que faire grossir l’écosystème vaut mieux que le verrouiller. MCP en est l’exemple.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LE RÉSULTAT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Le col du sablier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Le point d’intégration devient une interface fine et stable, sur laquelle tout le monde s’aligne — comme CRI, CNI et CSI côté Kubernetes. C’est là qu’on va construire.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Ce qui ne sera jamais absorbé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Le périmètre durable de gouvernance — la vraie ligne de flottaison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Identité &amp; accès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Qui a le droit de faire quoi. Secrets. Le modèle ne le saura jamais.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Audit &amp; traçabilité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Journalisation, rétention, conformité.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9"/>
          </p:nvPr>
        </p:nvSpPr>
        <p:spPr/>
        <p:txBody>
          <a:bodyPr/>
          <a:lstStyle/>
          <a:p>
            <a:r>
              <a:t>Coût &amp; routing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t>Quotas, budgets, routage multi-modèle.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3"/>
          </p:nvPr>
        </p:nvSpPr>
        <p:spPr/>
        <p:txBody>
          <a:bodyPr/>
          <a:lstStyle/>
          <a:p>
            <a:r>
              <a:t>Règles métier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4"/>
          </p:nvPr>
        </p:nvSpPr>
        <p:spPr/>
        <p:txBody>
          <a:bodyPr/>
          <a:lstStyle/>
          <a:p>
            <a:r>
              <a:t>Contraintes propres à l’organisation et au réglementaire.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27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28"/>
          </p:nvPr>
        </p:nvSpPr>
        <p:spPr/>
        <p:txBody>
          <a:bodyPr/>
          <a:lstStyle/>
          <a:p>
            <a:r>
              <a:t>Qualité et non-régression dans le temps.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31"/>
          </p:nvPr>
        </p:nvSpPr>
        <p:spPr/>
        <p:txBody>
          <a:bodyPr/>
          <a:lstStyle/>
          <a:p>
            <a:r>
              <a:t>→ Le programme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32"/>
          </p:nvPr>
        </p:nvSpPr>
        <p:spPr/>
        <p:txBody>
          <a:bodyPr/>
          <a:lstStyle/>
          <a:p>
            <a:r>
              <a:t>Ces cinq zones structurent les deux jours.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M1 — Fondations agentiques &amp; panorama des protocoles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>
            <a:r>
              <a:t>1 h · rappel express du paysage LLM, anatomie d’un agent, les briques (tools, skills, mémoire), multi-agents et supervision, puis le panorama des protocoles agentiques.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Le paysage LLM — familles &amp; taille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Rappel express (1/3) — le vocabulaire commun, en surface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FAMILLES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Frontier vs open-weight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Frontier : propriétaires, accessibles par API, poids non publiés. Open-weight : poids téléchargeables et auto-hébergeables. Nuance clé — open weights ≠ open source : données et code d’entraînement restent souvent fermés.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TAILLE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Nombre de paramètres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Ordres de grandeur : petits ~1–8B, moyens ~8–70B, grands 100B+. C’est un proxy de capacité, pas une garantie : données, post-training et architecture pèsent autant.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Le paysage LLM — architecture &amp; variantes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Rappel express (2/3)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Dense vs MoE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Dense : tous les paramètres actifs à chaque token. MoE (Mixture of Experts) : seuls quelques experts s’activent. D’où la distinction paramètres totaux vs actifs — un gros MoE coûte, à l’inférence, le prix de sa fraction active.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VARIANTES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Base, instruct, reasoning…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Base (pré-entraîné brut), instruct/chat (conversationnel), reasoning (entraîné à raisonner par étapes avant de répondre), distilled (petit modèle entraîné sur les sorties d’un gros).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Le paysage LLM — formats &amp; quantization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Rappel express (3/3)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FORMATS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safetensors &amp; GGUF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safetensors : le format standard de stockage des poids (côté Hugging Face). GGUF : le format des runtimes locaux (llama.cpp), qui embarque poids + métadonnées et porte la quantization.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QUANTIZATION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Réduire la précision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FP16 → int8 → int4… : réduire la précision des poids pour tenir en mémoire et accélérer, au prix d’un peu de qualité. C’est ce qui rend un modèle open-weight exécutable en on-prem ou sur matériel modeste.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Qu’est-ce qu’un agent 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Un LLM dans une boucle, capable d’agir sur son environnement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ANATOMIE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La boucle agentique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Percevoir → décider → agir → observer, en itérant. Le modèle raisonne, appelle des outils, lit les résultats, recommence jusqu’à l’objectif.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PATTERNS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Modes de raisonnement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ReAct (raisonner puis agir), planification, réflexion et critique, décomposition en sous-tâches.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Les briques d’un agent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Ce que la platform team devra outiller et exposer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Les actions : appels de fonctions, accès au SI. C’est ce que MCP standardise.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Skills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Le savoir-faire : des instructions réutilisables que l’agent charge à la demande.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Mémoire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Le contexte qui persiste : historique, préférences, connaissances partagées.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Multi-agents &amp; supervision humaine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Composer des agents, garder l’humain dans la boucle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Plusieurs agents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Un orchestrateur délègue à des sous-agents spécialisés. Plus de modularité, mais plus de coordination et de coût à maîtriser.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CONTRÔLE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Human-in-the-loop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Points de validation, garde-fous, approbations sur les actions sensibles. La supervision est un choix d’architecture, pas une option.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Panorama des protocoles agentiques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Des standards émergents ; MCP est le socle d’intégration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MCP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Model Context Protocol — relie un agent aux outils, ressources et prompts du SI.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A2A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Agent-to-Agent — communication et délégation entre agents.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t>A2UI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r>
              <a:t>Agent-to-UI — l’agent rend et pilote des interfaces.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r>
              <a:t>ACP / AP2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6"/>
          </p:nvPr>
        </p:nvSpPr>
        <p:spPr/>
        <p:txBody>
          <a:bodyPr/>
          <a:lstStyle/>
          <a:p>
            <a:r>
              <a:t>Agent Payments — mandats et paiements agentiques.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idx="127" sz="quarter"/>
          </p:nvPr>
        </p:nvSpPr>
        <p:spPr/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M2 — Architecture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>
            <a:r>
              <a:t>Le socle d’intégration : rôles, primitives, transports, choix Java.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Hôte, client, serveur — l’architecture en trois rôles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/>
        </p:txBody>
      </p:sp>
      <p:pic>
        <p:nvPicPr>
          <p:cNvPr id="4" name="Picture 3" descr="mcp_arc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" y="2006600"/>
            <a:ext cx="11099800" cy="42799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Les trois primitives — et qui les contrôle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Trois primitives cœur — au-delà : sampling, roots, elicitation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Des actions invocables (effets de bord sur le SI). Contrôlées par le modèle.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Des données lues via URI (fichiers, enregistrements). Contrôlées par l’application.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Prompts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Des templates réutilisables (type slash-commands). Contrôlés par l’utilisateur.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Session &amp; transports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Une négociation de capacités, puis un canal adapté au déploiement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CYCLE DE VIE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Initialize → échanges → arrêt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À la connexion, client et serveur négocient leurs capacités (initialize). Suivent les échanges — appels de tools, lectures de resources — jusqu’à l’arrêt propre de la session.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TRANSPORTS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stdio &amp; Streamable HTTP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stdio : local, même machine — idéal en dev. Streamable HTTP : distant, production (l’ancien HTTP+SSE est en voie de sunset). Le transport, c’est la topologie de déploiement.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Implémenter en Java : Quarkus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Notre choix pour les TP : Quarkus, avec l’extension quarkus-mcp-server.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Pourquoi Quarkus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Découverte et validation des primitives au build (les erreurs explosent à la compilation).  Démarrage instantané, image native, bonne observabilité.  Annotations @Tool / @Resource / @Prompt idiomatiques.  Le transport (stdio ou HTTP) est un simple choix de dépendance.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En note — Spring AI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Alternative tout aussi valable : DX Spring Boot familière, API à annotations. À privilégier si le client est déjà fortement outillé Spring.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TP1 — Bâtir un serveur MCP Quarkus avec OpenCode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Faire produire un serveur pour le catalogue de services local : on prompte, on relit, on valide.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Essentiel · 1 h 30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Sans Skill : générer avec OpenCode à partir du catalogue fourni.</a:t>
            </a:r>
          </a:p>
          <a:p>
            <a:r>
              <a:t>Deux tools : find_service(query) et get_owner(service).</a:t>
            </a:r>
          </a:p>
          <a:p>
            <a:r>
              <a:t>Une resource : service://{name} ; un prompt : fiche_service.</a:t>
            </a:r>
          </a:p>
          <a:p>
            <a:r>
              <a:t>Construire, démarrer et exercer les quatre primitives dans l’inspecteur.</a:t>
            </a:r>
          </a:p>
          <a:p>
            <a:r>
              <a:t>Comparer aux conventions et au voisin ; conserver la baseline.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Preuves &amp; approfondissement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À produire : serveur, appels observés et tableau des écarts éventuels.</a:t>
            </a:r>
          </a:p>
          <a:p>
            <a:r>
              <a:t>Une baseline déjà conforme est un résultat valide, pas un échec du TP.</a:t>
            </a:r>
          </a:p>
          <a:p>
            <a:r>
              <a:t>Approfondir : seconde génération indépendante, sans modifier la baseline.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M3 — Le contexte LLM comme actif partagé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>
            <a:r>
              <a:t>Le contexte comme actif : MCP vs Skills, et OpenCode pour le consommer.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Qu’est-ce que « le contexte » 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Bien plus que le prompt : tout ce qui entre dans la fenêtre du modèle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System prompt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Le cadrage de base : rôle, ton, garde-fous.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Instructions &amp; règles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Consignes projet, conventions, contraintes.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9"/>
          </p:nvPr>
        </p:nvSpPr>
        <p:spPr/>
        <p:txBody>
          <a:bodyPr/>
          <a:lstStyle/>
          <a:p>
            <a:r>
              <a:t>Skills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t>Du savoir-faire chargé à la demande.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3"/>
          </p:nvPr>
        </p:nvSpPr>
        <p:spPr/>
        <p:txBody>
          <a:bodyPr/>
          <a:lstStyle/>
          <a:p>
            <a:r>
              <a:t>Resources MCP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4"/>
          </p:nvPr>
        </p:nvSpPr>
        <p:spPr/>
        <p:txBody>
          <a:bodyPr/>
          <a:lstStyle/>
          <a:p>
            <a:r>
              <a:t>Des données du SI lues via URI.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27"/>
          </p:nvPr>
        </p:nvSpPr>
        <p:spPr/>
        <p:txBody>
          <a:bodyPr/>
          <a:lstStyle/>
          <a:p>
            <a:r>
              <a:t>Mémoire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28"/>
          </p:nvPr>
        </p:nvSpPr>
        <p:spPr/>
        <p:txBody>
          <a:bodyPr/>
          <a:lstStyle/>
          <a:p>
            <a:r>
              <a:t>Historique, préférences, décisions passées.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31"/>
          </p:nvPr>
        </p:nvSpPr>
        <p:spPr/>
        <p:txBody>
          <a:bodyPr/>
          <a:lstStyle/>
          <a:p>
            <a:r>
              <a:t>Bases de connaissances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32"/>
          </p:nvPr>
        </p:nvSpPr>
        <p:spPr/>
        <p:txBody>
          <a:bodyPr/>
          <a:lstStyle/>
          <a:p>
            <a:r>
              <a:t>Documentation et corpus récupérés (RAG).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Context engineering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La fenêtre est un budget : ce qu’on y met arbitre coût, latence et qualité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LE BUDGET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Une fenêtre finie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Chaque token coûte en latence et en argent, et trop de contexte dilue l’attention du modèle. Le contexte n’est pas « plus = mieux » : c’est un budget à allouer.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L’ARBITRAGE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Le bon contexte, au bon moment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Mettre le pertinent, à la demande, pas tout d’avance ; récupérer plutôt que pré-charger. C’est précisément ce que permettent MCP (à la demande) et les Skills (chargés quand utiles).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MCP vs Skills : outils et savoir-faire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Deux natures de contexte, complémentaires — pas concurrentes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MCP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Les outils — exécuter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Programmatique : des actions et des données exposées par un serveur. L’agent invoque, le SI répond. Ça fait.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SKILLS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Le savoir-faire — guider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Déclaratif : des instructions réutilisables que l’agent charge quand c’est pertinent. Ça oriente. Un bon Skill orchestre souvent des tools MCP.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OpenCode, consommateur agnostique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Support natif des Skills (SKILL.md), indépendant du fournisseur de LLM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Découverte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Scanne des chemins standards (.opencode/skills, .claude/skills…) et liste les Skills disponibles.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À la demande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L’agent charge le SKILL.md seulement quand la tâche le justifie — le budget de contexte est préservé.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Permissions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Autorisations par agent (allow/deny) : le crochet de gouvernance qu’on exploite en TP4.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TP2 — Écrire le Skill create-quarkus-mcp-server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Transformer les écarts observés en instructions ; comparer une génération neuve à la baseline du TP1.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Essentiel · 1 h 30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Compléter le SKILL.md et sa référence de conventions.</a:t>
            </a:r>
          </a:p>
          <a:p>
            <a:r>
              <a:t>Installer les deux dans .opencode/skills/create-quarkus-mcp-server/.</a:t>
            </a:r>
          </a:p>
          <a:p>
            <a:r>
              <a:t>Observer le chargement du Skill et la lecture de sa référence.</a:t>
            </a:r>
          </a:p>
          <a:p>
            <a:r>
              <a:t>Générer un nouveau serveur ; rejouer build, démarrage et appels MCP.</a:t>
            </a:r>
          </a:p>
          <a:p>
            <a:r>
              <a:t>Comparer au TP1 et conserver les sources du Skill. GitLab au TP4.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Preuves &amp; approfondissement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À produire : Skill chargé, génération neuve et comparaison argumentée.</a:t>
            </a:r>
          </a:p>
          <a:p>
            <a:r>
              <a:t>Un succès ne prouve pas la répétabilité. Corriger les écarts bloquants.</a:t>
            </a:r>
          </a:p>
          <a:p>
            <a:r>
              <a:t>Approfondir : répéter à modèle et Skill fixés, puis varier les demandes.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 2 — Évaluer et gouverner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>
            <a:r>
              <a:t>Matin — Évaluer les produits IA (stratégie, datasets, scorers), harnais d’éval 100 % Java, exploiter &amp; sécuriser en production.  Après-midi — Gouverner le contexte à l’échelle sur GitLab, puis atelier : le modèle opératoire de l’usine logicielle 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M4 — Évaluer les produits 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>
            <a:r>
              <a:t>Pourquoi c’est différent, quoi mesurer, et avec quels scorers.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Évaluer un système LLM : ce qui change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Pas de sortie unique attendue, et une cible qui bouge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LA DIFFICULTÉ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Non déterministe, mouvant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Même entrée, sorties variables ; pas d’oracle unique. Et la cible dérive : changer de modèle ou de prompt déplace le comportement du jour au lendemain.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LA RÉPONSE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Évaluer en continu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On teste sur une distribution de cas, pas un exemple ; on versionne l’éval comme du code ; on accepte un signal statistique plutôt qu’un pass/fail binaire. L’éval est un actif, pas un one-shot.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Stratégie : quoi, où, quand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Cadrer l’évaluation avant d’écrire le premier 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Quoi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Les critères : conformité, qualité, coût, latence, robustesse. On priorise ce qui compte pour le produit.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Où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En dev (boucle rapide), en CI (non-régression), en prod (monitoring en ligne).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Quand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À chaque changement de modèle, de prompt, de Skill. L’éval garde le fil rouge sous contrôle.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Le dataset : couvrir les trois chemins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Un jeu de cas représentatif, pas seulement le cas idéal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Happy path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Le cas nominal : ce qui doit marcher tous les jours.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Realistic path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Les cas réels, ambigus, incomplets — la vraie vie.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Adverse path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Les cas limites et hostiles : ce qui doit échouer proprement.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Les scorers : quatre familles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Du plus déterministe au plus humain — souvent combinés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Déterministe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Assertions exactes : compile, primitives enregistrées, convention respectée. Rapide et fiable.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Sémantique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Similarité de sens (embeddings) : la sortie est-elle proche de l’attendu ?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t>LLM-as-a-Judge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r>
              <a:t>Un modèle note selon une grille : utile pour le flou (qualité, conformité nuancée).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r>
              <a:t>Humain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6"/>
          </p:nvPr>
        </p:nvSpPr>
        <p:spPr/>
        <p:txBody>
          <a:bodyPr/>
          <a:lstStyle/>
          <a:p>
            <a:r>
              <a:t>L’arbitre ultime sur les cas sensibles ; sert à calibrer les autres scorers.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idx="127" sz="quarter"/>
          </p:nvPr>
        </p:nvSpPr>
        <p:spPr/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TP3 — Évaluer le Skill create-quarkus-mcp-server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Écrire les critères de jugement sur le serveur du TP2 ; séparer sources, exécution et verdict LLM.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Essentiel · 2 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Fourni : lecteur POM/sources, exemple JUnit, client du juge.</a:t>
            </a:r>
          </a:p>
          <a:p>
            <a:r>
              <a:t>Compléter les quatre tests ; provoquer un échec par mutation, puis corriger.</a:t>
            </a:r>
          </a:p>
          <a:p>
            <a:r>
              <a:t>Écrire la grille ; discuter un premier verdict avec une relecture humaine.</a:t>
            </a:r>
          </a:p>
          <a:p>
            <a:r>
              <a:t>Vérifier séparément build/tests du serveur et appels MCP.</a:t>
            </a:r>
          </a:p>
          <a:p>
            <a:r>
              <a:t>Conserver les résultats ; juge absent = parcours partiel, pas succès.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Limites &amp; approfondissement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Le harnais inspecte les sources : il ne génère ni ne démarre le serveur.</a:t>
            </a:r>
          </a:p>
          <a:p>
            <a:r>
              <a:t>À produire : assertions, preuve rouge/vert, grille et verdict discuté.</a:t>
            </a:r>
          </a:p>
          <a:p>
            <a:r>
              <a:t>Approfondir : cinq cas, répétitions, autres mutations. Dataset non automatisé.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M5 — Exploiter &amp; sécuriser en production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>
            <a:r>
              <a:t>Observabilité, guardrails, et la sécurité des accès MCP.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Observabilité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Voir ce que fait l’agent en production — et ce qu’il coûte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Traces &amp; logs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Chaque appel de tool, chaque prompt : tracés et corrélés.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Latence &amp; coût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Tokens, temps de réponse, coût par requête — les métriques qui pilotent.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Alerting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Seuils sur les dérives de qualité, de coût et d’erreurs.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Guardrails : la frontière avec l’éval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Évaluer, c’est hors-ligne ; garder, c’est en temps réel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ÉVAL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Avant / hors-ligne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On mesure la qualité sur un dataset, à froid, pour décider si on déploie. C’est TP3.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GUARDRAILS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Pendant / temps réel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On intercepte en direct : filtrer une entrée dangereuse, bloquer une sortie non conforme, couper une boucle. Complémentaire de l’éval, pas un substitut.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Sécuriser les accès MCP : le gateway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Le « col du sablier » de M0, rendu concret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LE PATTERN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Un frontal unique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Tous les clients passent par un gateway devant les serveurs MCP, plutôt que des accès directs dispersés.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CE QU’IL CENTRALISE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Auth, audit, autorisation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Authentification (OAuth2 / API key), journal d’audit, autorisation par outil, rate limiting. Un seul endroit à gouverner.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M6 — Gouverner le contexte à l’échelle (GitLab)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>
            <a:r>
              <a:t>Le contexte est du code : le versionner, le revoir, le protéger.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Gouverner le contexte comme du code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GitLab gouverne les changements ; OpenCode le chargement ; MCP les accès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Changements · GitLab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MR, branche protégée et règles d’approbation : la revue doit être configurée et vérifiée.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Skills · OpenCode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allow/deny règle le chargement du Skill par agent, pas les droits sur les outils MCP.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t>Accès · serveur MCP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r>
              <a:t>Identité, autorisation et audit à l’exécution ; ni secrets ni données sensibles dans le contexte partagé.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r>
              <a:t>Évolution · évaluations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6"/>
          </p:nvPr>
        </p:nvSpPr>
        <p:spPr/>
        <p:txBody>
          <a:bodyPr/>
          <a:lstStyle/>
          <a:p>
            <a:r>
              <a:t>Retirer une instruction seulement si les preuves restent acceptables ; garder les contrôles.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idx="127" sz="quarter"/>
          </p:nvPr>
        </p:nvSpPr>
        <p:spPr/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boucle de gouvernance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2400"/>
              <a:t>MR → génération avec son Skill → build/tests → évaluation → revue.</a:t>
            </a:r>
          </a:p>
          <a:p>
            <a:r>
              <a:rPr sz="2400"/>
              <a:t>Fusion : pipeline réussie exigée ; push direct interdit.</a:t>
            </a:r>
          </a:p>
          <a:p>
            <a:r>
              <a:rPr sz="2400"/>
              <a:t>CODEOWNERS : approbation à configurer selon l’offre GitLab.</a:t>
            </a:r>
          </a:p>
          <a:p>
            <a:r>
              <a:rPr sz="2400"/>
              <a:t>Preuve : un échec bloque la fusion ; la correction permet la revue.</a:t>
            </a:r>
          </a:p>
          <a:p>
            <a:r>
              <a:rPr sz="2400"/>
              <a:t>Le squelette CI contient un TODO : cette boucle reste à câbler.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TP4 — Gouverner le Skill sur GitLab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Prouver la gouvernance sur une MR ; environnement et génération réelle prévalidés avant la séance.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Essentiel · 1 h 30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Avant séance : formateur prépare GitLab, runner, OpenCode et secrets autorisés.</a:t>
            </a:r>
          </a:p>
          <a:p>
            <a:r>
              <a:t>Vérifier la génération avec le Skill de la MR : le YAML fourni est un squelette.</a:t>
            </a:r>
          </a:p>
          <a:p>
            <a:r>
              <a:t>Protéger main ; configurer revue et approbations selon l’offre.</a:t>
            </a:r>
          </a:p>
          <a:p>
            <a:r>
              <a:t>Démontrer : test rouge → fusion bloquée ; correction → évaluation verte.</a:t>
            </a:r>
          </a:p>
          <a:p>
            <a:r>
              <a:t>Vérifier allow/deny dans OpenCode ; conserver MR et preuves.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Préparation &amp; approfondissement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À produire : MR relue, évaluation réelle et blocage constaté.</a:t>
            </a:r>
          </a:p>
          <a:p>
            <a:r>
              <a:t>Sans préparation : allonger l’atelier ou noter une démonstration partielle.</a:t>
            </a:r>
          </a:p>
          <a:p>
            <a:r>
              <a:t>Approfondir : CI de zéro, plusieurs cas, suppression d’une règle évaluée.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M7 — Atelier : le modèle opératoire de l’usine logicielle 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 sz="quarter"/>
          </p:nvPr>
        </p:nvSpPr>
        <p:spPr/>
        <p:txBody>
          <a:bodyPr/>
          <a:lstStyle/>
          <a:p>
            <a:r>
              <a:t>La platform team comme route pavée — et l’atelier de synthèse.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8"/>
          </p:nvPr>
        </p:nvSpPr>
        <p:spPr/>
        <p:txBody>
          <a:bodyPr/>
          <a:lstStyle/>
          <a:p>
            <a:r>
              <a:t>La platform team comme route pavée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Vous fournissez des capacités ; les équipes les consomment en libre-service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VOUS FOURNISSEZ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Un catalogue de capacités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Serveurs MCP, Skills, scorers réutilisables — construits, évalués, gouvernés. Le fil rouge de ces deux jours en est un exemplaire.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LES ÉQUIPES CONSOMMENT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Conforme par défaut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Elles partent du catalogue plutôt que de la page blanche. La conformité est fournie, pas imposée après coup.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idx="117" sz="quarter"/>
          </p:nvPr>
        </p:nvSpPr>
        <p:spPr/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Le cycle de vie d’une capacité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Une capacité se gère comme un produit — jusqu’à sa fin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Contribution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Une équipe propose une capacité (serveur MCP, Skill).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Revue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La platform team valide : conformité, éval, sécurité.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t>Distribution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r>
              <a:t>Publiée au catalogue, versionnée, consommable en libre-service.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r>
              <a:t>Dépréciation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6"/>
          </p:nvPr>
        </p:nvSpPr>
        <p:spPr/>
        <p:txBody>
          <a:bodyPr/>
          <a:lstStyle/>
          <a:p>
            <a:r>
              <a:t>Le test de suppression : quand le socle l’absorbe, on la retire.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idx="127" sz="quarter"/>
          </p:nvPr>
        </p:nvSpPr>
        <p:spPr/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 — esquisser la cible du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Traduire les deux jours en un premier modèle opératoire d’usine logicielle IA pour votre groupe.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Déroulé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Cartographier les capacités déjà bricolées dans les équipes.  Choisir la première à cataloguer (un serveur MCP ou un Skill).  Définir qui décide quoi : contribution, revue, dépréciation.  Appliquer le test de suppression à une capacité maison existante.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Une esquisse de la cible « usine + gouvernance » et un premier pas concret, applicable dès le retour.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Quatre artefacts, des preuves, une suite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Avant la production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Élargir les cas et répéter les évaluations.</a:t>
            </a:r>
          </a:p>
          <a:p>
            <a:r>
              <a:t>Valider identité, accès, secrets, observabilité et budgets.</a:t>
            </a:r>
          </a:p>
          <a:p>
            <a:r>
              <a:t>Nommer un propriétaire, versionner et prévoir le retour arrière.</a:t>
            </a:r>
          </a:p>
          <a:p>
            <a:r>
              <a:t>Un prototype évalué n’est pas une plateforme prête pour la production.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2400"/>
              <a:t>TP1 · Un serveur et des appels MCP observés.</a:t>
            </a:r>
          </a:p>
          <a:p>
            <a:r>
              <a:rPr sz="2400"/>
              <a:t>TP2 · Un Skill chargé et une génération comparée.</a:t>
            </a:r>
          </a:p>
          <a:p>
            <a:r>
              <a:rPr sz="2400"/>
              <a:t>TP3 · Des assertions éprouvées et un verdict discuté.</a:t>
            </a:r>
          </a:p>
          <a:p>
            <a:r>
              <a:rPr sz="2400"/>
              <a:t>TP4 · Une MR relue et un blocage CI démontré.</a:t>
            </a:r>
          </a:p>
          <a:p>
            <a:r>
              <a:rPr sz="2400"/>
              <a:t>Bâtir au-dessus du socle ; conserver la responsabilité des contrôles.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IAM colors:   # Surface &amp; background">
  <a:themeElements>
    <a:clrScheme name="Personnalisé 13">
      <a:dk1>
        <a:srgbClr val="16100E"/>
      </a:dk1>
      <a:lt1>
        <a:srgbClr val="FFFFFF"/>
      </a:lt1>
      <a:dk2>
        <a:srgbClr val="222D45"/>
      </a:dk2>
      <a:lt2>
        <a:srgbClr val="FFFFFF"/>
      </a:lt2>
      <a:accent1>
        <a:srgbClr val="222D45"/>
      </a:accent1>
      <a:accent2>
        <a:srgbClr val="504C49"/>
      </a:accent2>
      <a:accent3>
        <a:srgbClr val="FFFFFF"/>
      </a:accent3>
      <a:accent4>
        <a:srgbClr val="16100E"/>
      </a:accent4>
      <a:accent5>
        <a:srgbClr val="FFC000"/>
      </a:accent5>
      <a:accent6>
        <a:srgbClr val="E0DDDA"/>
      </a:accent6>
      <a:hlink>
        <a:srgbClr val="222D45"/>
      </a:hlink>
      <a:folHlink>
        <a:srgbClr val="504C49"/>
      </a:folHlink>
    </a:clrScheme>
    <a:fontScheme name="SCIAM colors:   # Surface &amp; background">
      <a:majorFont>
        <a:latin typeface="DM Serif Text"/>
        <a:ea typeface=""/>
        <a:cs typeface=""/>
      </a:majorFont>
      <a:minorFont>
        <a:latin typeface="DM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/>
            </a:gs>
            <a:gs pos="100000">
              <a:schemeClr val="phClr">
                <a:shade val="8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</a:schemeClr>
            </a:gs>
            <a:gs pos="100000">
              <a:schemeClr val="phClr">
                <a:shade val="8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>
                <a:tint val="9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_SCIAM_DESIGN_v2.0" id="{1D7A38D8-AC19-4F45-A6C7-418676066534}" vid="{2DBF16DA-9F93-412D-A3F5-5D7943BEB23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7C71040-C1FF-4136-A7C7-46492B432F1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018b23d-a3de-443a-9a89-3a3f4544974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724</Words>
  <Application>Microsoft Office PowerPoint</Application>
  <PresentationFormat>Grand écran</PresentationFormat>
  <Paragraphs>147</Paragraphs>
  <Slides>12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Aptos</vt:lpstr>
      <vt:lpstr>Arial</vt:lpstr>
      <vt:lpstr>DM Sans</vt:lpstr>
      <vt:lpstr>SCIAM colors:   # Surface &amp; background</vt:lpstr>
      <vt:lpstr>Charte Graphique 2.0 SCIAM</vt:lpstr>
      <vt:lpstr>Sommaire</vt:lpstr>
      <vt:lpstr>Contexte &amp; enjeux</vt:lpstr>
      <vt:lpstr>Contexte &amp; enjeux</vt:lpstr>
      <vt:lpstr>Nos valeurs</vt:lpstr>
      <vt:lpstr>Notre Proposition</vt:lpstr>
      <vt:lpstr>Notre Proposition</vt:lpstr>
      <vt:lpstr>Nos équipes</vt:lpstr>
      <vt:lpstr>Pourquoi choisir SCIAM ?</vt:lpstr>
      <vt:lpstr>Des experts reconnus à l’échelle mondiale</vt:lpstr>
      <vt:lpstr>Comment nous travaillons</vt:lpstr>
      <vt:lpstr>Conseil, expertise &amp; accompagnement technologique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SCIAM PowerPoint Template</dc:subject>
  <dc:creator>Pierre Lepagnol</dc:creator>
  <cp:lastModifiedBy>Pierre Lepagnol</cp:lastModifiedBy>
  <cp:revision>6</cp:revision>
  <dcterms:created xsi:type="dcterms:W3CDTF">2026-07-06T13:55:42Z</dcterms:created>
  <dcterms:modified xsi:type="dcterms:W3CDTF">2026-07-06T14:00:42Z</dcterms:modified>
</cp:coreProperties>
</file>