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handoutMasterIdLst>
    <p:handoutMasterId r:id="rId15"/>
  </p:handoutMasterIdLst>
  <p:sldIdLst>
    <p:sldId id="256" r:id="rId8"/>
    <p:sldId id="257" r:id="rId9"/>
    <p:sldId id="258" r:id="rId10"/>
    <p:sldId id="259" r:id="rId11"/>
    <p:sldId id="260" r:id="rId12"/>
    <p:sldId id="261" r:id="rId13"/>
    <p:sldId id="262" r:id="rId7"/>
    <p:sldId id="263" r:id="rId6"/>
    <p:sldId id="264" r:id="rId5"/>
    <p:sldId id="265" r:id="rId4"/>
    <p:sldId id="266" r:id="rId3"/>
    <p:sldId id="267" r:id="rId2"/>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308" r:id="rId60"/>
    <p:sldId id="309" r:id="rId61"/>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310" r:id="rId62"/>
    <p:sldId id="311" r:id="rId63"/>
    <p:sldId id="294" r:id="rId46"/>
    <p:sldId id="295" r:id="rId47"/>
    <p:sldId id="296" r:id="rId48"/>
    <p:sldId id="297" r:id="rId49"/>
    <p:sldId id="298" r:id="rId50"/>
    <p:sldId id="314" r:id="rId66"/>
    <p:sldId id="315" r:id="rId67"/>
    <p:sldId id="316" r:id="rId68"/>
    <p:sldId id="312" r:id="rId64"/>
    <p:sldId id="299" r:id="rId51"/>
    <p:sldId id="300" r:id="rId52"/>
    <p:sldId id="301" r:id="rId53"/>
    <p:sldId id="302" r:id="rId54"/>
    <p:sldId id="303" r:id="rId55"/>
    <p:sldId id="304" r:id="rId56"/>
    <p:sldId id="305" r:id="rId57"/>
    <p:sldId id="306" r:id="rId58"/>
    <p:sldId id="313" r:id="rId65"/>
    <p:sldId id="307"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548640">
          <p15:clr>
            <a:srgbClr val="A4A3A4"/>
          </p15:clr>
        </p15:guide>
        <p15:guide id="2" pos="11643360">
          <p15:clr>
            <a:srgbClr val="A4A3A4"/>
          </p15:clr>
        </p15:guide>
        <p15:guide id="3" orient="horz" pos="502920">
          <p15:clr>
            <a:srgbClr val="A4A3A4"/>
          </p15:clr>
        </p15:guide>
        <p15:guide id="4" orient="horz" pos="64922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9F6"/>
    <a:srgbClr val="314163"/>
    <a:srgbClr val="00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2990" autoAdjust="0"/>
  </p:normalViewPr>
  <p:slideViewPr>
    <p:cSldViewPr snapToGrid="0" snapToObjects="1">
      <p:cViewPr varScale="1">
        <p:scale>
          <a:sx n="144" d="100"/>
          <a:sy n="144" d="100"/>
        </p:scale>
        <p:origin x="2466" y="126"/>
      </p:cViewPr>
      <p:guideLst>
        <p:guide pos="548640"/>
        <p:guide pos="11643360"/>
        <p:guide orient="horz" pos="502920"/>
        <p:guide orient="horz" pos="6492240"/>
      </p:guideLst>
    </p:cSldViewPr>
  </p:slideViewPr>
  <p:notesTextViewPr>
    <p:cViewPr>
      <p:scale>
        <a:sx n="3" d="2"/>
        <a:sy n="3" d="2"/>
      </p:scale>
      <p:origin x="0" y="0"/>
    </p:cViewPr>
  </p:notesTextViewPr>
  <p:notesViewPr>
    <p:cSldViewPr snapToGrid="0" snapToObjects="1">
      <p:cViewPr varScale="1">
        <p:scale>
          <a:sx n="89" d="100"/>
          <a:sy n="89" d="100"/>
        </p:scale>
        <p:origin x="563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1.xml"/><Relationship Id="rId60" Type="http://schemas.openxmlformats.org/officeDocument/2006/relationships/slide" Target="slides/slide26.xml"/><Relationship Id="rId61" Type="http://schemas.openxmlformats.org/officeDocument/2006/relationships/slide" Target="slides/slide27.xml"/><Relationship Id="rId62" Type="http://schemas.openxmlformats.org/officeDocument/2006/relationships/slide" Target="slides/slide41.xml"/><Relationship Id="rId63" Type="http://schemas.openxmlformats.org/officeDocument/2006/relationships/slide" Target="slides/slide42.xml"/><Relationship Id="rId64" Type="http://schemas.openxmlformats.org/officeDocument/2006/relationships/slide" Target="slides/slide51.xml"/><Relationship Id="rId65" Type="http://schemas.openxmlformats.org/officeDocument/2006/relationships/slide" Target="slides/slide60.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98FEE70-9643-1636-F329-88E1DC2886CD}"/>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0B493B6B-B215-AF4D-52AC-EDDA52D7E493}"/>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29FC3DDA-5E2B-4F31-BDED-2800E2194720}" type="datetimeFigureOut">
              <a:rPr lang="fr-FR" smtClean="0"/>
              <a:t>06/07/2026</a:t>
            </a:fld>
            <a:endParaRPr lang="fr-FR"/>
          </a:p>
        </p:txBody>
      </p:sp>
      <p:sp>
        <p:nvSpPr>
          <p:cNvPr id="5" name="Espace réservé du numéro de diapositive 4">
            <a:extLst>
              <a:ext uri="{FF2B5EF4-FFF2-40B4-BE49-F238E27FC236}">
                <a16:creationId xmlns:a16="http://schemas.microsoft.com/office/drawing/2014/main" id="{D8D63422-FFEB-2CBC-31A5-5264FC32EBD7}"/>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4F318222-5C0B-48F7-A39C-815EB064AF7B}" type="slidenum">
              <a:rPr lang="fr-FR" smtClean="0"/>
              <a:t>‹N°›</a:t>
            </a:fld>
            <a:endParaRPr lang="fr-FR"/>
          </a:p>
        </p:txBody>
      </p:sp>
    </p:spTree>
    <p:extLst>
      <p:ext uri="{BB962C8B-B14F-4D97-AF65-F5344CB8AC3E}">
        <p14:creationId xmlns:p14="http://schemas.microsoft.com/office/powerpoint/2010/main" val="18047067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3141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Point de départ, dans LEUR monde. Racontez l'histoire vraie : pendant des années, valider des politiques K8s = déployer Gatekeeper ou Kyverno, avec CRDs et webhook d'admission dans le chemin critique. Du code maison, maintenu, testé. Puis K8s 1.30 rend CEL natif dans l'API server (ValidatingAdmissionPolicy) : la capacité passe sous la ligne de flottaison.</a:t>
            </a:r>
          </a:p>
          <a:p>
            <a:r>
              <a:t>Message clé : ce n'était pas une erreur de l'avoir écrit — c'était en avance sur le socle. Le socle absorbe le MÉCANISME (comment on valide), pas l'INTENTION (quelles règles). Transition : ce schéma va se répéter avec les LLM, mais bien plus vite.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6" name="Notes Placeholder"/>
          <p:cNvSpPr>
            <a:spLocks noGrp="1"/>
          </p:cNvSpPr>
          <p:nvPr>
            <p:ph type="body" idx="1"/>
          </p:nvPr>
        </p:nvSpPr>
        <p:spPr/>
        <p:txBody>
          <a:bodyPr/>
          <a:lstStyle/>
          <a:p>
            <a:r>
              <a:t>La métaphore de Gregor Hohpe (Platform Strategy). Le niveau monte. Deux stratégies : sink — on garde la capacité maison, elle finit sous l'eau, dupliquée et coûteuse ; float — on abandonne au fur et à mesure et on réinvestit plus haut.</a:t>
            </a:r>
          </a:p>
          <a:p>
            <a:r>
              <a:t>Point politique à ne pas rater : le contrat social. Une plateforme qui flotte prévient ses équipes de ce qui sera retiré — sinon retirer = trahir. Reliez à leur rôle : leur métier n'est pas d'accumuler des capacités, mais de savoir lesquelles lâcher.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7" name="Notes Placeholder"/>
          <p:cNvSpPr>
            <a:spLocks noGrp="1"/>
          </p:cNvSpPr>
          <p:nvPr>
            <p:ph type="body" idx="1"/>
          </p:nvPr>
        </p:nvSpPr>
        <p:spPr/>
        <p:txBody>
          <a:bodyPr/>
          <a:lstStyle/>
          <a:p>
            <a:r>
              <a:t>Enfoncez le clou avec des exemples K8s qu'ils reconnaissent dans leurs tripes : admission policy (déjà vu), sidecars, scheduling gates, in-place pod resize. À chaque fois : quelqu'un a écrit du tooling, le socle l'a absorbé — cycle normal d'une plateforme.</a:t>
            </a:r>
          </a:p>
          <a:p>
            <a:r>
              <a:t>Sidecars — précision importante : ce que le socle a absorbé, c'est la GESTION DU CYCLE DE VIE (initContainers avec restartPolicy: Always, bêta en 1.29, stable en 1.33) : démarrage avant le conteneur principal, arrêt après lui, coordination des probes et des Jobs. Les sidecars natifs ne remplacent PAS à eux seuls l'injection automatique : un mesh (Istio, Linkerd) continue d'injecter son proxy via un webhook d'admission, il s'appuie simplement sur le cycle de vie natif au lieu de le bricoler. Référence : kubernetes.io/docs/concepts/workloads/pods/sidecar-containers/.</a:t>
            </a:r>
          </a:p>
          <a:p>
            <a:r>
              <a:t>Interaction : demandez à la salle quel tooling maison ils ont déjà supprimé grâce à une feature K8s. Ça crée l'adhésion avant le pivot IA.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8" name="Notes Placeholder"/>
          <p:cNvSpPr>
            <a:spLocks noGrp="1"/>
          </p:cNvSpPr>
          <p:nvPr>
            <p:ph type="body" idx="1"/>
          </p:nvPr>
        </p:nvSpPr>
        <p:spPr/>
        <p:txBody>
          <a:bodyPr/>
          <a:lstStyle/>
          <a:p>
            <a:r>
              <a:t>Le cœur du keynote : on garde le modèle mental, on change de socle. Faites la correspondance rôle par rôle (la slide est en regard) : API server → le modèle ; opérateur/webhook → le harnais autour du LLM ; CRD → les formats d'outils propriétaires ; feature native → ce que le modèle suivant sait faire seul.</a:t>
            </a:r>
          </a:p>
          <a:p>
            <a:r>
              <a:t>Le point qui réveille la salle : la VITESSE. Ordre de grandeur à présenter comme une ILLUSTRATION, pas comme une loi : VAP a mis ~5 ans entre les premiers webhooks d'admission maison et la GA (1.30, avr. 2024) ; côté LLM, le function calling natif est arrivé ~18 mois après les premiers harnais ReAct (juin 2023 chez OpenAI, puis les autres). Deux points ne font pas une tendance : dites-le. Le message robuste est que la dette de harnais se rembourse — ou s'accumule — à un rythme que l'organisation ne contrôle pas.</a:t>
            </a:r>
          </a:p>
          <a:p>
            <a:r>
              <a:t>Sources à rappeler si on vous le demande : changelogs Kubernetes (ValidatingAdmissionPolicy GA 1.30) et annonces des fournisseurs (function calling). Vérifiez les dates avant chaque session.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9" name="Notes Placeholder"/>
          <p:cNvSpPr>
            <a:spLocks noGrp="1"/>
          </p:cNvSpPr>
          <p:nvPr>
            <p:ph type="body" idx="1"/>
          </p:nvPr>
        </p:nvSpPr>
        <p:spPr/>
        <p:txBody>
          <a:bodyPr/>
          <a:lstStyle/>
          <a:p>
            <a:r>
              <a:t>Les exemples d'absorption côté IA, en miroir du K8s :</a:t>
            </a:r>
          </a:p>
          <a:p>
            <a:r>
              <a:t>- parsing d'outils à la main (ReAct, regex sur la sortie) → function calling natif ;</a:t>
            </a:r>
          </a:p>
          <a:p>
            <a:r>
              <a:t>- CoT forcé par prompt (« réfléchis étape par étape ») → modèles de raisonnement entraînés à le faire seuls. NUANCE forte : forcer le CoT sur un modèle de raisonnement récent peut DÉGRADER la qualité — le vieux harnais devient nuisible ;</a:t>
            </a:r>
          </a:p>
          <a:p>
            <a:r>
              <a:t>- validation JSON par retry → sorties structurées. NUANCE : ce que le fournisseur garantit, c'est la conformité SYNTAXIQUE au schéma (JSON valide, champs présents, types respectés). Il ne garantit pas que les valeurs sont EXACTES ni cohérentes avec le métier : la validation métier (règles, référentiels, plages) reste dans notre modèle mental, et dans le harnais ;</a:t>
            </a:r>
          </a:p>
          <a:p>
            <a:r>
              <a:t>- chunking pour tenir en 4k → fenêtres longues + cache. NUANCE : le contexte long et le cache simplifient certains mécanismes (moins de découpage, moins de re-tokenisation) mais ne suppriment pas le besoin de SÉLECTIONNER l'information pertinente : coût par token, dilution de l'attention et données sensibles restent des raisons de faire de la recherche documentaire (M3, context engineering).</a:t>
            </a:r>
          </a:p>
          <a:p>
            <a:r>
              <a:t>Chacun était une bonne idée devenue du poids mort — pour la partie mécanique. La partie « vérifier » n'a pas coulé, elle a changé de forme.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0" name="Notes Placeholder"/>
          <p:cNvSpPr>
            <a:spLocks noGrp="1"/>
          </p:cNvSpPr>
          <p:nvPr>
            <p:ph type="body" idx="1"/>
          </p:nvPr>
        </p:nvSpPr>
        <p:spPr/>
        <p:txBody>
          <a:bodyPr/>
          <a:lstStyle/>
          <a:p>
            <a:r>
              <a:t>Nuance indispensable, sinon la métaphore est fausse. K8s = un substrat unifié. Les LLM = pluriels et concurrents (exemples à date, sept. 2026 : accès API — OpenAI, Anthropic, Google, xAI ; open-weight — DeepSeek, Qwen, Llama, Mistral). Rafraîchissez cette liste avant chaque session.</a:t>
            </a:r>
          </a:p>
          <a:p>
            <a:r>
              <a:t>Donc TROIS issues, pas deux : absorption (le socle avale → on supprime) ; normalisation (une interface se fige → on garde un adaptateur : CRI/CNI/CSI côté K8s, l'API compatible OpenAI côté LLM) ; divergence durable (rien ne converge → on maintient, coût assumé).</a:t>
            </a:r>
          </a:p>
          <a:p>
            <a:r>
              <a:t>C'est l'outil de décision de la platform team : pour chaque capacité maison, dans quelle case je suis ?</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1" name="Notes Placeholder"/>
          <p:cNvSpPr>
            <a:spLocks noGrp="1"/>
          </p:cNvSpPr>
          <p:nvPr>
            <p:ph type="body" idx="1"/>
          </p:nvPr>
        </p:nvSpPr>
        <p:spPr/>
        <p:txBody>
          <a:bodyPr/>
          <a:lstStyle/>
          <a:p>
            <a:r>
              <a:t>MCP illustre la normalisation PAR LE HAUT — contre-intuitif : d'habitude les standards montent du bas. Ici un lab frontière (Anthropic, fin 2024) publie un protocole ouvert, et les concurrents l'adoptent : faire grossir l'écosystème vaut mieux que le verrouiller.</a:t>
            </a:r>
          </a:p>
          <a:p>
            <a:r>
              <a:t>Résultat : le point d'intégration devient une interface fine et stable — le "col du sablier" — exactement comme CRI/CNI/CSI ont fait du kubelet un point neutre.</a:t>
            </a:r>
          </a:p>
          <a:p>
            <a:r>
              <a:t>C'est LE moment de transition vers le workshop : on va passer deux jours à construire sur cette interface normalisée.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2" name="Notes Placeholder"/>
          <p:cNvSpPr>
            <a:spLocks noGrp="1"/>
          </p:cNvSpPr>
          <p:nvPr>
            <p:ph type="body" idx="1"/>
          </p:nvPr>
        </p:nvSpPr>
        <p:spPr/>
        <p:txBody>
          <a:bodyPr/>
          <a:lstStyle/>
          <a:p>
            <a:r>
              <a:t>La conclusion rassurante du keynote : tout ne monte pas. Mais formulez-la juste : ce n'est pas que ces zones « ne seront jamais absorbées » — des fournisseurs livrent déjà des passerelles d'identité, des journaux d'audit, des routeurs multi-modèles et des outils d'évaluation. Ce qui reste à l'organisation, ce sont les POLITIQUES (qui a droit à quoi), les CRITÈRES (qu'est-ce qu'un résultat acceptable) et les DÉCISIONS (quel budget, quelle rétention, quel seuil). Cinq responsabilités : identité &amp; accès, audit &amp; traçabilité, coût &amp; routing, règles métier &amp; réglementaire, évaluation.</a:t>
            </a:r>
          </a:p>
          <a:p>
            <a:r>
              <a:t>C'est le périmètre durable de la platform team — la vraie ligne de flottaison : le mécanisme peut couler, la responsabilité flotte. Ces cinq zones structurent le Jour 2. Message : lâchez le harnais, gardez la gouvernance — et ne confondez pas « le fournisseur propose un mécanisme » avec « le contrôle n'est plus de notre ressort ».</a:t>
            </a:r>
          </a:p>
          <a:p>
            <a:r>
              <a:t>Exemple concret, montré en démonstration en M5 : une gateway de modèles comme LiteLLM fournit clés, équipes, quotas, routage et journal — le MÉCANISME. Quel budget pour quelle équipe, quels modèles autorisés, quelle rétention des journaux : la POLITIQUE reste à l'organisation.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4" name="Notes Placeholder"/>
          <p:cNvSpPr>
            <a:spLocks noGrp="1"/>
          </p:cNvSpPr>
          <p:nvPr>
            <p:ph type="body" idx="1"/>
          </p:nvPr>
        </p:nvSpPr>
        <p:spPr/>
        <p:txBody>
          <a:bodyPr/>
          <a:lstStyle/>
          <a:p>
            <a:r>
              <a:t>RAPPEL, pas un cours — restez en surface. Vocabulaire commun.</a:t>
            </a:r>
          </a:p>
          <a:p>
            <a:r>
              <a:t>- DEUX AXES à ne pas confondre. (1) Niveau de capacité : « frontier » = le haut du classement à une date donnée. (2) Conditions d'accès aux poids / de distribution : API seule (poids non publiés) vs open-weight (poids téléchargeables, auto-hébergeables). Les deux axes se croisent : il existe des modèles open-weight de niveau frontier et des modèles API de niveau modeste. Ne dites plus « frontier = propriétaire ».</a:t>
            </a:r>
          </a:p>
          <a:p>
            <a:r>
              <a:t>- Exemples À DATE (sept. 2026, à rafraîchir avant chaque session ; citez la source consultée : fiches modèles des éditeurs, classements publics type LMArena / Artificial Analysis) : API seule — GPT-5.x/GPT-6 (OpenAI), Claude Opus 5 / Fable (Anthropic), Gemini 3.x (Google), Grok 4.x (xAI). Open-weight — DeepSeek V4, Qwen 3.x, Llama 4, Mistral, GLM, Kimi.</a:t>
            </a:r>
          </a:p>
          <a:p>
            <a:r>
              <a:t>- À corriger absolument : open weights ≠ open source. Poids ouverts, mais données et code d'entraînement rarement (voir la définition OSAID de l'OSI).</a:t>
            </a:r>
          </a:p>
          <a:p>
            <a:r>
              <a:t>- Tendance à énoncer avec sa source et sa date : l'écart entre open-weight et API seule s'est resserré sur de nombreux benchmarks — donnez le classement consulté et sa date, pas une affirmation générale. Alimente la « normalisation par le bas » de M0.</a:t>
            </a:r>
          </a:p>
          <a:p>
            <a:r>
              <a:t>- Paramètres : petits ~1-8B (laptop), moyens ~8-70B, grands 100B+. C'est un PROXY, pas une garantie (données + post-training + archi pèsent autant).</a:t>
            </a:r>
          </a:p>
          <a:p>
            <a:r>
              <a:t>- Caveat : les noms de modèles datent en semaines. Donnez-les en illustration, rafraîchissez avant chaque session, ne les mettez pas sur les slides.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5" name="Notes Placeholder"/>
          <p:cNvSpPr>
            <a:spLocks noGrp="1"/>
          </p:cNvSpPr>
          <p:nvPr>
            <p:ph type="body" idx="1"/>
          </p:nvPr>
        </p:nvSpPr>
        <p:spPr/>
        <p:txBody>
          <a:bodyPr/>
          <a:lstStyle/>
          <a:p>
            <a:r>
              <a:t>- Dense vs MoE. Dense = tous les paramètres actifs à chaque token. MoE (Mixture of Experts) = un routeur n'active que quelques experts → total ≠ actif. Exemples À DATE (sept. 2026, vérifiez sur les fiches modèles Hugging Face avant la session) : DeepSeek V4 ≈ 1,6 T paramètres totaux pour ~50 B actifs ; Llama 4 Maverick 400 B / 17 B actifs.</a:t>
            </a:r>
          </a:p>
          <a:p>
            <a:r>
              <a:t>- COÛT : ne dites pas « un MoE coûte le prix de sa fraction active ». Trois postes distincts : (1) le CALCUL par token (FLOPs) suit la fraction active — c'est là que le MoE gagne ; (2) la MÉMOIRE : tous les poids doivent être chargés (VRAM/HBM), donc le dimensionnement des GPU suit la taille TOTALE ; (3) la COMMUNICATION : le routage des tokens vers les experts répartis sur plusieurs GPU ajoute des échanges (all-to-all) et de la latence. Conséquence plateforme : la fraction active ne permet ni de dimensionner l'infrastructure ni de prédire le coût total ; elle prédit surtout le débit par GPU une fois le modèle chargé. Référence : huggingface.co/blog/moe (« Mixture of Experts Explained »).</a:t>
            </a:r>
          </a:p>
          <a:p>
            <a:r>
              <a:t>- Tendance 2026 (à vérifier) : le MoE est l'architecture dominante au sommet de l'open-weight ; le milieu dense 70-100B s'est raréfié.</a:t>
            </a:r>
          </a:p>
          <a:p>
            <a:r>
              <a:t>- Variantes : base (brut, ne suit pas les instructions, inutilisable en chat) ; instruct/chat (aligné, conversationnel) ; reasoning (entraîné à raisonner par étapes avant de répondre) ; distilled (petit modèle entraîné sur les sorties d'un gros).</a:t>
            </a:r>
          </a:p>
          <a:p>
            <a:r>
              <a:t>- Lien M0 : le « reasoning » natif, c'est le CoT qu'on forçait à la main hier, désormais absorbé.</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8" name="Notes Placeholder"/>
          <p:cNvSpPr>
            <a:spLocks noGrp="1"/>
          </p:cNvSpPr>
          <p:nvPr>
            <p:ph type="body" idx="1"/>
          </p:nvPr>
        </p:nvSpPr>
        <p:spPr/>
        <p:txBody>
          <a:bodyPr/>
          <a:lstStyle/>
          <a:p>
            <a:r>
              <a:t>Les trois briques que la platform team devra outiller :</a:t>
            </a:r>
          </a:p>
          <a:p>
            <a:r>
              <a:t>- Tools : les actions (appels de fonction, accès SI) — ce que MCP standardise, on y passe la journée ;</a:t>
            </a:r>
          </a:p>
          <a:p>
            <a:r>
              <a:t>- Skills : le savoir-faire réutilisable chargé à la demande — le cœur du fil rouge (TP2) ;</a:t>
            </a:r>
          </a:p>
          <a:p>
            <a:r>
              <a:t>- Mémoire : le contexte qui persiste (historique, préférences, connaissances).</a:t>
            </a:r>
          </a:p>
          <a:p>
            <a:r>
              <a:t>Message : ce sont des ACTIFS PARTAGÉS à gouverner, pas des détails d'implémentation. Bascule vers M3.</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9" name="Notes Placeholder"/>
          <p:cNvSpPr>
            <a:spLocks noGrp="1"/>
          </p:cNvSpPr>
          <p:nvPr>
            <p:ph type="body" idx="1"/>
          </p:nvPr>
        </p:nvSpPr>
        <p:spPr/>
        <p:txBody>
          <a:bodyPr/>
          <a:lstStyle/>
          <a:p>
            <a:r>
              <a:t>Deux idées.</a:t>
            </a:r>
          </a:p>
          <a:p>
            <a:r>
              <a:t>- Composition : un orchestrateur délègue à des sous-agents spécialisés → plus de modularité, mais plus de coordination, de latence et de coût. Ne pas multiplier les agents par réflexe.</a:t>
            </a:r>
          </a:p>
          <a:p>
            <a:r>
              <a:t>- Human-in-the-loop : points de validation et garde-fous sur les actions sensibles.</a:t>
            </a:r>
          </a:p>
          <a:p>
            <a:r>
              <a:t>Insistez : la supervision humaine est un choix d'ARCHITECTURE, décidé à la conception, pas une case cochée après coup. Prépare M5 (guardrails) et la gouvernance.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20" name="Notes Placeholder"/>
          <p:cNvSpPr>
            <a:spLocks noGrp="1"/>
          </p:cNvSpPr>
          <p:nvPr>
            <p:ph type="body" idx="1"/>
          </p:nvPr>
        </p:nvSpPr>
        <p:spPr/>
        <p:txBody>
          <a:bodyPr/>
          <a:lstStyle/>
          <a:p>
            <a:r>
              <a:t>Panorama : MCP n'est pas seul, c'est une pile ; chaque protocole résout une couche. Dates à vérifier avant la session.</a:t>
            </a:r>
          </a:p>
          <a:p>
            <a:r>
              <a:t>- MCP (Anthropic, nov. 2024) : relie un agent aux outils/données/prompts. Agent-agnostique : le même serveur marche avec n'importe quel client. Notre sujet.</a:t>
            </a:r>
          </a:p>
          <a:p>
            <a:r>
              <a:t>- A2A (Agent2Agent, Google, avr. 2025 → Linux Foundation) : la communication ENTRE agents. Découverte via « Agent Cards » (/.well-known/agent-card.json), délégation de tâches. MCP = agent↔outils ; A2A = agent↔agent : la distinction à marteler.</a:t>
            </a:r>
          </a:p>
          <a:p>
            <a:r>
              <a:t>- A2UI / AG-UI : la couche interface — l'agent génère de l'UI (A2UI, déclaratif) ou dialogue en temps réel (AG-UI, CopilotKit).</a:t>
            </a:r>
          </a:p>
          <a:p>
            <a:r>
              <a:t>- AP2 (Agent Payments Protocol, Google + ~60 organisations, sept. 2025) : autorisation de paiement agentique, mandats signés et preuves cryptographiques d'intention ; conçu comme extension d'A2A et de MCP. C'est le seul protocole de la case « paiements ».</a:t>
            </a:r>
          </a:p>
          <a:p>
            <a:r>
              <a:t>- Si la question « et ACP ? » arrive, deux homonymes à distinguer : (1) Agent Communication Protocol (IBM / BeeAI) — un protocole de communication inter-agents, donc la couche d'A2A, avec lequel il a fusionné en 2025 (voir agentcommunicationprotocol.dev/introduction/welcome) ; (2) Agentic Commerce Protocol (OpenAI + Stripe, sept. 2025) — un protocole de commerce/paiement, concurrent d'AP2. Ne mettez ni l'un ni l'autre dans la case sans développer le sigle.</a:t>
            </a:r>
          </a:p>
          <a:p>
            <a:r>
              <a:t>- Fil conceptuel : ces protocoles sont eux-mêmes de la normalisation par le haut (labs frontière + Linux Foundation). Critère plateforme : n'adoptez que la couche utile, ils sont modulaires. Pour l'accès outils/données, MCP est le socle → d'où le workshop.</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La frontière utile n'est pas « hors ligne vs temps réel » mais « mesurer vs contraindre ».</a:t>
            </a:r>
          </a:p>
          <a:p>
            <a:r>
              <a:t>- ÉVALUER = mesurer. Hors ligne (TP3 : dataset, à froid, pour décider si on déploie) OU en ligne (M4, colonne « où » : échantillonnage du trafic réel, juge en asynchrone, tableaux de dérive). Dans les deux cas, on produit une information qui alimente une décision humaine ou une alerte — on ne bloque pas la requête.</a:t>
            </a:r>
          </a:p>
          <a:p>
            <a:r>
              <a:t>- GUARDRAIL = contraindre. Il s'exécute dans le flux et agit sur la requête en cours : filtre d'entrée, blocage d'une sortie non conforme, coupe-circuit sur une boucle ou un budget. Il doit être rapide, déterministe autant que possible, et il a un coût de latence.</a:t>
            </a:r>
          </a:p>
          <a:p>
            <a:r>
              <a:t>- Les deux se nourrissent : l'éval hors ligne mesure le taux de faux positifs/négatifs d'un guardrail ; l'éval en ligne détecte les cas qu'aucun guardrail n'attrape. Complémentaires, pas substituables.</a:t>
            </a:r>
          </a:p>
          <a:p>
            <a:r>
              <a:t>- Cohérence avec le fil rouge : le TP3 est une évaluation HORS LIGNE ; on n'y construit pas de guardrail. Le mini-exercice M5 (trace fictive) fait identifier où un guardrail aurait dû intervenir.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gateway MCP est UN PATTERN, pas une garantie ni une obligation. Présentez-le comme une option architecturale à justifier (nombre de serveurs, hétérogénéité des clients, besoin d'un point d'audit unique), pas comme la sécurité « réglée ».</a:t>
            </a:r>
          </a:p>
          <a:p>
            <a:r>
              <a:t>Trois contrôles à distinguer et à LOCALISER :</a:t>
            </a:r>
          </a:p>
          <a:p>
            <a:r>
              <a:t>- AUTHENTIFICATION (qui appelle ?) : la spécification MCP (modelcontextprotocol.io/specification/2025-11-25/basic/authorization) décrit, pour le transport HTTP, un flux OAuth 2.1 où le serveur MCP est un resource server : découverte des métadonnées, jetons d'accès, audience. Une simple clé API partagée n'est PAS une implémentation équivalente de ce contrat : pas d'identité de l'utilisateur final, pas de portée, pas de révocation fine. Si on l'utilise, on le dit et on en assume les limites.</a:t>
            </a:r>
          </a:p>
          <a:p>
            <a:r>
              <a:t>- AUTORISATION (quel outil, quelle portée, sur quelles données ?) : un gateway peut filtrer la liste des tools exposés à un client, mais l'autorisation effective doit être appliquée là où l'action s'exécute — le serveur MCP et, derrière lui, le SI. Sinon un accès direct au serveur contourne tout.</a:t>
            </a:r>
          </a:p>
          <a:p>
            <a:r>
              <a:t>- AUDIT (qu'est-ce qui s'est passé ?) : journal corrélé client → gateway → serveur → SI ; le gateway est un bon point de collecte, pas le seul.</a:t>
            </a:r>
          </a:p>
          <a:p>
            <a:r>
              <a:t>Question à poser pour chaque contrôle : « où est-il réellement appliqué, et que se passe-t-il si on contourne le gateway ? ». Lien TP4 : les permissions allow/deny d'OpenCode sur un Skill ne sont NI de l'authentification NI de l'autorisation MCP.</a:t>
            </a:r>
          </a:p>
          <a:p>
            <a:r>
              <a:t>Lien avec les diapos suivantes : LiteLLM, la gateway de MODÈLES montrée en démo, propose aussi un « MCP gateway » (serveurs déclarés sous mcp_servers, accès par clé et par équipe, point d'entrée /mcp/&lt;alias&gt;). C'est un exemple du pattern, pas une exception à la règle : l'accès y est réglé par serveur, pas par outil, et le serveur Quarkus reste responsable de ses propres contrôles.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Atelier de 1 h (M7). Objectif : repartir avec UNE fiche remplie, pas une esquisse. Formez des binômes par équipe ou par domaine.</a:t>
            </a:r>
          </a:p>
          <a:p>
            <a:r>
              <a:t>Déroulé indicatif : 10 min cartographie rapide (post-its : quelles capacités IA existent déjà, même bricolées) ; 10 min choix de la première capacité à cataloguer ; 25 min remplissage de la fiche de sortie (diapo suivante — chaque ligne doit contenir un nom, une date ou un critère observable, pas une intention) ; 15 min restitution : chaque binôme lit sa première action datée.</a:t>
            </a:r>
          </a:p>
          <a:p>
            <a:r>
              <a:t>Le test de suppression s'applique à une capacité maison EXISTANTE : quelle règle, quel harnais, quel adaptateur pourrait-on retirer si le modèle progresse — et quelle preuve exigerait-on avant de le faire ?</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Schéma à montrer AVANT de lancer TP1, pour lever l'ambiguïté « méta » du fil rouge : on ne construit pas un agent qui utilise un serveur MCP, on outille la FABRICATION des serveurs MCP.</a:t>
            </a:r>
          </a:p>
          <a:p>
            <a:r>
              <a:t>Chaîne du haut (fabriquer) : le participant pilote OpenCode ; au TP1 sans Skill, à partir du TP2 avec le Skill create-quarkus-mcp-server ; le code Quarkus produit est évalué (TP3 : assertions déterministes + juge LLM) puis gouverné (TP4 : MR, CI, protections, permissions).</a:t>
            </a:r>
          </a:p>
          <a:p>
            <a:r>
              <a:t>Chaîne du bas (utiliser) : n'importe quel client MCP (OpenCode, Claude Code, un agent métier) appelle le serveur, qui expose le catalogue de services interne via deux tools, une resource paramétrée et un prompt.</a:t>
            </a:r>
          </a:p>
          <a:p>
            <a:r>
              <a:t>La flèche dorée relie les deux : le serveur généré est l'objet des preuves. Quand on dit « le test est vert », on parle du serveur (chaîne du bas) ; quand on dit « la MR est bloquée », on parle du Skill (chaîne du haut). Faites verbaliser cette distinction par un participant avant de passer à la fiche TP1.</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À projeter au lancement de chaque TP (revenir sur cette diapo ou cliquer le lien sur la fiche TP). Les guides contiennent les durées, les preuves attendues, le dépannage et le point de passage : ne les relisez pas à l'oral, laissez les participants les ouvrir.</a:t>
            </a:r>
          </a:p>
          <a:p>
            <a:r>
              <a:t>Les URL sont celles de GitHub Pages ; la gouvernance du Skill (TP4) se pratique sur GitLab — deux usages distincts, ne pas les confondre.</a:t>
            </a:r>
          </a:p>
          <a:p>
            <a:r>
              <a:t>Si la salle n'a pas d'accès Internet fiable, les mêmes guides sont dans le dépôt cloné (docs/tp1.md … docs/tp4.md).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Démonstration formateur (5 min), à faire AVANT que les participants écrivent leurs assertions (TP3, section 3). Matériel : formateur/demo-scorer-trompeur/ dans le dépôt — un faux projet « piège » (pom.xml avec quarkus-mcp-server, une classe dont un commentaire et un test mentionnent find_service, mais aucun @Tool) et un exemple de test robuste. Ne pas copier ces fichiers dans tp3-eval/ : les squelettes participants restent intacts.</a:t>
            </a:r>
          </a:p>
          <a:p>
            <a:r>
              <a:t>1. Montrez le scorer naïf : assertTrue(projet.sourceContient("find_service")). Lancez-le sur le projet piège → VERT. Demandez à la salle : le serveur expose-t-il le tool ? Non.</a:t>
            </a:r>
          </a:p>
          <a:p>
            <a:r>
              <a:t>2. Montrez pourquoi : GeneratedProject.sourceJava() concatène tous les .java, y compris src/test ; sourceContient applique une regex DOTALL. Le nom apparaît dans un commentaire et dans un nom de test.</a:t>
            </a:r>
          </a:p>
          <a:p>
            <a:r>
              <a:t>3. Montrez la parade : regex qui exige l'annotation @Tool avec name = "find_service" sur la même déclaration (ex. @Tool\s*\([^)]*name\s*=\s*"find_service"), et retirer les commentaires avant de chercher. Lancez → ROUGE sur le piège, VERT sur une génération conforme.</a:t>
            </a:r>
          </a:p>
          <a:p>
            <a:r>
              <a:t>4. Message : un scorer n'est crédible qu'après avoir prouvé qu'il sait échouer (mutation, section 4 du TP3). Un vert qui ne peut pas devenir rouge ne mesure rien.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Vue synthétique à utiliser au débrief du TP3 (et à réutiliser pour lire les artefacts CI du TP4). Les valeurs sont FICTIVES : remplacez-les par celles de la session ou faites remplir le tableau par les binômes.</a:t>
            </a:r>
          </a:p>
          <a:p>
            <a:r>
              <a:t>Quatre colonnes de preuve, volontairement séparées : (1) build/tests du serveur — Maven ; (2) contrat MCP observé — l'inspecteur ou un client, ce que le harnais ne fait pas ; (3) assertions déterministes — le harnais tp3-eval ; (4) juge LLM — note et accord/désaccord avec la lecture humaine. La colonne « lecture » est la conclusion argumentée, pas une moyenne.</a:t>
            </a:r>
          </a:p>
          <a:p>
            <a:r>
              <a:t>Deux règles de lecture : un « non exécuté » (juge sans endpoint, cas non lancé, MCP non vérifié) s'écrit tel quel et ne compte jamais comme réussi ; cinq cas, une répétition chacun, c'est un premier signal exploratoire — pas une mesure de robustesse. Pour parler de robustesse il faudrait répéter les cas instables (approfondissement) et regarder la dispersion, pas une moyenne.</a:t>
            </a:r>
          </a:p>
          <a:p>
            <a:r>
              <a:t>Distinguez aussi la provenance : la génération du TP2 n'est pas un cas du dataset, même si elle expose les quatre primitives.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Réservez ~15 min dans les 45 min de M5, après observabilité / guardrails / gateway. Matériel : formateur/m5-trace-fictive/ (trace JSONL fictive + grille de correction). Projetez la trace ou distribuez-la ; ce n'est PAS un cinquième TP : pas de code, une grille à remplir en binôme (contrôle · emplacement · responsable), 8 min de travail, 7 min de restitution.</a:t>
            </a:r>
          </a:p>
          <a:p>
            <a:r>
              <a:t>Ce que vous cherchez à faire dire :</a:t>
            </a:r>
          </a:p>
          <a:p>
            <a:r>
              <a:t>- Action non autorisée : le contrôle est l'AUTORISATION par outil, appliquée au serveur MCP (et au SI derrière), pas seulement filtrée au gateway ; responsable : le propriétaire du serveur. Lien diapo gateway : « où est-il réellement appliqué ? ».</a:t>
            </a:r>
          </a:p>
          <a:p>
            <a:r>
              <a:t>- Boucle trop longue : GUARDRAIL de type coupe-circuit (nombre d'appels / budget par session) côté client ou gateway, plus une ALERTE d'observabilité sur le coût ; responsable : l'équipe qui exploite l'agent, seuil fixé avec le métier. Lien diapo éval/guardrails : c'est « contraindre », pas « mesurer ».</a:t>
            </a:r>
          </a:p>
          <a:p>
            <a:r>
              <a:t>- Donnée sensible : FILTRAGE / masquage à l'émission des traces (jamais de secret dans un argument de tool), RÉTENTION adaptée, RÉVOCATION immédiate de la clé ; responsables : sécurité + propriétaire du serveur. Lien M6 : ni secrets ni données sensibles dans le contexte partagé.</a:t>
            </a:r>
          </a:p>
          <a:p>
            <a:r>
              <a:t>Fermez sur : un contrôle se définit par les trois — quoi, où, qui. Sans le « où » et le « qui », ce n'est qu'un vœu.</a:t>
            </a:r>
          </a:p>
          <a:p>
            <a:r>
              <a:t>Placez cet exercice juste APRÈS la démo LiteLLM : les binômes rattachent chaque incident à ce qu'ils viennent de voir. B (boucle) → rpm_limit / budget par équipe et le 429 montré ; C (secret dans les logs) → turn_off_message_logging, rétention, révocation de la clé virtuelle ; A (action non autorisée) → RIEN côté gateway de modèles, et même le MCP gateway ne règle l'accès qu'au serveur entier : l'autorisation par outil reste au serveur MCP. C'est le contre-exemple qui empêche de croire que la gateway « sécurise tout ».</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canevas à remplir en binôme pendant l'atelier M7. La colonne « exemple » montre le fil rouge de la formation ; les participants remplissent leur propre capacité, réelle, issue de la cartographie.</a:t>
            </a:r>
          </a:p>
          <a:p>
            <a:r>
              <a:t>Règle de remplissage : chaque ligne contient un nom, une date ou un critère observable. « L'équipe plateforme » n'est pas un propriétaire ; « améliorer la qualité » n'est pas un critère ; « bientôt » n'est pas une date.</a:t>
            </a:r>
          </a:p>
          <a:p>
            <a:r>
              <a:t>Les lignes suivent le cycle de vie de la diapo précédente (contribution → revue → distribution → dépréciation) et les contrôles vus en M5/M6. La ligne « dépréciation » est le test de suppression rendu opérationnel : quel critère, quelle cadence, qui décide.</a:t>
            </a:r>
          </a:p>
          <a:p>
            <a:r>
              <a:t>Version imprimable / Markdown : sciam-fr.github.io/formation-ia/fiche-de-sortie/ (et docs/fiche-de-sortie.md dans le dépôt).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Retour d'expérience à partager : chez un grand client, la gateway de modèles a été la PREMIÈRE brique de plateforme IA qui a tenu, parce qu'elle répond à la question que la direction pose en premier : qui dépense quoi, sur quel modèle, et qui l'a décidé.</a:t>
            </a:r>
          </a:p>
          <a:p>
            <a:r>
              <a:t>LiteLLM (open source, BerriAI) : proxy compatible OpenAI devant une centaine de fournisseurs ; alias de modèles ; routage, repli, réessais ; clés virtuelles ; équipes avec max_budget, budget_duration, rpm/tpm ; journal des dépenses ; interface d'administration avec SSO (Google, Microsoft Entra, OIDC générique) ; MCP gateway. Postgres nécessaire pour clés, équipes et dépenses.</a:t>
            </a:r>
          </a:p>
          <a:p>
            <a:r>
              <a:t>Licence, à dire honnêtement : proxy et interface open source ; SSO gratuit jusqu'à cinq utilisateurs (depuis la 1.76) puis Enterprise ; organisations et certaines fonctions avancées Enterprise. Vérifiez sur la version figée pour la démo avant d'annoncer une fonction.</a:t>
            </a:r>
          </a:p>
          <a:p>
            <a:r>
              <a:t>Rattachez à M0 : la gateway fournit le mécanisme (identité &amp; accès, coût &amp; routing, audit) ; politiques, critères et décisions restent à l'organisation. Et à la diapo précédente : gateway de modèles ≠ gateway MCP — deux objets, un même pattern, mêmes questions « où s'applique le contrôle, qui décide ».</a:t>
            </a:r>
          </a:p>
          <a:p>
            <a:r>
              <a:t>Chez ce client, on n'héberge rien : la démo tourne sur le poste formateur, avec le fil rouge qui passe à travers. Dites-le : l'hébergement est une décision du client, et une ligne de la fiche de sortie M7.</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Une carte par responsabilité de M0 : identité &amp; accès, coût &amp; routing, règles d'accès (groupes de modèles), audit &amp; traçabilité. Pour chaque carte, la question à poser pendant la démo : où le contrôle s'applique (à la gateway, avant le fournisseur) et qui a fixé la valeur (moi, hier soir — chez vous, qui ?).</a:t>
            </a:r>
          </a:p>
          <a:p>
            <a:r>
              <a:t>Identité : clé virtuelle = identité technique ; l'équipe porte le budget ; le SSO ne concerne que l'interface d'administration, pas les appels d'API.</a:t>
            </a:r>
          </a:p>
          <a:p>
            <a:r>
              <a:t>Quotas : rpm_limit / tpm_limit → 429 ; max_budget → erreur 4xx explicite (400 ou 422 selon la version) ; le fournisseur n'est pas appelé, donc pas facturé.</a:t>
            </a:r>
          </a:p>
          <a:p>
            <a:r>
              <a:t>Modèles : la salle ne voit que des alias ; le fournisseur réel et sa clé restent côté gateway. Changer de fournisseur = une ligne de configuration, pas le code des TP — c'est ce que la démo prouve en faisant passer le juge du TP3 sans modification.</a:t>
            </a:r>
          </a:p>
          <a:p>
            <a:r>
              <a:t>Journal : coût, modèle, clé, équipe, tags — et, si turn_off_message_logging est actif, pas le contenu. Question : bon réglage pour des données réelles ? Qui décide de la rétention ?</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Déroulé minuté, préparation de la veille et commandes prêtes : formateur/demo-litellm/README.md. Tout tourne sur votre poste (Docker : LiteLLM + Postgres), avec votre clé de fournisseur ; rien n'est hébergé chez le client. Enregistrez une capture vidéo de secours la veille.</a:t>
            </a:r>
          </a:p>
          <a:p>
            <a:r>
              <a:t>Trois messages, dans l'ordre : (1) BRANCHER — le fil rouge traverse la gateway sans changer une ligne de code : URL + alias ; voilà qui a appelé quoi et combien ça a coûté. Les modèles de la démo sont ceux d'OpenCode Zen, pas ceux que le client fournira pour les TP : dites-le, c'est l'argument — l'alias isole le code du modèle. (2) REFUSER — modèle non autorisé, budget épuisé, 429 ; à chaque refus, où le contrôle s'applique et qui a fixé la valeur. (3) TRACER — dépense par équipe, journal sans contenu ; SSO via le Keycloak du compose (alice : internal_user, equipe-produit-a — l'identité vient de l'annuaire, le rôle et l'équipe ont été posés par quelqu'un) ; puis le MCP gateway comme pont vers la diapo « Sécuriser les accès MCP » : accès par serveur, pas par outil.</a:t>
            </a:r>
          </a:p>
          <a:p>
            <a:r>
              <a:t>Ne laissez pas croire : que la gateway sécurise les serveurs MCP ; que le quota remplace l'évaluation ; que le SSO est acquis (licence + fournisseur d'identité = décisions du client) ; que l'installation est faite (hébergement, TLS, secrets, sauvegarde : une ligne de la fiche de sortie M7). Enchaînez sur le mini-exercice : la trace fictive.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COUVERTURE">
    <p:spTree>
      <p:nvGrpSpPr>
        <p:cNvPr id="1" name=""/>
        <p:cNvGrpSpPr/>
        <p:nvPr/>
      </p:nvGrpSpPr>
      <p:grpSpPr>
        <a:xfrm>
          <a:off x="0" y="0"/>
          <a:ext cx="0" cy="0"/>
          <a:chOff x="0" y="0"/>
          <a:chExt cx="0" cy="0"/>
        </a:xfrm>
      </p:grpSpPr>
      <p:sp>
        <p:nvSpPr>
          <p:cNvPr id="2" name="CoverPanelBackground"/>
          <p:cNvSpPr/>
          <p:nvPr/>
        </p:nvSpPr>
        <p:spPr>
          <a:xfrm>
            <a:off x="0" y="0"/>
            <a:ext cx="5669280" cy="6858000"/>
          </a:xfrm>
          <a:prstGeom prst="rect">
            <a:avLst/>
          </a:prstGeom>
          <a:solidFill>
            <a:schemeClr val="accent1"/>
          </a:solidFill>
          <a:ln/>
        </p:spPr>
        <p:txBody>
          <a:bodyPr/>
          <a:lstStyle/>
          <a:p>
            <a:endParaRPr lang="fr-FR" dirty="0"/>
          </a:p>
        </p:txBody>
      </p:sp>
      <p:pic>
        <p:nvPicPr>
          <p:cNvPr id="15" name="CoverPhoto">
            <a:extLst>
              <a:ext uri="{FF2B5EF4-FFF2-40B4-BE49-F238E27FC236}">
                <a16:creationId xmlns:a16="http://schemas.microsoft.com/office/drawing/2014/main" id="{E6F8A69B-C948-877E-9934-74E67B845029}"/>
              </a:ext>
            </a:extLst>
          </p:cNvPr>
          <p:cNvPicPr>
            <a:picLocks noChangeAspect="1"/>
          </p:cNvPicPr>
          <p:nvPr userDrawn="1"/>
        </p:nvPicPr>
        <p:blipFill>
          <a:blip r:embed="rId2">
            <a:alphaModFix amt="50000"/>
          </a:blip>
          <a:srcRect r="53500"/>
          <a:stretch>
            <a:fillRect/>
          </a:stretch>
        </p:blipFill>
        <p:spPr>
          <a:xfrm>
            <a:off x="0" y="0"/>
            <a:ext cx="5669280" cy="6858000"/>
          </a:xfrm>
          <a:prstGeom prst="rect">
            <a:avLst/>
          </a:prstGeom>
        </p:spPr>
      </p:pic>
      <p:sp>
        <p:nvSpPr>
          <p:cNvPr id="4" name="TitleAccentMark"/>
          <p:cNvSpPr/>
          <p:nvPr/>
        </p:nvSpPr>
        <p:spPr>
          <a:xfrm>
            <a:off x="640080" y="4846320"/>
            <a:ext cx="548640" cy="36576"/>
          </a:xfrm>
          <a:prstGeom prst="rect">
            <a:avLst/>
          </a:prstGeom>
          <a:solidFill>
            <a:schemeClr val="accent5"/>
          </a:solidFill>
          <a:ln/>
        </p:spPr>
        <p:txBody>
          <a:bodyPr/>
          <a:lstStyle/>
          <a:p>
            <a:endParaRPr lang="fr-FR"/>
          </a:p>
        </p:txBody>
      </p:sp>
      <p:pic>
        <p:nvPicPr>
          <p:cNvPr id="5" name="CoverAccentGraphic" descr="sciam_logo.png"/>
          <p:cNvPicPr>
            <a:picLocks noChangeAspect="1"/>
          </p:cNvPicPr>
          <p:nvPr/>
        </p:nvPicPr>
        <p:blipFill>
          <a:blip r:embed="rId3"/>
          <a:stretch>
            <a:fillRect/>
          </a:stretch>
        </p:blipFill>
        <p:spPr>
          <a:xfrm>
            <a:off x="7680960" y="1828800"/>
            <a:ext cx="2926080" cy="3840480"/>
          </a:xfrm>
          <a:prstGeom prst="rect">
            <a:avLst/>
          </a:prstGeom>
        </p:spPr>
      </p:pic>
      <p:sp>
        <p:nvSpPr>
          <p:cNvPr id="6" name="PreparedForLabel"/>
          <p:cNvSpPr/>
          <p:nvPr/>
        </p:nvSpPr>
        <p:spPr>
          <a:xfrm>
            <a:off x="640080" y="5943600"/>
            <a:ext cx="3657600" cy="274320"/>
          </a:xfrm>
          <a:prstGeom prst="rect">
            <a:avLst/>
          </a:prstGeom>
          <a:noFill/>
          <a:ln/>
        </p:spPr>
        <p:txBody>
          <a:bodyPr wrap="square" lIns="0" tIns="0" rIns="0" bIns="0" rtlCol="0" anchor="ctr"/>
          <a:lstStyle/>
          <a:p>
            <a:pPr marL="0" indent="0">
              <a:buNone/>
            </a:pPr>
            <a:r>
              <a:rPr lang="en-US" sz="900" b="1" kern="0" spc="144" dirty="0">
                <a:solidFill>
                  <a:schemeClr val="lt2"/>
                </a:solidFill>
                <a:latin typeface="+mn-lt" pitchFamily="34" charset="0"/>
                <a:ea typeface="+mn-ea" pitchFamily="34" charset="-122"/>
                <a:cs typeface="+mn-cs" pitchFamily="34" charset="-120"/>
              </a:rPr>
              <a:t>PRÉPARÉ POUR</a:t>
            </a:r>
            <a:endParaRPr lang="en-US" sz="900" dirty="0"/>
          </a:p>
        </p:txBody>
      </p:sp>
      <p:sp>
        <p:nvSpPr>
          <p:cNvPr id="7" name="CompanyTagline"/>
          <p:cNvSpPr/>
          <p:nvPr/>
        </p:nvSpPr>
        <p:spPr>
          <a:xfrm>
            <a:off x="7680960" y="5760720"/>
            <a:ext cx="292608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sp>
        <p:nvSpPr>
          <p:cNvPr id="8" name="CompanyName"/>
          <p:cNvSpPr/>
          <p:nvPr/>
        </p:nvSpPr>
        <p:spPr>
          <a:xfrm>
            <a:off x="7680960" y="6126480"/>
            <a:ext cx="2926080" cy="365760"/>
          </a:xfrm>
          <a:prstGeom prst="rect">
            <a:avLst/>
          </a:prstGeom>
          <a:noFill/>
          <a:ln/>
        </p:spPr>
        <p:txBody>
          <a:bodyPr wrap="square" lIns="0" tIns="0" rIns="0" bIns="0" rtlCol="0" anchor="ctr"/>
          <a:lstStyle/>
          <a:p>
            <a:pPr marL="0" indent="0" algn="ctr">
              <a:buNone/>
            </a:pPr>
            <a:r>
              <a:rPr lang="en-US" sz="1100" b="1" kern="0" spc="0" dirty="0">
                <a:solidFill>
                  <a:schemeClr val="accent6"/>
                </a:solidFill>
                <a:latin typeface="+mn-lt" pitchFamily="34" charset="0"/>
                <a:ea typeface="+mn-ea" pitchFamily="34" charset="-122"/>
                <a:cs typeface="+mn-cs" pitchFamily="34" charset="-120"/>
              </a:rPr>
              <a:t>SCIAM</a:t>
            </a:r>
            <a:endParaRPr lang="en-US" sz="1100" dirty="0"/>
          </a:p>
        </p:txBody>
      </p:sp>
      <p:sp>
        <p:nvSpPr>
          <p:cNvPr id="9" name="DocumentTypeLabel"/>
          <p:cNvSpPr>
            <a:spLocks noGrp="1"/>
          </p:cNvSpPr>
          <p:nvPr>
            <p:ph type="body" idx="107" hasCustomPrompt="1"/>
          </p:nvPr>
        </p:nvSpPr>
        <p:spPr>
          <a:xfrm>
            <a:off x="640080" y="640080"/>
            <a:ext cx="4937760" cy="365760"/>
          </a:xfrm>
          <a:prstGeom prst="rect">
            <a:avLst/>
          </a:prstGeom>
          <a:noFill/>
          <a:ln/>
        </p:spPr>
        <p:txBody>
          <a:bodyPr wrap="square" rtlCol="0"/>
          <a:lstStyle>
            <a:lvl1pPr marL="0" indent="0">
              <a:lnSpc>
                <a:spcPct val="143000"/>
              </a:lnSpc>
              <a:buNone/>
              <a:defRPr lang="en-US" sz="1100" b="1" kern="0" spc="0" dirty="0">
                <a:solidFill>
                  <a:schemeClr val="lt2"/>
                </a:solidFill>
                <a:latin typeface="+mn-lt" pitchFamily="34" charset="0"/>
                <a:ea typeface="+mn-ea" pitchFamily="34" charset="-122"/>
                <a:cs typeface="+mn-cs" pitchFamily="34" charset="-120"/>
              </a:defRPr>
            </a:lvl1pPr>
          </a:lstStyle>
          <a:p>
            <a:pPr marL="0" indent="0">
              <a:buNone/>
            </a:pPr>
            <a:r>
              <a:rPr lang="en-US" sz="1100" b="1" kern="0" spc="0" dirty="0">
                <a:solidFill>
                  <a:schemeClr val="lt2"/>
                </a:solidFill>
                <a:latin typeface="+mn-lt" pitchFamily="34" charset="0"/>
                <a:ea typeface="+mn-ea" pitchFamily="34" charset="-122"/>
                <a:cs typeface="+mn-cs" pitchFamily="34" charset="-120"/>
              </a:rPr>
              <a:t>TYPE DE DOCUMENT</a:t>
            </a:r>
            <a:endParaRPr lang="en-US" sz="1100" dirty="0"/>
          </a:p>
        </p:txBody>
      </p:sp>
      <p:sp>
        <p:nvSpPr>
          <p:cNvPr id="10" name="DocumentDate"/>
          <p:cNvSpPr>
            <a:spLocks noGrp="1"/>
          </p:cNvSpPr>
          <p:nvPr>
            <p:ph type="body" idx="108" hasCustomPrompt="1"/>
          </p:nvPr>
        </p:nvSpPr>
        <p:spPr>
          <a:xfrm>
            <a:off x="640080" y="1005840"/>
            <a:ext cx="4937760" cy="365760"/>
          </a:xfrm>
          <a:prstGeom prst="rect">
            <a:avLst/>
          </a:prstGeom>
          <a:noFill/>
          <a:ln/>
        </p:spPr>
        <p:txBody>
          <a:bodyPr wrap="square" rtlCol="0"/>
          <a:lstStyle>
            <a:lvl1pPr marL="0" indent="0">
              <a:lnSpc>
                <a:spcPct val="150000"/>
              </a:lnSpc>
              <a:buNone/>
              <a:defRPr lang="en-US" sz="1200" kern="0" spc="0" dirty="0">
                <a:solidFill>
                  <a:schemeClr val="lt2"/>
                </a:solidFill>
                <a:latin typeface="+mn-lt" pitchFamily="34" charset="0"/>
                <a:ea typeface="+mn-ea" pitchFamily="34" charset="-122"/>
                <a:cs typeface="+mn-cs" pitchFamily="34" charset="-120"/>
              </a:defRPr>
            </a:lvl1pPr>
          </a:lstStyle>
          <a:p>
            <a:pPr marL="0" indent="0">
              <a:buNone/>
            </a:pPr>
            <a:r>
              <a:rPr lang="en-US" sz="1200" kern="0" spc="0" dirty="0">
                <a:solidFill>
                  <a:schemeClr val="lt2"/>
                </a:solidFill>
                <a:latin typeface="+mn-lt" pitchFamily="34" charset="0"/>
                <a:ea typeface="+mn-ea" pitchFamily="34" charset="-122"/>
                <a:cs typeface="+mn-cs" pitchFamily="34" charset="-120"/>
              </a:rPr>
              <a:t>Mois Année</a:t>
            </a:r>
            <a:endParaRPr lang="en-US" sz="1200" dirty="0"/>
          </a:p>
        </p:txBody>
      </p:sp>
      <p:sp>
        <p:nvSpPr>
          <p:cNvPr id="11" name="Title"/>
          <p:cNvSpPr>
            <a:spLocks noGrp="1"/>
          </p:cNvSpPr>
          <p:nvPr>
            <p:ph type="title" idx="109" hasCustomPrompt="1"/>
          </p:nvPr>
        </p:nvSpPr>
        <p:spPr>
          <a:xfrm>
            <a:off x="640080" y="2194560"/>
            <a:ext cx="5029200" cy="2743200"/>
          </a:xfrm>
          <a:prstGeom prst="rect">
            <a:avLst/>
          </a:prstGeom>
          <a:noFill/>
          <a:ln/>
        </p:spPr>
        <p:txBody>
          <a:bodyPr wrap="square" rtlCol="0"/>
          <a:lstStyle>
            <a:lvl1pPr marL="0" indent="0" algn="l">
              <a:lnSpc>
                <a:spcPct val="105000"/>
              </a:lnSpc>
              <a:buNone/>
              <a:defRPr lang="en-US" sz="3600" spc="-144" dirty="0">
                <a:solidFill>
                  <a:schemeClr val="lt2"/>
                </a:solidFill>
                <a:latin typeface="+mj-lt" pitchFamily="18" charset="0"/>
                <a:ea typeface="+mj-ea" pitchFamily="18" charset="-122"/>
                <a:cs typeface="+mj-cs" pitchFamily="18" charset="-120"/>
              </a:defRPr>
            </a:lvl1pPr>
          </a:lstStyle>
          <a:p>
            <a:pPr marL="0" indent="0" algn="l">
              <a:buNone/>
            </a:pPr>
            <a:r>
              <a:rPr lang="en-US" sz="3600" dirty="0">
                <a:solidFill>
                  <a:schemeClr val="lt2"/>
                </a:solidFill>
                <a:latin typeface="+mj-lt" pitchFamily="18" charset="0"/>
                <a:ea typeface="+mj-ea" pitchFamily="18" charset="-122"/>
                <a:cs typeface="+mj-cs" pitchFamily="18" charset="-120"/>
              </a:rPr>
              <a:t>Titre principal sur deux ou trois lignes</a:t>
            </a:r>
            <a:endParaRPr lang="en-US" sz="3600" dirty="0"/>
          </a:p>
        </p:txBody>
      </p:sp>
      <p:sp>
        <p:nvSpPr>
          <p:cNvPr id="12" name="Subtitle"/>
          <p:cNvSpPr>
            <a:spLocks noGrp="1"/>
          </p:cNvSpPr>
          <p:nvPr>
            <p:ph type="body" idx="110" hasCustomPrompt="1"/>
          </p:nvPr>
        </p:nvSpPr>
        <p:spPr>
          <a:xfrm>
            <a:off x="640080" y="5029200"/>
            <a:ext cx="5029200" cy="457200"/>
          </a:xfrm>
          <a:prstGeom prst="rect">
            <a:avLst/>
          </a:prstGeom>
          <a:noFill/>
          <a:ln/>
        </p:spPr>
        <p:txBody>
          <a:bodyPr wrap="square" rtlCol="0"/>
          <a:lstStyle>
            <a:lvl1pPr marL="0" indent="0">
              <a:lnSpc>
                <a:spcPct val="150000"/>
              </a:lnSpc>
              <a:buNone/>
              <a:defRPr lang="en-US" sz="1600" i="1" spc="0" dirty="0">
                <a:solidFill>
                  <a:schemeClr val="lt2"/>
                </a:solidFill>
                <a:latin typeface="+mn-lt" pitchFamily="34" charset="0"/>
                <a:ea typeface="+mn-ea" pitchFamily="34" charset="-122"/>
                <a:cs typeface="+mn-cs" pitchFamily="34" charset="-120"/>
              </a:defRPr>
            </a:lvl1pPr>
          </a:lstStyle>
          <a:p>
            <a:pPr marL="0" indent="0">
              <a:buNone/>
            </a:pPr>
            <a:r>
              <a:rPr lang="en-US" sz="1600" i="1" dirty="0">
                <a:solidFill>
                  <a:schemeClr val="lt2"/>
                </a:solidFill>
                <a:latin typeface="+mn-lt" pitchFamily="34" charset="0"/>
                <a:ea typeface="+mn-ea" pitchFamily="34" charset="-122"/>
                <a:cs typeface="+mn-cs" pitchFamily="34" charset="-120"/>
              </a:rPr>
              <a:t>Sous-titre descriptif</a:t>
            </a:r>
            <a:endParaRPr lang="en-US" sz="1600" dirty="0"/>
          </a:p>
        </p:txBody>
      </p:sp>
      <p:sp>
        <p:nvSpPr>
          <p:cNvPr id="13" name="ClientName"/>
          <p:cNvSpPr>
            <a:spLocks noGrp="1"/>
          </p:cNvSpPr>
          <p:nvPr>
            <p:ph type="body" idx="111" hasCustomPrompt="1"/>
          </p:nvPr>
        </p:nvSpPr>
        <p:spPr>
          <a:xfrm>
            <a:off x="640080" y="6172200"/>
            <a:ext cx="3657600" cy="411480"/>
          </a:xfrm>
          <a:prstGeom prst="rect">
            <a:avLst/>
          </a:prstGeom>
          <a:noFill/>
          <a:ln/>
        </p:spPr>
        <p:txBody>
          <a:bodyPr wrap="square" rtlCol="0"/>
          <a:lstStyle>
            <a:lvl1pPr marL="0" indent="0">
              <a:lnSpc>
                <a:spcPct val="135000"/>
              </a:lnSpc>
              <a:buNone/>
              <a:defRPr lang="en-US" sz="2000" b="1" spc="-40" dirty="0">
                <a:solidFill>
                  <a:schemeClr val="lt2"/>
                </a:solidFill>
                <a:latin typeface="+mn-lt" pitchFamily="34" charset="0"/>
                <a:ea typeface="+mn-ea" pitchFamily="34" charset="-122"/>
                <a:cs typeface="+mn-cs" pitchFamily="34" charset="-120"/>
              </a:defRPr>
            </a:lvl1pPr>
          </a:lstStyle>
          <a:p>
            <a:pPr marL="0" indent="0">
              <a:buNone/>
            </a:pPr>
            <a:r>
              <a:rPr lang="en-US" sz="2000" b="1" dirty="0">
                <a:solidFill>
                  <a:schemeClr val="lt2"/>
                </a:solidFill>
                <a:latin typeface="+mn-lt" pitchFamily="34" charset="0"/>
                <a:ea typeface="+mn-ea" pitchFamily="34" charset="-122"/>
                <a:cs typeface="+mn-cs" pitchFamily="34" charset="-120"/>
              </a:rPr>
              <a:t>Nom du client</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03_SOMMAIRE_FULL">
    <p:spTree>
      <p:nvGrpSpPr>
        <p:cNvPr id="1" name=""/>
        <p:cNvGrpSpPr/>
        <p:nvPr/>
      </p:nvGrpSpPr>
      <p:grpSpPr>
        <a:xfrm>
          <a:off x="0" y="0"/>
          <a:ext cx="0" cy="0"/>
          <a:chOff x="0" y="0"/>
          <a:chExt cx="0" cy="0"/>
        </a:xfrm>
      </p:grpSpPr>
      <p:pic>
        <p:nvPicPr>
          <p:cNvPr id="30" name="BackgroundGraphic">
            <a:extLst>
              <a:ext uri="{FF2B5EF4-FFF2-40B4-BE49-F238E27FC236}">
                <a16:creationId xmlns:a16="http://schemas.microsoft.com/office/drawing/2014/main" id="{EA4B5E84-9047-6DAC-CDC0-A5EA97F2B0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039224" y="217124"/>
            <a:ext cx="6429376" cy="6507572"/>
          </a:xfrm>
          <a:prstGeom prst="rect">
            <a:avLst/>
          </a:prstGeom>
        </p:spPr>
      </p:pic>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Sommaire</a:t>
            </a:r>
            <a:endParaRPr lang="en-US" sz="3400" dirty="0"/>
          </a:p>
        </p:txBody>
      </p:sp>
      <p:grpSp>
        <p:nvGrpSpPr>
          <p:cNvPr id="3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gn="l">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lgn="l">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9" name="Entry1_Number"/>
          <p:cNvSpPr>
            <a:spLocks noGrp="1"/>
          </p:cNvSpPr>
          <p:nvPr>
            <p:ph type="body" idx="107" hasCustomPrompt="1"/>
          </p:nvPr>
        </p:nvSpPr>
        <p:spPr>
          <a:xfrm>
            <a:off x="731520" y="210312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01</a:t>
            </a:r>
            <a:endParaRPr lang="en-US" sz="4000" dirty="0"/>
          </a:p>
        </p:txBody>
      </p:sp>
      <p:sp>
        <p:nvSpPr>
          <p:cNvPr id="10" name="Entry1_Title"/>
          <p:cNvSpPr>
            <a:spLocks noGrp="1"/>
          </p:cNvSpPr>
          <p:nvPr>
            <p:ph type="body" idx="108" hasCustomPrompt="1"/>
          </p:nvPr>
        </p:nvSpPr>
        <p:spPr>
          <a:xfrm>
            <a:off x="1920240" y="212140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1" name="Entry1_Pages"/>
          <p:cNvSpPr>
            <a:spLocks noGrp="1"/>
          </p:cNvSpPr>
          <p:nvPr>
            <p:ph type="body" idx="109" hasCustomPrompt="1"/>
          </p:nvPr>
        </p:nvSpPr>
        <p:spPr>
          <a:xfrm>
            <a:off x="1920240" y="248716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3" name="Entry2_Number"/>
          <p:cNvSpPr>
            <a:spLocks noGrp="1"/>
          </p:cNvSpPr>
          <p:nvPr>
            <p:ph type="body" idx="111" hasCustomPrompt="1"/>
          </p:nvPr>
        </p:nvSpPr>
        <p:spPr>
          <a:xfrm>
            <a:off x="731520" y="292608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02</a:t>
            </a:r>
            <a:endParaRPr lang="en-US" sz="4000" dirty="0"/>
          </a:p>
        </p:txBody>
      </p:sp>
      <p:sp>
        <p:nvSpPr>
          <p:cNvPr id="14" name="Entry2_Title"/>
          <p:cNvSpPr>
            <a:spLocks noGrp="1"/>
          </p:cNvSpPr>
          <p:nvPr>
            <p:ph type="body" idx="112" hasCustomPrompt="1"/>
          </p:nvPr>
        </p:nvSpPr>
        <p:spPr>
          <a:xfrm>
            <a:off x="1920240" y="294436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5" name="Entry2_Pages"/>
          <p:cNvSpPr>
            <a:spLocks noGrp="1"/>
          </p:cNvSpPr>
          <p:nvPr>
            <p:ph type="body" idx="113" hasCustomPrompt="1"/>
          </p:nvPr>
        </p:nvSpPr>
        <p:spPr>
          <a:xfrm>
            <a:off x="1920240" y="331012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7" name="Entry3_Number"/>
          <p:cNvSpPr>
            <a:spLocks noGrp="1"/>
          </p:cNvSpPr>
          <p:nvPr>
            <p:ph type="body" idx="115" hasCustomPrompt="1"/>
          </p:nvPr>
        </p:nvSpPr>
        <p:spPr>
          <a:xfrm>
            <a:off x="731520" y="374904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03</a:t>
            </a:r>
            <a:endParaRPr lang="en-US" sz="4000" dirty="0"/>
          </a:p>
        </p:txBody>
      </p:sp>
      <p:sp>
        <p:nvSpPr>
          <p:cNvPr id="18" name="Entry3_Title"/>
          <p:cNvSpPr>
            <a:spLocks noGrp="1"/>
          </p:cNvSpPr>
          <p:nvPr>
            <p:ph type="body" idx="116" hasCustomPrompt="1"/>
          </p:nvPr>
        </p:nvSpPr>
        <p:spPr>
          <a:xfrm>
            <a:off x="1920240" y="376732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9" name="Entry3_Pages"/>
          <p:cNvSpPr>
            <a:spLocks noGrp="1"/>
          </p:cNvSpPr>
          <p:nvPr>
            <p:ph type="body" idx="117" hasCustomPrompt="1"/>
          </p:nvPr>
        </p:nvSpPr>
        <p:spPr>
          <a:xfrm>
            <a:off x="1920240" y="413308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1" name="Entry4_Number"/>
          <p:cNvSpPr>
            <a:spLocks noGrp="1"/>
          </p:cNvSpPr>
          <p:nvPr>
            <p:ph type="body" idx="119" hasCustomPrompt="1"/>
          </p:nvPr>
        </p:nvSpPr>
        <p:spPr>
          <a:xfrm>
            <a:off x="731520" y="457200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04</a:t>
            </a:r>
            <a:endParaRPr lang="en-US" sz="4000" dirty="0"/>
          </a:p>
        </p:txBody>
      </p:sp>
      <p:sp>
        <p:nvSpPr>
          <p:cNvPr id="22" name="Entry4_Title"/>
          <p:cNvSpPr>
            <a:spLocks noGrp="1"/>
          </p:cNvSpPr>
          <p:nvPr>
            <p:ph type="body" idx="120" hasCustomPrompt="1"/>
          </p:nvPr>
        </p:nvSpPr>
        <p:spPr>
          <a:xfrm>
            <a:off x="1920240" y="459028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3" name="Entry4_Pages"/>
          <p:cNvSpPr>
            <a:spLocks noGrp="1"/>
          </p:cNvSpPr>
          <p:nvPr>
            <p:ph type="body" idx="121" hasCustomPrompt="1"/>
          </p:nvPr>
        </p:nvSpPr>
        <p:spPr>
          <a:xfrm>
            <a:off x="1920240" y="495604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5" name="Entry5_Number"/>
          <p:cNvSpPr>
            <a:spLocks noGrp="1"/>
          </p:cNvSpPr>
          <p:nvPr>
            <p:ph type="body" idx="123" hasCustomPrompt="1"/>
          </p:nvPr>
        </p:nvSpPr>
        <p:spPr>
          <a:xfrm>
            <a:off x="731520" y="539496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05</a:t>
            </a:r>
            <a:endParaRPr lang="en-US" sz="4000" dirty="0"/>
          </a:p>
        </p:txBody>
      </p:sp>
      <p:sp>
        <p:nvSpPr>
          <p:cNvPr id="26" name="Entry5_Title"/>
          <p:cNvSpPr>
            <a:spLocks noGrp="1"/>
          </p:cNvSpPr>
          <p:nvPr>
            <p:ph type="body" idx="124" hasCustomPrompt="1"/>
          </p:nvPr>
        </p:nvSpPr>
        <p:spPr>
          <a:xfrm>
            <a:off x="1920240" y="541324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7" name="Entry5_Pages"/>
          <p:cNvSpPr>
            <a:spLocks noGrp="1"/>
          </p:cNvSpPr>
          <p:nvPr>
            <p:ph type="body" idx="125" hasCustomPrompt="1"/>
          </p:nvPr>
        </p:nvSpPr>
        <p:spPr>
          <a:xfrm>
            <a:off x="1920240" y="577900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9_ANNEXE_DIVIDER">
    <p:spTree>
      <p:nvGrpSpPr>
        <p:cNvPr id="1" name=""/>
        <p:cNvGrpSpPr/>
        <p:nvPr/>
      </p:nvGrpSpPr>
      <p:grpSpPr>
        <a:xfrm>
          <a:off x="0" y="0"/>
          <a:ext cx="0" cy="0"/>
          <a:chOff x="0" y="0"/>
          <a:chExt cx="0" cy="0"/>
        </a:xfrm>
      </p:grpSpPr>
      <p:grpSp>
        <p:nvGrpSpPr>
          <p:cNvPr id="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288000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2948487"/>
            <a:ext cx="11094720" cy="1097280"/>
          </a:xfrm>
          <a:prstGeom prst="rect">
            <a:avLst/>
          </a:prstGeom>
          <a:noFill/>
          <a:ln/>
        </p:spPr>
        <p:txBody>
          <a:bodyPr wrap="square" rtlCol="0" anchor="t">
            <a:normAutofit/>
          </a:bodyPr>
          <a:lstStyle>
            <a:lvl1pPr marL="0" indent="0" algn="l">
              <a:lnSpc>
                <a:spcPct val="95000"/>
              </a:lnSpc>
              <a:buNone/>
              <a:defRPr lang="fr-FR" sz="5400" spc="0" dirty="0">
                <a:solidFill>
                  <a:schemeClr val="accent1"/>
                </a:solidFill>
                <a:latin typeface="+mj-lt" pitchFamily="34" charset="0"/>
                <a:ea typeface="+mj-ea" pitchFamily="34" charset="-122"/>
                <a:cs typeface="+mj-cs" pitchFamily="34" charset="-120"/>
              </a:defRPr>
            </a:lvl1pPr>
          </a:lstStyle>
          <a:p>
            <a:pPr marL="0" indent="0" algn="l">
              <a:buNone/>
            </a:pPr>
            <a:r>
              <a:rPr lang="fr-FR" sz="5400" dirty="0">
                <a:solidFill>
                  <a:schemeClr val="accent1"/>
                </a:solidFill>
                <a:latin typeface="+mj-lt" pitchFamily="34" charset="0"/>
                <a:ea typeface="+mj-ea" pitchFamily="34" charset="-122"/>
                <a:cs typeface="+mj-cs" pitchFamily="34" charset="-120"/>
              </a:rPr>
              <a:t>Annexes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04_DEUX_COLONNES">
    <p:spTree>
      <p:nvGrpSpPr>
        <p:cNvPr id="1" name=""/>
        <p:cNvGrpSpPr/>
        <p:nvPr/>
      </p:nvGrpSpPr>
      <p:grpSpPr>
        <a:xfrm>
          <a:off x="0" y="0"/>
          <a:ext cx="0" cy="0"/>
          <a:chOff x="0" y="0"/>
          <a:chExt cx="0" cy="0"/>
        </a:xfrm>
      </p:grpSpPr>
      <p:grpSp>
        <p:nvGrpSpPr>
          <p:cNvPr id="1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grpSp>
        <p:nvGrpSpPr>
          <p:cNvPr id="20" name="LeftColumnGroup"/>
          <p:cNvGrpSpPr/>
          <p:nvPr/>
        </p:nvGrpSpPr>
        <p:grpSpPr>
          <a:xfrm>
            <a:off x="548640" y="1920240"/>
            <a:ext cx="5394960" cy="4114800"/>
            <a:chOff x="548640" y="1920240"/>
            <a:chExt cx="5394960" cy="4114800"/>
          </a:xfrm>
        </p:grpSpPr>
        <p:sp>
          <p:nvSpPr>
            <p:cNvPr id="6" name="LeftColumnBackground"/>
            <p:cNvSpPr/>
            <p:nvPr/>
          </p:nvSpPr>
          <p:spPr>
            <a:xfrm>
              <a:off x="548640" y="1920240"/>
              <a:ext cx="5394960" cy="4114800"/>
            </a:xfrm>
            <a:prstGeom prst="rect">
              <a:avLst/>
            </a:prstGeom>
            <a:noFill/>
            <a:ln/>
          </p:spPr>
          <p:txBody>
            <a:bodyPr/>
            <a:lstStyle/>
            <a:p>
              <a:endParaRPr lang="fr-FR"/>
            </a:p>
          </p:txBody>
        </p:sp>
        <p:sp>
          <p:nvSpPr>
            <p:cNvPr id="7" name="LeftColumnAccentBar"/>
            <p:cNvSpPr/>
            <p:nvPr/>
          </p:nvSpPr>
          <p:spPr>
            <a:xfrm>
              <a:off x="722007" y="2103120"/>
              <a:ext cx="29186" cy="3703320"/>
            </a:xfrm>
            <a:prstGeom prst="rect">
              <a:avLst/>
            </a:prstGeom>
            <a:solidFill>
              <a:schemeClr val="accent1"/>
            </a:solidFill>
            <a:ln/>
          </p:spPr>
          <p:txBody>
            <a:bodyPr/>
            <a:lstStyle/>
            <a:p>
              <a:endParaRPr lang="fr-FR"/>
            </a:p>
          </p:txBody>
        </p:sp>
      </p:grpSp>
      <p:grpSp>
        <p:nvGrpSpPr>
          <p:cNvPr id="21" name="RightColumnGroup"/>
          <p:cNvGrpSpPr/>
          <p:nvPr/>
        </p:nvGrpSpPr>
        <p:grpSpPr>
          <a:xfrm>
            <a:off x="6263640" y="1920240"/>
            <a:ext cx="5394960" cy="4114800"/>
            <a:chOff x="6263640" y="1920240"/>
            <a:chExt cx="5394960" cy="4114800"/>
          </a:xfrm>
        </p:grpSpPr>
        <p:sp>
          <p:nvSpPr>
            <p:cNvPr id="8" name="RightColumnBackground"/>
            <p:cNvSpPr/>
            <p:nvPr/>
          </p:nvSpPr>
          <p:spPr>
            <a:xfrm>
              <a:off x="6263640" y="1920240"/>
              <a:ext cx="5394960" cy="4114800"/>
            </a:xfrm>
            <a:prstGeom prst="rect">
              <a:avLst/>
            </a:prstGeom>
            <a:noFill/>
            <a:ln/>
          </p:spPr>
          <p:txBody>
            <a:bodyPr/>
            <a:lstStyle/>
            <a:p>
              <a:endParaRPr lang="fr-FR"/>
            </a:p>
          </p:txBody>
        </p:sp>
        <p:sp>
          <p:nvSpPr>
            <p:cNvPr id="9" name="RightColumnAccentBar"/>
            <p:cNvSpPr/>
            <p:nvPr/>
          </p:nvSpPr>
          <p:spPr>
            <a:xfrm>
              <a:off x="6437007" y="2103120"/>
              <a:ext cx="29186" cy="3703320"/>
            </a:xfrm>
            <a:prstGeom prst="rect">
              <a:avLst/>
            </a:prstGeom>
            <a:solidFill>
              <a:schemeClr val="accent1"/>
            </a:solidFill>
            <a:ln/>
          </p:spPr>
          <p:txBody>
            <a:bodyPr/>
            <a:lstStyle/>
            <a:p>
              <a:endParaRPr lang="fr-FR"/>
            </a:p>
          </p:txBody>
        </p:sp>
      </p:grpSp>
      <p:sp>
        <p:nvSpPr>
          <p:cNvPr id="10" name="Title"/>
          <p:cNvSpPr>
            <a:spLocks noGrp="1"/>
          </p:cNvSpPr>
          <p:nvPr>
            <p:ph type="title" idx="108"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11" name="Subtitle"/>
          <p:cNvSpPr>
            <a:spLocks noGrp="1"/>
          </p:cNvSpPr>
          <p:nvPr>
            <p:ph type="body" idx="109"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13" name="LeftLabel"/>
          <p:cNvSpPr>
            <a:spLocks noGrp="1"/>
          </p:cNvSpPr>
          <p:nvPr>
            <p:ph type="body" idx="111" hasCustomPrompt="1"/>
          </p:nvPr>
        </p:nvSpPr>
        <p:spPr>
          <a:xfrm>
            <a:off x="868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GAUCHE</a:t>
            </a:r>
            <a:endParaRPr lang="en-US" sz="1200" dirty="0"/>
          </a:p>
        </p:txBody>
      </p:sp>
      <p:sp>
        <p:nvSpPr>
          <p:cNvPr id="14" name="LeftTitle"/>
          <p:cNvSpPr>
            <a:spLocks noGrp="1"/>
          </p:cNvSpPr>
          <p:nvPr>
            <p:ph type="body" idx="112" hasCustomPrompt="1"/>
          </p:nvPr>
        </p:nvSpPr>
        <p:spPr>
          <a:xfrm>
            <a:off x="868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5" name="LeftBody"/>
          <p:cNvSpPr>
            <a:spLocks noGrp="1"/>
          </p:cNvSpPr>
          <p:nvPr>
            <p:ph type="body" idx="113" hasCustomPrompt="1"/>
          </p:nvPr>
        </p:nvSpPr>
        <p:spPr>
          <a:xfrm>
            <a:off x="868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 Sed do eiusmod tempor incididunt ut labore et dolore magna aliqua.</a:t>
            </a:r>
            <a:endParaRPr lang="en-US" sz="1600" dirty="0"/>
          </a:p>
        </p:txBody>
      </p:sp>
      <p:sp>
        <p:nvSpPr>
          <p:cNvPr id="16" name="RightLabel"/>
          <p:cNvSpPr>
            <a:spLocks noGrp="1"/>
          </p:cNvSpPr>
          <p:nvPr>
            <p:ph type="body" idx="114" hasCustomPrompt="1"/>
          </p:nvPr>
        </p:nvSpPr>
        <p:spPr>
          <a:xfrm>
            <a:off x="6583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DROITE</a:t>
            </a:r>
            <a:endParaRPr lang="en-US" sz="1200" dirty="0"/>
          </a:p>
        </p:txBody>
      </p:sp>
      <p:sp>
        <p:nvSpPr>
          <p:cNvPr id="17" name="RightTitle"/>
          <p:cNvSpPr>
            <a:spLocks noGrp="1"/>
          </p:cNvSpPr>
          <p:nvPr>
            <p:ph type="body" idx="115" hasCustomPrompt="1"/>
          </p:nvPr>
        </p:nvSpPr>
        <p:spPr>
          <a:xfrm>
            <a:off x="6583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8" name="RightBody"/>
          <p:cNvSpPr>
            <a:spLocks noGrp="1"/>
          </p:cNvSpPr>
          <p:nvPr>
            <p:ph type="body" idx="116" hasCustomPrompt="1"/>
          </p:nvPr>
        </p:nvSpPr>
        <p:spPr>
          <a:xfrm>
            <a:off x="6583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a:t>
            </a:r>
            <a:endParaRPr lang="en-US" sz="1600" dirty="0"/>
          </a:p>
        </p:txBody>
      </p:sp>
      <p:sp>
        <p:nvSpPr>
          <p:cNvPr id="12" name="TopRightImage">
            <a:extLst>
              <a:ext uri="{FF2B5EF4-FFF2-40B4-BE49-F238E27FC236}">
                <a16:creationId xmlns:a16="http://schemas.microsoft.com/office/drawing/2014/main" id="{2F319756-D80D-E91F-6EDA-E9F0056D704D}"/>
              </a:ext>
            </a:extLst>
          </p:cNvPr>
          <p:cNvSpPr>
            <a:spLocks noGrp="1"/>
          </p:cNvSpPr>
          <p:nvPr>
            <p:ph type="pic" sz="quarter" idx="117"/>
          </p:nvPr>
        </p:nvSpPr>
        <p:spPr>
          <a:xfrm>
            <a:off x="9207500" y="256032"/>
            <a:ext cx="2314575" cy="1828800"/>
          </a:xfrm>
          <a:prstGeom prst="rect">
            <a:avLst/>
          </a:prstGeom>
        </p:spPr>
        <p:txBody>
          <a:bodyPr/>
          <a:lstStyle/>
          <a:p>
            <a:r>
              <a:rPr lang="fr-FR"/>
              <a:t>Cliquez sur l'icône pour ajouter une image</a:t>
            </a:r>
            <a:endParaRPr lang="fr-F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05_GRILLE_2x2">
    <p:spTree>
      <p:nvGrpSpPr>
        <p:cNvPr id="1" name=""/>
        <p:cNvGrpSpPr/>
        <p:nvPr/>
      </p:nvGrpSpPr>
      <p:grpSpPr>
        <a:xfrm>
          <a:off x="0" y="0"/>
          <a:ext cx="0" cy="0"/>
          <a:chOff x="0" y="0"/>
          <a:chExt cx="0" cy="0"/>
        </a:xfrm>
      </p:grpSpPr>
      <p:grpSp>
        <p:nvGrpSpPr>
          <p:cNvPr id="2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ard1_NumberBadge"/>
          <p:cNvSpPr/>
          <p:nvPr/>
        </p:nvSpPr>
        <p:spPr>
          <a:xfrm>
            <a:off x="1196340" y="2236470"/>
            <a:ext cx="228600" cy="228600"/>
          </a:xfrm>
          <a:prstGeom prst="rect">
            <a:avLst/>
          </a:prstGeom>
          <a:solidFill>
            <a:schemeClr val="accent1"/>
          </a:solidFill>
          <a:ln/>
        </p:spPr>
        <p:txBody>
          <a:bodyPr/>
          <a:lstStyle/>
          <a:p>
            <a:endParaRPr lang="fr-FR"/>
          </a:p>
        </p:txBody>
      </p:sp>
      <p:sp>
        <p:nvSpPr>
          <p:cNvPr id="12" name="Card1_Title"/>
          <p:cNvSpPr>
            <a:spLocks noGrp="1"/>
          </p:cNvSpPr>
          <p:nvPr>
            <p:ph type="body" idx="110" hasCustomPrompt="1"/>
          </p:nvPr>
        </p:nvSpPr>
        <p:spPr>
          <a:xfrm>
            <a:off x="150876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3" name="Card1_Description"/>
          <p:cNvSpPr>
            <a:spLocks noGrp="1"/>
          </p:cNvSpPr>
          <p:nvPr>
            <p:ph type="body" idx="111" hasCustomPrompt="1"/>
          </p:nvPr>
        </p:nvSpPr>
        <p:spPr>
          <a:xfrm>
            <a:off x="82296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15" name="Card2_NumberBadge"/>
          <p:cNvSpPr/>
          <p:nvPr/>
        </p:nvSpPr>
        <p:spPr>
          <a:xfrm>
            <a:off x="6819900" y="2236470"/>
            <a:ext cx="228600" cy="228600"/>
          </a:xfrm>
          <a:prstGeom prst="rect">
            <a:avLst/>
          </a:prstGeom>
          <a:solidFill>
            <a:schemeClr val="accent1"/>
          </a:solidFill>
          <a:ln/>
        </p:spPr>
        <p:txBody>
          <a:bodyPr/>
          <a:lstStyle/>
          <a:p>
            <a:endParaRPr lang="fr-FR"/>
          </a:p>
        </p:txBody>
      </p:sp>
      <p:sp>
        <p:nvSpPr>
          <p:cNvPr id="17" name="Card2_Title"/>
          <p:cNvSpPr>
            <a:spLocks noGrp="1"/>
          </p:cNvSpPr>
          <p:nvPr>
            <p:ph type="body" idx="115" hasCustomPrompt="1"/>
          </p:nvPr>
        </p:nvSpPr>
        <p:spPr>
          <a:xfrm>
            <a:off x="713232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8" name="Card2_Description"/>
          <p:cNvSpPr>
            <a:spLocks noGrp="1"/>
          </p:cNvSpPr>
          <p:nvPr>
            <p:ph type="body" idx="116" hasCustomPrompt="1"/>
          </p:nvPr>
        </p:nvSpPr>
        <p:spPr>
          <a:xfrm>
            <a:off x="644652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0" name="Card3_NumberBadge"/>
          <p:cNvSpPr/>
          <p:nvPr/>
        </p:nvSpPr>
        <p:spPr>
          <a:xfrm>
            <a:off x="1196340" y="4476750"/>
            <a:ext cx="228600" cy="228600"/>
          </a:xfrm>
          <a:prstGeom prst="rect">
            <a:avLst/>
          </a:prstGeom>
          <a:solidFill>
            <a:schemeClr val="accent1"/>
          </a:solidFill>
          <a:ln/>
        </p:spPr>
        <p:txBody>
          <a:bodyPr/>
          <a:lstStyle/>
          <a:p>
            <a:endParaRPr lang="fr-FR"/>
          </a:p>
        </p:txBody>
      </p:sp>
      <p:sp>
        <p:nvSpPr>
          <p:cNvPr id="22" name="Card3_Title"/>
          <p:cNvSpPr>
            <a:spLocks noGrp="1"/>
          </p:cNvSpPr>
          <p:nvPr>
            <p:ph type="body" idx="120" hasCustomPrompt="1"/>
          </p:nvPr>
        </p:nvSpPr>
        <p:spPr>
          <a:xfrm>
            <a:off x="150876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3" name="Card3_Description"/>
          <p:cNvSpPr>
            <a:spLocks noGrp="1"/>
          </p:cNvSpPr>
          <p:nvPr>
            <p:ph type="body" idx="121" hasCustomPrompt="1"/>
          </p:nvPr>
        </p:nvSpPr>
        <p:spPr>
          <a:xfrm>
            <a:off x="82296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5" name="Card4_NumberBadge"/>
          <p:cNvSpPr/>
          <p:nvPr userDrawn="1"/>
        </p:nvSpPr>
        <p:spPr>
          <a:xfrm>
            <a:off x="6819900" y="4476750"/>
            <a:ext cx="228600" cy="228600"/>
          </a:xfrm>
          <a:prstGeom prst="rect">
            <a:avLst/>
          </a:prstGeom>
          <a:solidFill>
            <a:schemeClr val="accent1"/>
          </a:solidFill>
          <a:ln/>
        </p:spPr>
        <p:txBody>
          <a:bodyPr/>
          <a:lstStyle/>
          <a:p>
            <a:endParaRPr lang="fr-FR"/>
          </a:p>
        </p:txBody>
      </p:sp>
      <p:sp>
        <p:nvSpPr>
          <p:cNvPr id="27" name="Card4_Title"/>
          <p:cNvSpPr>
            <a:spLocks noGrp="1"/>
          </p:cNvSpPr>
          <p:nvPr>
            <p:ph type="body" idx="125" hasCustomPrompt="1"/>
          </p:nvPr>
        </p:nvSpPr>
        <p:spPr>
          <a:xfrm>
            <a:off x="713232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8" name="Card4_Description"/>
          <p:cNvSpPr>
            <a:spLocks noGrp="1"/>
          </p:cNvSpPr>
          <p:nvPr>
            <p:ph type="body" idx="126" hasCustomPrompt="1"/>
          </p:nvPr>
        </p:nvSpPr>
        <p:spPr>
          <a:xfrm>
            <a:off x="644652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8" name="TopRightImage">
            <a:extLst>
              <a:ext uri="{FF2B5EF4-FFF2-40B4-BE49-F238E27FC236}">
                <a16:creationId xmlns:a16="http://schemas.microsoft.com/office/drawing/2014/main" id="{567A6567-821E-F80F-0EC1-0F94D8F2F638}"/>
              </a:ext>
            </a:extLst>
          </p:cNvPr>
          <p:cNvSpPr>
            <a:spLocks noGrp="1"/>
          </p:cNvSpPr>
          <p:nvPr>
            <p:ph type="pic" sz="quarter" idx="127"/>
          </p:nvPr>
        </p:nvSpPr>
        <p:spPr>
          <a:xfrm>
            <a:off x="9156700" y="241300"/>
            <a:ext cx="2692400" cy="1541463"/>
          </a:xfrm>
          <a:prstGeom prst="rect">
            <a:avLst/>
          </a:prstGeom>
        </p:spPr>
        <p:txBody>
          <a:bodyPr/>
          <a:lstStyle/>
          <a:p>
            <a:r>
              <a:rPr lang="fr-FR"/>
              <a:t>Cliquez sur l'icône pour ajouter une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06_TROIS_COLONNES_CITATION">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02652"/>
            <a:ext cx="10058400" cy="34600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olumn1_Number"/>
          <p:cNvSpPr/>
          <p:nvPr/>
        </p:nvSpPr>
        <p:spPr>
          <a:xfrm>
            <a:off x="54864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01</a:t>
            </a:r>
            <a:endParaRPr lang="en-US" sz="5600" dirty="0"/>
          </a:p>
        </p:txBody>
      </p:sp>
      <p:sp>
        <p:nvSpPr>
          <p:cNvPr id="11" name="Column1_Title"/>
          <p:cNvSpPr>
            <a:spLocks noGrp="1"/>
          </p:cNvSpPr>
          <p:nvPr>
            <p:ph type="body" idx="109" hasCustomPrompt="1"/>
          </p:nvPr>
        </p:nvSpPr>
        <p:spPr>
          <a:xfrm>
            <a:off x="54864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2" name="Column1_Description"/>
          <p:cNvSpPr>
            <a:spLocks noGrp="1"/>
          </p:cNvSpPr>
          <p:nvPr>
            <p:ph type="body" idx="110" hasCustomPrompt="1"/>
          </p:nvPr>
        </p:nvSpPr>
        <p:spPr>
          <a:xfrm>
            <a:off x="54864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3" name="Column2_Number"/>
          <p:cNvSpPr/>
          <p:nvPr/>
        </p:nvSpPr>
        <p:spPr>
          <a:xfrm>
            <a:off x="429768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02</a:t>
            </a:r>
            <a:endParaRPr lang="en-US" sz="5600" dirty="0"/>
          </a:p>
        </p:txBody>
      </p:sp>
      <p:sp>
        <p:nvSpPr>
          <p:cNvPr id="14" name="Column2_Title"/>
          <p:cNvSpPr>
            <a:spLocks noGrp="1"/>
          </p:cNvSpPr>
          <p:nvPr>
            <p:ph type="body" idx="112" hasCustomPrompt="1"/>
          </p:nvPr>
        </p:nvSpPr>
        <p:spPr>
          <a:xfrm>
            <a:off x="429768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5" name="Column2_Description"/>
          <p:cNvSpPr>
            <a:spLocks noGrp="1"/>
          </p:cNvSpPr>
          <p:nvPr>
            <p:ph type="body" idx="113" hasCustomPrompt="1"/>
          </p:nvPr>
        </p:nvSpPr>
        <p:spPr>
          <a:xfrm>
            <a:off x="429768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6" name="Column3_Number"/>
          <p:cNvSpPr/>
          <p:nvPr/>
        </p:nvSpPr>
        <p:spPr>
          <a:xfrm>
            <a:off x="804672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03</a:t>
            </a:r>
            <a:endParaRPr lang="en-US" sz="5600" dirty="0"/>
          </a:p>
        </p:txBody>
      </p:sp>
      <p:sp>
        <p:nvSpPr>
          <p:cNvPr id="17" name="Column3_Title"/>
          <p:cNvSpPr>
            <a:spLocks noGrp="1"/>
          </p:cNvSpPr>
          <p:nvPr>
            <p:ph type="body" idx="115" hasCustomPrompt="1"/>
          </p:nvPr>
        </p:nvSpPr>
        <p:spPr>
          <a:xfrm>
            <a:off x="804672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8" name="Column3_Description"/>
          <p:cNvSpPr>
            <a:spLocks noGrp="1"/>
          </p:cNvSpPr>
          <p:nvPr>
            <p:ph type="body" idx="116" hasCustomPrompt="1"/>
          </p:nvPr>
        </p:nvSpPr>
        <p:spPr>
          <a:xfrm>
            <a:off x="804672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08_GRILLE_3x2">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2" name="Item1_LeftBorder"/>
          <p:cNvSpPr/>
          <p:nvPr/>
        </p:nvSpPr>
        <p:spPr>
          <a:xfrm>
            <a:off x="569704" y="2193718"/>
            <a:ext cx="31024" cy="1407600"/>
          </a:xfrm>
          <a:prstGeom prst="rect">
            <a:avLst/>
          </a:prstGeom>
          <a:solidFill>
            <a:schemeClr val="accent1"/>
          </a:solidFill>
          <a:ln/>
        </p:spPr>
        <p:txBody>
          <a:bodyPr/>
          <a:lstStyle/>
          <a:p>
            <a:endParaRPr lang="fr-FR"/>
          </a:p>
        </p:txBody>
      </p:sp>
      <p:sp>
        <p:nvSpPr>
          <p:cNvPr id="13" name="Item1_Title"/>
          <p:cNvSpPr>
            <a:spLocks noGrp="1"/>
          </p:cNvSpPr>
          <p:nvPr>
            <p:ph type="body" idx="111" hasCustomPrompt="1"/>
          </p:nvPr>
        </p:nvSpPr>
        <p:spPr>
          <a:xfrm>
            <a:off x="822960"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1</a:t>
            </a:r>
            <a:endParaRPr lang="en-US" sz="1500" dirty="0"/>
          </a:p>
        </p:txBody>
      </p:sp>
      <p:sp>
        <p:nvSpPr>
          <p:cNvPr id="14" name="Item1_Description"/>
          <p:cNvSpPr>
            <a:spLocks noGrp="1"/>
          </p:cNvSpPr>
          <p:nvPr>
            <p:ph type="body" idx="112" hasCustomPrompt="1"/>
          </p:nvPr>
        </p:nvSpPr>
        <p:spPr>
          <a:xfrm>
            <a:off x="822960"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16" name="Item2_LeftBorder"/>
          <p:cNvSpPr/>
          <p:nvPr/>
        </p:nvSpPr>
        <p:spPr>
          <a:xfrm>
            <a:off x="4346176" y="2193718"/>
            <a:ext cx="31024" cy="1407600"/>
          </a:xfrm>
          <a:prstGeom prst="rect">
            <a:avLst/>
          </a:prstGeom>
          <a:solidFill>
            <a:schemeClr val="accent1"/>
          </a:solidFill>
          <a:ln/>
        </p:spPr>
        <p:txBody>
          <a:bodyPr/>
          <a:lstStyle/>
          <a:p>
            <a:endParaRPr lang="fr-FR"/>
          </a:p>
        </p:txBody>
      </p:sp>
      <p:sp>
        <p:nvSpPr>
          <p:cNvPr id="17" name="Item2_Title"/>
          <p:cNvSpPr>
            <a:spLocks noGrp="1"/>
          </p:cNvSpPr>
          <p:nvPr>
            <p:ph type="body" idx="115" hasCustomPrompt="1"/>
          </p:nvPr>
        </p:nvSpPr>
        <p:spPr>
          <a:xfrm>
            <a:off x="4599432"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2</a:t>
            </a:r>
            <a:endParaRPr lang="en-US" sz="1500" dirty="0"/>
          </a:p>
        </p:txBody>
      </p:sp>
      <p:sp>
        <p:nvSpPr>
          <p:cNvPr id="18" name="Item2_Description"/>
          <p:cNvSpPr>
            <a:spLocks noGrp="1"/>
          </p:cNvSpPr>
          <p:nvPr>
            <p:ph type="body" idx="116" hasCustomPrompt="1"/>
          </p:nvPr>
        </p:nvSpPr>
        <p:spPr>
          <a:xfrm>
            <a:off x="4599432"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0" name="Item3_LeftBorder"/>
          <p:cNvSpPr/>
          <p:nvPr/>
        </p:nvSpPr>
        <p:spPr>
          <a:xfrm>
            <a:off x="8122647" y="2193718"/>
            <a:ext cx="32400" cy="1407600"/>
          </a:xfrm>
          <a:prstGeom prst="rect">
            <a:avLst/>
          </a:prstGeom>
          <a:solidFill>
            <a:schemeClr val="accent1"/>
          </a:solidFill>
          <a:ln/>
        </p:spPr>
        <p:txBody>
          <a:bodyPr/>
          <a:lstStyle/>
          <a:p>
            <a:endParaRPr lang="fr-FR"/>
          </a:p>
        </p:txBody>
      </p:sp>
      <p:sp>
        <p:nvSpPr>
          <p:cNvPr id="21" name="Item3_Title"/>
          <p:cNvSpPr>
            <a:spLocks noGrp="1"/>
          </p:cNvSpPr>
          <p:nvPr>
            <p:ph type="body" idx="119" hasCustomPrompt="1"/>
          </p:nvPr>
        </p:nvSpPr>
        <p:spPr>
          <a:xfrm>
            <a:off x="8375904" y="2193718"/>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3</a:t>
            </a:r>
            <a:endParaRPr lang="en-US" sz="1500" dirty="0"/>
          </a:p>
        </p:txBody>
      </p:sp>
      <p:sp>
        <p:nvSpPr>
          <p:cNvPr id="22" name="Item3_Description"/>
          <p:cNvSpPr>
            <a:spLocks noGrp="1"/>
          </p:cNvSpPr>
          <p:nvPr>
            <p:ph type="body" idx="120" hasCustomPrompt="1"/>
          </p:nvPr>
        </p:nvSpPr>
        <p:spPr>
          <a:xfrm>
            <a:off x="8375904"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4" name="Item4_LeftBorder"/>
          <p:cNvSpPr/>
          <p:nvPr/>
        </p:nvSpPr>
        <p:spPr>
          <a:xfrm>
            <a:off x="569704" y="4265422"/>
            <a:ext cx="31024" cy="1408176"/>
          </a:xfrm>
          <a:prstGeom prst="rect">
            <a:avLst/>
          </a:prstGeom>
          <a:solidFill>
            <a:schemeClr val="accent1"/>
          </a:solidFill>
          <a:ln/>
        </p:spPr>
        <p:txBody>
          <a:bodyPr/>
          <a:lstStyle/>
          <a:p>
            <a:endParaRPr lang="fr-FR"/>
          </a:p>
        </p:txBody>
      </p:sp>
      <p:sp>
        <p:nvSpPr>
          <p:cNvPr id="25" name="Item4_Title"/>
          <p:cNvSpPr>
            <a:spLocks noGrp="1"/>
          </p:cNvSpPr>
          <p:nvPr>
            <p:ph type="body" idx="123" hasCustomPrompt="1"/>
          </p:nvPr>
        </p:nvSpPr>
        <p:spPr>
          <a:xfrm>
            <a:off x="822960"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4</a:t>
            </a:r>
            <a:endParaRPr lang="en-US" sz="1500" dirty="0"/>
          </a:p>
        </p:txBody>
      </p:sp>
      <p:sp>
        <p:nvSpPr>
          <p:cNvPr id="26" name="Item4_Description"/>
          <p:cNvSpPr>
            <a:spLocks noGrp="1"/>
          </p:cNvSpPr>
          <p:nvPr>
            <p:ph type="body" idx="124" hasCustomPrompt="1"/>
          </p:nvPr>
        </p:nvSpPr>
        <p:spPr>
          <a:xfrm>
            <a:off x="822960"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8" name="Item5_LeftBorder"/>
          <p:cNvSpPr/>
          <p:nvPr/>
        </p:nvSpPr>
        <p:spPr>
          <a:xfrm>
            <a:off x="4346176" y="4265422"/>
            <a:ext cx="31024" cy="1408176"/>
          </a:xfrm>
          <a:prstGeom prst="rect">
            <a:avLst/>
          </a:prstGeom>
          <a:solidFill>
            <a:schemeClr val="accent1"/>
          </a:solidFill>
          <a:ln/>
        </p:spPr>
        <p:txBody>
          <a:bodyPr/>
          <a:lstStyle/>
          <a:p>
            <a:endParaRPr lang="fr-FR"/>
          </a:p>
        </p:txBody>
      </p:sp>
      <p:sp>
        <p:nvSpPr>
          <p:cNvPr id="29" name="Item5_Title"/>
          <p:cNvSpPr>
            <a:spLocks noGrp="1"/>
          </p:cNvSpPr>
          <p:nvPr>
            <p:ph type="body" idx="127" hasCustomPrompt="1"/>
          </p:nvPr>
        </p:nvSpPr>
        <p:spPr>
          <a:xfrm>
            <a:off x="4599432"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5</a:t>
            </a:r>
            <a:endParaRPr lang="en-US" sz="1500" dirty="0"/>
          </a:p>
        </p:txBody>
      </p:sp>
      <p:sp>
        <p:nvSpPr>
          <p:cNvPr id="30" name="Item5_Description"/>
          <p:cNvSpPr>
            <a:spLocks noGrp="1"/>
          </p:cNvSpPr>
          <p:nvPr>
            <p:ph type="body" idx="128" hasCustomPrompt="1"/>
          </p:nvPr>
        </p:nvSpPr>
        <p:spPr>
          <a:xfrm>
            <a:off x="4599432"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32" name="Item6_LeftBorder"/>
          <p:cNvSpPr/>
          <p:nvPr/>
        </p:nvSpPr>
        <p:spPr>
          <a:xfrm>
            <a:off x="8122648" y="4265422"/>
            <a:ext cx="31024" cy="1408176"/>
          </a:xfrm>
          <a:prstGeom prst="rect">
            <a:avLst/>
          </a:prstGeom>
          <a:solidFill>
            <a:schemeClr val="accent1"/>
          </a:solidFill>
          <a:ln/>
        </p:spPr>
        <p:txBody>
          <a:bodyPr/>
          <a:lstStyle/>
          <a:p>
            <a:endParaRPr lang="fr-FR"/>
          </a:p>
        </p:txBody>
      </p:sp>
      <p:sp>
        <p:nvSpPr>
          <p:cNvPr id="33" name="Item6_Title"/>
          <p:cNvSpPr>
            <a:spLocks noGrp="1"/>
          </p:cNvSpPr>
          <p:nvPr>
            <p:ph type="body" idx="131" hasCustomPrompt="1"/>
          </p:nvPr>
        </p:nvSpPr>
        <p:spPr>
          <a:xfrm>
            <a:off x="8244459"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6</a:t>
            </a:r>
            <a:endParaRPr lang="en-US" sz="1500" dirty="0"/>
          </a:p>
        </p:txBody>
      </p:sp>
      <p:sp>
        <p:nvSpPr>
          <p:cNvPr id="34" name="Item6_Description"/>
          <p:cNvSpPr>
            <a:spLocks noGrp="1"/>
          </p:cNvSpPr>
          <p:nvPr>
            <p:ph type="body" idx="132" hasCustomPrompt="1"/>
          </p:nvPr>
        </p:nvSpPr>
        <p:spPr>
          <a:xfrm>
            <a:off x="8244459"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9_FICHE_CV">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grpSp>
      <p:sp>
        <p:nvSpPr>
          <p:cNvPr id="5" name="HeaderBackground"/>
          <p:cNvSpPr/>
          <p:nvPr userDrawn="1"/>
        </p:nvSpPr>
        <p:spPr>
          <a:xfrm>
            <a:off x="0" y="73152"/>
            <a:ext cx="12188952" cy="1280160"/>
          </a:xfrm>
          <a:prstGeom prst="rect">
            <a:avLst/>
          </a:prstGeom>
          <a:solidFill>
            <a:schemeClr val="accent1"/>
          </a:solidFill>
          <a:ln/>
        </p:spPr>
        <p:txBody>
          <a:bodyPr/>
          <a:lstStyle/>
          <a:p>
            <a:endParaRPr lang="fr-FR"/>
          </a:p>
        </p:txBody>
      </p:sp>
      <p:sp>
        <p:nvSpPr>
          <p:cNvPr id="6" name="ExperienceBadgeBackground"/>
          <p:cNvSpPr/>
          <p:nvPr/>
        </p:nvSpPr>
        <p:spPr>
          <a:xfrm>
            <a:off x="10058400" y="365760"/>
            <a:ext cx="1691640" cy="777240"/>
          </a:xfrm>
          <a:prstGeom prst="rect">
            <a:avLst/>
          </a:prstGeom>
          <a:solidFill>
            <a:schemeClr val="lt2"/>
          </a:solidFill>
          <a:ln/>
        </p:spPr>
        <p:txBody>
          <a:bodyPr/>
          <a:lstStyle/>
          <a:p>
            <a:endParaRPr lang="fr-FR"/>
          </a:p>
        </p:txBody>
      </p:sp>
      <p:sp>
        <p:nvSpPr>
          <p:cNvPr id="7" name="SkillsPanelBackground"/>
          <p:cNvSpPr/>
          <p:nvPr/>
        </p:nvSpPr>
        <p:spPr>
          <a:xfrm>
            <a:off x="8229600" y="1554480"/>
            <a:ext cx="3566160" cy="4983480"/>
          </a:xfrm>
          <a:prstGeom prst="rect">
            <a:avLst/>
          </a:prstGeom>
          <a:noFill/>
          <a:ln/>
        </p:spPr>
        <p:txBody>
          <a:bodyPr/>
          <a:lstStyle/>
          <a:p>
            <a:endParaRPr lang="fr-FR"/>
          </a:p>
        </p:txBody>
      </p:sp>
      <p:sp>
        <p:nvSpPr>
          <p:cNvPr id="8" name="Title"/>
          <p:cNvSpPr>
            <a:spLocks noGrp="1"/>
          </p:cNvSpPr>
          <p:nvPr>
            <p:ph type="title" idx="106" hasCustomPrompt="1"/>
          </p:nvPr>
        </p:nvSpPr>
        <p:spPr>
          <a:xfrm>
            <a:off x="548640" y="228600"/>
            <a:ext cx="8229600" cy="640080"/>
          </a:xfrm>
          <a:prstGeom prst="rect">
            <a:avLst/>
          </a:prstGeom>
          <a:noFill/>
          <a:ln/>
        </p:spPr>
        <p:txBody>
          <a:bodyPr wrap="square" rtlCol="0"/>
          <a:lstStyle>
            <a:lvl1pPr marL="0" indent="0" algn="l">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l">
              <a:buNone/>
            </a:pPr>
            <a:r>
              <a:rPr lang="en-US" sz="3000" dirty="0">
                <a:solidFill>
                  <a:schemeClr val="lt2"/>
                </a:solidFill>
                <a:latin typeface="+mj-lt" pitchFamily="18" charset="0"/>
                <a:ea typeface="+mj-ea" pitchFamily="18" charset="-122"/>
                <a:cs typeface="+mj-cs" pitchFamily="18" charset="-120"/>
              </a:rPr>
              <a:t>PRÉNOM NOM</a:t>
            </a:r>
            <a:endParaRPr lang="en-US" sz="3000" dirty="0"/>
          </a:p>
        </p:txBody>
      </p:sp>
      <p:sp>
        <p:nvSpPr>
          <p:cNvPr id="9" name="JobTitle"/>
          <p:cNvSpPr>
            <a:spLocks noGrp="1"/>
          </p:cNvSpPr>
          <p:nvPr>
            <p:ph type="body" idx="107" hasCustomPrompt="1"/>
          </p:nvPr>
        </p:nvSpPr>
        <p:spPr>
          <a:xfrm>
            <a:off x="548640" y="868680"/>
            <a:ext cx="9418320" cy="365760"/>
          </a:xfrm>
          <a:prstGeom prst="rect">
            <a:avLst/>
          </a:prstGeom>
          <a:noFill/>
          <a:ln/>
        </p:spPr>
        <p:txBody>
          <a:bodyPr wrap="square" rtlCol="0"/>
          <a:lstStyle>
            <a:lvl1pPr marL="0" indent="0">
              <a:lnSpc>
                <a:spcPct val="150000"/>
              </a:lnSpc>
              <a:buNone/>
              <a:defRPr lang="en-US" sz="1400" i="1" spc="0" dirty="0">
                <a:solidFill>
                  <a:schemeClr val="lt2"/>
                </a:solidFill>
                <a:latin typeface="+mn-lt" pitchFamily="34" charset="0"/>
                <a:ea typeface="+mn-ea" pitchFamily="34" charset="-122"/>
                <a:cs typeface="+mn-cs" pitchFamily="34" charset="-120"/>
              </a:defRPr>
            </a:lvl1pPr>
          </a:lstStyle>
          <a:p>
            <a:pPr marL="0" indent="0">
              <a:buNone/>
            </a:pPr>
            <a:r>
              <a:rPr lang="en-US" sz="1400" i="1" dirty="0">
                <a:solidFill>
                  <a:schemeClr val="lt2"/>
                </a:solidFill>
                <a:latin typeface="+mn-lt" pitchFamily="34" charset="0"/>
                <a:ea typeface="+mn-ea" pitchFamily="34" charset="-122"/>
                <a:cs typeface="+mn-cs" pitchFamily="34" charset="-120"/>
              </a:rPr>
              <a:t>Poste — Rôle — Mention complémentaire</a:t>
            </a:r>
            <a:endParaRPr lang="en-US" sz="1400" dirty="0"/>
          </a:p>
        </p:txBody>
      </p:sp>
      <p:sp>
        <p:nvSpPr>
          <p:cNvPr id="10" name="ExperienceYears"/>
          <p:cNvSpPr>
            <a:spLocks noGrp="1"/>
          </p:cNvSpPr>
          <p:nvPr>
            <p:ph type="body" idx="108" hasCustomPrompt="1"/>
          </p:nvPr>
        </p:nvSpPr>
        <p:spPr>
          <a:xfrm>
            <a:off x="10058400" y="411480"/>
            <a:ext cx="1691640" cy="411480"/>
          </a:xfrm>
          <a:prstGeom prst="rect">
            <a:avLst/>
          </a:prstGeom>
          <a:noFill/>
          <a:ln/>
        </p:spPr>
        <p:txBody>
          <a:bodyPr wrap="square" rtlCol="0"/>
          <a:lstStyle>
            <a:lvl1pPr marL="0" indent="0" algn="ctr">
              <a:lnSpc>
                <a:spcPct val="135000"/>
              </a:lnSpc>
              <a:buNone/>
              <a:defRPr lang="en-US" sz="2200" b="1" spc="-44" dirty="0">
                <a:solidFill>
                  <a:schemeClr val="accent1"/>
                </a:solidFill>
                <a:latin typeface="+mn-lt" pitchFamily="34" charset="0"/>
                <a:ea typeface="+mn-ea" pitchFamily="34" charset="-122"/>
                <a:cs typeface="+mn-cs" pitchFamily="34" charset="-120"/>
              </a:defRPr>
            </a:lvl1pPr>
          </a:lstStyle>
          <a:p>
            <a:pPr marL="0" indent="0" algn="ctr">
              <a:buNone/>
            </a:pPr>
            <a:r>
              <a:rPr lang="en-US" sz="2200" b="1" dirty="0">
                <a:solidFill>
                  <a:schemeClr val="accent1"/>
                </a:solidFill>
                <a:latin typeface="+mn-lt" pitchFamily="34" charset="0"/>
                <a:ea typeface="+mn-ea" pitchFamily="34" charset="-122"/>
                <a:cs typeface="+mn-cs" pitchFamily="34" charset="-120"/>
              </a:rPr>
              <a:t>X ans</a:t>
            </a:r>
            <a:endParaRPr lang="en-US" sz="2200" dirty="0"/>
          </a:p>
        </p:txBody>
      </p:sp>
      <p:sp>
        <p:nvSpPr>
          <p:cNvPr id="11" name="ExperienceUnit"/>
          <p:cNvSpPr/>
          <p:nvPr/>
        </p:nvSpPr>
        <p:spPr>
          <a:xfrm>
            <a:off x="10058400" y="822960"/>
            <a:ext cx="1691640" cy="274320"/>
          </a:xfrm>
          <a:prstGeom prst="rect">
            <a:avLst/>
          </a:prstGeom>
          <a:noFill/>
          <a:ln/>
        </p:spPr>
        <p:txBody>
          <a:bodyPr wrap="square" lIns="0" tIns="0" rIns="0" bIns="0" rtlCol="0" anchor="ctr"/>
          <a:lstStyle/>
          <a:p>
            <a:pPr marL="0" indent="0" algn="ctr">
              <a:buNone/>
            </a:pPr>
            <a:r>
              <a:rPr lang="en-US" sz="1000" dirty="0">
                <a:solidFill>
                  <a:schemeClr val="accent1"/>
                </a:solidFill>
                <a:latin typeface="+mn-lt" pitchFamily="34" charset="0"/>
                <a:ea typeface="+mn-ea" pitchFamily="34" charset="-122"/>
                <a:cs typeface="+mn-cs" pitchFamily="34" charset="-120"/>
              </a:rPr>
              <a:t>d'expérience</a:t>
            </a:r>
            <a:endParaRPr lang="en-US" sz="1000" dirty="0"/>
          </a:p>
        </p:txBody>
      </p:sp>
      <p:sp>
        <p:nvSpPr>
          <p:cNvPr id="12" name="ProfileSectionLabel"/>
          <p:cNvSpPr/>
          <p:nvPr/>
        </p:nvSpPr>
        <p:spPr>
          <a:xfrm>
            <a:off x="548640" y="155448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PROFIL</a:t>
            </a:r>
            <a:endParaRPr lang="en-US" sz="1100" dirty="0"/>
          </a:p>
        </p:txBody>
      </p:sp>
      <p:sp>
        <p:nvSpPr>
          <p:cNvPr id="13" name="ProfileText"/>
          <p:cNvSpPr>
            <a:spLocks noGrp="1"/>
          </p:cNvSpPr>
          <p:nvPr>
            <p:ph type="body" idx="111" hasCustomPrompt="1"/>
          </p:nvPr>
        </p:nvSpPr>
        <p:spPr>
          <a:xfrm>
            <a:off x="548640" y="1874520"/>
            <a:ext cx="7315200" cy="1508760"/>
          </a:xfrm>
          <a:prstGeom prst="rect">
            <a:avLst/>
          </a:prstGeom>
          <a:noFill/>
          <a:ln/>
        </p:spPr>
        <p:txBody>
          <a:bodyPr wrap="square" rtlCol="0"/>
          <a:lstStyle>
            <a:lvl1pPr marL="0" indent="0">
              <a:lnSpc>
                <a:spcPct val="150000"/>
              </a:lnSpc>
              <a:buNone/>
              <a:defRPr lang="en-US" sz="1200" spc="0" dirty="0">
                <a:solidFill>
                  <a:schemeClr val="dk1"/>
                </a:solidFill>
                <a:latin typeface="+mn-lt" pitchFamily="34" charset="0"/>
                <a:ea typeface="+mn-ea" pitchFamily="34" charset="-122"/>
                <a:cs typeface="+mn-cs" pitchFamily="34" charset="-120"/>
              </a:defRPr>
            </a:lvl1pPr>
          </a:lstStyle>
          <a:p>
            <a:pPr marL="0" indent="0">
              <a:buNone/>
            </a:pPr>
            <a:r>
              <a:rPr lang="en-US" sz="1200" dirty="0">
                <a:solidFill>
                  <a:schemeClr val="dk1"/>
                </a:solidFill>
                <a:latin typeface="+mn-lt" pitchFamily="34" charset="0"/>
                <a:ea typeface="+mn-ea" pitchFamily="34" charset="-122"/>
                <a:cs typeface="+mn-cs" pitchFamily="34" charset="-120"/>
              </a:rPr>
              <a:t>Présentation du profil en quatre à cinq lignes. Mettre en avant les expertises clés, les expériences marquantes, les domaines d'intervention.</a:t>
            </a:r>
            <a:endParaRPr lang="en-US" sz="1200" dirty="0"/>
          </a:p>
        </p:txBody>
      </p:sp>
      <p:sp>
        <p:nvSpPr>
          <p:cNvPr id="14" name="ExperienceSectionLabel"/>
          <p:cNvSpPr/>
          <p:nvPr/>
        </p:nvSpPr>
        <p:spPr>
          <a:xfrm>
            <a:off x="548640" y="347472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PARCOURS</a:t>
            </a:r>
            <a:endParaRPr lang="en-US" sz="1100" dirty="0"/>
          </a:p>
        </p:txBody>
      </p:sp>
      <p:sp>
        <p:nvSpPr>
          <p:cNvPr id="15" name="ExperienceHistory"/>
          <p:cNvSpPr>
            <a:spLocks noGrp="1"/>
          </p:cNvSpPr>
          <p:nvPr>
            <p:ph type="body" idx="113" hasCustomPrompt="1"/>
          </p:nvPr>
        </p:nvSpPr>
        <p:spPr>
          <a:xfrm>
            <a:off x="548640" y="3749040"/>
            <a:ext cx="7589520" cy="27432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Poste / Fonction — Entreprise · Période</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Description des responsabilités et réalisations.</a:t>
            </a:r>
            <a:endParaRPr lang="en-US" sz="1100" dirty="0"/>
          </a:p>
        </p:txBody>
      </p:sp>
      <p:sp>
        <p:nvSpPr>
          <p:cNvPr id="16" name="SkillsSectionLabel"/>
          <p:cNvSpPr/>
          <p:nvPr/>
        </p:nvSpPr>
        <p:spPr>
          <a:xfrm>
            <a:off x="8458200" y="16916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COMPÉTENCES CLÉS</a:t>
            </a:r>
            <a:endParaRPr lang="en-US" sz="1100" dirty="0"/>
          </a:p>
        </p:txBody>
      </p:sp>
      <p:sp>
        <p:nvSpPr>
          <p:cNvPr id="17" name="SkillsList"/>
          <p:cNvSpPr>
            <a:spLocks noGrp="1"/>
          </p:cNvSpPr>
          <p:nvPr>
            <p:ph type="body" idx="115" hasCustomPrompt="1"/>
          </p:nvPr>
        </p:nvSpPr>
        <p:spPr>
          <a:xfrm>
            <a:off x="8458200" y="2011680"/>
            <a:ext cx="3246120" cy="201168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 Compétence 1</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2</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3</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4</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5</a:t>
            </a:r>
            <a:endParaRPr lang="en-US" sz="1100" dirty="0"/>
          </a:p>
        </p:txBody>
      </p:sp>
      <p:sp>
        <p:nvSpPr>
          <p:cNvPr id="18" name="TechnologiesSectionLabel"/>
          <p:cNvSpPr/>
          <p:nvPr/>
        </p:nvSpPr>
        <p:spPr>
          <a:xfrm>
            <a:off x="8458200" y="406908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TECHNOLOGIES</a:t>
            </a:r>
            <a:endParaRPr lang="en-US" sz="1100" dirty="0"/>
          </a:p>
        </p:txBody>
      </p:sp>
      <p:sp>
        <p:nvSpPr>
          <p:cNvPr id="19" name="TechnologiesList"/>
          <p:cNvSpPr>
            <a:spLocks noGrp="1"/>
          </p:cNvSpPr>
          <p:nvPr>
            <p:ph type="body" idx="117" hasCustomPrompt="1"/>
          </p:nvPr>
        </p:nvSpPr>
        <p:spPr>
          <a:xfrm>
            <a:off x="8458200" y="4343400"/>
            <a:ext cx="3246120" cy="9144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Technologie 1 · Technologie 2 · Technologie 3 · Technologie 4</a:t>
            </a:r>
            <a:endParaRPr lang="en-US" sz="1100" dirty="0"/>
          </a:p>
        </p:txBody>
      </p:sp>
      <p:sp>
        <p:nvSpPr>
          <p:cNvPr id="20" name="EducationSectionLabel"/>
          <p:cNvSpPr/>
          <p:nvPr/>
        </p:nvSpPr>
        <p:spPr>
          <a:xfrm>
            <a:off x="8458200" y="53492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FORMATION</a:t>
            </a:r>
            <a:endParaRPr lang="en-US" sz="1100" dirty="0"/>
          </a:p>
        </p:txBody>
      </p:sp>
      <p:sp>
        <p:nvSpPr>
          <p:cNvPr id="21" name="EducationText"/>
          <p:cNvSpPr>
            <a:spLocks noGrp="1"/>
          </p:cNvSpPr>
          <p:nvPr>
            <p:ph type="body" idx="119" hasCustomPrompt="1"/>
          </p:nvPr>
        </p:nvSpPr>
        <p:spPr>
          <a:xfrm>
            <a:off x="8458200" y="5623560"/>
            <a:ext cx="3246120" cy="82296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Diplôme — École, Année</a:t>
            </a:r>
            <a:endParaRPr lang="en-US" sz="11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0_PROPOSITION_COMMERCIALE">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IntroSentence"/>
          <p:cNvSpPr>
            <a:spLocks noGrp="1"/>
          </p:cNvSpPr>
          <p:nvPr>
            <p:ph type="body" idx="105" hasCustomPrompt="1"/>
          </p:nvPr>
        </p:nvSpPr>
        <p:spPr>
          <a:xfrm>
            <a:off x="548640" y="1437894"/>
            <a:ext cx="11064240" cy="497332"/>
          </a:xfrm>
          <a:prstGeom prst="rect">
            <a:avLst/>
          </a:prstGeom>
          <a:noFill/>
          <a:ln/>
        </p:spPr>
        <p:txBody>
          <a:bodyPr wrap="square" rtlCol="0"/>
          <a:lstStyle>
            <a:lvl1pPr marL="0" indent="0">
              <a:lnSpc>
                <a:spcPct val="150000"/>
              </a:lnSpc>
              <a:buNone/>
              <a:defRPr lang="en-US" sz="1500" spc="0" dirty="0">
                <a:solidFill>
                  <a:schemeClr val="accent2"/>
                </a:solidFill>
                <a:latin typeface="+mn-lt" pitchFamily="34" charset="0"/>
                <a:ea typeface="+mn-ea" pitchFamily="34" charset="-122"/>
                <a:cs typeface="+mn-cs" pitchFamily="34" charset="-120"/>
              </a:defRPr>
            </a:lvl1pPr>
          </a:lstStyle>
          <a:p>
            <a:pPr marL="0" indent="0">
              <a:buNone/>
            </a:pPr>
            <a:r>
              <a:rPr lang="en-US" sz="1500" dirty="0">
                <a:solidFill>
                  <a:schemeClr val="accent2"/>
                </a:solidFill>
                <a:latin typeface="+mn-lt" pitchFamily="34" charset="0"/>
                <a:ea typeface="+mn-ea" pitchFamily="34" charset="-122"/>
                <a:cs typeface="+mn-cs" pitchFamily="34" charset="-120"/>
              </a:rPr>
              <a:t>Phrase d'introduction commerciale.</a:t>
            </a:r>
            <a:endParaRPr lang="en-US" sz="1500" dirty="0"/>
          </a:p>
        </p:txBody>
      </p:sp>
      <p:sp>
        <p:nvSpPr>
          <p:cNvPr id="9" name="CategoryALabel"/>
          <p:cNvSpPr/>
          <p:nvPr/>
        </p:nvSpPr>
        <p:spPr>
          <a:xfrm>
            <a:off x="548640" y="22085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A</a:t>
            </a:r>
            <a:endParaRPr lang="en-US" sz="1200" dirty="0"/>
          </a:p>
        </p:txBody>
      </p:sp>
      <p:sp>
        <p:nvSpPr>
          <p:cNvPr id="11" name="LineItem2Highlight"/>
          <p:cNvSpPr/>
          <p:nvPr/>
        </p:nvSpPr>
        <p:spPr>
          <a:xfrm>
            <a:off x="548640" y="3351530"/>
            <a:ext cx="5486400" cy="685800"/>
          </a:xfrm>
          <a:prstGeom prst="rect">
            <a:avLst/>
          </a:prstGeom>
          <a:noFill/>
          <a:ln/>
        </p:spPr>
        <p:txBody>
          <a:bodyPr/>
          <a:lstStyle/>
          <a:p>
            <a:endParaRPr lang="fr-FR"/>
          </a:p>
        </p:txBody>
      </p:sp>
      <p:sp>
        <p:nvSpPr>
          <p:cNvPr id="12" name="LineItem1_Label"/>
          <p:cNvSpPr>
            <a:spLocks noGrp="1"/>
          </p:cNvSpPr>
          <p:nvPr>
            <p:ph type="body" idx="110" hasCustomPrompt="1"/>
          </p:nvPr>
        </p:nvSpPr>
        <p:spPr>
          <a:xfrm>
            <a:off x="731520" y="257429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3" name="LineItem1_Price"/>
          <p:cNvSpPr>
            <a:spLocks noGrp="1"/>
          </p:cNvSpPr>
          <p:nvPr>
            <p:ph type="body" idx="111" hasCustomPrompt="1"/>
          </p:nvPr>
        </p:nvSpPr>
        <p:spPr>
          <a:xfrm>
            <a:off x="4114800" y="257429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4" name="LineItem2_Label"/>
          <p:cNvSpPr>
            <a:spLocks noGrp="1"/>
          </p:cNvSpPr>
          <p:nvPr>
            <p:ph type="body" idx="112" hasCustomPrompt="1"/>
          </p:nvPr>
        </p:nvSpPr>
        <p:spPr>
          <a:xfrm>
            <a:off x="731520" y="335153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5" name="LineItem2_Price"/>
          <p:cNvSpPr>
            <a:spLocks noGrp="1"/>
          </p:cNvSpPr>
          <p:nvPr>
            <p:ph type="body" idx="113" hasCustomPrompt="1"/>
          </p:nvPr>
        </p:nvSpPr>
        <p:spPr>
          <a:xfrm>
            <a:off x="4114800" y="335153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6" name="CategoryBLabel"/>
          <p:cNvSpPr/>
          <p:nvPr/>
        </p:nvSpPr>
        <p:spPr>
          <a:xfrm>
            <a:off x="548640" y="42786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B</a:t>
            </a:r>
            <a:endParaRPr lang="en-US" sz="1200" dirty="0"/>
          </a:p>
        </p:txBody>
      </p:sp>
      <p:sp>
        <p:nvSpPr>
          <p:cNvPr id="18" name="Option2Highlight"/>
          <p:cNvSpPr/>
          <p:nvPr/>
        </p:nvSpPr>
        <p:spPr>
          <a:xfrm>
            <a:off x="3383280" y="4598670"/>
            <a:ext cx="2651760" cy="1143000"/>
          </a:xfrm>
          <a:prstGeom prst="rect">
            <a:avLst/>
          </a:prstGeom>
          <a:solidFill>
            <a:schemeClr val="accent1"/>
          </a:solidFill>
          <a:ln/>
        </p:spPr>
        <p:txBody>
          <a:bodyPr/>
          <a:lstStyle/>
          <a:p>
            <a:endParaRPr lang="fr-FR"/>
          </a:p>
        </p:txBody>
      </p:sp>
      <p:sp>
        <p:nvSpPr>
          <p:cNvPr id="19" name="Option1_Percentage"/>
          <p:cNvSpPr>
            <a:spLocks noGrp="1"/>
          </p:cNvSpPr>
          <p:nvPr>
            <p:ph type="body" idx="117" hasCustomPrompt="1"/>
          </p:nvPr>
        </p:nvSpPr>
        <p:spPr>
          <a:xfrm>
            <a:off x="548640" y="4690110"/>
            <a:ext cx="2651760" cy="457200"/>
          </a:xfrm>
          <a:prstGeom prst="rect">
            <a:avLst/>
          </a:prstGeom>
          <a:noFill/>
          <a:ln/>
        </p:spPr>
        <p:txBody>
          <a:bodyPr wrap="square" rtlCol="0"/>
          <a:lstStyle>
            <a:lvl1pPr marL="0" indent="0" algn="ctr">
              <a:lnSpc>
                <a:spcPct val="120000"/>
              </a:lnSpc>
              <a:buNone/>
              <a:defRPr lang="en-US" sz="3000" spc="-60" dirty="0">
                <a:solidFill>
                  <a:schemeClr val="accent1"/>
                </a:solidFill>
                <a:latin typeface="+mj-lt" pitchFamily="18" charset="0"/>
                <a:ea typeface="+mj-ea" pitchFamily="18" charset="-122"/>
                <a:cs typeface="+mj-cs" pitchFamily="18" charset="-120"/>
              </a:defRPr>
            </a:lvl1pPr>
          </a:lstStyle>
          <a:p>
            <a:pPr marL="0" indent="0" algn="ctr">
              <a:buNone/>
            </a:pPr>
            <a:r>
              <a:rPr lang="en-US" sz="3000" dirty="0">
                <a:solidFill>
                  <a:schemeClr val="accent1"/>
                </a:solidFill>
                <a:latin typeface="+mj-lt" pitchFamily="18" charset="0"/>
                <a:ea typeface="+mj-ea" pitchFamily="18" charset="-122"/>
                <a:cs typeface="+mj-cs" pitchFamily="18" charset="-120"/>
              </a:rPr>
              <a:t>XX %</a:t>
            </a:r>
            <a:endParaRPr lang="en-US" sz="3000" dirty="0"/>
          </a:p>
        </p:txBody>
      </p:sp>
      <p:sp>
        <p:nvSpPr>
          <p:cNvPr id="20" name="Option1_Caption"/>
          <p:cNvSpPr>
            <a:spLocks noGrp="1"/>
          </p:cNvSpPr>
          <p:nvPr>
            <p:ph type="body" idx="118" hasCustomPrompt="1"/>
          </p:nvPr>
        </p:nvSpPr>
        <p:spPr>
          <a:xfrm>
            <a:off x="548640" y="5193030"/>
            <a:ext cx="2651760" cy="457200"/>
          </a:xfrm>
          <a:prstGeom prst="rect">
            <a:avLst/>
          </a:prstGeom>
          <a:noFill/>
          <a:ln/>
        </p:spPr>
        <p:txBody>
          <a:bodyPr wrap="square" rtlCol="0"/>
          <a:lstStyle>
            <a:lvl1pPr marL="0" indent="0" algn="ctr">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lgn="ctr">
              <a:buNone/>
            </a:pPr>
            <a:r>
              <a:rPr lang="en-US" sz="1200" dirty="0">
                <a:solidFill>
                  <a:schemeClr val="accent2"/>
                </a:solidFill>
                <a:latin typeface="+mn-lt" pitchFamily="34" charset="0"/>
                <a:ea typeface="+mn-ea" pitchFamily="34" charset="-122"/>
                <a:cs typeface="+mn-cs" pitchFamily="34" charset="-120"/>
              </a:rPr>
              <a:t>légende option 1</a:t>
            </a:r>
            <a:endParaRPr lang="en-US" sz="1200" dirty="0"/>
          </a:p>
        </p:txBody>
      </p:sp>
      <p:sp>
        <p:nvSpPr>
          <p:cNvPr id="21" name="Option2_Percentage"/>
          <p:cNvSpPr>
            <a:spLocks noGrp="1"/>
          </p:cNvSpPr>
          <p:nvPr>
            <p:ph type="body" idx="119" hasCustomPrompt="1"/>
          </p:nvPr>
        </p:nvSpPr>
        <p:spPr>
          <a:xfrm>
            <a:off x="3383280" y="4690110"/>
            <a:ext cx="2651760" cy="457200"/>
          </a:xfrm>
          <a:prstGeom prst="rect">
            <a:avLst/>
          </a:prstGeom>
          <a:noFill/>
          <a:ln/>
        </p:spPr>
        <p:txBody>
          <a:bodyPr wrap="square" rtlCol="0"/>
          <a:lstStyle>
            <a:lvl1pPr marL="0" indent="0" algn="ctr">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ctr">
              <a:buNone/>
            </a:pPr>
            <a:r>
              <a:rPr lang="en-US" sz="3000" dirty="0">
                <a:solidFill>
                  <a:schemeClr val="lt2"/>
                </a:solidFill>
                <a:latin typeface="+mj-lt" pitchFamily="18" charset="0"/>
                <a:ea typeface="+mj-ea" pitchFamily="18" charset="-122"/>
                <a:cs typeface="+mj-cs" pitchFamily="18" charset="-120"/>
              </a:rPr>
              <a:t>XX %</a:t>
            </a:r>
            <a:endParaRPr lang="en-US" sz="3000" dirty="0"/>
          </a:p>
        </p:txBody>
      </p:sp>
      <p:sp>
        <p:nvSpPr>
          <p:cNvPr id="22" name="Option2_Caption"/>
          <p:cNvSpPr>
            <a:spLocks noGrp="1"/>
          </p:cNvSpPr>
          <p:nvPr>
            <p:ph type="body" idx="120" hasCustomPrompt="1"/>
          </p:nvPr>
        </p:nvSpPr>
        <p:spPr>
          <a:xfrm>
            <a:off x="3383280" y="5193030"/>
            <a:ext cx="2651760" cy="457200"/>
          </a:xfrm>
          <a:prstGeom prst="rect">
            <a:avLst/>
          </a:prstGeom>
          <a:noFill/>
          <a:ln/>
        </p:spPr>
        <p:txBody>
          <a:bodyPr wrap="square" rtlCol="0"/>
          <a:lstStyle>
            <a:lvl1pPr marL="0" indent="0" algn="ctr">
              <a:lnSpc>
                <a:spcPct val="150000"/>
              </a:lnSpc>
              <a:buNone/>
              <a:defRPr lang="en-US" sz="1200" spc="0" dirty="0">
                <a:solidFill>
                  <a:schemeClr val="lt2"/>
                </a:solidFill>
                <a:latin typeface="+mn-lt" pitchFamily="34" charset="0"/>
                <a:ea typeface="+mn-ea" pitchFamily="34" charset="-122"/>
                <a:cs typeface="+mn-cs" pitchFamily="34" charset="-120"/>
              </a:defRPr>
            </a:lvl1pPr>
          </a:lstStyle>
          <a:p>
            <a:pPr marL="0" indent="0" algn="ctr">
              <a:buNone/>
            </a:pPr>
            <a:r>
              <a:rPr lang="en-US" sz="1200" dirty="0">
                <a:solidFill>
                  <a:schemeClr val="lt2"/>
                </a:solidFill>
                <a:latin typeface="+mn-lt" pitchFamily="34" charset="0"/>
                <a:ea typeface="+mn-ea" pitchFamily="34" charset="-122"/>
                <a:cs typeface="+mn-cs" pitchFamily="34" charset="-120"/>
              </a:rPr>
              <a:t>légende option 2</a:t>
            </a:r>
            <a:endParaRPr lang="en-US" sz="1200" dirty="0"/>
          </a:p>
        </p:txBody>
      </p:sp>
      <p:grpSp>
        <p:nvGrpSpPr>
          <p:cNvPr id="31" name="SummaryCardGroup"/>
          <p:cNvGrpSpPr/>
          <p:nvPr/>
        </p:nvGrpSpPr>
        <p:grpSpPr>
          <a:xfrm>
            <a:off x="6766560" y="2221230"/>
            <a:ext cx="4892040" cy="3520440"/>
            <a:chOff x="6766560" y="2926080"/>
            <a:chExt cx="4892040" cy="3520440"/>
          </a:xfrm>
        </p:grpSpPr>
        <p:sp>
          <p:nvSpPr>
            <p:cNvPr id="23" name="SummaryCardBackground"/>
            <p:cNvSpPr/>
            <p:nvPr/>
          </p:nvSpPr>
          <p:spPr>
            <a:xfrm>
              <a:off x="6766560" y="2926080"/>
              <a:ext cx="4892040" cy="3520440"/>
            </a:xfrm>
            <a:prstGeom prst="rect">
              <a:avLst/>
            </a:prstGeom>
            <a:solidFill>
              <a:schemeClr val="accent1"/>
            </a:solidFill>
            <a:ln/>
          </p:spPr>
          <p:txBody>
            <a:bodyPr/>
            <a:lstStyle/>
            <a:p>
              <a:endParaRPr lang="fr-FR"/>
            </a:p>
          </p:txBody>
        </p:sp>
        <p:sp>
          <p:nvSpPr>
            <p:cNvPr id="24" name="SummaryCardAccentTop"/>
            <p:cNvSpPr/>
            <p:nvPr/>
          </p:nvSpPr>
          <p:spPr>
            <a:xfrm>
              <a:off x="6766560" y="2926080"/>
              <a:ext cx="4892040" cy="36576"/>
            </a:xfrm>
            <a:prstGeom prst="rect">
              <a:avLst/>
            </a:prstGeom>
            <a:solidFill>
              <a:schemeClr val="lt2"/>
            </a:solidFill>
            <a:ln/>
          </p:spPr>
          <p:txBody>
            <a:bodyPr/>
            <a:lstStyle/>
            <a:p>
              <a:endParaRPr lang="fr-FR"/>
            </a:p>
          </p:txBody>
        </p:sp>
        <p:sp>
          <p:nvSpPr>
            <p:cNvPr id="25" name="SummaryCardAccentMark"/>
            <p:cNvSpPr/>
            <p:nvPr/>
          </p:nvSpPr>
          <p:spPr>
            <a:xfrm>
              <a:off x="6949440" y="5623560"/>
              <a:ext cx="457200" cy="36576"/>
            </a:xfrm>
            <a:prstGeom prst="rect">
              <a:avLst/>
            </a:prstGeom>
            <a:solidFill>
              <a:schemeClr val="lt2"/>
            </a:solidFill>
            <a:ln/>
          </p:spPr>
          <p:txBody>
            <a:bodyPr/>
            <a:lstStyle/>
            <a:p>
              <a:endParaRPr lang="fr-FR"/>
            </a:p>
          </p:txBody>
        </p:sp>
      </p:grpSp>
      <p:sp>
        <p:nvSpPr>
          <p:cNvPr id="26" name="SummaryLabel"/>
          <p:cNvSpPr>
            <a:spLocks noGrp="1"/>
          </p:cNvSpPr>
          <p:nvPr>
            <p:ph type="body" idx="124" hasCustomPrompt="1"/>
          </p:nvPr>
        </p:nvSpPr>
        <p:spPr>
          <a:xfrm>
            <a:off x="6949440" y="2541270"/>
            <a:ext cx="4572000" cy="274320"/>
          </a:xfrm>
          <a:prstGeom prst="rect">
            <a:avLst/>
          </a:prstGeom>
          <a:noFill/>
          <a:ln/>
        </p:spPr>
        <p:txBody>
          <a:bodyPr wrap="square" rtlCol="0"/>
          <a:lstStyle>
            <a:lvl1pPr marL="0" indent="0">
              <a:lnSpc>
                <a:spcPct val="150000"/>
              </a:lnSpc>
              <a:buNone/>
              <a:defRPr lang="en-US" sz="1200" b="1" kern="0" spc="0" dirty="0">
                <a:solidFill>
                  <a:schemeClr val="lt2"/>
                </a:solidFill>
                <a:latin typeface="+mn-lt" pitchFamily="34" charset="0"/>
                <a:ea typeface="+mn-ea" pitchFamily="34" charset="-122"/>
                <a:cs typeface="+mn-cs" pitchFamily="34" charset="-120"/>
              </a:defRPr>
            </a:lvl1pPr>
          </a:lstStyle>
          <a:p>
            <a:pPr marL="0" indent="0">
              <a:buNone/>
            </a:pPr>
            <a:r>
              <a:rPr lang="en-US" sz="1200" b="1" kern="0" spc="0" dirty="0">
                <a:solidFill>
                  <a:schemeClr val="lt2"/>
                </a:solidFill>
                <a:latin typeface="+mn-lt" pitchFamily="34" charset="0"/>
                <a:ea typeface="+mn-ea" pitchFamily="34" charset="-122"/>
                <a:cs typeface="+mn-cs" pitchFamily="34" charset="-120"/>
              </a:rPr>
              <a:t>CHIFFRE CLÉ</a:t>
            </a:r>
            <a:endParaRPr lang="en-US" sz="1200" dirty="0"/>
          </a:p>
        </p:txBody>
      </p:sp>
      <p:sp>
        <p:nvSpPr>
          <p:cNvPr id="27" name="SummaryValue"/>
          <p:cNvSpPr>
            <a:spLocks noGrp="1"/>
          </p:cNvSpPr>
          <p:nvPr>
            <p:ph type="body" idx="125" hasCustomPrompt="1"/>
          </p:nvPr>
        </p:nvSpPr>
        <p:spPr>
          <a:xfrm>
            <a:off x="6949440" y="2952750"/>
            <a:ext cx="4572000" cy="1280160"/>
          </a:xfrm>
          <a:prstGeom prst="rect">
            <a:avLst/>
          </a:prstGeom>
          <a:noFill/>
          <a:ln/>
        </p:spPr>
        <p:txBody>
          <a:bodyPr wrap="square" rtlCol="0"/>
          <a:lstStyle>
            <a:lvl1pPr marL="0" indent="0">
              <a:lnSpc>
                <a:spcPct val="95000"/>
              </a:lnSpc>
              <a:buNone/>
              <a:defRPr lang="en-US" sz="7600" kern="0" spc="-456" dirty="0">
                <a:solidFill>
                  <a:schemeClr val="lt2"/>
                </a:solidFill>
                <a:latin typeface="+mj-lt" pitchFamily="18" charset="0"/>
                <a:ea typeface="+mj-ea" pitchFamily="18" charset="-122"/>
                <a:cs typeface="+mj-cs" pitchFamily="18" charset="-120"/>
              </a:defRPr>
            </a:lvl1pPr>
          </a:lstStyle>
          <a:p>
            <a:pPr marL="0" indent="0">
              <a:buNone/>
            </a:pPr>
            <a:r>
              <a:rPr lang="en-US" sz="7600" kern="0" spc="-456" dirty="0">
                <a:solidFill>
                  <a:schemeClr val="lt2"/>
                </a:solidFill>
                <a:latin typeface="+mj-lt" pitchFamily="18" charset="0"/>
                <a:ea typeface="+mj-ea" pitchFamily="18" charset="-122"/>
                <a:cs typeface="+mj-cs" pitchFamily="18" charset="-120"/>
              </a:rPr>
              <a:t>000 000</a:t>
            </a:r>
            <a:endParaRPr lang="en-US" sz="7600" dirty="0"/>
          </a:p>
        </p:txBody>
      </p:sp>
      <p:sp>
        <p:nvSpPr>
          <p:cNvPr id="28" name="SummaryUnit"/>
          <p:cNvSpPr>
            <a:spLocks noGrp="1"/>
          </p:cNvSpPr>
          <p:nvPr>
            <p:ph type="body" idx="126" hasCustomPrompt="1"/>
          </p:nvPr>
        </p:nvSpPr>
        <p:spPr>
          <a:xfrm>
            <a:off x="6949440" y="4278630"/>
            <a:ext cx="4572000" cy="457200"/>
          </a:xfrm>
          <a:prstGeom prst="rect">
            <a:avLst/>
          </a:prstGeom>
          <a:noFill/>
          <a:ln/>
        </p:spPr>
        <p:txBody>
          <a:bodyPr wrap="square" rtlCol="0"/>
          <a:lstStyle>
            <a:lvl1pPr marL="0" indent="0">
              <a:lnSpc>
                <a:spcPct val="120000"/>
              </a:lnSpc>
              <a:buNone/>
              <a:defRPr lang="en-US" sz="2600" spc="-52" dirty="0">
                <a:solidFill>
                  <a:schemeClr val="lt2"/>
                </a:solidFill>
                <a:latin typeface="+mn-lt" pitchFamily="34" charset="0"/>
                <a:ea typeface="+mn-ea" pitchFamily="34" charset="-122"/>
                <a:cs typeface="+mn-cs" pitchFamily="34" charset="-120"/>
              </a:defRPr>
            </a:lvl1pPr>
          </a:lstStyle>
          <a:p>
            <a:pPr marL="0" indent="0">
              <a:buNone/>
            </a:pPr>
            <a:r>
              <a:rPr lang="en-US" sz="2600" dirty="0">
                <a:solidFill>
                  <a:schemeClr val="lt2"/>
                </a:solidFill>
                <a:latin typeface="+mn-lt" pitchFamily="34" charset="0"/>
                <a:ea typeface="+mn-ea" pitchFamily="34" charset="-122"/>
                <a:cs typeface="+mn-cs" pitchFamily="34" charset="-120"/>
              </a:rPr>
              <a:t>€ HT</a:t>
            </a:r>
            <a:endParaRPr lang="en-US" sz="2600" dirty="0"/>
          </a:p>
        </p:txBody>
      </p:sp>
      <p:sp>
        <p:nvSpPr>
          <p:cNvPr id="29" name="SummaryCaption"/>
          <p:cNvSpPr>
            <a:spLocks noGrp="1"/>
          </p:cNvSpPr>
          <p:nvPr>
            <p:ph type="body" idx="127" hasCustomPrompt="1"/>
          </p:nvPr>
        </p:nvSpPr>
        <p:spPr>
          <a:xfrm>
            <a:off x="6949440" y="5055870"/>
            <a:ext cx="4572000" cy="411480"/>
          </a:xfrm>
          <a:prstGeom prst="rect">
            <a:avLst/>
          </a:prstGeom>
          <a:noFill/>
          <a:ln/>
        </p:spPr>
        <p:txBody>
          <a:bodyPr wrap="square" rtlCol="0"/>
          <a:lstStyle>
            <a:lvl1pPr marL="0" indent="0">
              <a:lnSpc>
                <a:spcPct val="150000"/>
              </a:lnSpc>
              <a:buNone/>
              <a:defRPr lang="en-US" sz="1200" i="1" spc="0" dirty="0">
                <a:solidFill>
                  <a:schemeClr val="lt2"/>
                </a:solidFill>
                <a:latin typeface="+mn-lt" pitchFamily="34" charset="0"/>
                <a:ea typeface="+mn-ea" pitchFamily="34" charset="-122"/>
                <a:cs typeface="+mn-cs" pitchFamily="34" charset="-120"/>
              </a:defRPr>
            </a:lvl1pPr>
          </a:lstStyle>
          <a:p>
            <a:pPr marL="0" indent="0">
              <a:buNone/>
            </a:pPr>
            <a:r>
              <a:rPr lang="en-US" sz="1200" i="1" dirty="0">
                <a:solidFill>
                  <a:schemeClr val="lt2"/>
                </a:solidFill>
                <a:latin typeface="+mn-lt" pitchFamily="34" charset="0"/>
                <a:ea typeface="+mn-ea" pitchFamily="34" charset="-122"/>
                <a:cs typeface="+mn-cs" pitchFamily="34" charset="-120"/>
              </a:rPr>
              <a:t>Légende du chiffre clé</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1_CONTACT">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3474720"/>
              <a:ext cx="457200" cy="36576"/>
            </a:xfrm>
            <a:prstGeom prst="rect">
              <a:avLst/>
            </a:prstGeom>
            <a:solidFill>
              <a:schemeClr val="accent5"/>
            </a:solidFill>
            <a:ln/>
          </p:spPr>
          <p:txBody>
            <a:bodyPr/>
            <a:lstStyle/>
            <a:p>
              <a:endParaRPr lang="fr-FR"/>
            </a:p>
          </p:txBody>
        </p:sp>
      </p:grpSp>
      <p:grpSp>
        <p:nvGrpSpPr>
          <p:cNvPr id="22" name="PhotoCardGroup"/>
          <p:cNvGrpSpPr/>
          <p:nvPr/>
        </p:nvGrpSpPr>
        <p:grpSpPr>
          <a:xfrm>
            <a:off x="7772400" y="1645920"/>
            <a:ext cx="3931920" cy="4572000"/>
            <a:chOff x="7772400" y="1645920"/>
            <a:chExt cx="3931920" cy="4572000"/>
          </a:xfrm>
        </p:grpSpPr>
        <p:sp>
          <p:nvSpPr>
            <p:cNvPr id="6" name="PhotoCardBackground"/>
            <p:cNvSpPr/>
            <p:nvPr/>
          </p:nvSpPr>
          <p:spPr>
            <a:xfrm>
              <a:off x="7772400" y="1645920"/>
              <a:ext cx="3931920" cy="4572000"/>
            </a:xfrm>
            <a:prstGeom prst="rect">
              <a:avLst/>
            </a:prstGeom>
            <a:noFill/>
            <a:ln/>
          </p:spPr>
          <p:txBody>
            <a:bodyPr/>
            <a:lstStyle/>
            <a:p>
              <a:endParaRPr lang="fr-FR"/>
            </a:p>
          </p:txBody>
        </p:sp>
        <p:pic>
          <p:nvPicPr>
            <p:cNvPr id="8" name="PhotoCardImage" descr="sciam_logo.png"/>
            <p:cNvPicPr>
              <a:picLocks noChangeAspect="1"/>
            </p:cNvPicPr>
            <p:nvPr/>
          </p:nvPicPr>
          <p:blipFill>
            <a:blip r:embed="rId2"/>
            <a:stretch>
              <a:fillRect/>
            </a:stretch>
          </p:blipFill>
          <p:spPr>
            <a:xfrm>
              <a:off x="8595360" y="2103120"/>
              <a:ext cx="2286000" cy="3017520"/>
            </a:xfrm>
            <a:prstGeom prst="rect">
              <a:avLst/>
            </a:prstGeom>
          </p:spPr>
        </p:pic>
        <p:sp>
          <p:nvSpPr>
            <p:cNvPr id="9" name="PhotoCardCompanyName"/>
            <p:cNvSpPr/>
            <p:nvPr/>
          </p:nvSpPr>
          <p:spPr>
            <a:xfrm>
              <a:off x="7772400" y="5166360"/>
              <a:ext cx="3931920" cy="457200"/>
            </a:xfrm>
            <a:prstGeom prst="rect">
              <a:avLst/>
            </a:prstGeom>
            <a:noFill/>
            <a:ln/>
          </p:spPr>
          <p:txBody>
            <a:bodyPr wrap="square" lIns="0" tIns="0" rIns="0" bIns="0" rtlCol="0" anchor="ctr"/>
            <a:lstStyle/>
            <a:p>
              <a:pPr marL="0" indent="0" algn="ctr">
                <a:buNone/>
              </a:pPr>
              <a:r>
                <a:rPr lang="en-US" sz="2200" b="1" kern="0" spc="-44" dirty="0">
                  <a:solidFill>
                    <a:schemeClr val="accent1"/>
                  </a:solidFill>
                  <a:latin typeface="+mn-lt" pitchFamily="34" charset="0"/>
                  <a:ea typeface="+mn-ea" pitchFamily="34" charset="-122"/>
                  <a:cs typeface="+mn-cs" pitchFamily="34" charset="-120"/>
                </a:rPr>
                <a:t>SCIAM</a:t>
              </a:r>
              <a:endParaRPr lang="en-US" sz="2200" dirty="0"/>
            </a:p>
          </p:txBody>
        </p:sp>
        <p:sp>
          <p:nvSpPr>
            <p:cNvPr id="10" name="PhotoCardTagline"/>
            <p:cNvSpPr/>
            <p:nvPr/>
          </p:nvSpPr>
          <p:spPr>
            <a:xfrm>
              <a:off x="7772400" y="5623560"/>
              <a:ext cx="393192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grpSp>
      <p:sp>
        <p:nvSpPr>
          <p:cNvPr id="11" name="ContactSectionLabel"/>
          <p:cNvSpPr/>
          <p:nvPr/>
        </p:nvSpPr>
        <p:spPr>
          <a:xfrm>
            <a:off x="548640" y="1645920"/>
            <a:ext cx="64008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VOTRE INTERLOCUTEUR</a:t>
            </a:r>
            <a:endParaRPr lang="en-US" sz="1200" dirty="0"/>
          </a:p>
        </p:txBody>
      </p:sp>
      <p:sp>
        <p:nvSpPr>
          <p:cNvPr id="12" name="Title"/>
          <p:cNvSpPr>
            <a:spLocks noGrp="1"/>
          </p:cNvSpPr>
          <p:nvPr>
            <p:ph type="title" idx="110" hasCustomPrompt="1"/>
          </p:nvPr>
        </p:nvSpPr>
        <p:spPr>
          <a:xfrm>
            <a:off x="548640" y="2011680"/>
            <a:ext cx="7315200" cy="822960"/>
          </a:xfrm>
          <a:prstGeom prst="rect">
            <a:avLst/>
          </a:prstGeom>
          <a:noFill/>
          <a:ln/>
        </p:spPr>
        <p:txBody>
          <a:bodyPr wrap="square" rtlCol="0"/>
          <a:lstStyle>
            <a:lvl1pPr marL="0" indent="0" algn="l">
              <a:lnSpc>
                <a:spcPct val="100000"/>
              </a:lnSpc>
              <a:buNone/>
              <a:defRPr lang="en-US" sz="4400" spc="-264" dirty="0">
                <a:solidFill>
                  <a:schemeClr val="accent1"/>
                </a:solidFill>
                <a:latin typeface="+mj-lt" pitchFamily="18" charset="0"/>
                <a:ea typeface="+mj-ea" pitchFamily="18" charset="-122"/>
                <a:cs typeface="+mj-cs" pitchFamily="18" charset="-120"/>
              </a:defRPr>
            </a:lvl1pPr>
          </a:lstStyle>
          <a:p>
            <a:pPr marL="0" indent="0" algn="l">
              <a:buNone/>
            </a:pPr>
            <a:r>
              <a:rPr lang="en-US" sz="4400" dirty="0">
                <a:solidFill>
                  <a:schemeClr val="accent1"/>
                </a:solidFill>
                <a:latin typeface="+mj-lt" pitchFamily="18" charset="0"/>
                <a:ea typeface="+mj-ea" pitchFamily="18" charset="-122"/>
                <a:cs typeface="+mj-cs" pitchFamily="18" charset="-120"/>
              </a:rPr>
              <a:t>Prénom NOM</a:t>
            </a:r>
            <a:endParaRPr lang="en-US" sz="4400" dirty="0"/>
          </a:p>
        </p:txBody>
      </p:sp>
      <p:sp>
        <p:nvSpPr>
          <p:cNvPr id="13" name="JobTitle"/>
          <p:cNvSpPr>
            <a:spLocks noGrp="1"/>
          </p:cNvSpPr>
          <p:nvPr>
            <p:ph type="body" idx="111" hasCustomPrompt="1"/>
          </p:nvPr>
        </p:nvSpPr>
        <p:spPr>
          <a:xfrm>
            <a:off x="548640" y="2880360"/>
            <a:ext cx="7315200" cy="457200"/>
          </a:xfrm>
          <a:prstGeom prst="rect">
            <a:avLst/>
          </a:prstGeom>
          <a:noFill/>
          <a:ln/>
        </p:spPr>
        <p:txBody>
          <a:bodyPr wrap="square" rtlCol="0"/>
          <a:lstStyle>
            <a:lvl1pPr marL="0" indent="0">
              <a:lnSpc>
                <a:spcPct val="150000"/>
              </a:lnSpc>
              <a:buNone/>
              <a:defRPr lang="en-US" sz="1800" i="1" spc="0" dirty="0">
                <a:solidFill>
                  <a:schemeClr val="accent2"/>
                </a:solidFill>
                <a:latin typeface="+mn-lt" pitchFamily="34" charset="0"/>
                <a:ea typeface="+mn-ea" pitchFamily="34" charset="-122"/>
                <a:cs typeface="+mn-cs" pitchFamily="34" charset="-120"/>
              </a:defRPr>
            </a:lvl1pPr>
          </a:lstStyle>
          <a:p>
            <a:pPr marL="0" indent="0">
              <a:buNone/>
            </a:pPr>
            <a:r>
              <a:rPr lang="en-US" sz="1800" i="1" dirty="0">
                <a:solidFill>
                  <a:schemeClr val="accent2"/>
                </a:solidFill>
                <a:latin typeface="+mn-lt" pitchFamily="34" charset="0"/>
                <a:ea typeface="+mn-ea" pitchFamily="34" charset="-122"/>
                <a:cs typeface="+mn-cs" pitchFamily="34" charset="-120"/>
              </a:rPr>
              <a:t>Fonction — Entreprise</a:t>
            </a:r>
            <a:endParaRPr lang="en-US" sz="1800" dirty="0"/>
          </a:p>
        </p:txBody>
      </p:sp>
      <p:grpSp>
        <p:nvGrpSpPr>
          <p:cNvPr id="23" name="PhoneIconGroup"/>
          <p:cNvGrpSpPr/>
          <p:nvPr/>
        </p:nvGrpSpPr>
        <p:grpSpPr>
          <a:xfrm>
            <a:off x="548640" y="3886200"/>
            <a:ext cx="457200" cy="457200"/>
            <a:chOff x="548640" y="3886200"/>
            <a:chExt cx="457200" cy="457200"/>
          </a:xfrm>
        </p:grpSpPr>
        <p:sp>
          <p:nvSpPr>
            <p:cNvPr id="14" name="PhoneIconBackground"/>
            <p:cNvSpPr/>
            <p:nvPr/>
          </p:nvSpPr>
          <p:spPr>
            <a:xfrm>
              <a:off x="548640" y="3886200"/>
              <a:ext cx="457200" cy="457200"/>
            </a:xfrm>
            <a:prstGeom prst="rect">
              <a:avLst/>
            </a:prstGeom>
            <a:solidFill>
              <a:schemeClr val="lt2"/>
            </a:solidFill>
            <a:ln/>
          </p:spPr>
          <p:txBody>
            <a:bodyPr/>
            <a:lstStyle/>
            <a:p>
              <a:endParaRPr lang="fr-FR"/>
            </a:p>
          </p:txBody>
        </p:sp>
        <p:sp>
          <p:nvSpPr>
            <p:cNvPr id="15" name="PhoneIcon"/>
            <p:cNvSpPr/>
            <p:nvPr/>
          </p:nvSpPr>
          <p:spPr>
            <a:xfrm>
              <a:off x="548640" y="3886200"/>
              <a:ext cx="457200" cy="457200"/>
            </a:xfrm>
            <a:prstGeom prst="rect">
              <a:avLst/>
            </a:prstGeom>
            <a:noFill/>
            <a:ln/>
          </p:spPr>
          <p:txBody>
            <a:bodyPr wrap="square" lIns="0" tIns="0" rIns="0" bIns="0" rtlCol="0" anchor="ctr"/>
            <a:lstStyle/>
            <a:p>
              <a:pPr marL="0" indent="0" algn="ctr">
                <a:buNone/>
              </a:pPr>
              <a:r>
                <a:rPr lang="en-US" sz="1800" dirty="0">
                  <a:solidFill>
                    <a:schemeClr val="accent1"/>
                  </a:solidFill>
                  <a:latin typeface="+mn-lt"/>
                </a:rPr>
                <a:t>☎</a:t>
              </a:r>
              <a:endParaRPr lang="en-US" sz="1800" dirty="0"/>
            </a:p>
          </p:txBody>
        </p:sp>
      </p:grpSp>
      <p:sp>
        <p:nvSpPr>
          <p:cNvPr id="16" name="PhoneNumber"/>
          <p:cNvSpPr>
            <a:spLocks noGrp="1"/>
          </p:cNvSpPr>
          <p:nvPr>
            <p:ph type="body" idx="114" hasCustomPrompt="1"/>
          </p:nvPr>
        </p:nvSpPr>
        <p:spPr>
          <a:xfrm>
            <a:off x="1188720" y="388620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+33 X XX XX XX XX</a:t>
            </a:r>
            <a:endParaRPr lang="en-US" sz="2000" dirty="0"/>
          </a:p>
        </p:txBody>
      </p:sp>
      <p:grpSp>
        <p:nvGrpSpPr>
          <p:cNvPr id="24" name="EmailIconGroup"/>
          <p:cNvGrpSpPr/>
          <p:nvPr/>
        </p:nvGrpSpPr>
        <p:grpSpPr>
          <a:xfrm>
            <a:off x="548640" y="4526280"/>
            <a:ext cx="457200" cy="457200"/>
            <a:chOff x="548640" y="4526280"/>
            <a:chExt cx="457200" cy="457200"/>
          </a:xfrm>
        </p:grpSpPr>
        <p:sp>
          <p:nvSpPr>
            <p:cNvPr id="17" name="EmailIconBackground"/>
            <p:cNvSpPr/>
            <p:nvPr/>
          </p:nvSpPr>
          <p:spPr>
            <a:xfrm>
              <a:off x="548640" y="4526280"/>
              <a:ext cx="457200" cy="457200"/>
            </a:xfrm>
            <a:prstGeom prst="rect">
              <a:avLst/>
            </a:prstGeom>
            <a:solidFill>
              <a:schemeClr val="lt2"/>
            </a:solidFill>
            <a:ln/>
          </p:spPr>
          <p:txBody>
            <a:bodyPr/>
            <a:lstStyle/>
            <a:p>
              <a:endParaRPr lang="fr-FR"/>
            </a:p>
          </p:txBody>
        </p:sp>
        <p:sp>
          <p:nvSpPr>
            <p:cNvPr id="18" name="EmailIcon"/>
            <p:cNvSpPr/>
            <p:nvPr/>
          </p:nvSpPr>
          <p:spPr>
            <a:xfrm>
              <a:off x="548640" y="4526280"/>
              <a:ext cx="457200" cy="457200"/>
            </a:xfrm>
            <a:prstGeom prst="rect">
              <a:avLst/>
            </a:prstGeom>
            <a:noFill/>
            <a:ln/>
          </p:spPr>
          <p:txBody>
            <a:bodyPr wrap="square" lIns="0" tIns="0" rIns="0" bIns="0" rtlCol="0" anchor="ctr"/>
            <a:lstStyle/>
            <a:p>
              <a:pPr marL="0" indent="0" algn="ctr">
                <a:buNone/>
              </a:pPr>
              <a:r>
                <a:rPr lang="en-US" sz="1800" b="1" dirty="0">
                  <a:solidFill>
                    <a:schemeClr val="accent1"/>
                  </a:solidFill>
                  <a:latin typeface="+mn-lt" pitchFamily="34" charset="0"/>
                  <a:ea typeface="+mn-ea" pitchFamily="34" charset="-122"/>
                  <a:cs typeface="+mn-cs" pitchFamily="34" charset="-120"/>
                </a:rPr>
                <a:t>@</a:t>
              </a:r>
              <a:endParaRPr lang="en-US" sz="1800" dirty="0"/>
            </a:p>
          </p:txBody>
        </p:sp>
      </p:grpSp>
      <p:sp>
        <p:nvSpPr>
          <p:cNvPr id="19" name="Email"/>
          <p:cNvSpPr>
            <a:spLocks noGrp="1"/>
          </p:cNvSpPr>
          <p:nvPr>
            <p:ph type="body" idx="117" hasCustomPrompt="1"/>
          </p:nvPr>
        </p:nvSpPr>
        <p:spPr>
          <a:xfrm>
            <a:off x="1188720" y="452628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prenom.nom@sciam.fr</a:t>
            </a:r>
            <a:endParaRPr lang="en-US" sz="2000" dirty="0"/>
          </a:p>
        </p:txBody>
      </p:sp>
      <p:sp>
        <p:nvSpPr>
          <p:cNvPr id="20" name="DocumentMeta"/>
          <p:cNvSpPr>
            <a:spLocks noGrp="1"/>
          </p:cNvSpPr>
          <p:nvPr>
            <p:ph type="body" idx="118" hasCustomPrompt="1"/>
          </p:nvPr>
        </p:nvSpPr>
        <p:spPr>
          <a:xfrm>
            <a:off x="548640" y="5943600"/>
            <a:ext cx="6400800" cy="274320"/>
          </a:xfrm>
          <a:prstGeom prst="rect">
            <a:avLst/>
          </a:prstGeom>
          <a:noFill/>
          <a:ln/>
        </p:spPr>
        <p:txBody>
          <a:bodyPr wrap="square" rtlCol="0"/>
          <a:lstStyle>
            <a:lvl1pPr marL="0" indent="0">
              <a:lnSpc>
                <a:spcPct val="143000"/>
              </a:lnSpc>
              <a:buNone/>
              <a:defRPr lang="en-US" sz="1000" i="1" spc="0" dirty="0">
                <a:solidFill>
                  <a:schemeClr val="accent6"/>
                </a:solidFill>
                <a:latin typeface="+mn-lt" pitchFamily="34" charset="0"/>
                <a:ea typeface="+mn-ea" pitchFamily="34" charset="-122"/>
                <a:cs typeface="+mn-cs" pitchFamily="34" charset="-120"/>
              </a:defRPr>
            </a:lvl1pPr>
          </a:lstStyle>
          <a:p>
            <a:pPr marL="0" indent="0">
              <a:buNone/>
            </a:pPr>
            <a:r>
              <a:rPr lang="en-US" sz="1000" i="1" dirty="0">
                <a:solidFill>
                  <a:schemeClr val="accent6"/>
                </a:solidFill>
                <a:latin typeface="+mn-lt" pitchFamily="34" charset="0"/>
                <a:ea typeface="+mn-ea" pitchFamily="34" charset="-122"/>
                <a:cs typeface="+mn-cs" pitchFamily="34" charset="-120"/>
              </a:rPr>
              <a:t>Mois Année · Type de document</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_FRISE_CHRONOLOGIQU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frise</a:t>
            </a:r>
          </a:p>
        </p:txBody>
      </p:sp>
      <p:sp>
        <p:nvSpPr>
          <p:cNvPr id="8" name="TimelineLine"/>
          <p:cNvSpPr/>
          <p:nvPr/>
        </p:nvSpPr>
        <p:spPr>
          <a:xfrm>
            <a:off x="1866900" y="3571240"/>
            <a:ext cx="8458200" cy="27432"/>
          </a:xfrm>
          <a:prstGeom prst="rect">
            <a:avLst/>
          </a:prstGeom>
          <a:solidFill>
            <a:schemeClr val="accent1"/>
          </a:solidFill>
          <a:ln/>
        </p:spPr>
      </p:sp>
      <p:sp>
        <p:nvSpPr>
          <p:cNvPr id="9" name="Milestone1_Dot"/>
          <p:cNvSpPr/>
          <p:nvPr/>
        </p:nvSpPr>
        <p:spPr>
          <a:xfrm>
            <a:off x="1775460" y="3479800"/>
            <a:ext cx="182880" cy="182880"/>
          </a:xfrm>
          <a:prstGeom prst="ellipse">
            <a:avLst/>
          </a:prstGeom>
          <a:solidFill>
            <a:schemeClr val="accent1"/>
          </a:solidFill>
          <a:ln/>
        </p:spPr>
      </p:sp>
      <p:sp>
        <p:nvSpPr>
          <p:cNvPr id="10" name="Milestone1_Year"/>
          <p:cNvSpPr>
            <a:spLocks noGrp="1"/>
          </p:cNvSpPr>
          <p:nvPr>
            <p:ph type="body" idx="11" hasCustomPrompt="1"/>
          </p:nvPr>
        </p:nvSpPr>
        <p:spPr>
          <a:xfrm>
            <a:off x="5486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2024</a:t>
            </a:r>
          </a:p>
        </p:txBody>
      </p:sp>
      <p:sp>
        <p:nvSpPr>
          <p:cNvPr id="11" name="Milestone1_Description"/>
          <p:cNvSpPr>
            <a:spLocks noGrp="1"/>
          </p:cNvSpPr>
          <p:nvPr>
            <p:ph type="body" idx="12" hasCustomPrompt="1"/>
          </p:nvPr>
        </p:nvSpPr>
        <p:spPr>
          <a:xfrm>
            <a:off x="5486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2" name="Milestone2_Dot"/>
          <p:cNvSpPr/>
          <p:nvPr/>
        </p:nvSpPr>
        <p:spPr>
          <a:xfrm>
            <a:off x="4594860" y="3479800"/>
            <a:ext cx="182880" cy="182880"/>
          </a:xfrm>
          <a:prstGeom prst="ellipse">
            <a:avLst/>
          </a:prstGeom>
          <a:solidFill>
            <a:schemeClr val="accent1"/>
          </a:solidFill>
          <a:ln/>
        </p:spPr>
      </p:sp>
      <p:sp>
        <p:nvSpPr>
          <p:cNvPr id="13" name="Milestone2_Year"/>
          <p:cNvSpPr>
            <a:spLocks noGrp="1"/>
          </p:cNvSpPr>
          <p:nvPr>
            <p:ph type="body" idx="13" hasCustomPrompt="1"/>
          </p:nvPr>
        </p:nvSpPr>
        <p:spPr>
          <a:xfrm>
            <a:off x="33680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2025</a:t>
            </a:r>
          </a:p>
        </p:txBody>
      </p:sp>
      <p:sp>
        <p:nvSpPr>
          <p:cNvPr id="14" name="Milestone2_Description"/>
          <p:cNvSpPr>
            <a:spLocks noGrp="1"/>
          </p:cNvSpPr>
          <p:nvPr>
            <p:ph type="body" idx="14" hasCustomPrompt="1"/>
          </p:nvPr>
        </p:nvSpPr>
        <p:spPr>
          <a:xfrm>
            <a:off x="33680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5" name="Milestone3_Dot"/>
          <p:cNvSpPr/>
          <p:nvPr/>
        </p:nvSpPr>
        <p:spPr>
          <a:xfrm>
            <a:off x="7414260" y="3479800"/>
            <a:ext cx="182880" cy="182880"/>
          </a:xfrm>
          <a:prstGeom prst="ellipse">
            <a:avLst/>
          </a:prstGeom>
          <a:solidFill>
            <a:schemeClr val="accent1"/>
          </a:solidFill>
          <a:ln/>
        </p:spPr>
      </p:sp>
      <p:sp>
        <p:nvSpPr>
          <p:cNvPr id="16" name="Milestone3_Year"/>
          <p:cNvSpPr>
            <a:spLocks noGrp="1"/>
          </p:cNvSpPr>
          <p:nvPr>
            <p:ph type="body" idx="15" hasCustomPrompt="1"/>
          </p:nvPr>
        </p:nvSpPr>
        <p:spPr>
          <a:xfrm>
            <a:off x="61874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2026</a:t>
            </a:r>
          </a:p>
        </p:txBody>
      </p:sp>
      <p:sp>
        <p:nvSpPr>
          <p:cNvPr id="17" name="Milestone3_Description"/>
          <p:cNvSpPr>
            <a:spLocks noGrp="1"/>
          </p:cNvSpPr>
          <p:nvPr>
            <p:ph type="body" idx="16" hasCustomPrompt="1"/>
          </p:nvPr>
        </p:nvSpPr>
        <p:spPr>
          <a:xfrm>
            <a:off x="61874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8" name="Milestone4_Dot"/>
          <p:cNvSpPr/>
          <p:nvPr/>
        </p:nvSpPr>
        <p:spPr>
          <a:xfrm>
            <a:off x="10233660" y="3479800"/>
            <a:ext cx="182880" cy="182880"/>
          </a:xfrm>
          <a:prstGeom prst="ellipse">
            <a:avLst/>
          </a:prstGeom>
          <a:solidFill>
            <a:schemeClr val="accent1"/>
          </a:solidFill>
          <a:ln/>
        </p:spPr>
      </p:sp>
      <p:sp>
        <p:nvSpPr>
          <p:cNvPr id="19" name="Milestone4_Year"/>
          <p:cNvSpPr>
            <a:spLocks noGrp="1"/>
          </p:cNvSpPr>
          <p:nvPr>
            <p:ph type="body" idx="17" hasCustomPrompt="1"/>
          </p:nvPr>
        </p:nvSpPr>
        <p:spPr>
          <a:xfrm>
            <a:off x="90068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2027</a:t>
            </a:r>
          </a:p>
        </p:txBody>
      </p:sp>
      <p:sp>
        <p:nvSpPr>
          <p:cNvPr id="20" name="Milestone4_Description"/>
          <p:cNvSpPr>
            <a:spLocks noGrp="1"/>
          </p:cNvSpPr>
          <p:nvPr>
            <p:ph type="body" idx="18" hasCustomPrompt="1"/>
          </p:nvPr>
        </p:nvSpPr>
        <p:spPr>
          <a:xfrm>
            <a:off x="90068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_PROCESSUS_ETAPES">
    <p:spTree>
      <p:nvGrpSpPr>
        <p:cNvPr id="1" name=""/>
        <p:cNvGrpSpPr/>
        <p:nvPr/>
      </p:nvGrpSpPr>
      <p:grpSpPr>
        <a:xfrm>
          <a:off x="0" y="0"/>
          <a:ext cx="0" cy="0"/>
          <a:chOff x="0" y="0"/>
          <a:chExt cx="0" cy="0"/>
        </a:xfrm>
      </p:grpSpPr>
      <p:sp>
        <p:nvSpPr>
          <p:cNvPr id="42" name="Step4_Icon">
            <a:extLst>
              <a:ext uri="{FF2B5EF4-FFF2-40B4-BE49-F238E27FC236}">
                <a16:creationId xmlns:a16="http://schemas.microsoft.com/office/drawing/2014/main" id="{3BAE0160-3793-7384-B39E-71DBD87D32C4}"/>
              </a:ext>
            </a:extLst>
          </p:cNvPr>
          <p:cNvSpPr>
            <a:spLocks noGrp="1"/>
          </p:cNvSpPr>
          <p:nvPr>
            <p:ph type="pic" sz="quarter" idx="25"/>
          </p:nvPr>
        </p:nvSpPr>
        <p:spPr>
          <a:xfrm>
            <a:off x="9531255" y="1892300"/>
            <a:ext cx="487362" cy="488950"/>
          </a:xfrm>
          <a:prstGeom prst="rect">
            <a:avLst/>
          </a:prstGeom>
        </p:spPr>
        <p:txBody>
          <a:bodyPr/>
          <a:lstStyle>
            <a:lvl1pPr>
              <a:buNone/>
              <a:defRPr/>
            </a:lvl1pPr>
          </a:lstStyle>
          <a:p>
            <a:r>
              <a:rPr lang="fr-FR"/>
              <a:t>Cliquez sur l'icône pour ajouter une image</a:t>
            </a:r>
            <a:endParaRPr lang="fr-FR" dirty="0"/>
          </a:p>
        </p:txBody>
      </p:sp>
      <p:sp>
        <p:nvSpPr>
          <p:cNvPr id="21" name="Step3_Title"/>
          <p:cNvSpPr>
            <a:spLocks noGrp="1"/>
          </p:cNvSpPr>
          <p:nvPr>
            <p:ph type="body" idx="15" hasCustomPrompt="1"/>
          </p:nvPr>
        </p:nvSpPr>
        <p:spPr>
          <a:xfrm>
            <a:off x="6565392"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2" name="Step3_Description"/>
          <p:cNvSpPr>
            <a:spLocks noGrp="1"/>
          </p:cNvSpPr>
          <p:nvPr>
            <p:ph type="body" idx="16" hasCustomPrompt="1"/>
          </p:nvPr>
        </p:nvSpPr>
        <p:spPr>
          <a:xfrm>
            <a:off x="6565392"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26" name="Step4_Title"/>
          <p:cNvSpPr>
            <a:spLocks noGrp="1"/>
          </p:cNvSpPr>
          <p:nvPr userDrawn="1">
            <p:ph type="body" idx="17" hasCustomPrompt="1"/>
          </p:nvPr>
        </p:nvSpPr>
        <p:spPr>
          <a:xfrm>
            <a:off x="8811768"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7" name="Step4_Description"/>
          <p:cNvSpPr>
            <a:spLocks noGrp="1"/>
          </p:cNvSpPr>
          <p:nvPr userDrawn="1">
            <p:ph type="body" idx="18" hasCustomPrompt="1"/>
          </p:nvPr>
        </p:nvSpPr>
        <p:spPr>
          <a:xfrm>
            <a:off x="8811768"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46" name="Step3_Icon">
            <a:extLst>
              <a:ext uri="{FF2B5EF4-FFF2-40B4-BE49-F238E27FC236}">
                <a16:creationId xmlns:a16="http://schemas.microsoft.com/office/drawing/2014/main" id="{4E1C503D-B7B9-078E-510D-AC698AB2E9B5}"/>
              </a:ext>
            </a:extLst>
          </p:cNvPr>
          <p:cNvSpPr>
            <a:spLocks noGrp="1"/>
          </p:cNvSpPr>
          <p:nvPr>
            <p:ph type="pic" sz="quarter" idx="28"/>
          </p:nvPr>
        </p:nvSpPr>
        <p:spPr>
          <a:xfrm>
            <a:off x="7284879" y="1894713"/>
            <a:ext cx="487362" cy="488950"/>
          </a:xfrm>
          <a:prstGeom prst="rect">
            <a:avLst/>
          </a:prstGeom>
        </p:spPr>
        <p:txBody>
          <a:bodyPr/>
          <a:lstStyle>
            <a:lvl1pPr>
              <a:buNone/>
              <a:defRPr/>
            </a:lvl1pPr>
          </a:lstStyle>
          <a:p>
            <a:r>
              <a:rPr lang="fr-FR"/>
              <a:t>Cliquez sur l'icône pour ajouter une image</a:t>
            </a:r>
            <a:endParaRPr lang="fr-FR" dirty="0"/>
          </a:p>
        </p:txBody>
      </p:sp>
      <p:sp>
        <p:nvSpPr>
          <p:cNvPr id="36" name="Step2_Title">
            <a:extLst>
              <a:ext uri="{FF2B5EF4-FFF2-40B4-BE49-F238E27FC236}">
                <a16:creationId xmlns:a16="http://schemas.microsoft.com/office/drawing/2014/main" id="{53A0B17B-79B6-330C-1FCD-5D627038112A}"/>
              </a:ext>
            </a:extLst>
          </p:cNvPr>
          <p:cNvSpPr>
            <a:spLocks noGrp="1"/>
          </p:cNvSpPr>
          <p:nvPr>
            <p:ph type="body" idx="20" hasCustomPrompt="1"/>
          </p:nvPr>
        </p:nvSpPr>
        <p:spPr>
          <a:xfrm>
            <a:off x="4319016" y="2470277"/>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37" name="Step2_Description">
            <a:extLst>
              <a:ext uri="{FF2B5EF4-FFF2-40B4-BE49-F238E27FC236}">
                <a16:creationId xmlns:a16="http://schemas.microsoft.com/office/drawing/2014/main" id="{55353439-A9BD-6C91-28DB-F8565C0F42BB}"/>
              </a:ext>
            </a:extLst>
          </p:cNvPr>
          <p:cNvSpPr>
            <a:spLocks noGrp="1"/>
          </p:cNvSpPr>
          <p:nvPr>
            <p:ph type="body" idx="21" hasCustomPrompt="1"/>
          </p:nvPr>
        </p:nvSpPr>
        <p:spPr>
          <a:xfrm>
            <a:off x="4319016" y="3064637"/>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8" name="Step2_Icon">
            <a:extLst>
              <a:ext uri="{FF2B5EF4-FFF2-40B4-BE49-F238E27FC236}">
                <a16:creationId xmlns:a16="http://schemas.microsoft.com/office/drawing/2014/main" id="{3A74A08F-41B2-0557-057F-BCE6E3B4EA8B}"/>
              </a:ext>
            </a:extLst>
          </p:cNvPr>
          <p:cNvSpPr>
            <a:spLocks noGrp="1"/>
          </p:cNvSpPr>
          <p:nvPr>
            <p:ph type="pic" sz="quarter" idx="22"/>
          </p:nvPr>
        </p:nvSpPr>
        <p:spPr>
          <a:xfrm>
            <a:off x="5038503" y="1889887"/>
            <a:ext cx="487362" cy="48895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Notre démarche en étapes</a:t>
            </a:r>
          </a:p>
        </p:txBody>
      </p:sp>
      <p:grpSp>
        <p:nvGrpSpPr>
          <p:cNvPr id="4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1" name="Step1_Title"/>
          <p:cNvSpPr>
            <a:spLocks noGrp="1"/>
          </p:cNvSpPr>
          <p:nvPr>
            <p:ph type="body" idx="11" hasCustomPrompt="1"/>
          </p:nvPr>
        </p:nvSpPr>
        <p:spPr>
          <a:xfrm>
            <a:off x="2072640"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12" name="Step1_Description"/>
          <p:cNvSpPr>
            <a:spLocks noGrp="1"/>
          </p:cNvSpPr>
          <p:nvPr>
            <p:ph type="body" idx="12" hasCustomPrompt="1"/>
          </p:nvPr>
        </p:nvSpPr>
        <p:spPr>
          <a:xfrm>
            <a:off x="2072640"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4" name="Step1_Icon">
            <a:extLst>
              <a:ext uri="{FF2B5EF4-FFF2-40B4-BE49-F238E27FC236}">
                <a16:creationId xmlns:a16="http://schemas.microsoft.com/office/drawing/2014/main" id="{F16091C6-7065-0347-45D0-B9DBB5C332AF}"/>
              </a:ext>
            </a:extLst>
          </p:cNvPr>
          <p:cNvSpPr>
            <a:spLocks noGrp="1"/>
          </p:cNvSpPr>
          <p:nvPr>
            <p:ph type="pic" sz="quarter" idx="19"/>
          </p:nvPr>
        </p:nvSpPr>
        <p:spPr>
          <a:xfrm>
            <a:off x="2792127" y="1892300"/>
            <a:ext cx="487362" cy="488950"/>
          </a:xfrm>
          <a:prstGeom prst="rect">
            <a:avLst/>
          </a:prstGeom>
        </p:spPr>
        <p:txBody>
          <a:bodyPr/>
          <a:lstStyle>
            <a:lvl1pPr>
              <a:defRPr sz="1200"/>
            </a:lvl1pPr>
          </a:lstStyle>
          <a:p>
            <a:r>
              <a:rPr lang="fr-FR"/>
              <a:t>Cliquez sur l'icône pour ajouter une image</a:t>
            </a:r>
            <a:endParaRPr lang="fr-FR"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4_CHIFFRES_CLES">
    <p:spTree>
      <p:nvGrpSpPr>
        <p:cNvPr id="1" name=""/>
        <p:cNvGrpSpPr/>
        <p:nvPr/>
      </p:nvGrpSpPr>
      <p:grpSpPr>
        <a:xfrm>
          <a:off x="0" y="0"/>
          <a:ext cx="0" cy="0"/>
          <a:chOff x="0" y="0"/>
          <a:chExt cx="0" cy="0"/>
        </a:xfrm>
      </p:grpSpPr>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Chiffres clés</a:t>
            </a:r>
          </a:p>
        </p:txBody>
      </p:sp>
      <p:grpSp>
        <p:nvGrpSpPr>
          <p:cNvPr id="21" name="Kpi1_CardGroup"/>
          <p:cNvGrpSpPr/>
          <p:nvPr/>
        </p:nvGrpSpPr>
        <p:grpSpPr>
          <a:xfrm>
            <a:off x="548640" y="2767330"/>
            <a:ext cx="3576320" cy="2926080"/>
            <a:chOff x="548640" y="2697480"/>
            <a:chExt cx="3576320" cy="2926080"/>
          </a:xfrm>
        </p:grpSpPr>
        <p:sp>
          <p:nvSpPr>
            <p:cNvPr id="8" name="Kpi1_CardBackground"/>
            <p:cNvSpPr/>
            <p:nvPr/>
          </p:nvSpPr>
          <p:spPr>
            <a:xfrm>
              <a:off x="548640" y="2697480"/>
              <a:ext cx="3576320" cy="2926080"/>
            </a:xfrm>
            <a:prstGeom prst="rect">
              <a:avLst/>
            </a:prstGeom>
            <a:solidFill>
              <a:srgbClr val="ECEEF2"/>
            </a:solidFill>
            <a:ln/>
          </p:spPr>
        </p:sp>
        <p:sp>
          <p:nvSpPr>
            <p:cNvPr id="9" name="Kpi1_CardAccentTop"/>
            <p:cNvSpPr/>
            <p:nvPr/>
          </p:nvSpPr>
          <p:spPr>
            <a:xfrm>
              <a:off x="548640" y="2697480"/>
              <a:ext cx="3576320" cy="36576"/>
            </a:xfrm>
            <a:prstGeom prst="rect">
              <a:avLst/>
            </a:prstGeom>
            <a:solidFill>
              <a:schemeClr val="accent1"/>
            </a:solidFill>
            <a:ln/>
          </p:spPr>
        </p:sp>
      </p:grpSp>
      <p:sp>
        <p:nvSpPr>
          <p:cNvPr id="10" name="Kpi1_Value"/>
          <p:cNvSpPr>
            <a:spLocks noGrp="1"/>
          </p:cNvSpPr>
          <p:nvPr>
            <p:ph type="body" idx="11" hasCustomPrompt="1"/>
          </p:nvPr>
        </p:nvSpPr>
        <p:spPr>
          <a:xfrm>
            <a:off x="6400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1" name="Kpi1_Caption"/>
          <p:cNvSpPr>
            <a:spLocks noGrp="1"/>
          </p:cNvSpPr>
          <p:nvPr>
            <p:ph type="body" idx="12" hasCustomPrompt="1"/>
          </p:nvPr>
        </p:nvSpPr>
        <p:spPr>
          <a:xfrm>
            <a:off x="6400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2" name="Kpi2_CardGroup"/>
          <p:cNvGrpSpPr/>
          <p:nvPr/>
        </p:nvGrpSpPr>
        <p:grpSpPr>
          <a:xfrm>
            <a:off x="4307840" y="2767330"/>
            <a:ext cx="3576320" cy="2926080"/>
            <a:chOff x="4307840" y="2697480"/>
            <a:chExt cx="3576320" cy="2926080"/>
          </a:xfrm>
        </p:grpSpPr>
        <p:sp>
          <p:nvSpPr>
            <p:cNvPr id="12" name="Kpi2_CardBackground"/>
            <p:cNvSpPr/>
            <p:nvPr/>
          </p:nvSpPr>
          <p:spPr>
            <a:xfrm>
              <a:off x="4307840" y="2697480"/>
              <a:ext cx="3576320" cy="2926080"/>
            </a:xfrm>
            <a:prstGeom prst="rect">
              <a:avLst/>
            </a:prstGeom>
            <a:solidFill>
              <a:srgbClr val="ECEEF2"/>
            </a:solidFill>
            <a:ln/>
          </p:spPr>
        </p:sp>
        <p:sp>
          <p:nvSpPr>
            <p:cNvPr id="13" name="Kpi2_CardAccentTop"/>
            <p:cNvSpPr/>
            <p:nvPr/>
          </p:nvSpPr>
          <p:spPr>
            <a:xfrm>
              <a:off x="4307840" y="2697480"/>
              <a:ext cx="3576320" cy="36576"/>
            </a:xfrm>
            <a:prstGeom prst="rect">
              <a:avLst/>
            </a:prstGeom>
            <a:solidFill>
              <a:schemeClr val="accent1"/>
            </a:solidFill>
            <a:ln/>
          </p:spPr>
        </p:sp>
      </p:grpSp>
      <p:sp>
        <p:nvSpPr>
          <p:cNvPr id="14" name="Kpi2_Value"/>
          <p:cNvSpPr>
            <a:spLocks noGrp="1"/>
          </p:cNvSpPr>
          <p:nvPr>
            <p:ph type="body" idx="13" hasCustomPrompt="1"/>
          </p:nvPr>
        </p:nvSpPr>
        <p:spPr>
          <a:xfrm>
            <a:off x="43992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5" name="Kpi2_Caption"/>
          <p:cNvSpPr>
            <a:spLocks noGrp="1"/>
          </p:cNvSpPr>
          <p:nvPr>
            <p:ph type="body" idx="14" hasCustomPrompt="1"/>
          </p:nvPr>
        </p:nvSpPr>
        <p:spPr>
          <a:xfrm>
            <a:off x="43992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3" name="Kpi3_CardGroup"/>
          <p:cNvGrpSpPr/>
          <p:nvPr/>
        </p:nvGrpSpPr>
        <p:grpSpPr>
          <a:xfrm>
            <a:off x="8067040" y="2767330"/>
            <a:ext cx="3576320" cy="2926080"/>
            <a:chOff x="8067040" y="2697480"/>
            <a:chExt cx="3576320" cy="2926080"/>
          </a:xfrm>
        </p:grpSpPr>
        <p:sp>
          <p:nvSpPr>
            <p:cNvPr id="16" name="Kpi3_CardBackground"/>
            <p:cNvSpPr/>
            <p:nvPr/>
          </p:nvSpPr>
          <p:spPr>
            <a:xfrm>
              <a:off x="8067040" y="2697480"/>
              <a:ext cx="3576320" cy="2926080"/>
            </a:xfrm>
            <a:prstGeom prst="rect">
              <a:avLst/>
            </a:prstGeom>
            <a:solidFill>
              <a:srgbClr val="ECEEF2"/>
            </a:solidFill>
            <a:ln/>
          </p:spPr>
        </p:sp>
        <p:sp>
          <p:nvSpPr>
            <p:cNvPr id="17" name="Kpi3_CardAccentTop"/>
            <p:cNvSpPr/>
            <p:nvPr/>
          </p:nvSpPr>
          <p:spPr>
            <a:xfrm>
              <a:off x="8067040" y="2697480"/>
              <a:ext cx="3576320" cy="36576"/>
            </a:xfrm>
            <a:prstGeom prst="rect">
              <a:avLst/>
            </a:prstGeom>
            <a:solidFill>
              <a:schemeClr val="accent1"/>
            </a:solidFill>
            <a:ln/>
          </p:spPr>
        </p:sp>
      </p:grpSp>
      <p:sp>
        <p:nvSpPr>
          <p:cNvPr id="18" name="Kpi3_Value"/>
          <p:cNvSpPr>
            <a:spLocks noGrp="1"/>
          </p:cNvSpPr>
          <p:nvPr>
            <p:ph type="body" idx="15" hasCustomPrompt="1"/>
          </p:nvPr>
        </p:nvSpPr>
        <p:spPr>
          <a:xfrm>
            <a:off x="81584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9" name="Kpi3_Caption"/>
          <p:cNvSpPr>
            <a:spLocks noGrp="1"/>
          </p:cNvSpPr>
          <p:nvPr>
            <p:ph type="body" idx="16" hasCustomPrompt="1"/>
          </p:nvPr>
        </p:nvSpPr>
        <p:spPr>
          <a:xfrm>
            <a:off x="81584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5_TABLEAU_COMPARATIF">
    <p:spTree>
      <p:nvGrpSpPr>
        <p:cNvPr id="1" name=""/>
        <p:cNvGrpSpPr/>
        <p:nvPr/>
      </p:nvGrpSpPr>
      <p:grpSpPr>
        <a:xfrm>
          <a:off x="0" y="0"/>
          <a:ext cx="0" cy="0"/>
          <a:chOff x="0" y="0"/>
          <a:chExt cx="0" cy="0"/>
        </a:xfrm>
      </p:grpSpPr>
      <p:sp>
        <p:nvSpPr>
          <p:cNvPr id="35" name="ComparisonTable">
            <a:extLst>
              <a:ext uri="{FF2B5EF4-FFF2-40B4-BE49-F238E27FC236}">
                <a16:creationId xmlns:a16="http://schemas.microsoft.com/office/drawing/2014/main" id="{06E7DB0F-1CA1-07B9-AA45-03A8810C7A14}"/>
              </a:ext>
            </a:extLst>
          </p:cNvPr>
          <p:cNvSpPr>
            <a:spLocks noGrp="1"/>
          </p:cNvSpPr>
          <p:nvPr>
            <p:ph type="tbl" sz="quarter" idx="11"/>
          </p:nvPr>
        </p:nvSpPr>
        <p:spPr>
          <a:xfrm>
            <a:off x="543560" y="1655825"/>
            <a:ext cx="11094719" cy="4291585"/>
          </a:xfrm>
          <a:prstGeom prst="rect">
            <a:avLst/>
          </a:prstGeom>
        </p:spPr>
        <p:txBody>
          <a:bodyPr/>
          <a:lstStyle/>
          <a:p>
            <a:r>
              <a:rPr lang="fr-FR"/>
              <a:t>Cliquez sur l'icône pour ajouter un tableau</a:t>
            </a:r>
          </a:p>
        </p:txBody>
      </p:sp>
      <p:grpSp>
        <p:nvGrpSpPr>
          <p:cNvPr id="3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Tableau comparatif</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6_ETUDE_DE_CAS">
    <p:spTree>
      <p:nvGrpSpPr>
        <p:cNvPr id="1" name=""/>
        <p:cNvGrpSpPr/>
        <p:nvPr/>
      </p:nvGrpSpPr>
      <p:grpSpPr>
        <a:xfrm>
          <a:off x="0" y="0"/>
          <a:ext cx="0" cy="0"/>
          <a:chOff x="0" y="0"/>
          <a:chExt cx="0" cy="0"/>
        </a:xfrm>
      </p:grpSpPr>
      <p:grpSp>
        <p:nvGrpSpPr>
          <p:cNvPr id="23"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Étude de cas client</a:t>
            </a:r>
          </a:p>
        </p:txBody>
      </p:sp>
      <p:sp>
        <p:nvSpPr>
          <p:cNvPr id="9" name="ContextCardAccentTop"/>
          <p:cNvSpPr/>
          <p:nvPr/>
        </p:nvSpPr>
        <p:spPr>
          <a:xfrm>
            <a:off x="548640" y="1751330"/>
            <a:ext cx="5455920" cy="36576"/>
          </a:xfrm>
          <a:prstGeom prst="rect">
            <a:avLst/>
          </a:prstGeom>
          <a:solidFill>
            <a:schemeClr val="accent1"/>
          </a:solidFill>
          <a:ln/>
        </p:spPr>
      </p:sp>
      <p:sp>
        <p:nvSpPr>
          <p:cNvPr id="10" name="ContextTitle"/>
          <p:cNvSpPr>
            <a:spLocks noGrp="1"/>
          </p:cNvSpPr>
          <p:nvPr>
            <p:ph type="body" idx="11" hasCustomPrompt="1"/>
          </p:nvPr>
        </p:nvSpPr>
        <p:spPr>
          <a:xfrm>
            <a:off x="7086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Contexte</a:t>
            </a:r>
          </a:p>
        </p:txBody>
      </p:sp>
      <p:sp>
        <p:nvSpPr>
          <p:cNvPr id="11" name="ContextDescription"/>
          <p:cNvSpPr>
            <a:spLocks noGrp="1"/>
          </p:cNvSpPr>
          <p:nvPr>
            <p:ph type="body" idx="12" hasCustomPrompt="1"/>
          </p:nvPr>
        </p:nvSpPr>
        <p:spPr>
          <a:xfrm>
            <a:off x="7086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Situation initiale et enjeux du client.</a:t>
            </a:r>
          </a:p>
        </p:txBody>
      </p:sp>
      <p:sp>
        <p:nvSpPr>
          <p:cNvPr id="13" name="SolutionCardAccentTop"/>
          <p:cNvSpPr/>
          <p:nvPr/>
        </p:nvSpPr>
        <p:spPr>
          <a:xfrm>
            <a:off x="6187440" y="1751330"/>
            <a:ext cx="5455920" cy="36576"/>
          </a:xfrm>
          <a:prstGeom prst="rect">
            <a:avLst/>
          </a:prstGeom>
          <a:solidFill>
            <a:schemeClr val="accent1"/>
          </a:solidFill>
          <a:ln/>
        </p:spPr>
      </p:sp>
      <p:sp>
        <p:nvSpPr>
          <p:cNvPr id="14" name="SolutionTitle"/>
          <p:cNvSpPr>
            <a:spLocks noGrp="1"/>
          </p:cNvSpPr>
          <p:nvPr>
            <p:ph type="body" idx="13" hasCustomPrompt="1"/>
          </p:nvPr>
        </p:nvSpPr>
        <p:spPr>
          <a:xfrm>
            <a:off x="63474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Solution</a:t>
            </a:r>
          </a:p>
        </p:txBody>
      </p:sp>
      <p:sp>
        <p:nvSpPr>
          <p:cNvPr id="15" name="SolutionDescription"/>
          <p:cNvSpPr>
            <a:spLocks noGrp="1"/>
          </p:cNvSpPr>
          <p:nvPr>
            <p:ph type="body" idx="14" hasCustomPrompt="1"/>
          </p:nvPr>
        </p:nvSpPr>
        <p:spPr>
          <a:xfrm>
            <a:off x="63474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Dispositif mis en place par SCIAM.</a:t>
            </a:r>
          </a:p>
        </p:txBody>
      </p:sp>
      <p:sp>
        <p:nvSpPr>
          <p:cNvPr id="17" name="ResultsCardAccentTop"/>
          <p:cNvSpPr/>
          <p:nvPr/>
        </p:nvSpPr>
        <p:spPr>
          <a:xfrm>
            <a:off x="548640" y="4037330"/>
            <a:ext cx="7985760" cy="36576"/>
          </a:xfrm>
          <a:prstGeom prst="rect">
            <a:avLst/>
          </a:prstGeom>
          <a:solidFill>
            <a:schemeClr val="accent1"/>
          </a:solidFill>
          <a:ln/>
        </p:spPr>
      </p:sp>
      <p:sp>
        <p:nvSpPr>
          <p:cNvPr id="18" name="ResultsTitle"/>
          <p:cNvSpPr>
            <a:spLocks noGrp="1"/>
          </p:cNvSpPr>
          <p:nvPr>
            <p:ph type="body" idx="15" hasCustomPrompt="1"/>
          </p:nvPr>
        </p:nvSpPr>
        <p:spPr>
          <a:xfrm>
            <a:off x="708660" y="4220210"/>
            <a:ext cx="7665720" cy="45720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Résultats</a:t>
            </a:r>
          </a:p>
        </p:txBody>
      </p:sp>
      <p:sp>
        <p:nvSpPr>
          <p:cNvPr id="19" name="ResultsDescription"/>
          <p:cNvSpPr>
            <a:spLocks noGrp="1"/>
          </p:cNvSpPr>
          <p:nvPr>
            <p:ph type="body" idx="16" hasCustomPrompt="1"/>
          </p:nvPr>
        </p:nvSpPr>
        <p:spPr>
          <a:xfrm>
            <a:off x="708660" y="4723130"/>
            <a:ext cx="7665720" cy="123444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Bénéfices mesurés et gains obtenus.</a:t>
            </a:r>
          </a:p>
        </p:txBody>
      </p:sp>
      <p:sp>
        <p:nvSpPr>
          <p:cNvPr id="20" name="KpiCardBackground"/>
          <p:cNvSpPr/>
          <p:nvPr userDrawn="1"/>
        </p:nvSpPr>
        <p:spPr>
          <a:xfrm>
            <a:off x="8717280" y="4037330"/>
            <a:ext cx="2926080" cy="2011680"/>
          </a:xfrm>
          <a:prstGeom prst="rect">
            <a:avLst/>
          </a:prstGeom>
          <a:solidFill>
            <a:schemeClr val="accent1"/>
          </a:solidFill>
          <a:ln/>
        </p:spPr>
      </p:sp>
      <p:sp>
        <p:nvSpPr>
          <p:cNvPr id="21" name="KpiValue"/>
          <p:cNvSpPr>
            <a:spLocks noGrp="1"/>
          </p:cNvSpPr>
          <p:nvPr>
            <p:ph type="body" idx="17" hasCustomPrompt="1"/>
          </p:nvPr>
        </p:nvSpPr>
        <p:spPr>
          <a:xfrm>
            <a:off x="8808720" y="4220210"/>
            <a:ext cx="2743200" cy="640080"/>
          </a:xfrm>
          <a:prstGeom prst="rect">
            <a:avLst/>
          </a:prstGeom>
          <a:noFill/>
          <a:ln/>
        </p:spPr>
        <p:txBody>
          <a:bodyPr wrap="square" rtlCol="0" anchor="t">
            <a:normAutofit/>
          </a:bodyPr>
          <a:lstStyle>
            <a:lvl1pPr marL="0" indent="0" algn="ctr">
              <a:lnSpc>
                <a:spcPct val="110000"/>
              </a:lnSpc>
              <a:buNone/>
              <a:defRPr lang="fr-FR" sz="4000" b="1" spc="0" dirty="0">
                <a:solidFill>
                  <a:schemeClr val="lt2"/>
                </a:solidFill>
                <a:latin typeface="+mj-lt" pitchFamily="34" charset="0"/>
                <a:ea typeface="+mj-ea" pitchFamily="34" charset="-122"/>
                <a:cs typeface="+mj-cs" pitchFamily="34" charset="-120"/>
              </a:defRPr>
            </a:lvl1pPr>
          </a:lstStyle>
          <a:p>
            <a:pPr marL="0" indent="0" algn="ctr">
              <a:buNone/>
            </a:pPr>
            <a:r>
              <a:rPr lang="fr-FR" sz="4000" b="1" dirty="0">
                <a:solidFill>
                  <a:schemeClr val="lt2"/>
                </a:solidFill>
                <a:latin typeface="+mj-lt" pitchFamily="34" charset="0"/>
                <a:ea typeface="+mj-ea" pitchFamily="34" charset="-122"/>
                <a:cs typeface="+mj-cs" pitchFamily="34" charset="-120"/>
              </a:rPr>
              <a:t>+40%</a:t>
            </a:r>
          </a:p>
        </p:txBody>
      </p:sp>
      <p:sp>
        <p:nvSpPr>
          <p:cNvPr id="22" name="KpiLabel"/>
          <p:cNvSpPr>
            <a:spLocks noGrp="1"/>
          </p:cNvSpPr>
          <p:nvPr>
            <p:ph type="body" idx="18" hasCustomPrompt="1"/>
          </p:nvPr>
        </p:nvSpPr>
        <p:spPr>
          <a:xfrm>
            <a:off x="8808720" y="5043170"/>
            <a:ext cx="2743200" cy="640080"/>
          </a:xfrm>
          <a:prstGeom prst="rect">
            <a:avLst/>
          </a:prstGeom>
          <a:noFill/>
          <a:ln/>
        </p:spPr>
        <p:txBody>
          <a:bodyPr wrap="square" rtlCol="0" anchor="t">
            <a:normAutofit/>
          </a:bodyPr>
          <a:lstStyle>
            <a:lvl1pPr marL="0" indent="0" algn="ctr">
              <a:lnSpc>
                <a:spcPct val="110000"/>
              </a:lnSpc>
              <a:buNone/>
              <a:defRPr lang="fr-FR" sz="1200" spc="0" dirty="0">
                <a:solidFill>
                  <a:schemeClr val="lt2"/>
                </a:solidFill>
                <a:latin typeface="+mn-lt" pitchFamily="34" charset="0"/>
                <a:ea typeface="+mn-ea" pitchFamily="34" charset="-122"/>
                <a:cs typeface="+mn-cs" pitchFamily="34" charset="-120"/>
              </a:defRPr>
            </a:lvl1pPr>
          </a:lstStyle>
          <a:p>
            <a:pPr marL="0" indent="0" algn="ctr">
              <a:buNone/>
            </a:pPr>
            <a:r>
              <a:rPr lang="fr-FR" sz="1200" dirty="0">
                <a:solidFill>
                  <a:schemeClr val="lt2"/>
                </a:solidFill>
                <a:latin typeface="+mn-lt" pitchFamily="34" charset="0"/>
                <a:ea typeface="+mn-ea" pitchFamily="34" charset="-122"/>
                <a:cs typeface="+mn-cs" pitchFamily="34" charset="-120"/>
              </a:rPr>
              <a:t>KPI principal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7_EQUIPE">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L’équipe</a:t>
            </a:r>
          </a:p>
        </p:txBody>
      </p:sp>
      <p:grpSp>
        <p:nvGrpSpPr>
          <p:cNvPr id="2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8" name="Member1_Photo"/>
          <p:cNvSpPr>
            <a:spLocks noGrp="1"/>
          </p:cNvSpPr>
          <p:nvPr>
            <p:ph type="pic" idx="11" hasCustomPrompt="1"/>
          </p:nvPr>
        </p:nvSpPr>
        <p:spPr>
          <a:xfrm>
            <a:off x="17881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9" name="Member1_Name"/>
          <p:cNvSpPr>
            <a:spLocks noGrp="1"/>
          </p:cNvSpPr>
          <p:nvPr>
            <p:ph type="body" idx="12" hasCustomPrompt="1"/>
          </p:nvPr>
        </p:nvSpPr>
        <p:spPr>
          <a:xfrm>
            <a:off x="5486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0" name="Member1_Role"/>
          <p:cNvSpPr>
            <a:spLocks noGrp="1"/>
          </p:cNvSpPr>
          <p:nvPr>
            <p:ph type="body" idx="13" hasCustomPrompt="1"/>
          </p:nvPr>
        </p:nvSpPr>
        <p:spPr>
          <a:xfrm>
            <a:off x="5486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1" name="Member2_Photo"/>
          <p:cNvSpPr>
            <a:spLocks noGrp="1"/>
          </p:cNvSpPr>
          <p:nvPr>
            <p:ph type="pic" idx="14" hasCustomPrompt="1"/>
          </p:nvPr>
        </p:nvSpPr>
        <p:spPr>
          <a:xfrm>
            <a:off x="55473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2" name="Member2_Name"/>
          <p:cNvSpPr>
            <a:spLocks noGrp="1"/>
          </p:cNvSpPr>
          <p:nvPr>
            <p:ph type="body" idx="15" hasCustomPrompt="1"/>
          </p:nvPr>
        </p:nvSpPr>
        <p:spPr>
          <a:xfrm>
            <a:off x="43078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3" name="Member2_Role"/>
          <p:cNvSpPr>
            <a:spLocks noGrp="1"/>
          </p:cNvSpPr>
          <p:nvPr>
            <p:ph type="body" idx="16" hasCustomPrompt="1"/>
          </p:nvPr>
        </p:nvSpPr>
        <p:spPr>
          <a:xfrm>
            <a:off x="43078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4" name="Member3_Photo"/>
          <p:cNvSpPr>
            <a:spLocks noGrp="1"/>
          </p:cNvSpPr>
          <p:nvPr>
            <p:ph type="pic" idx="17" hasCustomPrompt="1"/>
          </p:nvPr>
        </p:nvSpPr>
        <p:spPr>
          <a:xfrm>
            <a:off x="93065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5" name="Member3_Name"/>
          <p:cNvSpPr>
            <a:spLocks noGrp="1"/>
          </p:cNvSpPr>
          <p:nvPr>
            <p:ph type="body" idx="18" hasCustomPrompt="1"/>
          </p:nvPr>
        </p:nvSpPr>
        <p:spPr>
          <a:xfrm>
            <a:off x="80670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6" name="Member3_Role"/>
          <p:cNvSpPr>
            <a:spLocks noGrp="1"/>
          </p:cNvSpPr>
          <p:nvPr>
            <p:ph type="body" idx="19" hasCustomPrompt="1"/>
          </p:nvPr>
        </p:nvSpPr>
        <p:spPr>
          <a:xfrm>
            <a:off x="80670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7" name="Member4_Photo"/>
          <p:cNvSpPr>
            <a:spLocks noGrp="1"/>
          </p:cNvSpPr>
          <p:nvPr>
            <p:ph type="pic" idx="20" hasCustomPrompt="1"/>
          </p:nvPr>
        </p:nvSpPr>
        <p:spPr>
          <a:xfrm>
            <a:off x="17881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8" name="Member4_Name"/>
          <p:cNvSpPr>
            <a:spLocks noGrp="1"/>
          </p:cNvSpPr>
          <p:nvPr>
            <p:ph type="body" idx="21" hasCustomPrompt="1"/>
          </p:nvPr>
        </p:nvSpPr>
        <p:spPr>
          <a:xfrm>
            <a:off x="5486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9" name="Member4_Role"/>
          <p:cNvSpPr>
            <a:spLocks noGrp="1"/>
          </p:cNvSpPr>
          <p:nvPr>
            <p:ph type="body" idx="22" hasCustomPrompt="1"/>
          </p:nvPr>
        </p:nvSpPr>
        <p:spPr>
          <a:xfrm>
            <a:off x="5486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0" name="Member5_Photo"/>
          <p:cNvSpPr>
            <a:spLocks noGrp="1"/>
          </p:cNvSpPr>
          <p:nvPr>
            <p:ph type="pic" idx="23" hasCustomPrompt="1"/>
          </p:nvPr>
        </p:nvSpPr>
        <p:spPr>
          <a:xfrm>
            <a:off x="55473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1" name="Member5_Name"/>
          <p:cNvSpPr>
            <a:spLocks noGrp="1"/>
          </p:cNvSpPr>
          <p:nvPr>
            <p:ph type="body" idx="24" hasCustomPrompt="1"/>
          </p:nvPr>
        </p:nvSpPr>
        <p:spPr>
          <a:xfrm>
            <a:off x="43078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2" name="Member5_Role"/>
          <p:cNvSpPr>
            <a:spLocks noGrp="1"/>
          </p:cNvSpPr>
          <p:nvPr>
            <p:ph type="body" idx="25" hasCustomPrompt="1"/>
          </p:nvPr>
        </p:nvSpPr>
        <p:spPr>
          <a:xfrm>
            <a:off x="43078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3" name="Member6_Photo"/>
          <p:cNvSpPr>
            <a:spLocks noGrp="1"/>
          </p:cNvSpPr>
          <p:nvPr>
            <p:ph type="pic" idx="26" hasCustomPrompt="1"/>
          </p:nvPr>
        </p:nvSpPr>
        <p:spPr>
          <a:xfrm>
            <a:off x="93065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4" name="Member6_Name"/>
          <p:cNvSpPr>
            <a:spLocks noGrp="1"/>
          </p:cNvSpPr>
          <p:nvPr>
            <p:ph type="body" idx="27" hasCustomPrompt="1"/>
          </p:nvPr>
        </p:nvSpPr>
        <p:spPr>
          <a:xfrm>
            <a:off x="80670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5" name="Member6_Role"/>
          <p:cNvSpPr>
            <a:spLocks noGrp="1"/>
          </p:cNvSpPr>
          <p:nvPr>
            <p:ph type="body" idx="28" hasCustomPrompt="1"/>
          </p:nvPr>
        </p:nvSpPr>
        <p:spPr>
          <a:xfrm>
            <a:off x="80670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8_GRAPHIQUE_INSIGHT">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Analyse et enseignements</a:t>
            </a:r>
          </a:p>
        </p:txBody>
      </p:sp>
      <p:sp>
        <p:nvSpPr>
          <p:cNvPr id="8" name="Chart"/>
          <p:cNvSpPr>
            <a:spLocks noGrp="1"/>
          </p:cNvSpPr>
          <p:nvPr>
            <p:ph type="chart" idx="11"/>
          </p:nvPr>
        </p:nvSpPr>
        <p:spPr>
          <a:xfrm>
            <a:off x="548640" y="2011680"/>
            <a:ext cx="6656832" cy="4297680"/>
          </a:xfrm>
          <a:prstGeom prst="rect">
            <a:avLst/>
          </a:prstGeom>
          <a:solidFill>
            <a:srgbClr val="ECEEF2"/>
          </a:solidFill>
          <a:ln w="12700">
            <a:solidFill>
              <a:srgbClr val="D2D7E0"/>
            </a:solidFill>
          </a:ln>
        </p:spPr>
        <p:txBody>
          <a:bodyPr wrap="square" rtlCol="0" anchor="ctr">
            <a:normAutofit/>
          </a:bodyPr>
          <a:lstStyle>
            <a:lvl1pPr marL="0" indent="0" algn="ctr">
              <a:lnSpc>
                <a:spcPct val="110000"/>
              </a:lnSpc>
              <a:buNone/>
              <a:defRPr lang="fr-FR" sz="1600" spc="0" dirty="0">
                <a:solidFill>
                  <a:srgbClr val="6B7280"/>
                </a:solidFill>
                <a:latin typeface="+mn-lt" pitchFamily="34" charset="0"/>
                <a:ea typeface="+mn-ea" pitchFamily="34" charset="-122"/>
                <a:cs typeface="+mn-cs" pitchFamily="34" charset="-120"/>
              </a:defRPr>
            </a:lvl1pPr>
          </a:lstStyle>
          <a:p>
            <a:pPr marL="0" indent="0" algn="ctr">
              <a:buNone/>
            </a:pPr>
            <a:r>
              <a:rPr lang="fr-FR" sz="1600">
                <a:solidFill>
                  <a:srgbClr val="6B7280"/>
                </a:solidFill>
                <a:latin typeface="+mn-lt" pitchFamily="34" charset="0"/>
                <a:ea typeface="+mn-ea" pitchFamily="34" charset="-122"/>
                <a:cs typeface="+mn-cs" pitchFamily="34" charset="-120"/>
              </a:rPr>
              <a:t>Cliquez sur l'icône pour ajouter un graphique</a:t>
            </a:r>
            <a:endParaRPr lang="fr-FR" sz="1600" dirty="0">
              <a:solidFill>
                <a:srgbClr val="6B7280"/>
              </a:solidFill>
              <a:latin typeface="+mn-lt" pitchFamily="34" charset="0"/>
              <a:ea typeface="+mn-ea" pitchFamily="34" charset="-122"/>
              <a:cs typeface="+mn-cs" pitchFamily="34" charset="-120"/>
            </a:endParaRPr>
          </a:p>
        </p:txBody>
      </p:sp>
      <p:sp>
        <p:nvSpPr>
          <p:cNvPr id="9" name="InsightAccentTop"/>
          <p:cNvSpPr/>
          <p:nvPr/>
        </p:nvSpPr>
        <p:spPr>
          <a:xfrm>
            <a:off x="7479792" y="2011680"/>
            <a:ext cx="4163568" cy="36576"/>
          </a:xfrm>
          <a:prstGeom prst="rect">
            <a:avLst/>
          </a:prstGeom>
          <a:solidFill>
            <a:schemeClr val="accent1"/>
          </a:solidFill>
          <a:ln/>
        </p:spPr>
      </p:sp>
      <p:sp>
        <p:nvSpPr>
          <p:cNvPr id="10" name="InsightTitle"/>
          <p:cNvSpPr>
            <a:spLocks noGrp="1"/>
          </p:cNvSpPr>
          <p:nvPr>
            <p:ph type="body" idx="12" hasCustomPrompt="1"/>
          </p:nvPr>
        </p:nvSpPr>
        <p:spPr>
          <a:xfrm>
            <a:off x="7479792" y="2148840"/>
            <a:ext cx="4163568"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À retenir</a:t>
            </a:r>
          </a:p>
        </p:txBody>
      </p:sp>
      <p:sp>
        <p:nvSpPr>
          <p:cNvPr id="11" name="InsightText"/>
          <p:cNvSpPr>
            <a:spLocks noGrp="1"/>
          </p:cNvSpPr>
          <p:nvPr>
            <p:ph type="body" idx="13" hasCustomPrompt="1"/>
          </p:nvPr>
        </p:nvSpPr>
        <p:spPr>
          <a:xfrm>
            <a:off x="7479792" y="2697480"/>
            <a:ext cx="4163568" cy="3611880"/>
          </a:xfrm>
          <a:prstGeom prst="rect">
            <a:avLst/>
          </a:prstGeom>
          <a:noFill/>
          <a:ln/>
        </p:spPr>
        <p:txBody>
          <a:bodyPr wrap="square" rtlCol="0" anchor="t">
            <a:normAutofit/>
          </a:bodyPr>
          <a:lstStyle>
            <a:lvl1pPr marL="0" indent="0" algn="l">
              <a:lnSpc>
                <a:spcPct val="140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Premier enseignement clé.</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9_MATRICE_2x2">
    <p:spTree>
      <p:nvGrpSpPr>
        <p:cNvPr id="1" name=""/>
        <p:cNvGrpSpPr/>
        <p:nvPr/>
      </p:nvGrpSpPr>
      <p:grpSpPr>
        <a:xfrm>
          <a:off x="0" y="0"/>
          <a:ext cx="0" cy="0"/>
          <a:chOff x="0" y="0"/>
          <a:chExt cx="0" cy="0"/>
        </a:xfrm>
      </p:grpSpPr>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Matrice de positionnement</a:t>
            </a:r>
          </a:p>
        </p:txBody>
      </p:sp>
      <p:sp>
        <p:nvSpPr>
          <p:cNvPr id="8" name="StrengthsBackground"/>
          <p:cNvSpPr/>
          <p:nvPr/>
        </p:nvSpPr>
        <p:spPr>
          <a:xfrm>
            <a:off x="548640" y="2286000"/>
            <a:ext cx="5501640" cy="1828800"/>
          </a:xfrm>
          <a:prstGeom prst="rect">
            <a:avLst/>
          </a:prstGeom>
          <a:solidFill>
            <a:srgbClr val="ECEEF2"/>
          </a:solidFill>
          <a:ln/>
        </p:spPr>
      </p:sp>
      <p:sp>
        <p:nvSpPr>
          <p:cNvPr id="9" name="StrengthsTitle"/>
          <p:cNvSpPr>
            <a:spLocks noGrp="1"/>
          </p:cNvSpPr>
          <p:nvPr>
            <p:ph type="body" idx="11" hasCustomPrompt="1"/>
          </p:nvPr>
        </p:nvSpPr>
        <p:spPr>
          <a:xfrm>
            <a:off x="66294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0" name="StrengthsItem"/>
          <p:cNvSpPr>
            <a:spLocks noGrp="1"/>
          </p:cNvSpPr>
          <p:nvPr>
            <p:ph type="body" idx="12" hasCustomPrompt="1"/>
          </p:nvPr>
        </p:nvSpPr>
        <p:spPr>
          <a:xfrm>
            <a:off x="66294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1" name="WeaknessesBackground"/>
          <p:cNvSpPr/>
          <p:nvPr/>
        </p:nvSpPr>
        <p:spPr>
          <a:xfrm>
            <a:off x="6141720" y="2286000"/>
            <a:ext cx="5501640" cy="1828800"/>
          </a:xfrm>
          <a:prstGeom prst="rect">
            <a:avLst/>
          </a:prstGeom>
          <a:solidFill>
            <a:srgbClr val="ECEEF2"/>
          </a:solidFill>
          <a:ln/>
        </p:spPr>
      </p:sp>
      <p:sp>
        <p:nvSpPr>
          <p:cNvPr id="12" name="WeaknessesTitle"/>
          <p:cNvSpPr>
            <a:spLocks noGrp="1"/>
          </p:cNvSpPr>
          <p:nvPr>
            <p:ph type="body" idx="13" hasCustomPrompt="1"/>
          </p:nvPr>
        </p:nvSpPr>
        <p:spPr>
          <a:xfrm>
            <a:off x="625602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Faiblesses</a:t>
            </a:r>
          </a:p>
        </p:txBody>
      </p:sp>
      <p:sp>
        <p:nvSpPr>
          <p:cNvPr id="13" name="WeaknessesItem"/>
          <p:cNvSpPr>
            <a:spLocks noGrp="1"/>
          </p:cNvSpPr>
          <p:nvPr>
            <p:ph type="body" idx="14" hasCustomPrompt="1"/>
          </p:nvPr>
        </p:nvSpPr>
        <p:spPr>
          <a:xfrm>
            <a:off x="625602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4" name="OpportunitiesBackground"/>
          <p:cNvSpPr/>
          <p:nvPr/>
        </p:nvSpPr>
        <p:spPr>
          <a:xfrm>
            <a:off x="548640" y="4206240"/>
            <a:ext cx="5501640" cy="1828800"/>
          </a:xfrm>
          <a:prstGeom prst="rect">
            <a:avLst/>
          </a:prstGeom>
          <a:solidFill>
            <a:srgbClr val="ECEEF2"/>
          </a:solidFill>
          <a:ln/>
        </p:spPr>
      </p:sp>
      <p:sp>
        <p:nvSpPr>
          <p:cNvPr id="15" name="OpportunitiesTitle"/>
          <p:cNvSpPr>
            <a:spLocks noGrp="1"/>
          </p:cNvSpPr>
          <p:nvPr>
            <p:ph type="body" idx="15" hasCustomPrompt="1"/>
          </p:nvPr>
        </p:nvSpPr>
        <p:spPr>
          <a:xfrm>
            <a:off x="66294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Opportunités</a:t>
            </a:r>
          </a:p>
        </p:txBody>
      </p:sp>
      <p:sp>
        <p:nvSpPr>
          <p:cNvPr id="16" name="OpportunitiesItem"/>
          <p:cNvSpPr>
            <a:spLocks noGrp="1"/>
          </p:cNvSpPr>
          <p:nvPr>
            <p:ph type="body" idx="16" hasCustomPrompt="1"/>
          </p:nvPr>
        </p:nvSpPr>
        <p:spPr>
          <a:xfrm>
            <a:off x="66294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7" name="ThreatsBackground"/>
          <p:cNvSpPr/>
          <p:nvPr/>
        </p:nvSpPr>
        <p:spPr>
          <a:xfrm>
            <a:off x="6141720" y="4206240"/>
            <a:ext cx="5501640" cy="1828800"/>
          </a:xfrm>
          <a:prstGeom prst="rect">
            <a:avLst/>
          </a:prstGeom>
          <a:solidFill>
            <a:srgbClr val="ECEEF2"/>
          </a:solidFill>
          <a:ln/>
        </p:spPr>
      </p:sp>
      <p:sp>
        <p:nvSpPr>
          <p:cNvPr id="18" name="ThreatsTitle"/>
          <p:cNvSpPr>
            <a:spLocks noGrp="1"/>
          </p:cNvSpPr>
          <p:nvPr>
            <p:ph type="body" idx="17" hasCustomPrompt="1"/>
          </p:nvPr>
        </p:nvSpPr>
        <p:spPr>
          <a:xfrm>
            <a:off x="625602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Menaces</a:t>
            </a:r>
          </a:p>
        </p:txBody>
      </p:sp>
      <p:sp>
        <p:nvSpPr>
          <p:cNvPr id="19" name="ThreatsItem"/>
          <p:cNvSpPr>
            <a:spLocks noGrp="1"/>
          </p:cNvSpPr>
          <p:nvPr>
            <p:ph type="body" idx="18" hasCustomPrompt="1"/>
          </p:nvPr>
        </p:nvSpPr>
        <p:spPr>
          <a:xfrm>
            <a:off x="625602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grpSp>
        <p:nvGrpSpPr>
          <p:cNvPr id="25" name="QuadrantDividerGroup"/>
          <p:cNvGrpSpPr/>
          <p:nvPr/>
        </p:nvGrpSpPr>
        <p:grpSpPr>
          <a:xfrm>
            <a:off x="548640" y="2286000"/>
            <a:ext cx="11094720" cy="3749040"/>
            <a:chOff x="548640" y="2286000"/>
            <a:chExt cx="11094720" cy="3749040"/>
          </a:xfrm>
        </p:grpSpPr>
        <p:sp>
          <p:nvSpPr>
            <p:cNvPr id="20" name="QuadrantDividerVertical"/>
            <p:cNvSpPr/>
            <p:nvPr/>
          </p:nvSpPr>
          <p:spPr>
            <a:xfrm>
              <a:off x="6082284" y="2286000"/>
              <a:ext cx="27432" cy="3749040"/>
            </a:xfrm>
            <a:prstGeom prst="rect">
              <a:avLst/>
            </a:prstGeom>
            <a:solidFill>
              <a:schemeClr val="accent1"/>
            </a:solidFill>
            <a:ln/>
          </p:spPr>
        </p:sp>
        <p:sp>
          <p:nvSpPr>
            <p:cNvPr id="21" name="QuadrantDividerHorizontal"/>
            <p:cNvSpPr/>
            <p:nvPr/>
          </p:nvSpPr>
          <p:spPr>
            <a:xfrm>
              <a:off x="548640" y="4146804"/>
              <a:ext cx="11094720" cy="27432"/>
            </a:xfrm>
            <a:prstGeom prst="rect">
              <a:avLst/>
            </a:prstGeom>
            <a:solidFill>
              <a:schemeClr val="accent1"/>
            </a:solidFill>
            <a:ln/>
          </p:spPr>
        </p:sp>
      </p:grpSp>
      <p:sp>
        <p:nvSpPr>
          <p:cNvPr id="22" name="AxisYLabel"/>
          <p:cNvSpPr txBox="1"/>
          <p:nvPr/>
        </p:nvSpPr>
        <p:spPr>
          <a:xfrm>
            <a:off x="5638800" y="201168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Y</a:t>
            </a:r>
          </a:p>
        </p:txBody>
      </p:sp>
      <p:sp>
        <p:nvSpPr>
          <p:cNvPr id="23" name="AxisXLabel"/>
          <p:cNvSpPr txBox="1"/>
          <p:nvPr/>
        </p:nvSpPr>
        <p:spPr>
          <a:xfrm>
            <a:off x="5638800" y="608076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X</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0_LOGOS_CLIENT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Ils nous font confiance</a:t>
            </a:r>
          </a:p>
        </p:txBody>
      </p:sp>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8" name="Logo1"/>
          <p:cNvSpPr>
            <a:spLocks noGrp="1"/>
          </p:cNvSpPr>
          <p:nvPr>
            <p:ph type="pic" idx="11" hasCustomPrompt="1"/>
          </p:nvPr>
        </p:nvSpPr>
        <p:spPr>
          <a:xfrm>
            <a:off x="5486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9" name="Logo2"/>
          <p:cNvSpPr>
            <a:spLocks noGrp="1"/>
          </p:cNvSpPr>
          <p:nvPr>
            <p:ph type="pic" idx="12" hasCustomPrompt="1"/>
          </p:nvPr>
        </p:nvSpPr>
        <p:spPr>
          <a:xfrm>
            <a:off x="33680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0" name="Logo3"/>
          <p:cNvSpPr>
            <a:spLocks noGrp="1"/>
          </p:cNvSpPr>
          <p:nvPr>
            <p:ph type="pic" idx="13" hasCustomPrompt="1"/>
          </p:nvPr>
        </p:nvSpPr>
        <p:spPr>
          <a:xfrm>
            <a:off x="61874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1" name="Logo4"/>
          <p:cNvSpPr>
            <a:spLocks noGrp="1"/>
          </p:cNvSpPr>
          <p:nvPr>
            <p:ph type="pic" idx="14" hasCustomPrompt="1"/>
          </p:nvPr>
        </p:nvSpPr>
        <p:spPr>
          <a:xfrm>
            <a:off x="90068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2" name="Logo5"/>
          <p:cNvSpPr>
            <a:spLocks noGrp="1"/>
          </p:cNvSpPr>
          <p:nvPr>
            <p:ph type="pic" idx="15" hasCustomPrompt="1"/>
          </p:nvPr>
        </p:nvSpPr>
        <p:spPr>
          <a:xfrm>
            <a:off x="5486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3" name="Logo6"/>
          <p:cNvSpPr>
            <a:spLocks noGrp="1"/>
          </p:cNvSpPr>
          <p:nvPr>
            <p:ph type="pic" idx="16" hasCustomPrompt="1"/>
          </p:nvPr>
        </p:nvSpPr>
        <p:spPr>
          <a:xfrm>
            <a:off x="33680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4" name="Logo7"/>
          <p:cNvSpPr>
            <a:spLocks noGrp="1"/>
          </p:cNvSpPr>
          <p:nvPr>
            <p:ph type="pic" idx="17" hasCustomPrompt="1"/>
          </p:nvPr>
        </p:nvSpPr>
        <p:spPr>
          <a:xfrm>
            <a:off x="61874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5" name="Logo8"/>
          <p:cNvSpPr>
            <a:spLocks noGrp="1"/>
          </p:cNvSpPr>
          <p:nvPr>
            <p:ph type="pic" idx="18" hasCustomPrompt="1"/>
          </p:nvPr>
        </p:nvSpPr>
        <p:spPr>
          <a:xfrm>
            <a:off x="90068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6" name="Logo9"/>
          <p:cNvSpPr>
            <a:spLocks noGrp="1"/>
          </p:cNvSpPr>
          <p:nvPr>
            <p:ph type="pic" idx="19" hasCustomPrompt="1"/>
          </p:nvPr>
        </p:nvSpPr>
        <p:spPr>
          <a:xfrm>
            <a:off x="5486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7" name="Logo10"/>
          <p:cNvSpPr>
            <a:spLocks noGrp="1"/>
          </p:cNvSpPr>
          <p:nvPr>
            <p:ph type="pic" idx="20" hasCustomPrompt="1"/>
          </p:nvPr>
        </p:nvSpPr>
        <p:spPr>
          <a:xfrm>
            <a:off x="33680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8" name="Logo11"/>
          <p:cNvSpPr>
            <a:spLocks noGrp="1"/>
          </p:cNvSpPr>
          <p:nvPr>
            <p:ph type="pic" idx="21" hasCustomPrompt="1"/>
          </p:nvPr>
        </p:nvSpPr>
        <p:spPr>
          <a:xfrm>
            <a:off x="61874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9" name="Logo12"/>
          <p:cNvSpPr>
            <a:spLocks noGrp="1"/>
          </p:cNvSpPr>
          <p:nvPr>
            <p:ph type="pic" idx="22" hasCustomPrompt="1"/>
          </p:nvPr>
        </p:nvSpPr>
        <p:spPr>
          <a:xfrm>
            <a:off x="90068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1_PILIERS">
    <p:spTree>
      <p:nvGrpSpPr>
        <p:cNvPr id="1" name=""/>
        <p:cNvGrpSpPr/>
        <p:nvPr/>
      </p:nvGrpSpPr>
      <p:grpSpPr>
        <a:xfrm>
          <a:off x="0" y="0"/>
          <a:ext cx="0" cy="0"/>
          <a:chOff x="0" y="0"/>
          <a:chExt cx="0" cy="0"/>
        </a:xfrm>
      </p:grpSpPr>
      <p:sp>
        <p:nvSpPr>
          <p:cNvPr id="24" name="Pillar3_Icon">
            <a:extLst>
              <a:ext uri="{FF2B5EF4-FFF2-40B4-BE49-F238E27FC236}">
                <a16:creationId xmlns:a16="http://schemas.microsoft.com/office/drawing/2014/main" id="{B542C7F4-C5C6-2C55-760E-42CD1C155A7C}"/>
              </a:ext>
            </a:extLst>
          </p:cNvPr>
          <p:cNvSpPr>
            <a:spLocks noGrp="1"/>
          </p:cNvSpPr>
          <p:nvPr>
            <p:ph type="pic" sz="quarter" idx="23"/>
          </p:nvPr>
        </p:nvSpPr>
        <p:spPr>
          <a:xfrm>
            <a:off x="70485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5" name="Pillar4_Icon">
            <a:extLst>
              <a:ext uri="{FF2B5EF4-FFF2-40B4-BE49-F238E27FC236}">
                <a16:creationId xmlns:a16="http://schemas.microsoft.com/office/drawing/2014/main" id="{075F228D-52BB-2E0F-81A6-56E6355BEDF9}"/>
              </a:ext>
            </a:extLst>
          </p:cNvPr>
          <p:cNvSpPr>
            <a:spLocks noGrp="1"/>
          </p:cNvSpPr>
          <p:nvPr>
            <p:ph type="pic" sz="quarter" idx="24"/>
          </p:nvPr>
        </p:nvSpPr>
        <p:spPr>
          <a:xfrm>
            <a:off x="98679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6" name="Pillar2_Icon">
            <a:extLst>
              <a:ext uri="{FF2B5EF4-FFF2-40B4-BE49-F238E27FC236}">
                <a16:creationId xmlns:a16="http://schemas.microsoft.com/office/drawing/2014/main" id="{EA5DCE3B-2DAA-5289-8E6D-CAFC04749402}"/>
              </a:ext>
            </a:extLst>
          </p:cNvPr>
          <p:cNvSpPr>
            <a:spLocks noGrp="1"/>
          </p:cNvSpPr>
          <p:nvPr>
            <p:ph type="pic" sz="quarter" idx="25"/>
          </p:nvPr>
        </p:nvSpPr>
        <p:spPr>
          <a:xfrm>
            <a:off x="4223331" y="2002536"/>
            <a:ext cx="914400" cy="914400"/>
          </a:xfrm>
          <a:prstGeom prst="rect">
            <a:avLst/>
          </a:prstGeom>
        </p:spPr>
        <p:txBody>
          <a:bodyPr/>
          <a:lstStyle>
            <a:lvl1pPr>
              <a:buNone/>
              <a:defRPr/>
            </a:lvl1pPr>
          </a:lstStyle>
          <a:p>
            <a:r>
              <a:rPr lang="fr-FR"/>
              <a:t>Cliquez sur l'icône pour ajouter une image</a:t>
            </a:r>
            <a:endParaRPr lang="fr-FR" dirty="0"/>
          </a:p>
        </p:txBody>
      </p:sp>
      <p:sp>
        <p:nvSpPr>
          <p:cNvPr id="27" name="Pillar1_Icon">
            <a:extLst>
              <a:ext uri="{FF2B5EF4-FFF2-40B4-BE49-F238E27FC236}">
                <a16:creationId xmlns:a16="http://schemas.microsoft.com/office/drawing/2014/main" id="{8027FAC8-0EAB-8AF1-6B50-A366197AB22E}"/>
              </a:ext>
            </a:extLst>
          </p:cNvPr>
          <p:cNvSpPr>
            <a:spLocks noGrp="1"/>
          </p:cNvSpPr>
          <p:nvPr>
            <p:ph type="pic" sz="quarter" idx="26"/>
          </p:nvPr>
        </p:nvSpPr>
        <p:spPr>
          <a:xfrm>
            <a:off x="1403931"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Nos piliers</a:t>
            </a:r>
          </a:p>
        </p:txBody>
      </p:sp>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0" name="Pillar1_Title"/>
          <p:cNvSpPr>
            <a:spLocks noGrp="1"/>
          </p:cNvSpPr>
          <p:nvPr>
            <p:ph type="body" idx="12" hasCustomPrompt="1"/>
          </p:nvPr>
        </p:nvSpPr>
        <p:spPr>
          <a:xfrm>
            <a:off x="5486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1" name="Pillar1_Description"/>
          <p:cNvSpPr>
            <a:spLocks noGrp="1"/>
          </p:cNvSpPr>
          <p:nvPr>
            <p:ph type="body" idx="13" hasCustomPrompt="1"/>
          </p:nvPr>
        </p:nvSpPr>
        <p:spPr>
          <a:xfrm>
            <a:off x="5486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4" name="Pillar2_Title"/>
          <p:cNvSpPr>
            <a:spLocks noGrp="1"/>
          </p:cNvSpPr>
          <p:nvPr>
            <p:ph type="body" idx="15" hasCustomPrompt="1"/>
          </p:nvPr>
        </p:nvSpPr>
        <p:spPr>
          <a:xfrm>
            <a:off x="33680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5" name="Pillar2_Description"/>
          <p:cNvSpPr>
            <a:spLocks noGrp="1"/>
          </p:cNvSpPr>
          <p:nvPr>
            <p:ph type="body" idx="16" hasCustomPrompt="1"/>
          </p:nvPr>
        </p:nvSpPr>
        <p:spPr>
          <a:xfrm>
            <a:off x="33680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8" name="Pillar3_Title"/>
          <p:cNvSpPr>
            <a:spLocks noGrp="1"/>
          </p:cNvSpPr>
          <p:nvPr>
            <p:ph type="body" idx="18" hasCustomPrompt="1"/>
          </p:nvPr>
        </p:nvSpPr>
        <p:spPr>
          <a:xfrm>
            <a:off x="61874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9" name="Pillar3_Description"/>
          <p:cNvSpPr>
            <a:spLocks noGrp="1"/>
          </p:cNvSpPr>
          <p:nvPr>
            <p:ph type="body" idx="19" hasCustomPrompt="1"/>
          </p:nvPr>
        </p:nvSpPr>
        <p:spPr>
          <a:xfrm>
            <a:off x="61874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22" name="Pillar4_Title"/>
          <p:cNvSpPr>
            <a:spLocks noGrp="1"/>
          </p:cNvSpPr>
          <p:nvPr>
            <p:ph type="body" idx="21" hasCustomPrompt="1"/>
          </p:nvPr>
        </p:nvSpPr>
        <p:spPr>
          <a:xfrm>
            <a:off x="90068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23" name="Pillar4_Description"/>
          <p:cNvSpPr>
            <a:spLocks noGrp="1"/>
          </p:cNvSpPr>
          <p:nvPr>
            <p:ph type="body" idx="22" hasCustomPrompt="1"/>
          </p:nvPr>
        </p:nvSpPr>
        <p:spPr>
          <a:xfrm>
            <a:off x="90068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22_INTRO_ENTREPRIS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Présentation de SCIAM</a:t>
            </a:r>
          </a:p>
        </p:txBody>
      </p:sp>
      <p:sp>
        <p:nvSpPr>
          <p:cNvPr id="8" name="IntroText"/>
          <p:cNvSpPr>
            <a:spLocks noGrp="1"/>
          </p:cNvSpPr>
          <p:nvPr>
            <p:ph type="body" idx="11" hasCustomPrompt="1"/>
          </p:nvPr>
        </p:nvSpPr>
        <p:spPr>
          <a:xfrm>
            <a:off x="548640" y="2011680"/>
            <a:ext cx="6656832" cy="4297680"/>
          </a:xfrm>
          <a:prstGeom prst="rect">
            <a:avLst/>
          </a:prstGeom>
          <a:noFill/>
          <a:ln/>
        </p:spPr>
        <p:txBody>
          <a:bodyPr wrap="square" rtlCol="0" anchor="t">
            <a:normAutofit/>
          </a:bodyPr>
          <a:lstStyle>
            <a:lvl1pPr marL="0" indent="0" algn="l">
              <a:lnSpc>
                <a:spcPct val="145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Présentez l’entreprise : positionnement, expertise, valeurs. Mettez en gras les mots clés.</a:t>
            </a:r>
          </a:p>
        </p:txBody>
      </p:sp>
      <p:grpSp>
        <p:nvGrpSpPr>
          <p:cNvPr id="22" name="Fact1_CardGroup"/>
          <p:cNvGrpSpPr/>
          <p:nvPr/>
        </p:nvGrpSpPr>
        <p:grpSpPr>
          <a:xfrm>
            <a:off x="7479792" y="2011680"/>
            <a:ext cx="4163568" cy="1310640"/>
            <a:chOff x="7479792" y="2011680"/>
            <a:chExt cx="4163568" cy="1310640"/>
          </a:xfrm>
        </p:grpSpPr>
        <p:sp>
          <p:nvSpPr>
            <p:cNvPr id="9" name="Fact1_CardBackground"/>
            <p:cNvSpPr/>
            <p:nvPr/>
          </p:nvSpPr>
          <p:spPr>
            <a:xfrm>
              <a:off x="7479792" y="2011680"/>
              <a:ext cx="4163568" cy="1310640"/>
            </a:xfrm>
            <a:prstGeom prst="rect">
              <a:avLst/>
            </a:prstGeom>
            <a:solidFill>
              <a:srgbClr val="ECEEF2"/>
            </a:solidFill>
            <a:ln/>
          </p:spPr>
        </p:sp>
        <p:sp>
          <p:nvSpPr>
            <p:cNvPr id="10" name="Fact1_CardAccentLeft"/>
            <p:cNvSpPr/>
            <p:nvPr/>
          </p:nvSpPr>
          <p:spPr>
            <a:xfrm>
              <a:off x="7479792" y="2011680"/>
              <a:ext cx="18288" cy="1310640"/>
            </a:xfrm>
            <a:prstGeom prst="rect">
              <a:avLst/>
            </a:prstGeom>
            <a:solidFill>
              <a:schemeClr val="accent1"/>
            </a:solidFill>
            <a:ln/>
          </p:spPr>
        </p:sp>
      </p:grpSp>
      <p:sp>
        <p:nvSpPr>
          <p:cNvPr id="11" name="Fact1_Label"/>
          <p:cNvSpPr>
            <a:spLocks noGrp="1"/>
          </p:cNvSpPr>
          <p:nvPr>
            <p:ph type="body" idx="12" hasCustomPrompt="1"/>
          </p:nvPr>
        </p:nvSpPr>
        <p:spPr>
          <a:xfrm>
            <a:off x="7616952" y="205740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2" name="Fact1_Detail"/>
          <p:cNvSpPr>
            <a:spLocks noGrp="1"/>
          </p:cNvSpPr>
          <p:nvPr>
            <p:ph type="body" idx="13" hasCustomPrompt="1"/>
          </p:nvPr>
        </p:nvSpPr>
        <p:spPr>
          <a:xfrm>
            <a:off x="7616952" y="266700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3" name="Fact2_CardGroup"/>
          <p:cNvGrpSpPr/>
          <p:nvPr/>
        </p:nvGrpSpPr>
        <p:grpSpPr>
          <a:xfrm>
            <a:off x="7479792" y="3505200"/>
            <a:ext cx="4163568" cy="1310640"/>
            <a:chOff x="7479792" y="3505200"/>
            <a:chExt cx="4163568" cy="1310640"/>
          </a:xfrm>
        </p:grpSpPr>
        <p:sp>
          <p:nvSpPr>
            <p:cNvPr id="13" name="Fact2_CardBackground"/>
            <p:cNvSpPr/>
            <p:nvPr/>
          </p:nvSpPr>
          <p:spPr>
            <a:xfrm>
              <a:off x="7479792" y="3505200"/>
              <a:ext cx="4163568" cy="1310640"/>
            </a:xfrm>
            <a:prstGeom prst="rect">
              <a:avLst/>
            </a:prstGeom>
            <a:solidFill>
              <a:srgbClr val="ECEEF2"/>
            </a:solidFill>
            <a:ln/>
          </p:spPr>
        </p:sp>
        <p:sp>
          <p:nvSpPr>
            <p:cNvPr id="14" name="Fact2_CardAccentLeft"/>
            <p:cNvSpPr/>
            <p:nvPr/>
          </p:nvSpPr>
          <p:spPr>
            <a:xfrm>
              <a:off x="7479792" y="3505200"/>
              <a:ext cx="18288" cy="1310640"/>
            </a:xfrm>
            <a:prstGeom prst="rect">
              <a:avLst/>
            </a:prstGeom>
            <a:solidFill>
              <a:schemeClr val="accent1"/>
            </a:solidFill>
            <a:ln/>
          </p:spPr>
        </p:sp>
      </p:grpSp>
      <p:sp>
        <p:nvSpPr>
          <p:cNvPr id="15" name="Fact2_Label"/>
          <p:cNvSpPr>
            <a:spLocks noGrp="1"/>
          </p:cNvSpPr>
          <p:nvPr>
            <p:ph type="body" idx="14" hasCustomPrompt="1"/>
          </p:nvPr>
        </p:nvSpPr>
        <p:spPr>
          <a:xfrm>
            <a:off x="7616952" y="355092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6" name="Fact2_Detail"/>
          <p:cNvSpPr>
            <a:spLocks noGrp="1"/>
          </p:cNvSpPr>
          <p:nvPr>
            <p:ph type="body" idx="15" hasCustomPrompt="1"/>
          </p:nvPr>
        </p:nvSpPr>
        <p:spPr>
          <a:xfrm>
            <a:off x="7616952" y="416052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4" name="Fact3_CardGroup"/>
          <p:cNvGrpSpPr/>
          <p:nvPr/>
        </p:nvGrpSpPr>
        <p:grpSpPr>
          <a:xfrm>
            <a:off x="7479792" y="4998720"/>
            <a:ext cx="4163568" cy="1310640"/>
            <a:chOff x="7479792" y="4998720"/>
            <a:chExt cx="4163568" cy="1310640"/>
          </a:xfrm>
        </p:grpSpPr>
        <p:sp>
          <p:nvSpPr>
            <p:cNvPr id="17" name="Fact3_CardBackground"/>
            <p:cNvSpPr/>
            <p:nvPr/>
          </p:nvSpPr>
          <p:spPr>
            <a:xfrm>
              <a:off x="7479792" y="4998720"/>
              <a:ext cx="4163568" cy="1310640"/>
            </a:xfrm>
            <a:prstGeom prst="rect">
              <a:avLst/>
            </a:prstGeom>
            <a:solidFill>
              <a:srgbClr val="ECEEF2"/>
            </a:solidFill>
            <a:ln/>
          </p:spPr>
        </p:sp>
        <p:sp>
          <p:nvSpPr>
            <p:cNvPr id="18" name="Fact3_CardAccentLeft"/>
            <p:cNvSpPr/>
            <p:nvPr/>
          </p:nvSpPr>
          <p:spPr>
            <a:xfrm>
              <a:off x="7479792" y="4998720"/>
              <a:ext cx="18288" cy="1310640"/>
            </a:xfrm>
            <a:prstGeom prst="rect">
              <a:avLst/>
            </a:prstGeom>
            <a:solidFill>
              <a:schemeClr val="accent1"/>
            </a:solidFill>
            <a:ln/>
          </p:spPr>
        </p:sp>
      </p:grpSp>
      <p:sp>
        <p:nvSpPr>
          <p:cNvPr id="19" name="Fact3_Label"/>
          <p:cNvSpPr>
            <a:spLocks noGrp="1"/>
          </p:cNvSpPr>
          <p:nvPr>
            <p:ph type="body" idx="16" hasCustomPrompt="1"/>
          </p:nvPr>
        </p:nvSpPr>
        <p:spPr>
          <a:xfrm>
            <a:off x="7616952" y="504444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20" name="Fact3_Detail"/>
          <p:cNvSpPr>
            <a:spLocks noGrp="1"/>
          </p:cNvSpPr>
          <p:nvPr>
            <p:ph type="body" idx="17" hasCustomPrompt="1"/>
          </p:nvPr>
        </p:nvSpPr>
        <p:spPr>
          <a:xfrm>
            <a:off x="7616952" y="565404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3_ECHELLE_MATURITE">
    <p:spTree>
      <p:nvGrpSpPr>
        <p:cNvPr id="1" name=""/>
        <p:cNvGrpSpPr/>
        <p:nvPr/>
      </p:nvGrpSpPr>
      <p:grpSpPr>
        <a:xfrm>
          <a:off x="0" y="0"/>
          <a:ext cx="0" cy="0"/>
          <a:chOff x="0" y="0"/>
          <a:chExt cx="0" cy="0"/>
        </a:xfrm>
      </p:grpSpPr>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Trajectoire de maturité</a:t>
            </a:r>
          </a:p>
        </p:txBody>
      </p:sp>
      <p:sp>
        <p:nvSpPr>
          <p:cNvPr id="9" name="Level1_CardAccentLeft"/>
          <p:cNvSpPr/>
          <p:nvPr/>
        </p:nvSpPr>
        <p:spPr>
          <a:xfrm>
            <a:off x="548640" y="3775647"/>
            <a:ext cx="36576" cy="2557296"/>
          </a:xfrm>
          <a:prstGeom prst="rect">
            <a:avLst/>
          </a:prstGeom>
          <a:solidFill>
            <a:schemeClr val="accent1"/>
          </a:solidFill>
          <a:ln/>
        </p:spPr>
      </p:sp>
      <p:sp>
        <p:nvSpPr>
          <p:cNvPr id="11" name="Level1_Title"/>
          <p:cNvSpPr>
            <a:spLocks noGrp="1"/>
          </p:cNvSpPr>
          <p:nvPr>
            <p:ph type="body" idx="11" hasCustomPrompt="1"/>
          </p:nvPr>
        </p:nvSpPr>
        <p:spPr>
          <a:xfrm>
            <a:off x="708660" y="3900831"/>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2" name="Level1_Description"/>
          <p:cNvSpPr>
            <a:spLocks noGrp="1"/>
          </p:cNvSpPr>
          <p:nvPr>
            <p:ph type="body" idx="12" hasCustomPrompt="1"/>
          </p:nvPr>
        </p:nvSpPr>
        <p:spPr>
          <a:xfrm>
            <a:off x="708660" y="4403751"/>
            <a:ext cx="2316480" cy="1768449"/>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4" name="Level2_CardAccentLeft"/>
          <p:cNvSpPr/>
          <p:nvPr/>
        </p:nvSpPr>
        <p:spPr>
          <a:xfrm>
            <a:off x="3368040" y="3422421"/>
            <a:ext cx="36576" cy="2876959"/>
          </a:xfrm>
          <a:prstGeom prst="rect">
            <a:avLst/>
          </a:prstGeom>
          <a:solidFill>
            <a:schemeClr val="accent1"/>
          </a:solidFill>
          <a:ln/>
        </p:spPr>
      </p:sp>
      <p:sp>
        <p:nvSpPr>
          <p:cNvPr id="16" name="Level2_Title"/>
          <p:cNvSpPr>
            <a:spLocks noGrp="1"/>
          </p:cNvSpPr>
          <p:nvPr>
            <p:ph type="body" idx="13" hasCustomPrompt="1"/>
          </p:nvPr>
        </p:nvSpPr>
        <p:spPr>
          <a:xfrm>
            <a:off x="3528060" y="351404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7" name="Level2_Description"/>
          <p:cNvSpPr>
            <a:spLocks noGrp="1"/>
          </p:cNvSpPr>
          <p:nvPr>
            <p:ph type="body" idx="14" hasCustomPrompt="1"/>
          </p:nvPr>
        </p:nvSpPr>
        <p:spPr>
          <a:xfrm>
            <a:off x="3528060" y="4016960"/>
            <a:ext cx="2316480" cy="215524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9" name="Level3_CardAccentLeft"/>
          <p:cNvSpPr/>
          <p:nvPr/>
        </p:nvSpPr>
        <p:spPr>
          <a:xfrm>
            <a:off x="6187440" y="3069193"/>
            <a:ext cx="36576" cy="3196622"/>
          </a:xfrm>
          <a:prstGeom prst="rect">
            <a:avLst/>
          </a:prstGeom>
          <a:solidFill>
            <a:schemeClr val="accent1"/>
          </a:solidFill>
          <a:ln/>
        </p:spPr>
      </p:sp>
      <p:sp>
        <p:nvSpPr>
          <p:cNvPr id="21" name="Level3_Title"/>
          <p:cNvSpPr>
            <a:spLocks noGrp="1"/>
          </p:cNvSpPr>
          <p:nvPr>
            <p:ph type="body" idx="15" hasCustomPrompt="1"/>
          </p:nvPr>
        </p:nvSpPr>
        <p:spPr>
          <a:xfrm>
            <a:off x="6347460" y="3127248"/>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2" name="Level3_Description"/>
          <p:cNvSpPr>
            <a:spLocks noGrp="1"/>
          </p:cNvSpPr>
          <p:nvPr>
            <p:ph type="body" idx="16" hasCustomPrompt="1"/>
          </p:nvPr>
        </p:nvSpPr>
        <p:spPr>
          <a:xfrm>
            <a:off x="6347460" y="3630168"/>
            <a:ext cx="2316480" cy="2542032"/>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24" name="Level4_CardAccentLeft"/>
          <p:cNvSpPr/>
          <p:nvPr/>
        </p:nvSpPr>
        <p:spPr>
          <a:xfrm>
            <a:off x="9006840" y="2676719"/>
            <a:ext cx="36576" cy="3551802"/>
          </a:xfrm>
          <a:prstGeom prst="rect">
            <a:avLst/>
          </a:prstGeom>
          <a:solidFill>
            <a:schemeClr val="accent1"/>
          </a:solidFill>
          <a:ln/>
        </p:spPr>
      </p:sp>
      <p:sp>
        <p:nvSpPr>
          <p:cNvPr id="26" name="Level4_Title"/>
          <p:cNvSpPr>
            <a:spLocks noGrp="1"/>
          </p:cNvSpPr>
          <p:nvPr>
            <p:ph type="body" idx="17" hasCustomPrompt="1"/>
          </p:nvPr>
        </p:nvSpPr>
        <p:spPr>
          <a:xfrm>
            <a:off x="9166860" y="269748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7" name="Level4_Description"/>
          <p:cNvSpPr>
            <a:spLocks noGrp="1"/>
          </p:cNvSpPr>
          <p:nvPr>
            <p:ph type="body" idx="18" hasCustomPrompt="1"/>
          </p:nvPr>
        </p:nvSpPr>
        <p:spPr>
          <a:xfrm>
            <a:off x="9166860" y="3200400"/>
            <a:ext cx="2316480" cy="297180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4_FICHE_ACTION">
    <p:spTree>
      <p:nvGrpSpPr>
        <p:cNvPr id="1" name=""/>
        <p:cNvGrpSpPr/>
        <p:nvPr/>
      </p:nvGrpSpPr>
      <p:grpSpPr>
        <a:xfrm>
          <a:off x="0" y="0"/>
          <a:ext cx="0" cy="0"/>
          <a:chOff x="0" y="0"/>
          <a:chExt cx="0" cy="0"/>
        </a:xfrm>
      </p:grpSpPr>
      <p:grpSp>
        <p:nvGrpSpPr>
          <p:cNvPr id="1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Phase d’audit</a:t>
            </a:r>
          </a:p>
        </p:txBody>
      </p:sp>
      <p:sp>
        <p:nvSpPr>
          <p:cNvPr id="8" name="ObjectiveBackground"/>
          <p:cNvSpPr/>
          <p:nvPr/>
        </p:nvSpPr>
        <p:spPr>
          <a:xfrm>
            <a:off x="548640" y="1586230"/>
            <a:ext cx="11094720" cy="640080"/>
          </a:xfrm>
          <a:prstGeom prst="rect">
            <a:avLst/>
          </a:prstGeom>
          <a:solidFill>
            <a:schemeClr val="accent1"/>
          </a:solidFill>
          <a:ln/>
        </p:spPr>
      </p:sp>
      <p:sp>
        <p:nvSpPr>
          <p:cNvPr id="9" name="ObjectiveText"/>
          <p:cNvSpPr>
            <a:spLocks noGrp="1"/>
          </p:cNvSpPr>
          <p:nvPr>
            <p:ph type="body" idx="11" hasCustomPrompt="1"/>
          </p:nvPr>
        </p:nvSpPr>
        <p:spPr>
          <a:xfrm>
            <a:off x="708660" y="1586230"/>
            <a:ext cx="10774680" cy="640080"/>
          </a:xfrm>
          <a:prstGeom prst="rect">
            <a:avLst/>
          </a:prstGeom>
          <a:noFill/>
          <a:ln/>
        </p:spPr>
        <p:txBody>
          <a:bodyPr wrap="square" rtlCol="0" anchor="ctr">
            <a:normAutofit/>
          </a:bodyPr>
          <a:lstStyle>
            <a:lvl1pPr marL="0" indent="0" algn="l">
              <a:lnSpc>
                <a:spcPct val="110000"/>
              </a:lnSpc>
              <a:buNone/>
              <a:defRPr lang="fr-FR" sz="1500" b="1" spc="0" dirty="0">
                <a:solidFill>
                  <a:schemeClr val="lt2"/>
                </a:solidFill>
                <a:latin typeface="+mn-lt" pitchFamily="34" charset="0"/>
                <a:ea typeface="+mn-ea" pitchFamily="34" charset="-122"/>
                <a:cs typeface="+mn-cs" pitchFamily="34" charset="-120"/>
              </a:defRPr>
            </a:lvl1pPr>
          </a:lstStyle>
          <a:p>
            <a:pPr marL="0" indent="0" algn="l">
              <a:buNone/>
            </a:pPr>
            <a:r>
              <a:rPr lang="fr-FR" sz="1500" b="1" dirty="0">
                <a:solidFill>
                  <a:schemeClr val="lt2"/>
                </a:solidFill>
                <a:latin typeface="+mn-lt" pitchFamily="34" charset="0"/>
                <a:ea typeface="+mn-ea" pitchFamily="34" charset="-122"/>
                <a:cs typeface="+mn-cs" pitchFamily="34" charset="-120"/>
              </a:rPr>
              <a:t>Objectif : décrivez l’objectif de cette phase.</a:t>
            </a:r>
          </a:p>
        </p:txBody>
      </p:sp>
      <p:sp>
        <p:nvSpPr>
          <p:cNvPr id="10" name="ActivitiesTitle"/>
          <p:cNvSpPr>
            <a:spLocks noGrp="1"/>
          </p:cNvSpPr>
          <p:nvPr>
            <p:ph type="body" idx="12" hasCustomPrompt="1"/>
          </p:nvPr>
        </p:nvSpPr>
        <p:spPr>
          <a:xfrm>
            <a:off x="548640" y="2466340"/>
            <a:ext cx="6878726"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Activités clés</a:t>
            </a:r>
          </a:p>
        </p:txBody>
      </p:sp>
      <p:sp>
        <p:nvSpPr>
          <p:cNvPr id="11" name="ActivitiesText"/>
          <p:cNvSpPr>
            <a:spLocks noGrp="1"/>
          </p:cNvSpPr>
          <p:nvPr>
            <p:ph type="body" idx="13" hasCustomPrompt="1"/>
          </p:nvPr>
        </p:nvSpPr>
        <p:spPr>
          <a:xfrm>
            <a:off x="548640" y="2969259"/>
            <a:ext cx="6878726" cy="3257187"/>
          </a:xfrm>
          <a:prstGeom prst="rect">
            <a:avLst/>
          </a:prstGeom>
          <a:noFill/>
          <a:ln/>
        </p:spPr>
        <p:txBody>
          <a:bodyPr wrap="square" rtlCol="0" anchor="t">
            <a:normAutofit/>
          </a:bodyPr>
          <a:lstStyle>
            <a:lvl1pPr marL="0" indent="0" algn="l">
              <a:lnSpc>
                <a:spcPct val="145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Listez les activités principales de la phase.</a:t>
            </a:r>
          </a:p>
        </p:txBody>
      </p:sp>
      <p:sp>
        <p:nvSpPr>
          <p:cNvPr id="13" name="ModalitiesCardAccentTop"/>
          <p:cNvSpPr/>
          <p:nvPr/>
        </p:nvSpPr>
        <p:spPr>
          <a:xfrm>
            <a:off x="7701686" y="2466340"/>
            <a:ext cx="3941674" cy="36576"/>
          </a:xfrm>
          <a:prstGeom prst="rect">
            <a:avLst/>
          </a:prstGeom>
          <a:solidFill>
            <a:schemeClr val="accent1"/>
          </a:solidFill>
          <a:ln/>
        </p:spPr>
      </p:sp>
      <p:sp>
        <p:nvSpPr>
          <p:cNvPr id="14" name="ModalitiesTitle"/>
          <p:cNvSpPr>
            <a:spLocks noGrp="1"/>
          </p:cNvSpPr>
          <p:nvPr>
            <p:ph type="body" idx="14" hasCustomPrompt="1"/>
          </p:nvPr>
        </p:nvSpPr>
        <p:spPr>
          <a:xfrm>
            <a:off x="7838846" y="2603500"/>
            <a:ext cx="3667354"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Modalités</a:t>
            </a:r>
          </a:p>
        </p:txBody>
      </p:sp>
      <p:sp>
        <p:nvSpPr>
          <p:cNvPr id="15" name="ModalitiesText"/>
          <p:cNvSpPr>
            <a:spLocks noGrp="1"/>
          </p:cNvSpPr>
          <p:nvPr>
            <p:ph type="body" idx="15" hasCustomPrompt="1"/>
          </p:nvPr>
        </p:nvSpPr>
        <p:spPr>
          <a:xfrm>
            <a:off x="7838846" y="3060700"/>
            <a:ext cx="3667354" cy="3156966"/>
          </a:xfrm>
          <a:prstGeom prst="rect">
            <a:avLst/>
          </a:prstGeom>
          <a:noFill/>
          <a:ln/>
        </p:spPr>
        <p:txBody>
          <a:bodyPr wrap="square" rtlCol="0" anchor="t">
            <a:normAutofit/>
          </a:bodyPr>
          <a:lstStyle>
            <a:lvl1pPr marL="0" indent="0" algn="l">
              <a:lnSpc>
                <a:spcPct val="13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Durée · participants · livrables.</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5_CYCLE_DE_VIE">
    <p:spTree>
      <p:nvGrpSpPr>
        <p:cNvPr id="1" name=""/>
        <p:cNvGrpSpPr/>
        <p:nvPr/>
      </p:nvGrpSpPr>
      <p:grpSpPr>
        <a:xfrm>
          <a:off x="0" y="0"/>
          <a:ext cx="0" cy="0"/>
          <a:chOff x="0" y="0"/>
          <a:chExt cx="0" cy="0"/>
        </a:xfrm>
      </p:grpSpPr>
      <p:grpSp>
        <p:nvGrpSpPr>
          <p:cNvPr id="2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Cycle de vie</a:t>
            </a:r>
          </a:p>
        </p:txBody>
      </p:sp>
      <p:sp>
        <p:nvSpPr>
          <p:cNvPr id="8" name="CycleLine"/>
          <p:cNvSpPr/>
          <p:nvPr/>
        </p:nvSpPr>
        <p:spPr>
          <a:xfrm>
            <a:off x="1427480" y="2651760"/>
            <a:ext cx="9337040" cy="27432"/>
          </a:xfrm>
          <a:prstGeom prst="rect">
            <a:avLst/>
          </a:prstGeom>
          <a:solidFill>
            <a:schemeClr val="accent1"/>
          </a:solidFill>
          <a:ln/>
        </p:spPr>
      </p:sp>
      <p:grpSp>
        <p:nvGrpSpPr>
          <p:cNvPr id="28" name="Phase1_MarkerGroup"/>
          <p:cNvGrpSpPr/>
          <p:nvPr userDrawn="1"/>
        </p:nvGrpSpPr>
        <p:grpSpPr>
          <a:xfrm>
            <a:off x="1107440" y="2331720"/>
            <a:ext cx="640080" cy="640080"/>
            <a:chOff x="1107440" y="2331720"/>
            <a:chExt cx="640080" cy="640080"/>
          </a:xfrm>
        </p:grpSpPr>
        <p:sp>
          <p:nvSpPr>
            <p:cNvPr id="9" name="Phase1_MarkerBackground"/>
            <p:cNvSpPr/>
            <p:nvPr/>
          </p:nvSpPr>
          <p:spPr>
            <a:xfrm>
              <a:off x="1107440" y="2331720"/>
              <a:ext cx="640080" cy="640080"/>
            </a:xfrm>
            <a:prstGeom prst="ellipse">
              <a:avLst/>
            </a:prstGeom>
            <a:solidFill>
              <a:srgbClr val="FBF9F6"/>
            </a:solidFill>
            <a:ln w="12700">
              <a:solidFill>
                <a:schemeClr val="accent1"/>
              </a:solidFill>
            </a:ln>
          </p:spPr>
        </p:sp>
        <p:sp>
          <p:nvSpPr>
            <p:cNvPr id="10" name="Phase1_Number"/>
            <p:cNvSpPr txBox="1"/>
            <p:nvPr userDrawn="1"/>
          </p:nvSpPr>
          <p:spPr>
            <a:xfrm>
              <a:off x="110744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1</a:t>
              </a:r>
            </a:p>
          </p:txBody>
        </p:sp>
      </p:grpSp>
      <p:sp>
        <p:nvSpPr>
          <p:cNvPr id="11" name="Phase1_Title"/>
          <p:cNvSpPr>
            <a:spLocks noGrp="1"/>
          </p:cNvSpPr>
          <p:nvPr>
            <p:ph type="body" idx="11" hasCustomPrompt="1"/>
          </p:nvPr>
        </p:nvSpPr>
        <p:spPr>
          <a:xfrm>
            <a:off x="54864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29" name="Phase2_MarkerGroup"/>
          <p:cNvGrpSpPr/>
          <p:nvPr/>
        </p:nvGrpSpPr>
        <p:grpSpPr>
          <a:xfrm>
            <a:off x="2974848" y="2331720"/>
            <a:ext cx="640080" cy="640080"/>
            <a:chOff x="2974848" y="2331720"/>
            <a:chExt cx="640080" cy="640080"/>
          </a:xfrm>
        </p:grpSpPr>
        <p:sp>
          <p:nvSpPr>
            <p:cNvPr id="12" name="Phase2_MarkerBackground"/>
            <p:cNvSpPr/>
            <p:nvPr/>
          </p:nvSpPr>
          <p:spPr>
            <a:xfrm>
              <a:off x="2974848" y="2331720"/>
              <a:ext cx="640080" cy="640080"/>
            </a:xfrm>
            <a:prstGeom prst="ellipse">
              <a:avLst/>
            </a:prstGeom>
            <a:solidFill>
              <a:srgbClr val="FBF9F6"/>
            </a:solidFill>
            <a:ln w="12700">
              <a:solidFill>
                <a:schemeClr val="accent1"/>
              </a:solidFill>
            </a:ln>
          </p:spPr>
        </p:sp>
        <p:sp>
          <p:nvSpPr>
            <p:cNvPr id="13" name="Phase2_Number"/>
            <p:cNvSpPr txBox="1"/>
            <p:nvPr/>
          </p:nvSpPr>
          <p:spPr>
            <a:xfrm>
              <a:off x="2974848"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2</a:t>
              </a:r>
            </a:p>
          </p:txBody>
        </p:sp>
      </p:grpSp>
      <p:sp>
        <p:nvSpPr>
          <p:cNvPr id="14" name="Phase2_Title"/>
          <p:cNvSpPr>
            <a:spLocks noGrp="1"/>
          </p:cNvSpPr>
          <p:nvPr>
            <p:ph type="body" idx="12" hasCustomPrompt="1"/>
          </p:nvPr>
        </p:nvSpPr>
        <p:spPr>
          <a:xfrm>
            <a:off x="2416048"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0" name="Phase3_MarkerGroup"/>
          <p:cNvGrpSpPr/>
          <p:nvPr userDrawn="1"/>
        </p:nvGrpSpPr>
        <p:grpSpPr>
          <a:xfrm>
            <a:off x="4842256" y="2331720"/>
            <a:ext cx="640080" cy="640080"/>
            <a:chOff x="4842256" y="2331720"/>
            <a:chExt cx="640080" cy="640080"/>
          </a:xfrm>
        </p:grpSpPr>
        <p:sp>
          <p:nvSpPr>
            <p:cNvPr id="15" name="Phase3_MarkerBackground"/>
            <p:cNvSpPr/>
            <p:nvPr userDrawn="1"/>
          </p:nvSpPr>
          <p:spPr>
            <a:xfrm>
              <a:off x="4842256" y="2331720"/>
              <a:ext cx="640080" cy="640080"/>
            </a:xfrm>
            <a:prstGeom prst="ellipse">
              <a:avLst/>
            </a:prstGeom>
            <a:solidFill>
              <a:srgbClr val="FBF9F6"/>
            </a:solidFill>
            <a:ln w="12700">
              <a:solidFill>
                <a:schemeClr val="accent1"/>
              </a:solidFill>
            </a:ln>
          </p:spPr>
        </p:sp>
        <p:sp>
          <p:nvSpPr>
            <p:cNvPr id="16" name="Phase3_Number"/>
            <p:cNvSpPr txBox="1"/>
            <p:nvPr/>
          </p:nvSpPr>
          <p:spPr>
            <a:xfrm>
              <a:off x="4842256"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3</a:t>
              </a:r>
            </a:p>
          </p:txBody>
        </p:sp>
      </p:grpSp>
      <p:sp>
        <p:nvSpPr>
          <p:cNvPr id="17" name="Phase3_Title"/>
          <p:cNvSpPr>
            <a:spLocks noGrp="1"/>
          </p:cNvSpPr>
          <p:nvPr>
            <p:ph type="body" idx="13" hasCustomPrompt="1"/>
          </p:nvPr>
        </p:nvSpPr>
        <p:spPr>
          <a:xfrm>
            <a:off x="4283456"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1" name="Phase4_MarkerGroup"/>
          <p:cNvGrpSpPr/>
          <p:nvPr/>
        </p:nvGrpSpPr>
        <p:grpSpPr>
          <a:xfrm>
            <a:off x="6709664" y="2331720"/>
            <a:ext cx="640080" cy="640080"/>
            <a:chOff x="6709664" y="2331720"/>
            <a:chExt cx="640080" cy="640080"/>
          </a:xfrm>
        </p:grpSpPr>
        <p:sp>
          <p:nvSpPr>
            <p:cNvPr id="18" name="Phase4_MarkerBackground"/>
            <p:cNvSpPr/>
            <p:nvPr/>
          </p:nvSpPr>
          <p:spPr>
            <a:xfrm>
              <a:off x="6709664" y="2331720"/>
              <a:ext cx="640080" cy="640080"/>
            </a:xfrm>
            <a:prstGeom prst="ellipse">
              <a:avLst/>
            </a:prstGeom>
            <a:solidFill>
              <a:srgbClr val="FBF9F6"/>
            </a:solidFill>
            <a:ln w="12700">
              <a:solidFill>
                <a:schemeClr val="accent1"/>
              </a:solidFill>
            </a:ln>
          </p:spPr>
        </p:sp>
        <p:sp>
          <p:nvSpPr>
            <p:cNvPr id="19" name="Phase4_Number"/>
            <p:cNvSpPr txBox="1"/>
            <p:nvPr/>
          </p:nvSpPr>
          <p:spPr>
            <a:xfrm>
              <a:off x="6709664"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4</a:t>
              </a:r>
            </a:p>
          </p:txBody>
        </p:sp>
      </p:grpSp>
      <p:sp>
        <p:nvSpPr>
          <p:cNvPr id="20" name="Phase4_Title"/>
          <p:cNvSpPr>
            <a:spLocks noGrp="1"/>
          </p:cNvSpPr>
          <p:nvPr>
            <p:ph type="body" idx="14" hasCustomPrompt="1"/>
          </p:nvPr>
        </p:nvSpPr>
        <p:spPr>
          <a:xfrm>
            <a:off x="6150864"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2" name="Phase5_MarkerGroup"/>
          <p:cNvGrpSpPr/>
          <p:nvPr/>
        </p:nvGrpSpPr>
        <p:grpSpPr>
          <a:xfrm>
            <a:off x="8577072" y="2331720"/>
            <a:ext cx="640080" cy="640080"/>
            <a:chOff x="8577072" y="2331720"/>
            <a:chExt cx="640080" cy="640080"/>
          </a:xfrm>
        </p:grpSpPr>
        <p:sp>
          <p:nvSpPr>
            <p:cNvPr id="21" name="Phase5_MarkerBackground"/>
            <p:cNvSpPr/>
            <p:nvPr/>
          </p:nvSpPr>
          <p:spPr>
            <a:xfrm>
              <a:off x="8577072" y="2331720"/>
              <a:ext cx="640080" cy="640080"/>
            </a:xfrm>
            <a:prstGeom prst="ellipse">
              <a:avLst/>
            </a:prstGeom>
            <a:solidFill>
              <a:srgbClr val="FBF9F6"/>
            </a:solidFill>
            <a:ln w="12700">
              <a:solidFill>
                <a:schemeClr val="accent1"/>
              </a:solidFill>
            </a:ln>
          </p:spPr>
        </p:sp>
        <p:sp>
          <p:nvSpPr>
            <p:cNvPr id="22" name="Phase5_Number"/>
            <p:cNvSpPr txBox="1"/>
            <p:nvPr/>
          </p:nvSpPr>
          <p:spPr>
            <a:xfrm>
              <a:off x="8577072"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5</a:t>
              </a:r>
            </a:p>
          </p:txBody>
        </p:sp>
      </p:grpSp>
      <p:sp>
        <p:nvSpPr>
          <p:cNvPr id="23" name="Phase5_Title"/>
          <p:cNvSpPr>
            <a:spLocks noGrp="1"/>
          </p:cNvSpPr>
          <p:nvPr>
            <p:ph type="body" idx="15" hasCustomPrompt="1"/>
          </p:nvPr>
        </p:nvSpPr>
        <p:spPr>
          <a:xfrm>
            <a:off x="8018272"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3" name="Phase6_MarkerGroup"/>
          <p:cNvGrpSpPr/>
          <p:nvPr/>
        </p:nvGrpSpPr>
        <p:grpSpPr>
          <a:xfrm>
            <a:off x="10444480" y="2331720"/>
            <a:ext cx="640080" cy="640080"/>
            <a:chOff x="10444480" y="2331720"/>
            <a:chExt cx="640080" cy="640080"/>
          </a:xfrm>
        </p:grpSpPr>
        <p:sp>
          <p:nvSpPr>
            <p:cNvPr id="24" name="Phase6_MarkerBackground"/>
            <p:cNvSpPr/>
            <p:nvPr/>
          </p:nvSpPr>
          <p:spPr>
            <a:xfrm>
              <a:off x="10444480" y="2331720"/>
              <a:ext cx="640080" cy="640080"/>
            </a:xfrm>
            <a:prstGeom prst="ellipse">
              <a:avLst/>
            </a:prstGeom>
            <a:solidFill>
              <a:srgbClr val="FBF9F6"/>
            </a:solidFill>
            <a:ln w="12700">
              <a:solidFill>
                <a:schemeClr val="accent1"/>
              </a:solidFill>
            </a:ln>
          </p:spPr>
        </p:sp>
        <p:sp>
          <p:nvSpPr>
            <p:cNvPr id="25" name="Phase6_Number"/>
            <p:cNvSpPr txBox="1"/>
            <p:nvPr/>
          </p:nvSpPr>
          <p:spPr>
            <a:xfrm>
              <a:off x="1044448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6</a:t>
              </a:r>
            </a:p>
          </p:txBody>
        </p:sp>
      </p:grpSp>
      <p:sp>
        <p:nvSpPr>
          <p:cNvPr id="26" name="Phase6_Title"/>
          <p:cNvSpPr>
            <a:spLocks noGrp="1"/>
          </p:cNvSpPr>
          <p:nvPr>
            <p:ph type="body" idx="16" hasCustomPrompt="1"/>
          </p:nvPr>
        </p:nvSpPr>
        <p:spPr>
          <a:xfrm>
            <a:off x="988568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6_DEUX_AXES_NUMERO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Deux axes de travail</a:t>
            </a:r>
          </a:p>
        </p:txBody>
      </p:sp>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5" name="Axis1_DecorGroup"/>
          <p:cNvGrpSpPr/>
          <p:nvPr/>
        </p:nvGrpSpPr>
        <p:grpSpPr>
          <a:xfrm>
            <a:off x="548640" y="2011680"/>
            <a:ext cx="5455920" cy="4206240"/>
            <a:chOff x="548640" y="2011680"/>
            <a:chExt cx="5455920" cy="4206240"/>
          </a:xfrm>
        </p:grpSpPr>
        <p:sp>
          <p:nvSpPr>
            <p:cNvPr id="8" name="Axis1_NumberMarker"/>
            <p:cNvSpPr txBox="1"/>
            <p:nvPr/>
          </p:nvSpPr>
          <p:spPr>
            <a:xfrm>
              <a:off x="5486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1</a:t>
              </a:r>
            </a:p>
          </p:txBody>
        </p:sp>
        <p:sp>
          <p:nvSpPr>
            <p:cNvPr id="10" name="Axis1_SubTheme1_Background"/>
            <p:cNvSpPr/>
            <p:nvPr/>
          </p:nvSpPr>
          <p:spPr>
            <a:xfrm>
              <a:off x="548640" y="2834640"/>
              <a:ext cx="5455920" cy="1645920"/>
            </a:xfrm>
            <a:prstGeom prst="rect">
              <a:avLst/>
            </a:prstGeom>
            <a:solidFill>
              <a:srgbClr val="ECEEF2"/>
            </a:solidFill>
            <a:ln/>
          </p:spPr>
        </p:sp>
        <p:sp>
          <p:nvSpPr>
            <p:cNvPr id="13" name="Axis1_SubTheme2_Background"/>
            <p:cNvSpPr/>
            <p:nvPr/>
          </p:nvSpPr>
          <p:spPr>
            <a:xfrm>
              <a:off x="548640" y="4572000"/>
              <a:ext cx="5455920" cy="1645920"/>
            </a:xfrm>
            <a:prstGeom prst="rect">
              <a:avLst/>
            </a:prstGeom>
            <a:solidFill>
              <a:srgbClr val="ECEEF2"/>
            </a:solidFill>
            <a:ln/>
          </p:spPr>
        </p:sp>
      </p:grpSp>
      <p:sp>
        <p:nvSpPr>
          <p:cNvPr id="9" name="Axis1_Title"/>
          <p:cNvSpPr>
            <a:spLocks noGrp="1"/>
          </p:cNvSpPr>
          <p:nvPr>
            <p:ph type="body" idx="11" hasCustomPrompt="1"/>
          </p:nvPr>
        </p:nvSpPr>
        <p:spPr>
          <a:xfrm>
            <a:off x="12344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1" name="Axis1_SubTheme1_Label"/>
          <p:cNvSpPr>
            <a:spLocks noGrp="1"/>
          </p:cNvSpPr>
          <p:nvPr>
            <p:ph type="body" idx="12" hasCustomPrompt="1"/>
          </p:nvPr>
        </p:nvSpPr>
        <p:spPr>
          <a:xfrm>
            <a:off x="6858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2" name="Axis1_SubTheme1_Detail"/>
          <p:cNvSpPr>
            <a:spLocks noGrp="1"/>
          </p:cNvSpPr>
          <p:nvPr>
            <p:ph type="body" idx="13" hasCustomPrompt="1"/>
          </p:nvPr>
        </p:nvSpPr>
        <p:spPr>
          <a:xfrm>
            <a:off x="6858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14" name="Axis1_SubTheme2_Label"/>
          <p:cNvSpPr>
            <a:spLocks noGrp="1"/>
          </p:cNvSpPr>
          <p:nvPr>
            <p:ph type="body" idx="14" hasCustomPrompt="1"/>
          </p:nvPr>
        </p:nvSpPr>
        <p:spPr>
          <a:xfrm>
            <a:off x="6858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5" name="Axis1_SubTheme2_Detail"/>
          <p:cNvSpPr>
            <a:spLocks noGrp="1"/>
          </p:cNvSpPr>
          <p:nvPr>
            <p:ph type="body" idx="15" hasCustomPrompt="1"/>
          </p:nvPr>
        </p:nvSpPr>
        <p:spPr>
          <a:xfrm>
            <a:off x="6858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grpSp>
        <p:nvGrpSpPr>
          <p:cNvPr id="26" name="Axis2_DecorGroup"/>
          <p:cNvGrpSpPr/>
          <p:nvPr/>
        </p:nvGrpSpPr>
        <p:grpSpPr>
          <a:xfrm>
            <a:off x="6187440" y="2011680"/>
            <a:ext cx="5455920" cy="4206240"/>
            <a:chOff x="6187440" y="2011680"/>
            <a:chExt cx="5455920" cy="4206240"/>
          </a:xfrm>
        </p:grpSpPr>
        <p:sp>
          <p:nvSpPr>
            <p:cNvPr id="16" name="Axis2_NumberMarker"/>
            <p:cNvSpPr txBox="1"/>
            <p:nvPr/>
          </p:nvSpPr>
          <p:spPr>
            <a:xfrm>
              <a:off x="61874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2</a:t>
              </a:r>
            </a:p>
          </p:txBody>
        </p:sp>
        <p:sp>
          <p:nvSpPr>
            <p:cNvPr id="18" name="Axis2_SubTheme1_Background"/>
            <p:cNvSpPr/>
            <p:nvPr/>
          </p:nvSpPr>
          <p:spPr>
            <a:xfrm>
              <a:off x="6187440" y="2834640"/>
              <a:ext cx="5455920" cy="1645920"/>
            </a:xfrm>
            <a:prstGeom prst="rect">
              <a:avLst/>
            </a:prstGeom>
            <a:solidFill>
              <a:srgbClr val="ECEEF2"/>
            </a:solidFill>
            <a:ln/>
          </p:spPr>
        </p:sp>
        <p:sp>
          <p:nvSpPr>
            <p:cNvPr id="21" name="Axis2_SubTheme2_Background"/>
            <p:cNvSpPr/>
            <p:nvPr/>
          </p:nvSpPr>
          <p:spPr>
            <a:xfrm>
              <a:off x="6187440" y="4572000"/>
              <a:ext cx="5455920" cy="1645920"/>
            </a:xfrm>
            <a:prstGeom prst="rect">
              <a:avLst/>
            </a:prstGeom>
            <a:solidFill>
              <a:srgbClr val="ECEEF2"/>
            </a:solidFill>
            <a:ln/>
          </p:spPr>
        </p:sp>
      </p:grpSp>
      <p:sp>
        <p:nvSpPr>
          <p:cNvPr id="17" name="Axis2_Title"/>
          <p:cNvSpPr>
            <a:spLocks noGrp="1"/>
          </p:cNvSpPr>
          <p:nvPr>
            <p:ph type="body" idx="16" hasCustomPrompt="1"/>
          </p:nvPr>
        </p:nvSpPr>
        <p:spPr>
          <a:xfrm>
            <a:off x="68732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9" name="Axis2_SubTheme1_Label"/>
          <p:cNvSpPr>
            <a:spLocks noGrp="1"/>
          </p:cNvSpPr>
          <p:nvPr>
            <p:ph type="body" idx="17" hasCustomPrompt="1"/>
          </p:nvPr>
        </p:nvSpPr>
        <p:spPr>
          <a:xfrm>
            <a:off x="63246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0" name="Axis2_SubTheme1_Detail"/>
          <p:cNvSpPr>
            <a:spLocks noGrp="1"/>
          </p:cNvSpPr>
          <p:nvPr>
            <p:ph type="body" idx="18" hasCustomPrompt="1"/>
          </p:nvPr>
        </p:nvSpPr>
        <p:spPr>
          <a:xfrm>
            <a:off x="63246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22" name="Axis2_SubTheme2_Label"/>
          <p:cNvSpPr>
            <a:spLocks noGrp="1"/>
          </p:cNvSpPr>
          <p:nvPr>
            <p:ph type="body" idx="19" hasCustomPrompt="1"/>
          </p:nvPr>
        </p:nvSpPr>
        <p:spPr>
          <a:xfrm>
            <a:off x="63246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3" name="Axis2_SubTheme2_Detail"/>
          <p:cNvSpPr>
            <a:spLocks noGrp="1"/>
          </p:cNvSpPr>
          <p:nvPr>
            <p:ph type="body" idx="20" hasCustomPrompt="1"/>
          </p:nvPr>
        </p:nvSpPr>
        <p:spPr>
          <a:xfrm>
            <a:off x="63246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7_BENEFICES_3_CAR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Bénéfices</a:t>
            </a:r>
          </a:p>
        </p:txBody>
      </p:sp>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6" name="Card1_DecorGroup"/>
          <p:cNvGrpSpPr/>
          <p:nvPr/>
        </p:nvGrpSpPr>
        <p:grpSpPr>
          <a:xfrm>
            <a:off x="548640" y="2011680"/>
            <a:ext cx="3576320" cy="3474720"/>
            <a:chOff x="548640" y="2011680"/>
            <a:chExt cx="3576320" cy="3474720"/>
          </a:xfrm>
        </p:grpSpPr>
        <p:sp>
          <p:nvSpPr>
            <p:cNvPr id="8" name="Card1_Background"/>
            <p:cNvSpPr/>
            <p:nvPr/>
          </p:nvSpPr>
          <p:spPr>
            <a:xfrm>
              <a:off x="548640" y="2011680"/>
              <a:ext cx="3576320" cy="3474720"/>
            </a:xfrm>
            <a:prstGeom prst="rect">
              <a:avLst/>
            </a:prstGeom>
            <a:solidFill>
              <a:schemeClr val="lt1"/>
            </a:solidFill>
            <a:ln w="12700">
              <a:solidFill>
                <a:srgbClr val="D2D7E0"/>
              </a:solidFill>
            </a:ln>
          </p:spPr>
        </p:sp>
        <p:sp>
          <p:nvSpPr>
            <p:cNvPr id="9" name="Card1_IconBackground"/>
            <p:cNvSpPr/>
            <p:nvPr/>
          </p:nvSpPr>
          <p:spPr>
            <a:xfrm>
              <a:off x="685800" y="2194560"/>
              <a:ext cx="640080" cy="640080"/>
            </a:xfrm>
            <a:prstGeom prst="ellipse">
              <a:avLst/>
            </a:prstGeom>
            <a:solidFill>
              <a:srgbClr val="ECEEF2"/>
            </a:solidFill>
            <a:ln/>
          </p:spPr>
        </p:sp>
      </p:grpSp>
      <p:sp>
        <p:nvSpPr>
          <p:cNvPr id="10" name="Card1_Icon"/>
          <p:cNvSpPr>
            <a:spLocks noGrp="1"/>
          </p:cNvSpPr>
          <p:nvPr>
            <p:ph type="body" idx="11" hasCustomPrompt="1"/>
          </p:nvPr>
        </p:nvSpPr>
        <p:spPr>
          <a:xfrm>
            <a:off x="6858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1" name="Card1_Title"/>
          <p:cNvSpPr>
            <a:spLocks noGrp="1"/>
          </p:cNvSpPr>
          <p:nvPr>
            <p:ph type="body" idx="12" hasCustomPrompt="1"/>
          </p:nvPr>
        </p:nvSpPr>
        <p:spPr>
          <a:xfrm>
            <a:off x="6858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2" name="Card1_Description"/>
          <p:cNvSpPr>
            <a:spLocks noGrp="1"/>
          </p:cNvSpPr>
          <p:nvPr>
            <p:ph type="body" idx="13" hasCustomPrompt="1"/>
          </p:nvPr>
        </p:nvSpPr>
        <p:spPr>
          <a:xfrm>
            <a:off x="6858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7" name="Card2_DecorGroup"/>
          <p:cNvGrpSpPr/>
          <p:nvPr/>
        </p:nvGrpSpPr>
        <p:grpSpPr>
          <a:xfrm>
            <a:off x="4307840" y="2011680"/>
            <a:ext cx="3576320" cy="3474720"/>
            <a:chOff x="4307840" y="2011680"/>
            <a:chExt cx="3576320" cy="3474720"/>
          </a:xfrm>
        </p:grpSpPr>
        <p:sp>
          <p:nvSpPr>
            <p:cNvPr id="13" name="Card2_Background"/>
            <p:cNvSpPr/>
            <p:nvPr/>
          </p:nvSpPr>
          <p:spPr>
            <a:xfrm>
              <a:off x="4307840" y="2011680"/>
              <a:ext cx="3576320" cy="3474720"/>
            </a:xfrm>
            <a:prstGeom prst="rect">
              <a:avLst/>
            </a:prstGeom>
            <a:solidFill>
              <a:schemeClr val="lt1"/>
            </a:solidFill>
            <a:ln w="12700">
              <a:solidFill>
                <a:srgbClr val="D2D7E0"/>
              </a:solidFill>
            </a:ln>
          </p:spPr>
        </p:sp>
        <p:sp>
          <p:nvSpPr>
            <p:cNvPr id="14" name="Card2_IconBackground"/>
            <p:cNvSpPr/>
            <p:nvPr/>
          </p:nvSpPr>
          <p:spPr>
            <a:xfrm>
              <a:off x="4445000" y="2194560"/>
              <a:ext cx="640080" cy="640080"/>
            </a:xfrm>
            <a:prstGeom prst="ellipse">
              <a:avLst/>
            </a:prstGeom>
            <a:solidFill>
              <a:srgbClr val="ECEEF2"/>
            </a:solidFill>
            <a:ln/>
          </p:spPr>
        </p:sp>
      </p:grpSp>
      <p:sp>
        <p:nvSpPr>
          <p:cNvPr id="15" name="Card2_Icon"/>
          <p:cNvSpPr>
            <a:spLocks noGrp="1"/>
          </p:cNvSpPr>
          <p:nvPr>
            <p:ph type="body" idx="14" hasCustomPrompt="1"/>
          </p:nvPr>
        </p:nvSpPr>
        <p:spPr>
          <a:xfrm>
            <a:off x="44450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6" name="Card2_Title"/>
          <p:cNvSpPr>
            <a:spLocks noGrp="1"/>
          </p:cNvSpPr>
          <p:nvPr>
            <p:ph type="body" idx="15" hasCustomPrompt="1"/>
          </p:nvPr>
        </p:nvSpPr>
        <p:spPr>
          <a:xfrm>
            <a:off x="44450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7" name="Card2_Description"/>
          <p:cNvSpPr>
            <a:spLocks noGrp="1"/>
          </p:cNvSpPr>
          <p:nvPr>
            <p:ph type="body" idx="16" hasCustomPrompt="1"/>
          </p:nvPr>
        </p:nvSpPr>
        <p:spPr>
          <a:xfrm>
            <a:off x="44450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8" name="Card3_DecorGroup"/>
          <p:cNvGrpSpPr/>
          <p:nvPr/>
        </p:nvGrpSpPr>
        <p:grpSpPr>
          <a:xfrm>
            <a:off x="8067040" y="2011680"/>
            <a:ext cx="3576320" cy="3474720"/>
            <a:chOff x="8067040" y="2011680"/>
            <a:chExt cx="3576320" cy="3474720"/>
          </a:xfrm>
        </p:grpSpPr>
        <p:sp>
          <p:nvSpPr>
            <p:cNvPr id="18" name="Card3_Background"/>
            <p:cNvSpPr/>
            <p:nvPr/>
          </p:nvSpPr>
          <p:spPr>
            <a:xfrm>
              <a:off x="8067040" y="2011680"/>
              <a:ext cx="3576320" cy="3474720"/>
            </a:xfrm>
            <a:prstGeom prst="rect">
              <a:avLst/>
            </a:prstGeom>
            <a:solidFill>
              <a:schemeClr val="lt1"/>
            </a:solidFill>
            <a:ln w="12700">
              <a:solidFill>
                <a:srgbClr val="D2D7E0"/>
              </a:solidFill>
            </a:ln>
          </p:spPr>
        </p:sp>
        <p:sp>
          <p:nvSpPr>
            <p:cNvPr id="19" name="Card3_IconBackground"/>
            <p:cNvSpPr/>
            <p:nvPr/>
          </p:nvSpPr>
          <p:spPr>
            <a:xfrm>
              <a:off x="8204200" y="2194560"/>
              <a:ext cx="640080" cy="640080"/>
            </a:xfrm>
            <a:prstGeom prst="ellipse">
              <a:avLst/>
            </a:prstGeom>
            <a:solidFill>
              <a:srgbClr val="ECEEF2"/>
            </a:solidFill>
            <a:ln/>
          </p:spPr>
        </p:sp>
      </p:grpSp>
      <p:sp>
        <p:nvSpPr>
          <p:cNvPr id="20" name="Card3_Icon"/>
          <p:cNvSpPr>
            <a:spLocks noGrp="1"/>
          </p:cNvSpPr>
          <p:nvPr>
            <p:ph type="body" idx="17" hasCustomPrompt="1"/>
          </p:nvPr>
        </p:nvSpPr>
        <p:spPr>
          <a:xfrm>
            <a:off x="82042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21" name="Card3_Title"/>
          <p:cNvSpPr>
            <a:spLocks noGrp="1"/>
          </p:cNvSpPr>
          <p:nvPr>
            <p:ph type="body" idx="18" hasCustomPrompt="1"/>
          </p:nvPr>
        </p:nvSpPr>
        <p:spPr>
          <a:xfrm>
            <a:off x="82042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22" name="Card3_Description"/>
          <p:cNvSpPr>
            <a:spLocks noGrp="1"/>
          </p:cNvSpPr>
          <p:nvPr>
            <p:ph type="body" idx="19" hasCustomPrompt="1"/>
          </p:nvPr>
        </p:nvSpPr>
        <p:spPr>
          <a:xfrm>
            <a:off x="82042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8_CONTEXTE_NARRATIF">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Contexte</a:t>
            </a:r>
          </a:p>
        </p:txBody>
      </p:sp>
      <p:sp>
        <p:nvSpPr>
          <p:cNvPr id="8" name="ContentAccentBar"/>
          <p:cNvSpPr/>
          <p:nvPr/>
        </p:nvSpPr>
        <p:spPr>
          <a:xfrm>
            <a:off x="548640" y="2011680"/>
            <a:ext cx="109728" cy="4023360"/>
          </a:xfrm>
          <a:prstGeom prst="rect">
            <a:avLst/>
          </a:prstGeom>
          <a:solidFill>
            <a:schemeClr val="accent1"/>
          </a:solidFill>
          <a:ln/>
        </p:spPr>
      </p:sp>
      <p:sp>
        <p:nvSpPr>
          <p:cNvPr id="9" name="BodyText"/>
          <p:cNvSpPr>
            <a:spLocks noGrp="1"/>
          </p:cNvSpPr>
          <p:nvPr>
            <p:ph type="body" idx="11" hasCustomPrompt="1"/>
          </p:nvPr>
        </p:nvSpPr>
        <p:spPr>
          <a:xfrm>
            <a:off x="868680" y="2194560"/>
            <a:ext cx="10637520" cy="3931920"/>
          </a:xfrm>
          <a:prstGeom prst="rect">
            <a:avLst/>
          </a:prstGeom>
          <a:noFill/>
          <a:ln/>
        </p:spPr>
        <p:txBody>
          <a:bodyPr wrap="square" rtlCol="0" anchor="t">
            <a:normAutofit/>
          </a:bodyPr>
          <a:lstStyle>
            <a:lvl1pPr marL="0" indent="0" algn="l">
              <a:lnSpc>
                <a:spcPct val="135000"/>
              </a:lnSpc>
              <a:buNone/>
              <a:defRPr lang="fr-FR" sz="2800" spc="0" dirty="0">
                <a:solidFill>
                  <a:schemeClr val="accent1"/>
                </a:solidFill>
                <a:latin typeface="+mj-lt" pitchFamily="34" charset="0"/>
                <a:ea typeface="+mj-ea" pitchFamily="34" charset="-122"/>
                <a:cs typeface="+mj-cs" pitchFamily="34" charset="-120"/>
              </a:defRPr>
            </a:lvl1pPr>
          </a:lstStyle>
          <a:p>
            <a:pPr marL="0" indent="0" algn="l">
              <a:buNone/>
            </a:pPr>
            <a:r>
              <a:rPr lang="fr-FR" sz="2800" dirty="0">
                <a:solidFill>
                  <a:schemeClr val="accent1"/>
                </a:solidFill>
                <a:latin typeface="+mj-lt" pitchFamily="34" charset="0"/>
                <a:ea typeface="+mj-ea" pitchFamily="34" charset="-122"/>
                <a:cs typeface="+mj-cs" pitchFamily="34" charset="-120"/>
              </a:rPr>
              <a:t>Énoncez le constat ou le problème en une idée forte, avec les mots clés en gras.</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29_EQUIPE_ROLES">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Équipe d’intervention</a:t>
            </a:r>
          </a:p>
        </p:txBody>
      </p:sp>
      <p:sp>
        <p:nvSpPr>
          <p:cNvPr id="8" name="IntroBackground"/>
          <p:cNvSpPr/>
          <p:nvPr/>
        </p:nvSpPr>
        <p:spPr>
          <a:xfrm>
            <a:off x="548640" y="2011680"/>
            <a:ext cx="11094720" cy="502920"/>
          </a:xfrm>
          <a:prstGeom prst="rect">
            <a:avLst/>
          </a:prstGeom>
          <a:solidFill>
            <a:schemeClr val="accent1"/>
          </a:solidFill>
          <a:ln/>
        </p:spPr>
      </p:sp>
      <p:sp>
        <p:nvSpPr>
          <p:cNvPr id="9" name="IntroText"/>
          <p:cNvSpPr>
            <a:spLocks noGrp="1"/>
          </p:cNvSpPr>
          <p:nvPr>
            <p:ph type="body" idx="11" hasCustomPrompt="1"/>
          </p:nvPr>
        </p:nvSpPr>
        <p:spPr>
          <a:xfrm>
            <a:off x="708660" y="2011680"/>
            <a:ext cx="10774680" cy="502920"/>
          </a:xfrm>
          <a:prstGeom prst="rect">
            <a:avLst/>
          </a:prstGeom>
          <a:noFill/>
          <a:ln/>
        </p:spPr>
        <p:txBody>
          <a:bodyPr wrap="square" rtlCol="0" anchor="ctr">
            <a:normAutofit/>
          </a:bodyPr>
          <a:lstStyle>
            <a:lvl1pPr marL="0" indent="0" algn="l">
              <a:lnSpc>
                <a:spcPct val="110000"/>
              </a:lnSpc>
              <a:buNone/>
              <a:defRPr lang="fr-FR" sz="1400" b="1" spc="0" dirty="0">
                <a:solidFill>
                  <a:schemeClr val="lt2"/>
                </a:solidFill>
                <a:latin typeface="+mn-lt" pitchFamily="34" charset="0"/>
                <a:ea typeface="+mn-ea" pitchFamily="34" charset="-122"/>
                <a:cs typeface="+mn-cs" pitchFamily="34" charset="-120"/>
              </a:defRPr>
            </a:lvl1pPr>
          </a:lstStyle>
          <a:p>
            <a:pPr marL="0" indent="0" algn="l">
              <a:buNone/>
            </a:pPr>
            <a:r>
              <a:rPr lang="fr-FR" sz="1400" b="1" dirty="0">
                <a:solidFill>
                  <a:schemeClr val="lt2"/>
                </a:solidFill>
                <a:latin typeface="+mn-lt" pitchFamily="34" charset="0"/>
                <a:ea typeface="+mn-ea" pitchFamily="34" charset="-122"/>
                <a:cs typeface="+mn-cs" pitchFamily="34" charset="-120"/>
              </a:rPr>
              <a:t>Équipe socle — périmètre du dispositif</a:t>
            </a:r>
          </a:p>
        </p:txBody>
      </p:sp>
      <p:grpSp>
        <p:nvGrpSpPr>
          <p:cNvPr id="23" name="Row1_DecorGroup"/>
          <p:cNvGrpSpPr/>
          <p:nvPr/>
        </p:nvGrpSpPr>
        <p:grpSpPr>
          <a:xfrm>
            <a:off x="548640" y="2606040"/>
            <a:ext cx="11094720" cy="1234440"/>
            <a:chOff x="548640" y="2606040"/>
            <a:chExt cx="11094720" cy="1234440"/>
          </a:xfrm>
        </p:grpSpPr>
        <p:sp>
          <p:nvSpPr>
            <p:cNvPr id="10" name="Row1_RoleBackground"/>
            <p:cNvSpPr/>
            <p:nvPr/>
          </p:nvSpPr>
          <p:spPr>
            <a:xfrm>
              <a:off x="548640" y="2606040"/>
              <a:ext cx="4215993" cy="1234440"/>
            </a:xfrm>
            <a:prstGeom prst="rect">
              <a:avLst/>
            </a:prstGeom>
            <a:solidFill>
              <a:srgbClr val="ECEEF2"/>
            </a:solidFill>
            <a:ln/>
          </p:spPr>
        </p:sp>
        <p:sp>
          <p:nvSpPr>
            <p:cNvPr id="11" name="Row1_MissionsBackground"/>
            <p:cNvSpPr/>
            <p:nvPr/>
          </p:nvSpPr>
          <p:spPr>
            <a:xfrm>
              <a:off x="4764633" y="2606040"/>
              <a:ext cx="6878727" cy="1234440"/>
            </a:xfrm>
            <a:prstGeom prst="rect">
              <a:avLst/>
            </a:prstGeom>
            <a:solidFill>
              <a:schemeClr val="accent1"/>
            </a:solidFill>
            <a:ln/>
          </p:spPr>
        </p:sp>
      </p:grpSp>
      <p:sp>
        <p:nvSpPr>
          <p:cNvPr id="12" name="Row1_Role"/>
          <p:cNvSpPr>
            <a:spLocks noGrp="1"/>
          </p:cNvSpPr>
          <p:nvPr>
            <p:ph type="body" idx="12" hasCustomPrompt="1"/>
          </p:nvPr>
        </p:nvSpPr>
        <p:spPr>
          <a:xfrm>
            <a:off x="662940" y="2606040"/>
            <a:ext cx="3987393"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Rôle</a:t>
            </a:r>
          </a:p>
        </p:txBody>
      </p:sp>
      <p:sp>
        <p:nvSpPr>
          <p:cNvPr id="13" name="Row1_Missions"/>
          <p:cNvSpPr>
            <a:spLocks noGrp="1"/>
          </p:cNvSpPr>
          <p:nvPr>
            <p:ph type="body" idx="13" hasCustomPrompt="1"/>
          </p:nvPr>
        </p:nvSpPr>
        <p:spPr>
          <a:xfrm>
            <a:off x="4878933" y="2606040"/>
            <a:ext cx="6650127"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lt2"/>
                </a:solidFill>
                <a:latin typeface="+mn-lt" pitchFamily="34" charset="0"/>
                <a:ea typeface="+mn-ea" pitchFamily="34" charset="-122"/>
                <a:cs typeface="+mn-cs" pitchFamily="34" charset="-120"/>
              </a:defRPr>
            </a:lvl1pPr>
          </a:lstStyle>
          <a:p>
            <a:pPr marL="0" indent="0" algn="l">
              <a:buNone/>
            </a:pPr>
            <a:r>
              <a:rPr lang="fr-FR" sz="1300" b="1" dirty="0">
                <a:solidFill>
                  <a:schemeClr val="lt2"/>
                </a:solidFill>
                <a:latin typeface="+mn-lt" pitchFamily="34" charset="0"/>
                <a:ea typeface="+mn-ea" pitchFamily="34" charset="-122"/>
                <a:cs typeface="+mn-cs" pitchFamily="34" charset="-120"/>
              </a:rPr>
              <a:t>Missions</a:t>
            </a:r>
          </a:p>
        </p:txBody>
      </p:sp>
      <p:grpSp>
        <p:nvGrpSpPr>
          <p:cNvPr id="24" name="Row2_DecorGroup"/>
          <p:cNvGrpSpPr/>
          <p:nvPr/>
        </p:nvGrpSpPr>
        <p:grpSpPr>
          <a:xfrm>
            <a:off x="548640" y="3840480"/>
            <a:ext cx="11094720" cy="1234440"/>
            <a:chOff x="548640" y="3840480"/>
            <a:chExt cx="11094720" cy="1234440"/>
          </a:xfrm>
        </p:grpSpPr>
        <p:sp>
          <p:nvSpPr>
            <p:cNvPr id="14" name="Row2_RoleBackground"/>
            <p:cNvSpPr/>
            <p:nvPr/>
          </p:nvSpPr>
          <p:spPr>
            <a:xfrm>
              <a:off x="548640" y="3840480"/>
              <a:ext cx="4215993" cy="1234440"/>
            </a:xfrm>
            <a:prstGeom prst="rect">
              <a:avLst/>
            </a:prstGeom>
            <a:solidFill>
              <a:schemeClr val="lt1"/>
            </a:solidFill>
            <a:ln w="12700">
              <a:solidFill>
                <a:srgbClr val="D2D7E0"/>
              </a:solidFill>
            </a:ln>
          </p:spPr>
        </p:sp>
        <p:sp>
          <p:nvSpPr>
            <p:cNvPr id="15" name="Row2_MissionsBackground"/>
            <p:cNvSpPr/>
            <p:nvPr/>
          </p:nvSpPr>
          <p:spPr>
            <a:xfrm>
              <a:off x="4764633" y="3840480"/>
              <a:ext cx="6878727" cy="1234440"/>
            </a:xfrm>
            <a:prstGeom prst="rect">
              <a:avLst/>
            </a:prstGeom>
            <a:solidFill>
              <a:schemeClr val="lt1"/>
            </a:solidFill>
            <a:ln w="12700">
              <a:solidFill>
                <a:srgbClr val="D2D7E0"/>
              </a:solidFill>
            </a:ln>
          </p:spPr>
        </p:sp>
      </p:grpSp>
      <p:sp>
        <p:nvSpPr>
          <p:cNvPr id="16" name="Row2_Role"/>
          <p:cNvSpPr>
            <a:spLocks noGrp="1"/>
          </p:cNvSpPr>
          <p:nvPr>
            <p:ph type="body" idx="14" hasCustomPrompt="1"/>
          </p:nvPr>
        </p:nvSpPr>
        <p:spPr>
          <a:xfrm>
            <a:off x="662940" y="384048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17" name="Row2_Missions"/>
          <p:cNvSpPr>
            <a:spLocks noGrp="1"/>
          </p:cNvSpPr>
          <p:nvPr>
            <p:ph type="body" idx="15" hasCustomPrompt="1"/>
          </p:nvPr>
        </p:nvSpPr>
        <p:spPr>
          <a:xfrm>
            <a:off x="4878933" y="384048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grpSp>
        <p:nvGrpSpPr>
          <p:cNvPr id="25" name="Row3_DecorGroup"/>
          <p:cNvGrpSpPr/>
          <p:nvPr/>
        </p:nvGrpSpPr>
        <p:grpSpPr>
          <a:xfrm>
            <a:off x="548640" y="5074920"/>
            <a:ext cx="11094720" cy="1234440"/>
            <a:chOff x="548640" y="5074920"/>
            <a:chExt cx="11094720" cy="1234440"/>
          </a:xfrm>
        </p:grpSpPr>
        <p:sp>
          <p:nvSpPr>
            <p:cNvPr id="18" name="Row3_RoleBackground"/>
            <p:cNvSpPr/>
            <p:nvPr/>
          </p:nvSpPr>
          <p:spPr>
            <a:xfrm>
              <a:off x="548640" y="5074920"/>
              <a:ext cx="4215993" cy="1234440"/>
            </a:xfrm>
            <a:prstGeom prst="rect">
              <a:avLst/>
            </a:prstGeom>
            <a:solidFill>
              <a:schemeClr val="lt1"/>
            </a:solidFill>
            <a:ln w="12700">
              <a:solidFill>
                <a:srgbClr val="D2D7E0"/>
              </a:solidFill>
            </a:ln>
          </p:spPr>
        </p:sp>
        <p:sp>
          <p:nvSpPr>
            <p:cNvPr id="19" name="Row3_MissionsBackground"/>
            <p:cNvSpPr/>
            <p:nvPr/>
          </p:nvSpPr>
          <p:spPr>
            <a:xfrm>
              <a:off x="4764633" y="5074920"/>
              <a:ext cx="6878727" cy="1234440"/>
            </a:xfrm>
            <a:prstGeom prst="rect">
              <a:avLst/>
            </a:prstGeom>
            <a:solidFill>
              <a:schemeClr val="lt1"/>
            </a:solidFill>
            <a:ln w="12700">
              <a:solidFill>
                <a:srgbClr val="D2D7E0"/>
              </a:solidFill>
            </a:ln>
          </p:spPr>
        </p:sp>
      </p:grpSp>
      <p:sp>
        <p:nvSpPr>
          <p:cNvPr id="20" name="Row3_Role"/>
          <p:cNvSpPr>
            <a:spLocks noGrp="1"/>
          </p:cNvSpPr>
          <p:nvPr>
            <p:ph type="body" idx="16" hasCustomPrompt="1"/>
          </p:nvPr>
        </p:nvSpPr>
        <p:spPr>
          <a:xfrm>
            <a:off x="662940" y="507492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21" name="Row3_Missions"/>
          <p:cNvSpPr>
            <a:spLocks noGrp="1"/>
          </p:cNvSpPr>
          <p:nvPr>
            <p:ph type="body" idx="17" hasCustomPrompt="1"/>
          </p:nvPr>
        </p:nvSpPr>
        <p:spPr>
          <a:xfrm>
            <a:off x="4878933" y="507492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0_FICHE_SYNTHESE_SCORE">
    <p:spTree>
      <p:nvGrpSpPr>
        <p:cNvPr id="1" name=""/>
        <p:cNvGrpSpPr/>
        <p:nvPr/>
      </p:nvGrpSpPr>
      <p:grpSpPr>
        <a:xfrm>
          <a:off x="0" y="0"/>
          <a:ext cx="0" cy="0"/>
          <a:chOff x="0" y="0"/>
          <a:chExt cx="0" cy="0"/>
        </a:xfrm>
      </p:grpSpPr>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Synthèse des scores</a:t>
            </a:r>
          </a:p>
        </p:txBody>
      </p:sp>
      <p:sp>
        <p:nvSpPr>
          <p:cNvPr id="11" name="StrengthsCardAccentTop"/>
          <p:cNvSpPr/>
          <p:nvPr/>
        </p:nvSpPr>
        <p:spPr>
          <a:xfrm>
            <a:off x="5926531" y="2011680"/>
            <a:ext cx="5716829" cy="36576"/>
          </a:xfrm>
          <a:prstGeom prst="rect">
            <a:avLst/>
          </a:prstGeom>
          <a:solidFill>
            <a:schemeClr val="accent1"/>
          </a:solidFill>
          <a:ln/>
        </p:spPr>
      </p:sp>
      <p:sp>
        <p:nvSpPr>
          <p:cNvPr id="12" name="StrengthsTitle"/>
          <p:cNvSpPr>
            <a:spLocks noGrp="1"/>
          </p:cNvSpPr>
          <p:nvPr>
            <p:ph type="body" idx="12" hasCustomPrompt="1"/>
          </p:nvPr>
        </p:nvSpPr>
        <p:spPr>
          <a:xfrm>
            <a:off x="6063691" y="214884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3" name="StrengthsText"/>
          <p:cNvSpPr>
            <a:spLocks noGrp="1"/>
          </p:cNvSpPr>
          <p:nvPr>
            <p:ph type="body" idx="13" hasCustomPrompt="1"/>
          </p:nvPr>
        </p:nvSpPr>
        <p:spPr>
          <a:xfrm>
            <a:off x="6063691" y="260604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Points forts identifiés.</a:t>
            </a:r>
          </a:p>
        </p:txBody>
      </p:sp>
      <p:sp>
        <p:nvSpPr>
          <p:cNvPr id="15" name="WeaknessesCardAccentTop"/>
          <p:cNvSpPr/>
          <p:nvPr/>
        </p:nvSpPr>
        <p:spPr>
          <a:xfrm>
            <a:off x="5926531" y="4251960"/>
            <a:ext cx="5716829" cy="36576"/>
          </a:xfrm>
          <a:prstGeom prst="rect">
            <a:avLst/>
          </a:prstGeom>
          <a:solidFill>
            <a:schemeClr val="accent1"/>
          </a:solidFill>
          <a:ln/>
        </p:spPr>
      </p:sp>
      <p:sp>
        <p:nvSpPr>
          <p:cNvPr id="16" name="WeaknessesTitle"/>
          <p:cNvSpPr>
            <a:spLocks noGrp="1"/>
          </p:cNvSpPr>
          <p:nvPr>
            <p:ph type="body" idx="14" hasCustomPrompt="1"/>
          </p:nvPr>
        </p:nvSpPr>
        <p:spPr>
          <a:xfrm>
            <a:off x="6063691" y="438912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Fragilités</a:t>
            </a:r>
          </a:p>
        </p:txBody>
      </p:sp>
      <p:sp>
        <p:nvSpPr>
          <p:cNvPr id="17" name="WeaknessesText"/>
          <p:cNvSpPr>
            <a:spLocks noGrp="1"/>
          </p:cNvSpPr>
          <p:nvPr>
            <p:ph type="body" idx="15" hasCustomPrompt="1"/>
          </p:nvPr>
        </p:nvSpPr>
        <p:spPr>
          <a:xfrm>
            <a:off x="6063691" y="484632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Zones de fragilité.</a:t>
            </a:r>
          </a:p>
        </p:txBody>
      </p:sp>
      <p:sp>
        <p:nvSpPr>
          <p:cNvPr id="24" name="Chart">
            <a:extLst>
              <a:ext uri="{FF2B5EF4-FFF2-40B4-BE49-F238E27FC236}">
                <a16:creationId xmlns:a16="http://schemas.microsoft.com/office/drawing/2014/main" id="{B207105C-3B04-BB04-C74D-7AA466CE068D}"/>
              </a:ext>
            </a:extLst>
          </p:cNvPr>
          <p:cNvSpPr>
            <a:spLocks noGrp="1"/>
          </p:cNvSpPr>
          <p:nvPr>
            <p:ph type="chart" sz="quarter" idx="16"/>
          </p:nvPr>
        </p:nvSpPr>
        <p:spPr>
          <a:xfrm>
            <a:off x="548639" y="2011679"/>
            <a:ext cx="5158423" cy="4297045"/>
          </a:xfrm>
          <a:prstGeom prst="rect">
            <a:avLst/>
          </a:prstGeom>
        </p:spPr>
        <p:txBody>
          <a:bodyPr/>
          <a:lstStyle/>
          <a:p>
            <a:r>
              <a:rPr lang="fr-FR"/>
              <a:t>Cliquez sur l'icône pour ajouter un graphique</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1_TITRE_PLEINE_PAGE">
    <p:spTree>
      <p:nvGrpSpPr>
        <p:cNvPr id="1" name=""/>
        <p:cNvGrpSpPr/>
        <p:nvPr/>
      </p:nvGrpSpPr>
      <p:grpSpPr>
        <a:xfrm>
          <a:off x="0" y="0"/>
          <a:ext cx="0" cy="0"/>
          <a:chOff x="0" y="0"/>
          <a:chExt cx="0" cy="0"/>
        </a:xfrm>
      </p:grpSpPr>
      <p:grpSp>
        <p:nvGrpSpPr>
          <p:cNvPr id="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6" name="BodyText">
            <a:extLst>
              <a:ext uri="{FF2B5EF4-FFF2-40B4-BE49-F238E27FC236}">
                <a16:creationId xmlns:a16="http://schemas.microsoft.com/office/drawing/2014/main" id="{B88CFD7A-8D5C-E0B9-450D-EC6B1572C89C}"/>
              </a:ext>
            </a:extLst>
          </p:cNvPr>
          <p:cNvSpPr>
            <a:spLocks noGrp="1"/>
          </p:cNvSpPr>
          <p:nvPr>
            <p:ph sz="quarter" idx="12"/>
          </p:nvPr>
        </p:nvSpPr>
        <p:spPr>
          <a:xfrm>
            <a:off x="549275" y="2011363"/>
            <a:ext cx="110934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2_TITRE_DEMI_IMAGE_G">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548640"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6" name="Content">
            <a:extLst>
              <a:ext uri="{FF2B5EF4-FFF2-40B4-BE49-F238E27FC236}">
                <a16:creationId xmlns:a16="http://schemas.microsoft.com/office/drawing/2014/main" id="{E5991ACB-F6AC-A6C4-9E21-F75909868731}"/>
              </a:ext>
            </a:extLst>
          </p:cNvPr>
          <p:cNvSpPr>
            <a:spLocks noGrp="1"/>
          </p:cNvSpPr>
          <p:nvPr>
            <p:ph sz="quarter" idx="13"/>
          </p:nvPr>
        </p:nvSpPr>
        <p:spPr>
          <a:xfrm>
            <a:off x="5972175" y="2011363"/>
            <a:ext cx="56705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3_TITRE_DEMI_IMAGE_D">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6539789"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9" name="Content"/>
          <p:cNvSpPr>
            <a:spLocks noGrp="1"/>
          </p:cNvSpPr>
          <p:nvPr>
            <p:ph type="body" idx="12" hasCustomPrompt="1"/>
          </p:nvPr>
        </p:nvSpPr>
        <p:spPr>
          <a:xfrm>
            <a:off x="548640" y="2011680"/>
            <a:ext cx="5671109" cy="4297680"/>
          </a:xfrm>
          <a:prstGeom prst="rect">
            <a:avLst/>
          </a:prstGeom>
          <a:noFill/>
          <a:ln/>
        </p:spPr>
        <p:txBody>
          <a:bodyPr wrap="square" rtlCol="0" anchor="t">
            <a:normAutofit/>
          </a:bodyPr>
          <a:lstStyle>
            <a:lvl1pPr marL="0" indent="0" algn="l">
              <a:lnSpc>
                <a:spcPct val="140000"/>
              </a:lnSpc>
              <a:buNone/>
              <a:defRPr lang="fr-FR" sz="1700" spc="0" dirty="0">
                <a:solidFill>
                  <a:schemeClr val="accent1"/>
                </a:solidFill>
                <a:latin typeface="+mn-lt" pitchFamily="34" charset="0"/>
                <a:ea typeface="+mn-ea" pitchFamily="34" charset="-122"/>
                <a:cs typeface="+mn-cs" pitchFamily="34" charset="-120"/>
              </a:defRPr>
            </a:lvl1pPr>
          </a:lstStyle>
          <a:p>
            <a:pPr marL="0" indent="0" algn="l">
              <a:buNone/>
            </a:pPr>
            <a:r>
              <a:rPr lang="fr-FR" sz="1700" dirty="0">
                <a:solidFill>
                  <a:schemeClr val="accent1"/>
                </a:solidFill>
                <a:latin typeface="+mn-lt" pitchFamily="34" charset="0"/>
                <a:ea typeface="+mn-ea" pitchFamily="34" charset="-122"/>
                <a:cs typeface="+mn-cs" pitchFamily="34" charset="-120"/>
              </a:rPr>
              <a:t>Contenu à gauche de l’image.</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4_TITRE_BANDEAU_IMAGE">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BannerImage"/>
          <p:cNvSpPr>
            <a:spLocks noGrp="1"/>
          </p:cNvSpPr>
          <p:nvPr>
            <p:ph type="pic" idx="11" hasCustomPrompt="1"/>
          </p:nvPr>
        </p:nvSpPr>
        <p:spPr>
          <a:xfrm>
            <a:off x="548640" y="2011680"/>
            <a:ext cx="11094720" cy="210312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 (bandeau)</a:t>
            </a:r>
          </a:p>
        </p:txBody>
      </p:sp>
      <p:sp>
        <p:nvSpPr>
          <p:cNvPr id="9" name="Content"/>
          <p:cNvSpPr>
            <a:spLocks noGrp="1"/>
          </p:cNvSpPr>
          <p:nvPr>
            <p:ph type="body" idx="12" hasCustomPrompt="1"/>
          </p:nvPr>
        </p:nvSpPr>
        <p:spPr>
          <a:xfrm>
            <a:off x="548640" y="4297680"/>
            <a:ext cx="11094720" cy="2011680"/>
          </a:xfrm>
          <a:prstGeom prst="rect">
            <a:avLst/>
          </a:prstGeom>
          <a:noFill/>
          <a:ln/>
        </p:spPr>
        <p:txBody>
          <a:bodyPr wrap="square" rtlCol="0" anchor="t">
            <a:normAutofit/>
          </a:bodyPr>
          <a:lstStyle>
            <a:lvl1pPr marL="0" indent="0" algn="l">
              <a:lnSpc>
                <a:spcPct val="140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Contenu sous le bandeau.</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7_APPEL_A_ACTION">
    <p:bg>
      <p:bgPr>
        <a:solidFill>
          <a:schemeClr val="bg1"/>
        </a:solidFill>
        <a:effectLst/>
      </p:bgPr>
    </p:bg>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Prochaines étapes</a:t>
            </a:r>
          </a:p>
        </p:txBody>
      </p:sp>
      <p:sp>
        <p:nvSpPr>
          <p:cNvPr id="9" name="CtaBackground"/>
          <p:cNvSpPr/>
          <p:nvPr/>
        </p:nvSpPr>
        <p:spPr>
          <a:xfrm>
            <a:off x="7257897" y="2011680"/>
            <a:ext cx="4385463" cy="4297680"/>
          </a:xfrm>
          <a:prstGeom prst="rect">
            <a:avLst/>
          </a:prstGeom>
          <a:solidFill>
            <a:schemeClr val="accent1"/>
          </a:solidFill>
          <a:ln/>
        </p:spPr>
      </p:sp>
      <p:sp>
        <p:nvSpPr>
          <p:cNvPr id="10" name="CtaTitle"/>
          <p:cNvSpPr>
            <a:spLocks noGrp="1"/>
          </p:cNvSpPr>
          <p:nvPr>
            <p:ph type="body" idx="12" hasCustomPrompt="1"/>
          </p:nvPr>
        </p:nvSpPr>
        <p:spPr>
          <a:xfrm>
            <a:off x="7440777" y="2286000"/>
            <a:ext cx="4019703" cy="457200"/>
          </a:xfrm>
          <a:prstGeom prst="rect">
            <a:avLst/>
          </a:prstGeom>
          <a:noFill/>
          <a:ln/>
        </p:spPr>
        <p:txBody>
          <a:bodyPr wrap="square" rtlCol="0" anchor="t">
            <a:normAutofit/>
          </a:bodyPr>
          <a:lstStyle>
            <a:lvl1pPr marL="0" indent="0" algn="l">
              <a:lnSpc>
                <a:spcPct val="110000"/>
              </a:lnSpc>
              <a:buNone/>
              <a:defRPr lang="fr-FR" sz="1600" b="1" spc="0" dirty="0">
                <a:solidFill>
                  <a:schemeClr val="lt2"/>
                </a:solidFill>
                <a:latin typeface="+mn-lt" pitchFamily="34" charset="0"/>
                <a:ea typeface="+mn-ea" pitchFamily="34" charset="-122"/>
                <a:cs typeface="+mn-cs" pitchFamily="34" charset="-120"/>
              </a:defRPr>
            </a:lvl1pPr>
          </a:lstStyle>
          <a:p>
            <a:pPr marL="0" indent="0" algn="l">
              <a:buNone/>
            </a:pPr>
            <a:r>
              <a:rPr lang="fr-FR" sz="1600" b="1" dirty="0">
                <a:solidFill>
                  <a:schemeClr val="lt2"/>
                </a:solidFill>
                <a:latin typeface="+mn-lt" pitchFamily="34" charset="0"/>
                <a:ea typeface="+mn-ea" pitchFamily="34" charset="-122"/>
                <a:cs typeface="+mn-cs" pitchFamily="34" charset="-120"/>
              </a:rPr>
              <a:t>Passons à l’action</a:t>
            </a:r>
          </a:p>
        </p:txBody>
      </p:sp>
      <p:sp>
        <p:nvSpPr>
          <p:cNvPr id="11" name="CtaText"/>
          <p:cNvSpPr>
            <a:spLocks noGrp="1"/>
          </p:cNvSpPr>
          <p:nvPr>
            <p:ph type="body" idx="13" hasCustomPrompt="1"/>
          </p:nvPr>
        </p:nvSpPr>
        <p:spPr>
          <a:xfrm>
            <a:off x="7440777" y="2834640"/>
            <a:ext cx="4019703" cy="3200400"/>
          </a:xfrm>
          <a:prstGeom prst="rect">
            <a:avLst/>
          </a:prstGeom>
          <a:noFill/>
          <a:ln/>
        </p:spPr>
        <p:txBody>
          <a:bodyPr wrap="square" rtlCol="0" anchor="t">
            <a:normAutofit/>
          </a:bodyPr>
          <a:lstStyle>
            <a:lvl1pPr marL="0" indent="0" algn="l">
              <a:lnSpc>
                <a:spcPct val="140000"/>
              </a:lnSpc>
              <a:buNone/>
              <a:defRPr lang="fr-FR" sz="1400" spc="0" dirty="0">
                <a:solidFill>
                  <a:schemeClr val="lt2"/>
                </a:solidFill>
                <a:latin typeface="+mn-lt" pitchFamily="34" charset="0"/>
                <a:ea typeface="+mn-ea" pitchFamily="34" charset="-122"/>
                <a:cs typeface="+mn-cs" pitchFamily="34" charset="-120"/>
              </a:defRPr>
            </a:lvl1pPr>
          </a:lstStyle>
          <a:p>
            <a:pPr marL="0" indent="0" algn="l">
              <a:buNone/>
            </a:pPr>
            <a:r>
              <a:rPr lang="fr-FR" sz="1400" dirty="0">
                <a:solidFill>
                  <a:schemeClr val="lt2"/>
                </a:solidFill>
                <a:latin typeface="+mn-lt" pitchFamily="34" charset="0"/>
                <a:ea typeface="+mn-ea" pitchFamily="34" charset="-122"/>
                <a:cs typeface="+mn-cs" pitchFamily="34" charset="-120"/>
              </a:rPr>
              <a:t>Contactez-nous pour démarrer.</a:t>
            </a:r>
          </a:p>
        </p:txBody>
      </p:sp>
      <p:sp>
        <p:nvSpPr>
          <p:cNvPr id="6" name="Espace réservé du texte 5">
            <a:extLst>
              <a:ext uri="{FF2B5EF4-FFF2-40B4-BE49-F238E27FC236}">
                <a16:creationId xmlns:a16="http://schemas.microsoft.com/office/drawing/2014/main" id="{F2ED6600-9314-469E-06A7-D4E9274EBE33}"/>
              </a:ext>
            </a:extLst>
          </p:cNvPr>
          <p:cNvSpPr>
            <a:spLocks noGrp="1"/>
          </p:cNvSpPr>
          <p:nvPr>
            <p:ph type="body" sz="quarter" idx="14"/>
          </p:nvPr>
        </p:nvSpPr>
        <p:spPr>
          <a:xfrm>
            <a:off x="549275" y="2011363"/>
            <a:ext cx="6434138" cy="4297362"/>
          </a:xfrm>
          <a:prstGeom prst="rect">
            <a:avLst/>
          </a:prstGeo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theme" Target="../theme/theme1.xml"/><Relationship Id="rId37" Type="http://schemas.openxmlformats.org/officeDocument/2006/relationships/image" Target="../media/image1.png"/><Relationship Id="rId38"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67DD10B5-4186-2EAB-67B4-AD88512E24D5}"/>
              </a:ext>
            </a:extLst>
          </p:cNvPr>
          <p:cNvPicPr>
            <a:picLocks noChangeAspect="1"/>
          </p:cNvPicPr>
          <p:nvPr userDrawn="1"/>
        </p:nvPicPr>
        <p:blipFill>
          <a:blip r:embed="rId37">
            <a:alphaModFix amt="50000"/>
            <a:extLst>
              <a:ext uri="{BEBA8EAE-BF5A-486C-A8C5-ECC9F3942E4B}">
                <a14:imgProps xmlns:a14="http://schemas.microsoft.com/office/drawing/2010/main">
                  <a14:imgLayer r:embed="rId38">
                    <a14:imgEffect>
                      <a14:colorTemperature colorTemp="4700"/>
                    </a14:imgEffect>
                    <a14:imgEffect>
                      <a14:saturation sat="0"/>
                    </a14:imgEffect>
                  </a14:imgLayer>
                </a14:imgProps>
              </a:ext>
            </a:extLst>
          </a:blip>
          <a:stretch>
            <a:fillRect/>
          </a:stretch>
        </p:blipFill>
        <p:spPr>
          <a:xfrm>
            <a:off x="0" y="0"/>
            <a:ext cx="12192000" cy="6858000"/>
          </a:xfrm>
          <a:prstGeom prst="rect">
            <a:avLst/>
          </a:prstGeom>
        </p:spPr>
      </p:pic>
      <p:sp>
        <p:nvSpPr>
          <p:cNvPr id="7" name="Espace réservé du pied de page 6">
            <a:extLst>
              <a:ext uri="{FF2B5EF4-FFF2-40B4-BE49-F238E27FC236}">
                <a16:creationId xmlns:a16="http://schemas.microsoft.com/office/drawing/2014/main" id="{A8613DE9-B4CE-B274-8859-8AE4EA1061EB}"/>
              </a:ext>
            </a:extLst>
          </p:cNvPr>
          <p:cNvSpPr>
            <a:spLocks noGrp="1"/>
          </p:cNvSpPr>
          <p:nvPr>
            <p:ph type="ftr" sz="quarter" idx="3"/>
          </p:nvPr>
        </p:nvSpPr>
        <p:spPr>
          <a:xfrm>
            <a:off x="10607040" y="6356350"/>
            <a:ext cx="1371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 id="2147483652" r:id="rId5"/>
    <p:sldLayoutId id="2147483653" r:id="rId6"/>
    <p:sldLayoutId id="2147483654"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3" r:id="rId34"/>
    <p:sldLayoutId id="2147483687" r:id="rId35"/>
  </p:sldLayoutIdLst>
  <p:hf sldNum="0" hdr="0" ftr="0" dt="0"/>
  <p:txStyles>
    <p:titleStyle>
      <a:lvl1pPr algn="ctr" defTabSz="914400" rtl="0" eaLnBrk="1" latinLnBrk="0" hangingPunct="1">
        <a:lnSpc>
          <a:spcPct val="100000"/>
        </a:lnSpc>
        <a:spcBef>
          <a:spcPct val="0"/>
        </a:spcBef>
        <a:buNone/>
        <a:defRPr sz="4400" kern="1200" spc="-264">
          <a:solidFill>
            <a:schemeClr val="tx1"/>
          </a:solidFill>
          <a:latin typeface="+mj-lt"/>
          <a:ea typeface="+mj-ea"/>
          <a:cs typeface="+mj-cs"/>
        </a:defRPr>
      </a:lvl1pPr>
    </p:titleStyle>
    <p:bodyStyle>
      <a:lvl1pPr marL="342900" indent="-342900" algn="l" defTabSz="914400" rtl="0" eaLnBrk="1" latinLnBrk="0" hangingPunct="1">
        <a:lnSpc>
          <a:spcPct val="105000"/>
        </a:lnSpc>
        <a:spcBef>
          <a:spcPct val="20000"/>
        </a:spcBef>
        <a:buFont typeface="+mn-lt" pitchFamily="34" charset="0"/>
        <a:buChar char="•"/>
        <a:defRPr sz="3200" kern="1200" spc="-128">
          <a:solidFill>
            <a:schemeClr val="tx1"/>
          </a:solidFill>
          <a:latin typeface="+mn-lt"/>
          <a:ea typeface="+mn-ea"/>
          <a:cs typeface="+mn-cs"/>
        </a:defRPr>
      </a:lvl1pPr>
      <a:lvl2pPr marL="742950" indent="-285750" algn="l" defTabSz="914400" rtl="0" eaLnBrk="1" latinLnBrk="0" hangingPunct="1">
        <a:lnSpc>
          <a:spcPct val="120000"/>
        </a:lnSpc>
        <a:spcBef>
          <a:spcPct val="20000"/>
        </a:spcBef>
        <a:buFont typeface="+mn-lt" pitchFamily="34" charset="0"/>
        <a:buChar char="–"/>
        <a:defRPr sz="2800" kern="1200" spc="-56">
          <a:solidFill>
            <a:schemeClr val="tx1"/>
          </a:solidFill>
          <a:latin typeface="+mn-lt"/>
          <a:ea typeface="+mn-ea"/>
          <a:cs typeface="+mn-cs"/>
        </a:defRPr>
      </a:lvl2pPr>
      <a:lvl3pPr marL="1143000" indent="-228600" algn="l" defTabSz="914400" rtl="0" eaLnBrk="1" latinLnBrk="0" hangingPunct="1">
        <a:lnSpc>
          <a:spcPct val="135000"/>
        </a:lnSpc>
        <a:spcBef>
          <a:spcPct val="20000"/>
        </a:spcBef>
        <a:buFont typeface="+mn-lt" pitchFamily="34" charset="0"/>
        <a:buChar char="•"/>
        <a:defRPr sz="2400" kern="1200" spc="-48">
          <a:solidFill>
            <a:schemeClr val="tx1"/>
          </a:solidFill>
          <a:latin typeface="+mn-lt"/>
          <a:ea typeface="+mn-ea"/>
          <a:cs typeface="+mn-cs"/>
        </a:defRPr>
      </a:lvl3pPr>
      <a:lvl4pPr marL="1600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4pPr>
      <a:lvl5pPr marL="20574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5pPr>
      <a:lvl6pPr marL="25146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6pPr>
      <a:lvl7pPr marL="29718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7pPr>
      <a:lvl8pPr marL="34290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8pPr>
      <a:lvl9pPr marL="3886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9pPr>
    </p:bodyStyle>
    <p:otherStyle>
      <a:defPPr>
        <a:defRPr lang="en-US">
          <a:latin typeface="+mn-lt"/>
        </a:defRPr>
      </a:defPPr>
      <a:lvl1pPr marL="0" algn="l" defTabSz="914400" rtl="0" eaLnBrk="1" latinLnBrk="0" hangingPunct="1">
        <a:lnSpc>
          <a:spcPct val="150000"/>
        </a:lnSpc>
        <a:defRPr sz="1800" kern="1200" spc="0">
          <a:solidFill>
            <a:schemeClr val="tx1"/>
          </a:solidFill>
          <a:latin typeface="+mn-lt"/>
          <a:ea typeface="+mn-ea"/>
          <a:cs typeface="+mn-cs"/>
        </a:defRPr>
      </a:lvl1pPr>
      <a:lvl2pPr marL="457200" algn="l" defTabSz="914400" rtl="0" eaLnBrk="1" latinLnBrk="0" hangingPunct="1">
        <a:lnSpc>
          <a:spcPct val="150000"/>
        </a:lnSpc>
        <a:defRPr sz="1800" kern="1200" spc="0">
          <a:solidFill>
            <a:schemeClr val="tx1"/>
          </a:solidFill>
          <a:latin typeface="+mn-lt"/>
          <a:ea typeface="+mn-ea"/>
          <a:cs typeface="+mn-cs"/>
        </a:defRPr>
      </a:lvl2pPr>
      <a:lvl3pPr marL="914400" algn="l" defTabSz="914400" rtl="0" eaLnBrk="1" latinLnBrk="0" hangingPunct="1">
        <a:lnSpc>
          <a:spcPct val="150000"/>
        </a:lnSpc>
        <a:defRPr sz="1800" kern="1200" spc="0">
          <a:solidFill>
            <a:schemeClr val="tx1"/>
          </a:solidFill>
          <a:latin typeface="+mn-lt"/>
          <a:ea typeface="+mn-ea"/>
          <a:cs typeface="+mn-cs"/>
        </a:defRPr>
      </a:lvl3pPr>
      <a:lvl4pPr marL="1371600" algn="l" defTabSz="914400" rtl="0" eaLnBrk="1" latinLnBrk="0" hangingPunct="1">
        <a:lnSpc>
          <a:spcPct val="150000"/>
        </a:lnSpc>
        <a:defRPr sz="1800" kern="1200" spc="0">
          <a:solidFill>
            <a:schemeClr val="tx1"/>
          </a:solidFill>
          <a:latin typeface="+mn-lt"/>
          <a:ea typeface="+mn-ea"/>
          <a:cs typeface="+mn-cs"/>
        </a:defRPr>
      </a:lvl4pPr>
      <a:lvl5pPr marL="1828800" algn="l" defTabSz="914400" rtl="0" eaLnBrk="1" latinLnBrk="0" hangingPunct="1">
        <a:lnSpc>
          <a:spcPct val="150000"/>
        </a:lnSpc>
        <a:defRPr sz="1800" kern="1200" spc="0">
          <a:solidFill>
            <a:schemeClr val="tx1"/>
          </a:solidFill>
          <a:latin typeface="+mn-lt"/>
          <a:ea typeface="+mn-ea"/>
          <a:cs typeface="+mn-cs"/>
        </a:defRPr>
      </a:lvl5pPr>
      <a:lvl6pPr marL="2286000" algn="l" defTabSz="914400" rtl="0" eaLnBrk="1" latinLnBrk="0" hangingPunct="1">
        <a:lnSpc>
          <a:spcPct val="150000"/>
        </a:lnSpc>
        <a:defRPr sz="1800" kern="1200" spc="0">
          <a:solidFill>
            <a:schemeClr val="tx1"/>
          </a:solidFill>
          <a:latin typeface="+mn-lt"/>
          <a:ea typeface="+mn-ea"/>
          <a:cs typeface="+mn-cs"/>
        </a:defRPr>
      </a:lvl6pPr>
      <a:lvl7pPr marL="2743200" algn="l" defTabSz="914400" rtl="0" eaLnBrk="1" latinLnBrk="0" hangingPunct="1">
        <a:lnSpc>
          <a:spcPct val="150000"/>
        </a:lnSpc>
        <a:defRPr sz="1800" kern="1200" spc="0">
          <a:solidFill>
            <a:schemeClr val="tx1"/>
          </a:solidFill>
          <a:latin typeface="+mn-lt"/>
          <a:ea typeface="+mn-ea"/>
          <a:cs typeface="+mn-cs"/>
        </a:defRPr>
      </a:lvl7pPr>
      <a:lvl8pPr marL="3200400" algn="l" defTabSz="914400" rtl="0" eaLnBrk="1" latinLnBrk="0" hangingPunct="1">
        <a:lnSpc>
          <a:spcPct val="150000"/>
        </a:lnSpc>
        <a:defRPr sz="1800" kern="1200" spc="0">
          <a:solidFill>
            <a:schemeClr val="tx1"/>
          </a:solidFill>
          <a:latin typeface="+mn-lt"/>
          <a:ea typeface="+mn-ea"/>
          <a:cs typeface="+mn-cs"/>
        </a:defRPr>
      </a:lvl8pPr>
      <a:lvl9pPr marL="3657600" algn="l" defTabSz="914400" rtl="0" eaLnBrk="1" latinLnBrk="0" hangingPunct="1">
        <a:lnSpc>
          <a:spcPct val="150000"/>
        </a:lnSpc>
        <a:defRPr sz="1800" kern="1200" spc="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sciam-fr.github.io/formation-ia/tp1/" TargetMode="External"/><Relationship Id="rId3" Type="http://schemas.openxmlformats.org/officeDocument/2006/relationships/image" Target="../media/image7.png"/><Relationship Id="rId4" Type="http://schemas.openxmlformats.org/officeDocument/2006/relationships/hyperlink" Target="https://sciam-fr.github.io/formation-ia/tp2/" TargetMode="External"/><Relationship Id="rId5" Type="http://schemas.openxmlformats.org/officeDocument/2006/relationships/image" Target="../media/image8.png"/><Relationship Id="rId6" Type="http://schemas.openxmlformats.org/officeDocument/2006/relationships/hyperlink" Target="https://sciam-fr.github.io/formation-ia/tp3/" TargetMode="External"/><Relationship Id="rId7" Type="http://schemas.openxmlformats.org/officeDocument/2006/relationships/image" Target="../media/image9.png"/><Relationship Id="rId8" Type="http://schemas.openxmlformats.org/officeDocument/2006/relationships/hyperlink" Target="https://sciam-fr.github.io/formation-ia/tp4/" TargetMode="External"/><Relationship Id="rId9" Type="http://schemas.openxmlformats.org/officeDocument/2006/relationships/image" Target="../media/image10.png"/><Relationship Id="rId10"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1/"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2/"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4/"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fiche-de-sortie/" TargetMode="External"/><Relationship Id="rId3" Type="http://schemas.openxmlformats.org/officeDocument/2006/relationships/notesSlide" Target="../notesSlides/notesSlide1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7"/>
          </p:nvPr>
        </p:nvSpPr>
        <p:spPr/>
        <p:txBody>
          <a:bodyPr/>
          <a:lstStyle/>
          <a:p>
            <a:r>
              <a:t>SUPPORT DE FORMATION</a:t>
            </a:r>
          </a:p>
        </p:txBody>
      </p:sp>
      <p:sp>
        <p:nvSpPr>
          <p:cNvPr id="3" name="Text Placeholder 2"/>
          <p:cNvSpPr>
            <a:spLocks noGrp="1"/>
          </p:cNvSpPr>
          <p:nvPr>
            <p:ph type="body" idx="108"/>
          </p:nvPr>
        </p:nvSpPr>
        <p:spPr/>
        <p:txBody>
          <a:bodyPr/>
          <a:lstStyle/>
          <a:p>
            <a:r>
              <a:t>2 jours · 14 heures</a:t>
            </a:r>
          </a:p>
        </p:txBody>
      </p:sp>
      <p:sp>
        <p:nvSpPr>
          <p:cNvPr id="4" name="Title 3"/>
          <p:cNvSpPr>
            <a:spLocks noGrp="1"/>
          </p:cNvSpPr>
          <p:nvPr>
            <p:ph type="title" idx="109"/>
          </p:nvPr>
        </p:nvSpPr>
        <p:spPr/>
        <p:txBody>
          <a:bodyPr/>
          <a:lstStyle/>
          <a:p>
            <a:r>
              <a:t>Industrialiser et gouverner l’IA générative</a:t>
            </a:r>
          </a:p>
        </p:txBody>
      </p:sp>
      <p:sp>
        <p:nvSpPr>
          <p:cNvPr id="5" name="Text Placeholder 4"/>
          <p:cNvSpPr>
            <a:spLocks noGrp="1"/>
          </p:cNvSpPr>
          <p:nvPr>
            <p:ph type="body" idx="110"/>
          </p:nvPr>
        </p:nvSpPr>
        <p:spPr/>
        <p:txBody>
          <a:bodyPr/>
          <a:lstStyle/>
          <a:p>
            <a:r>
              <a:t>Du protocole MCP à l’usine logicielle IA</a:t>
            </a:r>
          </a:p>
        </p:txBody>
      </p:sp>
      <p:sp>
        <p:nvSpPr>
          <p:cNvPr id="6" name="Text Placeholder 5"/>
          <p:cNvSpPr>
            <a:spLocks noGrp="1"/>
          </p:cNvSpPr>
          <p:nvPr>
            <p:ph type="body" idx="111"/>
          </p:nvPr>
        </p:nvSpPr>
        <p:spPr/>
        <p:txBody>
          <a:bodyPr/>
          <a:lstStyle/>
          <a:p>
            <a:r>
              <a:t>Platform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Programme</a:t>
            </a:r>
          </a:p>
        </p:txBody>
      </p:sp>
      <p:sp>
        <p:nvSpPr>
          <p:cNvPr id="3" name="Text Placeholder 2"/>
          <p:cNvSpPr>
            <a:spLocks noGrp="1"/>
          </p:cNvSpPr>
          <p:nvPr>
            <p:ph type="body" idx="105"/>
          </p:nvPr>
        </p:nvSpPr>
        <p:spPr/>
        <p:txBody>
          <a:bodyPr/>
          <a:lstStyle/>
          <a:p>
            <a:r>
              <a:t>14 h · parcours essentiel ; approfondissements hors programme</a:t>
            </a:r>
          </a:p>
        </p:txBody>
      </p:sp>
      <p:sp>
        <p:nvSpPr>
          <p:cNvPr id="4" name="Text Placeholder 3"/>
          <p:cNvSpPr>
            <a:spLocks noGrp="1"/>
          </p:cNvSpPr>
          <p:nvPr>
            <p:ph type="body" idx="107"/>
          </p:nvPr>
        </p:nvSpPr>
        <p:spPr/>
        <p:txBody>
          <a:bodyPr/>
          <a:lstStyle/>
          <a:p>
            <a:r>
              <a:t>01</a:t>
            </a:r>
          </a:p>
        </p:txBody>
      </p:sp>
      <p:sp>
        <p:nvSpPr>
          <p:cNvPr id="5" name="Text Placeholder 4"/>
          <p:cNvSpPr>
            <a:spLocks noGrp="1"/>
          </p:cNvSpPr>
          <p:nvPr>
            <p:ph type="body" idx="108"/>
          </p:nvPr>
        </p:nvSpPr>
        <p:spPr/>
        <p:txBody>
          <a:bodyPr/>
          <a:lstStyle/>
          <a:p>
            <a:r>
              <a:t>La ligne de flottaison &amp; fondations</a:t>
            </a:r>
          </a:p>
        </p:txBody>
      </p:sp>
      <p:sp>
        <p:nvSpPr>
          <p:cNvPr id="6" name="Text Placeholder 5"/>
          <p:cNvSpPr>
            <a:spLocks noGrp="1"/>
          </p:cNvSpPr>
          <p:nvPr>
            <p:ph type="body" idx="109"/>
          </p:nvPr>
        </p:nvSpPr>
        <p:spPr/>
        <p:txBody>
          <a:bodyPr/>
          <a:lstStyle/>
          <a:p>
            <a:r>
              <a:t>Jour 1 · matin — M0–M1</a:t>
            </a:r>
          </a:p>
        </p:txBody>
      </p:sp>
      <p:sp>
        <p:nvSpPr>
          <p:cNvPr id="7" name="Text Placeholder 6"/>
          <p:cNvSpPr>
            <a:spLocks noGrp="1"/>
          </p:cNvSpPr>
          <p:nvPr>
            <p:ph type="body" idx="111"/>
          </p:nvPr>
        </p:nvSpPr>
        <p:spPr/>
        <p:txBody>
          <a:bodyPr/>
          <a:lstStyle/>
          <a:p>
            <a:r>
              <a:t>02</a:t>
            </a:r>
          </a:p>
        </p:txBody>
      </p:sp>
      <p:sp>
        <p:nvSpPr>
          <p:cNvPr id="8" name="Text Placeholder 7"/>
          <p:cNvSpPr>
            <a:spLocks noGrp="1"/>
          </p:cNvSpPr>
          <p:nvPr>
            <p:ph type="body" idx="112"/>
          </p:nvPr>
        </p:nvSpPr>
        <p:spPr/>
        <p:txBody>
          <a:bodyPr/>
          <a:lstStyle/>
          <a:p>
            <a:r>
              <a:t>MCP : de l’architecture à l’implémentation</a:t>
            </a:r>
          </a:p>
        </p:txBody>
      </p:sp>
      <p:sp>
        <p:nvSpPr>
          <p:cNvPr id="9" name="Text Placeholder 8"/>
          <p:cNvSpPr>
            <a:spLocks noGrp="1"/>
          </p:cNvSpPr>
          <p:nvPr>
            <p:ph type="body" idx="113"/>
          </p:nvPr>
        </p:nvSpPr>
        <p:spPr/>
        <p:txBody>
          <a:bodyPr/>
          <a:lstStyle/>
          <a:p>
            <a:r>
              <a:t>Jour 1 · matin/après-midi — M2, TP1</a:t>
            </a:r>
          </a:p>
        </p:txBody>
      </p:sp>
      <p:sp>
        <p:nvSpPr>
          <p:cNvPr id="10" name="Text Placeholder 9"/>
          <p:cNvSpPr>
            <a:spLocks noGrp="1"/>
          </p:cNvSpPr>
          <p:nvPr>
            <p:ph type="body" idx="115"/>
          </p:nvPr>
        </p:nvSpPr>
        <p:spPr/>
        <p:txBody>
          <a:bodyPr/>
          <a:lstStyle/>
          <a:p>
            <a:r>
              <a:t>03</a:t>
            </a:r>
          </a:p>
        </p:txBody>
      </p:sp>
      <p:sp>
        <p:nvSpPr>
          <p:cNvPr id="11" name="Text Placeholder 10"/>
          <p:cNvSpPr>
            <a:spLocks noGrp="1"/>
          </p:cNvSpPr>
          <p:nvPr>
            <p:ph type="body" idx="116"/>
          </p:nvPr>
        </p:nvSpPr>
        <p:spPr/>
        <p:txBody>
          <a:bodyPr/>
          <a:lstStyle/>
          <a:p>
            <a:r>
              <a:t>Le contexte partagé &amp; les Skills</a:t>
            </a:r>
          </a:p>
        </p:txBody>
      </p:sp>
      <p:sp>
        <p:nvSpPr>
          <p:cNvPr id="12" name="Text Placeholder 11"/>
          <p:cNvSpPr>
            <a:spLocks noGrp="1"/>
          </p:cNvSpPr>
          <p:nvPr>
            <p:ph type="body" idx="117"/>
          </p:nvPr>
        </p:nvSpPr>
        <p:spPr/>
        <p:txBody>
          <a:bodyPr/>
          <a:lstStyle/>
          <a:p>
            <a:r>
              <a:t>Jour 1 · après-midi — M3, TP2</a:t>
            </a:r>
          </a:p>
        </p:txBody>
      </p:sp>
      <p:sp>
        <p:nvSpPr>
          <p:cNvPr id="13" name="Text Placeholder 12"/>
          <p:cNvSpPr>
            <a:spLocks noGrp="1"/>
          </p:cNvSpPr>
          <p:nvPr>
            <p:ph type="body" idx="119"/>
          </p:nvPr>
        </p:nvSpPr>
        <p:spPr/>
        <p:txBody>
          <a:bodyPr/>
          <a:lstStyle/>
          <a:p>
            <a:r>
              <a:t>04</a:t>
            </a:r>
          </a:p>
        </p:txBody>
      </p:sp>
      <p:sp>
        <p:nvSpPr>
          <p:cNvPr id="14" name="Text Placeholder 13"/>
          <p:cNvSpPr>
            <a:spLocks noGrp="1"/>
          </p:cNvSpPr>
          <p:nvPr>
            <p:ph type="body" idx="120"/>
          </p:nvPr>
        </p:nvSpPr>
        <p:spPr/>
        <p:txBody>
          <a:bodyPr/>
          <a:lstStyle/>
          <a:p>
            <a:r>
              <a:t>Évaluer &amp; sécuriser · gateway de modèles</a:t>
            </a:r>
          </a:p>
        </p:txBody>
      </p:sp>
      <p:sp>
        <p:nvSpPr>
          <p:cNvPr id="15" name="Text Placeholder 14"/>
          <p:cNvSpPr>
            <a:spLocks noGrp="1"/>
          </p:cNvSpPr>
          <p:nvPr>
            <p:ph type="body" idx="121"/>
          </p:nvPr>
        </p:nvSpPr>
        <p:spPr/>
        <p:txBody>
          <a:bodyPr/>
          <a:lstStyle/>
          <a:p>
            <a:r>
              <a:t>Jour 2 · matin — M4, TP3, M5</a:t>
            </a:r>
          </a:p>
        </p:txBody>
      </p:sp>
      <p:sp>
        <p:nvSpPr>
          <p:cNvPr id="16" name="Text Placeholder 15"/>
          <p:cNvSpPr>
            <a:spLocks noGrp="1"/>
          </p:cNvSpPr>
          <p:nvPr>
            <p:ph type="body" idx="123"/>
          </p:nvPr>
        </p:nvSpPr>
        <p:spPr/>
        <p:txBody>
          <a:bodyPr/>
          <a:lstStyle/>
          <a:p>
            <a:r>
              <a:t>05</a:t>
            </a:r>
          </a:p>
        </p:txBody>
      </p:sp>
      <p:sp>
        <p:nvSpPr>
          <p:cNvPr id="17" name="Text Placeholder 16"/>
          <p:cNvSpPr>
            <a:spLocks noGrp="1"/>
          </p:cNvSpPr>
          <p:nvPr>
            <p:ph type="body" idx="124"/>
          </p:nvPr>
        </p:nvSpPr>
        <p:spPr/>
        <p:txBody>
          <a:bodyPr/>
          <a:lstStyle/>
          <a:p>
            <a:r>
              <a:t>Gouverner &amp; industrialiser l’usine IA</a:t>
            </a:r>
          </a:p>
        </p:txBody>
      </p:sp>
      <p:sp>
        <p:nvSpPr>
          <p:cNvPr id="18" name="Text Placeholder 17"/>
          <p:cNvSpPr>
            <a:spLocks noGrp="1"/>
          </p:cNvSpPr>
          <p:nvPr>
            <p:ph type="body" idx="125"/>
          </p:nvPr>
        </p:nvSpPr>
        <p:spPr/>
        <p:txBody>
          <a:bodyPr/>
          <a:lstStyle/>
          <a:p>
            <a:r>
              <a:t>Jour 2 · après-midi — M6, TP4, M7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1 — Construire et partager</a:t>
            </a:r>
          </a:p>
        </p:txBody>
      </p:sp>
      <p:sp>
        <p:nvSpPr>
          <p:cNvPr id="3" name="Content Placeholder 2"/>
          <p:cNvSpPr>
            <a:spLocks noGrp="1"/>
          </p:cNvSpPr>
          <p:nvPr>
            <p:ph idx="12" sz="quarter"/>
          </p:nvPr>
        </p:nvSpPr>
        <p:spPr/>
        <p:txBody>
          <a:bodyPr/>
          <a:lstStyle/>
          <a:p>
            <a:r>
              <a:t>Construire un serveur MCP, puis partager son contexte.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M0 — La ligne de flottaison</a:t>
            </a:r>
          </a:p>
        </p:txBody>
      </p:sp>
      <p:sp>
        <p:nvSpPr>
          <p:cNvPr id="3" name="Content Placeholder 2"/>
          <p:cNvSpPr>
            <a:spLocks noGrp="1"/>
          </p:cNvSpPr>
          <p:nvPr>
            <p:ph idx="12" sz="quarter"/>
          </p:nvPr>
        </p:nvSpPr>
        <p:spPr/>
        <p:txBody>
          <a:bodyPr/>
          <a:lstStyle/>
          <a:p/>
        </p:txBody>
      </p:sp>
      <p:pic>
        <p:nvPicPr>
          <p:cNvPr id="4" name="Picture 3" descr="hohpe_sinkfloat.png"/>
          <p:cNvPicPr>
            <a:picLocks noChangeAspect="1"/>
          </p:cNvPicPr>
          <p:nvPr/>
        </p:nvPicPr>
        <p:blipFill>
          <a:blip r:embed="rId2"/>
          <a:stretch>
            <a:fillRect/>
          </a:stretch>
        </p:blipFill>
        <p:spPr>
          <a:xfrm>
            <a:off x="2489200" y="2184400"/>
            <a:ext cx="7200900" cy="4191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L’histoire de ValidatingAdmissionPolicy</a:t>
            </a:r>
          </a:p>
        </p:txBody>
      </p:sp>
      <p:sp>
        <p:nvSpPr>
          <p:cNvPr id="3" name="Text Placeholder 2"/>
          <p:cNvSpPr>
            <a:spLocks noGrp="1"/>
          </p:cNvSpPr>
          <p:nvPr>
            <p:ph type="body" idx="11"/>
          </p:nvPr>
        </p:nvSpPr>
        <p:spPr/>
        <p:txBody>
          <a:bodyPr/>
          <a:lstStyle/>
          <a:p>
            <a:r>
              <a:t>Hier — un opérateur maison (Gatekeeper, Kyverno), ses CRDs et un webhook dans le chemin critique.</a:t>
            </a:r>
          </a:p>
          <a:p>
            <a:r>
              <a:t>Aujourd’hui — depuis Kubernetes 1.30, CEL évalue les politiques nativement.</a:t>
            </a:r>
          </a:p>
          <a:p>
            <a:r>
              <a:t>La leçon — le socle a rattrapé un outillage qu’on maintenait à la main. À nous de suivre la montée des eaux et de retirer ce qui est désormais fourni.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modèle mental : couler ou flotter</a:t>
            </a:r>
          </a:p>
        </p:txBody>
      </p:sp>
      <p:sp>
        <p:nvSpPr>
          <p:cNvPr id="3" name="Text Placeholder 2"/>
          <p:cNvSpPr>
            <a:spLocks noGrp="1"/>
          </p:cNvSpPr>
          <p:nvPr>
            <p:ph type="body" idx="109"/>
          </p:nvPr>
        </p:nvSpPr>
        <p:spPr/>
        <p:txBody>
          <a:bodyPr/>
          <a:lstStyle/>
          <a:p>
            <a:r>
              <a:t>Gregor Hohpe — « is your platform sinking or floating? »</a:t>
            </a:r>
          </a:p>
        </p:txBody>
      </p:sp>
      <p:sp>
        <p:nvSpPr>
          <p:cNvPr id="4" name="Text Placeholder 3"/>
          <p:cNvSpPr>
            <a:spLocks noGrp="1"/>
          </p:cNvSpPr>
          <p:nvPr>
            <p:ph type="body" idx="111"/>
          </p:nvPr>
        </p:nvSpPr>
        <p:spPr/>
        <p:txBody>
          <a:bodyPr/>
          <a:lstStyle/>
          <a:p>
            <a:r>
              <a:t>LA PLATEFORME QUI COULE</a:t>
            </a:r>
          </a:p>
        </p:txBody>
      </p:sp>
      <p:sp>
        <p:nvSpPr>
          <p:cNvPr id="5" name="Text Placeholder 4"/>
          <p:cNvSpPr>
            <a:spLocks noGrp="1"/>
          </p:cNvSpPr>
          <p:nvPr>
            <p:ph type="body" idx="112"/>
          </p:nvPr>
        </p:nvSpPr>
        <p:spPr/>
        <p:txBody>
          <a:bodyPr/>
          <a:lstStyle/>
          <a:p>
            <a:r>
              <a:t>Dupliquer le socle</a:t>
            </a:r>
          </a:p>
        </p:txBody>
      </p:sp>
      <p:sp>
        <p:nvSpPr>
          <p:cNvPr id="6" name="Text Placeholder 5"/>
          <p:cNvSpPr>
            <a:spLocks noGrp="1"/>
          </p:cNvSpPr>
          <p:nvPr>
            <p:ph type="body" idx="113"/>
          </p:nvPr>
        </p:nvSpPr>
        <p:spPr/>
        <p:txBody>
          <a:bodyPr/>
          <a:lstStyle/>
          <a:p>
            <a:r>
              <a:t>On maintient des capacités maison que le socle fournit désormais. Le code se duplique, la dette s’accumule, l’effort part dans l’entretien.</a:t>
            </a:r>
          </a:p>
        </p:txBody>
      </p:sp>
      <p:sp>
        <p:nvSpPr>
          <p:cNvPr id="7" name="Text Placeholder 6"/>
          <p:cNvSpPr>
            <a:spLocks noGrp="1"/>
          </p:cNvSpPr>
          <p:nvPr>
            <p:ph type="body" idx="114"/>
          </p:nvPr>
        </p:nvSpPr>
        <p:spPr/>
        <p:txBody>
          <a:bodyPr/>
          <a:lstStyle/>
          <a:p>
            <a:r>
              <a:t>LA PLATEFORME QUI FLOTTE</a:t>
            </a:r>
          </a:p>
        </p:txBody>
      </p:sp>
      <p:sp>
        <p:nvSpPr>
          <p:cNvPr id="8" name="Text Placeholder 7"/>
          <p:cNvSpPr>
            <a:spLocks noGrp="1"/>
          </p:cNvSpPr>
          <p:nvPr>
            <p:ph type="body" idx="115"/>
          </p:nvPr>
        </p:nvSpPr>
        <p:spPr/>
        <p:txBody>
          <a:bodyPr/>
          <a:lstStyle/>
          <a:p>
            <a:r>
              <a:t>Réinvestir plus haut</a:t>
            </a:r>
          </a:p>
        </p:txBody>
      </p:sp>
      <p:sp>
        <p:nvSpPr>
          <p:cNvPr id="9" name="Text Placeholder 8"/>
          <p:cNvSpPr>
            <a:spLocks noGrp="1"/>
          </p:cNvSpPr>
          <p:nvPr>
            <p:ph type="body" idx="116"/>
          </p:nvPr>
        </p:nvSpPr>
        <p:spPr/>
        <p:txBody>
          <a:bodyPr/>
          <a:lstStyle/>
          <a:p>
            <a:r>
              <a:t>On retire les capacités absorbées au fil de l’eau et on réinvestit l’effort là où on crée de la valeur. Contrat social : les équipes savent d’avance ce qui sera retiré.</a:t>
            </a:r>
          </a:p>
        </p:txBody>
      </p:sp>
      <p:sp>
        <p:nvSpPr>
          <p:cNvPr id="10" name="Picture Placeholder 9"/>
          <p:cNvSpPr>
            <a:spLocks noGrp="1"/>
          </p:cNvSpPr>
          <p:nvPr>
            <p:ph type="pic" idx="117" sz="quarter"/>
          </p:nvPr>
        </p:nvSpPr>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Kubernetes</a:t>
            </a:r>
          </a:p>
        </p:txBody>
      </p:sp>
      <p:sp>
        <p:nvSpPr>
          <p:cNvPr id="3" name="Text Placeholder 2"/>
          <p:cNvSpPr>
            <a:spLocks noGrp="1"/>
          </p:cNvSpPr>
          <p:nvPr>
            <p:ph type="body" idx="105"/>
          </p:nvPr>
        </p:nvSpPr>
        <p:spPr/>
        <p:txBody>
          <a:bodyPr/>
          <a:lstStyle/>
          <a:p>
            <a:r>
              <a:t>Ce qu’on écrivait, ce que le socle a absorbé</a:t>
            </a:r>
          </a:p>
        </p:txBody>
      </p:sp>
      <p:sp>
        <p:nvSpPr>
          <p:cNvPr id="4" name="Text Placeholder 3"/>
          <p:cNvSpPr>
            <a:spLocks noGrp="1"/>
          </p:cNvSpPr>
          <p:nvPr>
            <p:ph type="body" idx="110"/>
          </p:nvPr>
        </p:nvSpPr>
        <p:spPr/>
        <p:txBody>
          <a:bodyPr/>
          <a:lstStyle/>
          <a:p>
            <a:r>
              <a:t>Admission policy</a:t>
            </a:r>
          </a:p>
        </p:txBody>
      </p:sp>
      <p:sp>
        <p:nvSpPr>
          <p:cNvPr id="5" name="Text Placeholder 4"/>
          <p:cNvSpPr>
            <a:spLocks noGrp="1"/>
          </p:cNvSpPr>
          <p:nvPr>
            <p:ph type="body" idx="111"/>
          </p:nvPr>
        </p:nvSpPr>
        <p:spPr/>
        <p:txBody>
          <a:bodyPr/>
          <a:lstStyle/>
          <a:p>
            <a:r>
              <a:t>Opérateur + webhook → CEL natif dans l’API server (VAP, 1.30).</a:t>
            </a:r>
          </a:p>
        </p:txBody>
      </p:sp>
      <p:sp>
        <p:nvSpPr>
          <p:cNvPr id="6" name="Text Placeholder 5"/>
          <p:cNvSpPr>
            <a:spLocks noGrp="1"/>
          </p:cNvSpPr>
          <p:nvPr>
            <p:ph type="body" idx="115"/>
          </p:nvPr>
        </p:nvSpPr>
        <p:spPr/>
        <p:txBody>
          <a:bodyPr/>
          <a:lstStyle/>
          <a:p>
            <a:r>
              <a:t>Sidecars</a:t>
            </a:r>
          </a:p>
        </p:txBody>
      </p:sp>
      <p:sp>
        <p:nvSpPr>
          <p:cNvPr id="7" name="Text Placeholder 6"/>
          <p:cNvSpPr>
            <a:spLocks noGrp="1"/>
          </p:cNvSpPr>
          <p:nvPr>
            <p:ph type="body" idx="116"/>
          </p:nvPr>
        </p:nvSpPr>
        <p:spPr/>
        <p:txBody>
          <a:bodyPr/>
          <a:lstStyle/>
          <a:p>
            <a:r>
              <a:t>Cycle de vie orchestré à la main → sidecars natifs : démarrage, arrêt et coordination avec le conteneur principal gérés par le kubelet.</a:t>
            </a:r>
          </a:p>
        </p:txBody>
      </p:sp>
      <p:sp>
        <p:nvSpPr>
          <p:cNvPr id="8" name="Text Placeholder 7"/>
          <p:cNvSpPr>
            <a:spLocks noGrp="1"/>
          </p:cNvSpPr>
          <p:nvPr>
            <p:ph type="body" idx="120"/>
          </p:nvPr>
        </p:nvSpPr>
        <p:spPr/>
        <p:txBody>
          <a:bodyPr/>
          <a:lstStyle/>
          <a:p>
            <a:r>
              <a:t>Ordonnancement</a:t>
            </a:r>
          </a:p>
        </p:txBody>
      </p:sp>
      <p:sp>
        <p:nvSpPr>
          <p:cNvPr id="9" name="Text Placeholder 8"/>
          <p:cNvSpPr>
            <a:spLocks noGrp="1"/>
          </p:cNvSpPr>
          <p:nvPr>
            <p:ph type="body" idx="121"/>
          </p:nvPr>
        </p:nvSpPr>
        <p:spPr/>
        <p:txBody>
          <a:bodyPr/>
          <a:lstStyle/>
          <a:p>
            <a:r>
              <a:t>Hacks d’ordonnancement → scheduling gates natifs.</a:t>
            </a:r>
          </a:p>
        </p:txBody>
      </p:sp>
      <p:sp>
        <p:nvSpPr>
          <p:cNvPr id="10" name="Text Placeholder 9"/>
          <p:cNvSpPr>
            <a:spLocks noGrp="1"/>
          </p:cNvSpPr>
          <p:nvPr>
            <p:ph type="body" idx="125"/>
          </p:nvPr>
        </p:nvSpPr>
        <p:spPr/>
        <p:txBody>
          <a:bodyPr/>
          <a:lstStyle/>
          <a:p>
            <a:r>
              <a:t>Ressources</a:t>
            </a:r>
          </a:p>
        </p:txBody>
      </p:sp>
      <p:sp>
        <p:nvSpPr>
          <p:cNvPr id="11" name="Text Placeholder 10"/>
          <p:cNvSpPr>
            <a:spLocks noGrp="1"/>
          </p:cNvSpPr>
          <p:nvPr>
            <p:ph type="body" idx="126"/>
          </p:nvPr>
        </p:nvSpPr>
        <p:spPr/>
        <p:txBody>
          <a:bodyPr/>
          <a:lstStyle/>
          <a:p>
            <a:r>
              <a:t>Redémarrage pour redimensionner → in-place resize.</a:t>
            </a:r>
          </a:p>
        </p:txBody>
      </p:sp>
      <p:sp>
        <p:nvSpPr>
          <p:cNvPr id="12" name="Picture Placeholder 11"/>
          <p:cNvSpPr>
            <a:spLocks noGrp="1"/>
          </p:cNvSpPr>
          <p:nvPr>
            <p:ph type="pic" idx="127" sz="quarter"/>
          </p:nvPr>
        </p:nvSpPr>
        <p:spPr/>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pivot : changer de socle, garder le modèle</a:t>
            </a:r>
          </a:p>
        </p:txBody>
      </p:sp>
      <p:sp>
        <p:nvSpPr>
          <p:cNvPr id="3" name="Text Placeholder 2"/>
          <p:cNvSpPr>
            <a:spLocks noGrp="1"/>
          </p:cNvSpPr>
          <p:nvPr>
            <p:ph type="body" idx="109"/>
          </p:nvPr>
        </p:nvSpPr>
        <p:spPr/>
        <p:txBody>
          <a:bodyPr/>
          <a:lstStyle/>
          <a:p>
            <a:r>
              <a:t>Les mêmes rôles, transposés — la montée des eaux va plus vite : des mois, pas des années</a:t>
            </a:r>
          </a:p>
        </p:txBody>
      </p:sp>
      <p:sp>
        <p:nvSpPr>
          <p:cNvPr id="4" name="Text Placeholder 3"/>
          <p:cNvSpPr>
            <a:spLocks noGrp="1"/>
          </p:cNvSpPr>
          <p:nvPr>
            <p:ph type="body" idx="111"/>
          </p:nvPr>
        </p:nvSpPr>
        <p:spPr/>
        <p:txBody>
          <a:bodyPr/>
          <a:lstStyle/>
          <a:p>
            <a:r>
              <a:t>KUBERNETES (HIER)</a:t>
            </a:r>
          </a:p>
        </p:txBody>
      </p:sp>
      <p:sp>
        <p:nvSpPr>
          <p:cNvPr id="5" name="Text Placeholder 4"/>
          <p:cNvSpPr>
            <a:spLocks noGrp="1"/>
          </p:cNvSpPr>
          <p:nvPr>
            <p:ph type="body" idx="112"/>
          </p:nvPr>
        </p:nvSpPr>
        <p:spPr/>
        <p:txBody>
          <a:bodyPr/>
          <a:lstStyle/>
          <a:p>
            <a:r>
              <a:t>Quatre rôles</a:t>
            </a:r>
          </a:p>
        </p:txBody>
      </p:sp>
      <p:sp>
        <p:nvSpPr>
          <p:cNvPr id="6" name="Text Placeholder 5"/>
          <p:cNvSpPr>
            <a:spLocks noGrp="1"/>
          </p:cNvSpPr>
          <p:nvPr>
            <p:ph type="body" idx="113"/>
          </p:nvPr>
        </p:nvSpPr>
        <p:spPr/>
        <p:txBody>
          <a:bodyPr/>
          <a:lstStyle/>
          <a:p>
            <a:r>
              <a:t>Socle : l’API server</a:t>
            </a:r>
          </a:p>
          <a:p>
            <a:r>
              <a:t>Plateforme maison : l’opérateur / webhook</a:t>
            </a:r>
          </a:p>
          <a:p>
            <a:r>
              <a:t>Format maison : le CRD</a:t>
            </a:r>
          </a:p>
          <a:p>
            <a:r>
              <a:t>Capacité absorbée : la feature native (VAP)</a:t>
            </a:r>
          </a:p>
        </p:txBody>
      </p:sp>
      <p:sp>
        <p:nvSpPr>
          <p:cNvPr id="7" name="Text Placeholder 6"/>
          <p:cNvSpPr>
            <a:spLocks noGrp="1"/>
          </p:cNvSpPr>
          <p:nvPr>
            <p:ph type="body" idx="114"/>
          </p:nvPr>
        </p:nvSpPr>
        <p:spPr/>
        <p:txBody>
          <a:bodyPr/>
          <a:lstStyle/>
          <a:p>
            <a:r>
              <a:t>IA (AUJOURD’HUI)</a:t>
            </a:r>
          </a:p>
        </p:txBody>
      </p:sp>
      <p:sp>
        <p:nvSpPr>
          <p:cNvPr id="8" name="Text Placeholder 7"/>
          <p:cNvSpPr>
            <a:spLocks noGrp="1"/>
          </p:cNvSpPr>
          <p:nvPr>
            <p:ph type="body" idx="115"/>
          </p:nvPr>
        </p:nvSpPr>
        <p:spPr/>
        <p:txBody>
          <a:bodyPr/>
          <a:lstStyle/>
          <a:p>
            <a:r>
              <a:t>Les mêmes rôles</a:t>
            </a:r>
          </a:p>
        </p:txBody>
      </p:sp>
      <p:sp>
        <p:nvSpPr>
          <p:cNvPr id="9" name="Text Placeholder 8"/>
          <p:cNvSpPr>
            <a:spLocks noGrp="1"/>
          </p:cNvSpPr>
          <p:nvPr>
            <p:ph type="body" idx="116"/>
          </p:nvPr>
        </p:nvSpPr>
        <p:spPr/>
        <p:txBody>
          <a:bodyPr/>
          <a:lstStyle/>
          <a:p>
            <a:r>
              <a:t>Socle : le modèle</a:t>
            </a:r>
          </a:p>
          <a:p>
            <a:r>
              <a:t>Plateforme maison : le harnais</a:t>
            </a:r>
          </a:p>
          <a:p>
            <a:r>
              <a:t>Format maison : le schéma d’outil propriétaire</a:t>
            </a:r>
          </a:p>
          <a:p>
            <a:r>
              <a:t>Capacité absorbée : le function calling natif</a:t>
            </a:r>
          </a:p>
        </p:txBody>
      </p:sp>
      <p:sp>
        <p:nvSpPr>
          <p:cNvPr id="10" name="Picture Placeholder 9"/>
          <p:cNvSpPr>
            <a:spLocks noGrp="1"/>
          </p:cNvSpPr>
          <p:nvPr>
            <p:ph type="pic" idx="117" sz="quarter"/>
          </p:nvPr>
        </p:nvSpPr>
        <p:spPr/>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IA</a:t>
            </a:r>
          </a:p>
        </p:txBody>
      </p:sp>
      <p:sp>
        <p:nvSpPr>
          <p:cNvPr id="3" name="Text Placeholder 2"/>
          <p:cNvSpPr>
            <a:spLocks noGrp="1"/>
          </p:cNvSpPr>
          <p:nvPr>
            <p:ph type="body" idx="105"/>
          </p:nvPr>
        </p:nvSpPr>
        <p:spPr/>
        <p:txBody>
          <a:bodyPr/>
          <a:lstStyle/>
          <a:p>
            <a:r>
              <a:t>Des harnais d'hier, absorbés en partie — le socle absorbe le mécanisme, pas la vérification</a:t>
            </a:r>
          </a:p>
        </p:txBody>
      </p:sp>
      <p:sp>
        <p:nvSpPr>
          <p:cNvPr id="4" name="Text Placeholder 3"/>
          <p:cNvSpPr>
            <a:spLocks noGrp="1"/>
          </p:cNvSpPr>
          <p:nvPr>
            <p:ph type="body" idx="110"/>
          </p:nvPr>
        </p:nvSpPr>
        <p:spPr/>
        <p:txBody>
          <a:bodyPr/>
          <a:lstStyle/>
          <a:p>
            <a:r>
              <a:t>Appel d’outils</a:t>
            </a:r>
          </a:p>
        </p:txBody>
      </p:sp>
      <p:sp>
        <p:nvSpPr>
          <p:cNvPr id="5" name="Text Placeholder 4"/>
          <p:cNvSpPr>
            <a:spLocks noGrp="1"/>
          </p:cNvSpPr>
          <p:nvPr>
            <p:ph type="body" idx="111"/>
          </p:nvPr>
        </p:nvSpPr>
        <p:spPr/>
        <p:txBody>
          <a:bodyPr/>
          <a:lstStyle/>
          <a:p>
            <a:r>
              <a:t>Parsing maison (ReAct, regex) → function calling natif.</a:t>
            </a:r>
          </a:p>
        </p:txBody>
      </p:sp>
      <p:sp>
        <p:nvSpPr>
          <p:cNvPr id="6" name="Text Placeholder 5"/>
          <p:cNvSpPr>
            <a:spLocks noGrp="1"/>
          </p:cNvSpPr>
          <p:nvPr>
            <p:ph type="body" idx="115"/>
          </p:nvPr>
        </p:nvSpPr>
        <p:spPr/>
        <p:txBody>
          <a:bodyPr/>
          <a:lstStyle/>
          <a:p>
            <a:r>
              <a:t>Raisonnement</a:t>
            </a:r>
          </a:p>
        </p:txBody>
      </p:sp>
      <p:sp>
        <p:nvSpPr>
          <p:cNvPr id="7" name="Text Placeholder 6"/>
          <p:cNvSpPr>
            <a:spLocks noGrp="1"/>
          </p:cNvSpPr>
          <p:nvPr>
            <p:ph type="body" idx="116"/>
          </p:nvPr>
        </p:nvSpPr>
        <p:spPr/>
        <p:txBody>
          <a:bodyPr/>
          <a:lstStyle/>
          <a:p>
            <a:r>
              <a:t>CoT forcé par prompt → modèles de raisonnement natifs.</a:t>
            </a:r>
          </a:p>
        </p:txBody>
      </p:sp>
      <p:sp>
        <p:nvSpPr>
          <p:cNvPr id="8" name="Text Placeholder 7"/>
          <p:cNvSpPr>
            <a:spLocks noGrp="1"/>
          </p:cNvSpPr>
          <p:nvPr>
            <p:ph type="body" idx="120"/>
          </p:nvPr>
        </p:nvSpPr>
        <p:spPr/>
        <p:txBody>
          <a:bodyPr/>
          <a:lstStyle/>
          <a:p>
            <a:r>
              <a:t>Sorties</a:t>
            </a:r>
          </a:p>
        </p:txBody>
      </p:sp>
      <p:sp>
        <p:nvSpPr>
          <p:cNvPr id="9" name="Text Placeholder 8"/>
          <p:cNvSpPr>
            <a:spLocks noGrp="1"/>
          </p:cNvSpPr>
          <p:nvPr>
            <p:ph type="body" idx="121"/>
          </p:nvPr>
        </p:nvSpPr>
        <p:spPr/>
        <p:txBody>
          <a:bodyPr/>
          <a:lstStyle/>
          <a:p>
            <a:r>
              <a:t>Validation JSON par retry → conformité au schéma native. L'exactitude métier des valeurs reste à valider.</a:t>
            </a:r>
          </a:p>
        </p:txBody>
      </p:sp>
      <p:sp>
        <p:nvSpPr>
          <p:cNvPr id="10" name="Text Placeholder 9"/>
          <p:cNvSpPr>
            <a:spLocks noGrp="1"/>
          </p:cNvSpPr>
          <p:nvPr>
            <p:ph type="body" idx="125"/>
          </p:nvPr>
        </p:nvSpPr>
        <p:spPr/>
        <p:txBody>
          <a:bodyPr/>
          <a:lstStyle/>
          <a:p>
            <a:r>
              <a:t>Contexte</a:t>
            </a:r>
          </a:p>
        </p:txBody>
      </p:sp>
      <p:sp>
        <p:nvSpPr>
          <p:cNvPr id="11" name="Text Placeholder 10"/>
          <p:cNvSpPr>
            <a:spLocks noGrp="1"/>
          </p:cNvSpPr>
          <p:nvPr>
            <p:ph type="body" idx="126"/>
          </p:nvPr>
        </p:nvSpPr>
        <p:spPr/>
        <p:txBody>
          <a:bodyPr/>
          <a:lstStyle/>
          <a:p>
            <a:r>
              <a:t>Chunking pour tenir en 4k → contexte long + cache : moins de plomberie, mais il faut toujours sélectionner le pertinent.</a:t>
            </a:r>
          </a:p>
        </p:txBody>
      </p:sp>
      <p:sp>
        <p:nvSpPr>
          <p:cNvPr id="12" name="Picture Placeholder 11"/>
          <p:cNvSpPr>
            <a:spLocks noGrp="1"/>
          </p:cNvSpPr>
          <p:nvPr>
            <p:ph type="pic" idx="127" sz="quarter"/>
          </p:nvPr>
        </p:nvSpPr>
        <p:spPr/>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Un socle, ou plusieurs ?</a:t>
            </a:r>
          </a:p>
        </p:txBody>
      </p:sp>
      <p:sp>
        <p:nvSpPr>
          <p:cNvPr id="3" name="Text Placeholder 2"/>
          <p:cNvSpPr>
            <a:spLocks noGrp="1"/>
          </p:cNvSpPr>
          <p:nvPr>
            <p:ph type="body" idx="105"/>
          </p:nvPr>
        </p:nvSpPr>
        <p:spPr/>
        <p:txBody>
          <a:bodyPr/>
          <a:lstStyle/>
          <a:p>
            <a:r>
              <a:t>Les LLM sont pluriels et concurrents — trois issues possibles, pas deux</a:t>
            </a:r>
          </a:p>
        </p:txBody>
      </p:sp>
      <p:sp>
        <p:nvSpPr>
          <p:cNvPr id="4" name="Text Placeholder 3"/>
          <p:cNvSpPr>
            <a:spLocks noGrp="1"/>
          </p:cNvSpPr>
          <p:nvPr>
            <p:ph type="body" idx="109"/>
          </p:nvPr>
        </p:nvSpPr>
        <p:spPr/>
        <p:txBody>
          <a:bodyPr/>
          <a:lstStyle/>
          <a:p>
            <a:r>
              <a:t>Absorption</a:t>
            </a:r>
          </a:p>
        </p:txBody>
      </p:sp>
      <p:sp>
        <p:nvSpPr>
          <p:cNvPr id="5" name="Text Placeholder 4"/>
          <p:cNvSpPr>
            <a:spLocks noGrp="1"/>
          </p:cNvSpPr>
          <p:nvPr>
            <p:ph type="body" idx="110"/>
          </p:nvPr>
        </p:nvSpPr>
        <p:spPr/>
        <p:txBody>
          <a:bodyPr/>
          <a:lstStyle/>
          <a:p>
            <a:r>
              <a:t>Le socle avale la capacité ; le code maison est supprimé. Ex. VAP, function calling.</a:t>
            </a:r>
          </a:p>
        </p:txBody>
      </p:sp>
      <p:sp>
        <p:nvSpPr>
          <p:cNvPr id="6" name="Text Placeholder 5"/>
          <p:cNvSpPr>
            <a:spLocks noGrp="1"/>
          </p:cNvSpPr>
          <p:nvPr>
            <p:ph type="body" idx="112"/>
          </p:nvPr>
        </p:nvSpPr>
        <p:spPr/>
        <p:txBody>
          <a:bodyPr/>
          <a:lstStyle/>
          <a:p>
            <a:r>
              <a:t>Normalisation</a:t>
            </a:r>
          </a:p>
        </p:txBody>
      </p:sp>
      <p:sp>
        <p:nvSpPr>
          <p:cNvPr id="7" name="Text Placeholder 6"/>
          <p:cNvSpPr>
            <a:spLocks noGrp="1"/>
          </p:cNvSpPr>
          <p:nvPr>
            <p:ph type="body" idx="113"/>
          </p:nvPr>
        </p:nvSpPr>
        <p:spPr/>
        <p:txBody>
          <a:bodyPr/>
          <a:lstStyle/>
          <a:p>
            <a:r>
              <a:t>L’interface se fige ; le code maison est réduit à un adaptateur. Ex. CRI/CNI/CSI, OpenAI-compat.</a:t>
            </a:r>
          </a:p>
        </p:txBody>
      </p:sp>
      <p:sp>
        <p:nvSpPr>
          <p:cNvPr id="8" name="Text Placeholder 7"/>
          <p:cNvSpPr>
            <a:spLocks noGrp="1"/>
          </p:cNvSpPr>
          <p:nvPr>
            <p:ph type="body" idx="115"/>
          </p:nvPr>
        </p:nvSpPr>
        <p:spPr/>
        <p:txBody>
          <a:bodyPr/>
          <a:lstStyle/>
          <a:p>
            <a:r>
              <a:t>Divergence durable</a:t>
            </a:r>
          </a:p>
        </p:txBody>
      </p:sp>
      <p:sp>
        <p:nvSpPr>
          <p:cNvPr id="9" name="Text Placeholder 8"/>
          <p:cNvSpPr>
            <a:spLocks noGrp="1"/>
          </p:cNvSpPr>
          <p:nvPr>
            <p:ph type="body" idx="116"/>
          </p:nvPr>
        </p:nvSpPr>
        <p:spPr/>
        <p:txBody>
          <a:bodyPr/>
          <a:lstStyle/>
          <a:p>
            <a:r>
              <a:t>Rien ne converge ; la capacité maison est maintenue — un coût assumé.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 la normalisation par le haut</a:t>
            </a:r>
          </a:p>
        </p:txBody>
      </p:sp>
      <p:sp>
        <p:nvSpPr>
          <p:cNvPr id="3" name="Text Placeholder 2"/>
          <p:cNvSpPr>
            <a:spLocks noGrp="1"/>
          </p:cNvSpPr>
          <p:nvPr>
            <p:ph type="body" idx="109"/>
          </p:nvPr>
        </p:nvSpPr>
        <p:spPr/>
        <p:txBody>
          <a:bodyPr/>
          <a:lstStyle/>
          <a:p>
            <a:r>
              <a:t>Quand la convergence vient d’en haut plutôt que d’en bas</a:t>
            </a:r>
          </a:p>
        </p:txBody>
      </p:sp>
      <p:sp>
        <p:nvSpPr>
          <p:cNvPr id="4" name="Text Placeholder 3"/>
          <p:cNvSpPr>
            <a:spLocks noGrp="1"/>
          </p:cNvSpPr>
          <p:nvPr>
            <p:ph type="body" idx="111"/>
          </p:nvPr>
        </p:nvSpPr>
        <p:spPr/>
        <p:txBody>
          <a:bodyPr/>
          <a:lstStyle/>
          <a:p>
            <a:r>
              <a:t>LE MÉCANISME</a:t>
            </a:r>
          </a:p>
        </p:txBody>
      </p:sp>
      <p:sp>
        <p:nvSpPr>
          <p:cNvPr id="5" name="Text Placeholder 4"/>
          <p:cNvSpPr>
            <a:spLocks noGrp="1"/>
          </p:cNvSpPr>
          <p:nvPr>
            <p:ph type="body" idx="112"/>
          </p:nvPr>
        </p:nvSpPr>
        <p:spPr/>
        <p:txBody>
          <a:bodyPr/>
          <a:lstStyle/>
          <a:p>
            <a:r>
              <a:t>Un protocole ouvert</a:t>
            </a:r>
          </a:p>
        </p:txBody>
      </p:sp>
      <p:sp>
        <p:nvSpPr>
          <p:cNvPr id="6" name="Text Placeholder 5"/>
          <p:cNvSpPr>
            <a:spLocks noGrp="1"/>
          </p:cNvSpPr>
          <p:nvPr>
            <p:ph type="body" idx="113"/>
          </p:nvPr>
        </p:nvSpPr>
        <p:spPr/>
        <p:txBody>
          <a:bodyPr/>
          <a:lstStyle/>
          <a:p>
            <a:r>
              <a:t>Un lab frontière publie un protocole ouvert ; les concurrents l’adoptent, parce que faire grossir l’écosystème vaut mieux que le verrouiller. MCP en est l’exemple.</a:t>
            </a:r>
          </a:p>
        </p:txBody>
      </p:sp>
      <p:sp>
        <p:nvSpPr>
          <p:cNvPr id="7" name="Text Placeholder 6"/>
          <p:cNvSpPr>
            <a:spLocks noGrp="1"/>
          </p:cNvSpPr>
          <p:nvPr>
            <p:ph type="body" idx="114"/>
          </p:nvPr>
        </p:nvSpPr>
        <p:spPr/>
        <p:txBody>
          <a:bodyPr/>
          <a:lstStyle/>
          <a:p>
            <a:r>
              <a:t>LE RÉSULTAT</a:t>
            </a:r>
          </a:p>
        </p:txBody>
      </p:sp>
      <p:sp>
        <p:nvSpPr>
          <p:cNvPr id="8" name="Text Placeholder 7"/>
          <p:cNvSpPr>
            <a:spLocks noGrp="1"/>
          </p:cNvSpPr>
          <p:nvPr>
            <p:ph type="body" idx="115"/>
          </p:nvPr>
        </p:nvSpPr>
        <p:spPr/>
        <p:txBody>
          <a:bodyPr/>
          <a:lstStyle/>
          <a:p>
            <a:r>
              <a:t>Le col du sablier</a:t>
            </a:r>
          </a:p>
        </p:txBody>
      </p:sp>
      <p:sp>
        <p:nvSpPr>
          <p:cNvPr id="9" name="Text Placeholder 8"/>
          <p:cNvSpPr>
            <a:spLocks noGrp="1"/>
          </p:cNvSpPr>
          <p:nvPr>
            <p:ph type="body" idx="116"/>
          </p:nvPr>
        </p:nvSpPr>
        <p:spPr/>
        <p:txBody>
          <a:bodyPr/>
          <a:lstStyle/>
          <a:p>
            <a:r>
              <a:t>Le point d’intégration devient une interface fine et stable, sur laquelle tout le monde s’aligne — comme CRI, CNI et CSI côté Kubernetes. C’est là qu’on va construire.</a:t>
            </a:r>
          </a:p>
        </p:txBody>
      </p:sp>
      <p:sp>
        <p:nvSpPr>
          <p:cNvPr id="10" name="Picture Placeholder 9"/>
          <p:cNvSpPr>
            <a:spLocks noGrp="1"/>
          </p:cNvSpPr>
          <p:nvPr>
            <p:ph type="pic" idx="117" sz="quarter"/>
          </p:nvPr>
        </p:nvSpPr>
        <p:spPr/>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responsabilités qui restent à l'organisation</a:t>
            </a:r>
          </a:p>
        </p:txBody>
      </p:sp>
      <p:sp>
        <p:nvSpPr>
          <p:cNvPr id="3" name="Text Placeholder 2"/>
          <p:cNvSpPr>
            <a:spLocks noGrp="1"/>
          </p:cNvSpPr>
          <p:nvPr>
            <p:ph type="body" idx="105"/>
          </p:nvPr>
        </p:nvSpPr>
        <p:spPr/>
        <p:txBody>
          <a:bodyPr/>
          <a:lstStyle/>
          <a:p>
            <a:r>
              <a:t>Les fournisseurs livrent des mécanismes ; vous gardez politiques, critères et décisions</a:t>
            </a:r>
          </a:p>
        </p:txBody>
      </p:sp>
      <p:sp>
        <p:nvSpPr>
          <p:cNvPr id="4" name="Text Placeholder 3"/>
          <p:cNvSpPr>
            <a:spLocks noGrp="1"/>
          </p:cNvSpPr>
          <p:nvPr>
            <p:ph type="body" idx="111"/>
          </p:nvPr>
        </p:nvSpPr>
        <p:spPr/>
        <p:txBody>
          <a:bodyPr/>
          <a:lstStyle/>
          <a:p>
            <a:r>
              <a:t>Identité &amp; accès</a:t>
            </a:r>
          </a:p>
        </p:txBody>
      </p:sp>
      <p:sp>
        <p:nvSpPr>
          <p:cNvPr id="5" name="Text Placeholder 4"/>
          <p:cNvSpPr>
            <a:spLocks noGrp="1"/>
          </p:cNvSpPr>
          <p:nvPr>
            <p:ph type="body" idx="112"/>
          </p:nvPr>
        </p:nvSpPr>
        <p:spPr/>
        <p:txBody>
          <a:bodyPr/>
          <a:lstStyle/>
          <a:p>
            <a:r>
              <a:t>Qui a le droit de faire quoi. Le mécanisme peut être fourni ; la politique et les secrets restent les vôtres.</a:t>
            </a:r>
          </a:p>
        </p:txBody>
      </p:sp>
      <p:sp>
        <p:nvSpPr>
          <p:cNvPr id="6" name="Text Placeholder 5"/>
          <p:cNvSpPr>
            <a:spLocks noGrp="1"/>
          </p:cNvSpPr>
          <p:nvPr>
            <p:ph type="body" idx="115"/>
          </p:nvPr>
        </p:nvSpPr>
        <p:spPr/>
        <p:txBody>
          <a:bodyPr/>
          <a:lstStyle/>
          <a:p>
            <a:r>
              <a:t>Audit &amp; traçabilité</a:t>
            </a:r>
          </a:p>
        </p:txBody>
      </p:sp>
      <p:sp>
        <p:nvSpPr>
          <p:cNvPr id="7" name="Text Placeholder 6"/>
          <p:cNvSpPr>
            <a:spLocks noGrp="1"/>
          </p:cNvSpPr>
          <p:nvPr>
            <p:ph type="body" idx="116"/>
          </p:nvPr>
        </p:nvSpPr>
        <p:spPr/>
        <p:txBody>
          <a:bodyPr/>
          <a:lstStyle/>
          <a:p>
            <a:r>
              <a:t>Journaux fournis par les plateformes ; rétention, périmètre et obligations de conformité décidés par vous.</a:t>
            </a:r>
          </a:p>
        </p:txBody>
      </p:sp>
      <p:sp>
        <p:nvSpPr>
          <p:cNvPr id="8" name="Text Placeholder 7"/>
          <p:cNvSpPr>
            <a:spLocks noGrp="1"/>
          </p:cNvSpPr>
          <p:nvPr>
            <p:ph type="body" idx="119"/>
          </p:nvPr>
        </p:nvSpPr>
        <p:spPr/>
        <p:txBody>
          <a:bodyPr/>
          <a:lstStyle/>
          <a:p>
            <a:r>
              <a:t>Coût &amp; routing</a:t>
            </a:r>
          </a:p>
        </p:txBody>
      </p:sp>
      <p:sp>
        <p:nvSpPr>
          <p:cNvPr id="9" name="Text Placeholder 8"/>
          <p:cNvSpPr>
            <a:spLocks noGrp="1"/>
          </p:cNvSpPr>
          <p:nvPr>
            <p:ph type="body" idx="120"/>
          </p:nvPr>
        </p:nvSpPr>
        <p:spPr/>
        <p:txBody>
          <a:bodyPr/>
          <a:lstStyle/>
          <a:p>
            <a:r>
              <a:t>Routeurs et quotas existent sur étagère ; budgets, arbitrages et priorités restent à décider.</a:t>
            </a:r>
          </a:p>
        </p:txBody>
      </p:sp>
      <p:sp>
        <p:nvSpPr>
          <p:cNvPr id="10" name="Text Placeholder 9"/>
          <p:cNvSpPr>
            <a:spLocks noGrp="1"/>
          </p:cNvSpPr>
          <p:nvPr>
            <p:ph type="body" idx="123"/>
          </p:nvPr>
        </p:nvSpPr>
        <p:spPr/>
        <p:txBody>
          <a:bodyPr/>
          <a:lstStyle/>
          <a:p>
            <a:r>
              <a:t>Règles métier</a:t>
            </a:r>
          </a:p>
        </p:txBody>
      </p:sp>
      <p:sp>
        <p:nvSpPr>
          <p:cNvPr id="11" name="Text Placeholder 10"/>
          <p:cNvSpPr>
            <a:spLocks noGrp="1"/>
          </p:cNvSpPr>
          <p:nvPr>
            <p:ph type="body" idx="124"/>
          </p:nvPr>
        </p:nvSpPr>
        <p:spPr/>
        <p:txBody>
          <a:bodyPr/>
          <a:lstStyle/>
          <a:p>
            <a:r>
              <a:t>Contraintes propres à l'organisation et au réglementaire : personne d'autre ne les connaît.</a:t>
            </a:r>
          </a:p>
        </p:txBody>
      </p:sp>
      <p:sp>
        <p:nvSpPr>
          <p:cNvPr id="12" name="Text Placeholder 11"/>
          <p:cNvSpPr>
            <a:spLocks noGrp="1"/>
          </p:cNvSpPr>
          <p:nvPr>
            <p:ph type="body" idx="127"/>
          </p:nvPr>
        </p:nvSpPr>
        <p:spPr/>
        <p:txBody>
          <a:bodyPr/>
          <a:lstStyle/>
          <a:p>
            <a:r>
              <a:t>Évaluation</a:t>
            </a:r>
          </a:p>
        </p:txBody>
      </p:sp>
      <p:sp>
        <p:nvSpPr>
          <p:cNvPr id="13" name="Text Placeholder 12"/>
          <p:cNvSpPr>
            <a:spLocks noGrp="1"/>
          </p:cNvSpPr>
          <p:nvPr>
            <p:ph type="body" idx="128"/>
          </p:nvPr>
        </p:nvSpPr>
        <p:spPr/>
        <p:txBody>
          <a:bodyPr/>
          <a:lstStyle/>
          <a:p>
            <a:r>
              <a:t>Outils d'évaluation disponibles ; critères, seuils d'acceptation et non-régression relèvent de vous.</a:t>
            </a:r>
          </a:p>
        </p:txBody>
      </p:sp>
      <p:sp>
        <p:nvSpPr>
          <p:cNvPr id="14" name="Text Placeholder 13"/>
          <p:cNvSpPr>
            <a:spLocks noGrp="1"/>
          </p:cNvSpPr>
          <p:nvPr>
            <p:ph type="body" idx="131"/>
          </p:nvPr>
        </p:nvSpPr>
        <p:spPr/>
        <p:txBody>
          <a:bodyPr/>
          <a:lstStyle/>
          <a:p>
            <a:r>
              <a:t>→ Le programme</a:t>
            </a:r>
          </a:p>
        </p:txBody>
      </p:sp>
      <p:sp>
        <p:nvSpPr>
          <p:cNvPr id="15" name="Text Placeholder 14"/>
          <p:cNvSpPr>
            <a:spLocks noGrp="1"/>
          </p:cNvSpPr>
          <p:nvPr>
            <p:ph type="body" idx="132"/>
          </p:nvPr>
        </p:nvSpPr>
        <p:spPr/>
        <p:txBody>
          <a:bodyPr/>
          <a:lstStyle/>
          <a:p>
            <a:r>
              <a:t>Ces cinq responsabilités structurent les deux jours.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M1 — Fondations agentiques &amp; panorama des protocoles</a:t>
            </a:r>
          </a:p>
        </p:txBody>
      </p:sp>
      <p:sp>
        <p:nvSpPr>
          <p:cNvPr id="3" name="Content Placeholder 2"/>
          <p:cNvSpPr>
            <a:spLocks noGrp="1"/>
          </p:cNvSpPr>
          <p:nvPr>
            <p:ph idx="12" sz="quarter"/>
          </p:nvPr>
        </p:nvSpPr>
        <p:spPr/>
        <p:txBody>
          <a:bodyPr/>
          <a:lstStyle/>
          <a:p>
            <a:r>
              <a:t>1 h · rappel express du paysage LLM, anatomie d’un agent, les briques (tools, skills, mémoire), multi-agents et supervision, puis le panorama des protocoles agentiques.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familles &amp; taille</a:t>
            </a:r>
          </a:p>
        </p:txBody>
      </p:sp>
      <p:sp>
        <p:nvSpPr>
          <p:cNvPr id="3" name="Text Placeholder 2"/>
          <p:cNvSpPr>
            <a:spLocks noGrp="1"/>
          </p:cNvSpPr>
          <p:nvPr>
            <p:ph type="body" idx="109"/>
          </p:nvPr>
        </p:nvSpPr>
        <p:spPr/>
        <p:txBody>
          <a:bodyPr/>
          <a:lstStyle/>
          <a:p>
            <a:r>
              <a:t>Rappel express (1/3) — le vocabulaire commun, en surface</a:t>
            </a:r>
          </a:p>
        </p:txBody>
      </p:sp>
      <p:sp>
        <p:nvSpPr>
          <p:cNvPr id="4" name="Text Placeholder 3"/>
          <p:cNvSpPr>
            <a:spLocks noGrp="1"/>
          </p:cNvSpPr>
          <p:nvPr>
            <p:ph type="body" idx="111"/>
          </p:nvPr>
        </p:nvSpPr>
        <p:spPr/>
        <p:txBody>
          <a:bodyPr/>
          <a:lstStyle/>
          <a:p>
            <a:r>
              <a:t>FAMILLES</a:t>
            </a:r>
          </a:p>
        </p:txBody>
      </p:sp>
      <p:sp>
        <p:nvSpPr>
          <p:cNvPr id="5" name="Text Placeholder 4"/>
          <p:cNvSpPr>
            <a:spLocks noGrp="1"/>
          </p:cNvSpPr>
          <p:nvPr>
            <p:ph type="body" idx="112"/>
          </p:nvPr>
        </p:nvSpPr>
        <p:spPr/>
        <p:txBody>
          <a:bodyPr/>
          <a:lstStyle/>
          <a:p>
            <a:r>
              <a:t>Capacité × distribution</a:t>
            </a:r>
          </a:p>
        </p:txBody>
      </p:sp>
      <p:sp>
        <p:nvSpPr>
          <p:cNvPr id="6" name="Text Placeholder 5"/>
          <p:cNvSpPr>
            <a:spLocks noGrp="1"/>
          </p:cNvSpPr>
          <p:nvPr>
            <p:ph type="body" idx="113"/>
          </p:nvPr>
        </p:nvSpPr>
        <p:spPr/>
        <p:txBody>
          <a:bodyPr/>
          <a:lstStyle/>
          <a:p>
            <a:r>
              <a:t>« Frontier » qualifie le niveau de capacité, pas le mode d'accès. La distribution est un axe distinct : API seule (poids non publiés) ou open-weight (poids téléchargeables, auto-hébergeables). Un modèle open-weight peut être frontier. Nuance clé — open weights ≠ open source : données et code d'entraînement restent souvent fermés.</a:t>
            </a:r>
          </a:p>
        </p:txBody>
      </p:sp>
      <p:sp>
        <p:nvSpPr>
          <p:cNvPr id="7" name="Text Placeholder 6"/>
          <p:cNvSpPr>
            <a:spLocks noGrp="1"/>
          </p:cNvSpPr>
          <p:nvPr>
            <p:ph type="body" idx="114"/>
          </p:nvPr>
        </p:nvSpPr>
        <p:spPr/>
        <p:txBody>
          <a:bodyPr/>
          <a:lstStyle/>
          <a:p>
            <a:r>
              <a:t>TAILLE</a:t>
            </a:r>
          </a:p>
        </p:txBody>
      </p:sp>
      <p:sp>
        <p:nvSpPr>
          <p:cNvPr id="8" name="Text Placeholder 7"/>
          <p:cNvSpPr>
            <a:spLocks noGrp="1"/>
          </p:cNvSpPr>
          <p:nvPr>
            <p:ph type="body" idx="115"/>
          </p:nvPr>
        </p:nvSpPr>
        <p:spPr/>
        <p:txBody>
          <a:bodyPr/>
          <a:lstStyle/>
          <a:p>
            <a:r>
              <a:t>Nombre de paramètres</a:t>
            </a:r>
          </a:p>
        </p:txBody>
      </p:sp>
      <p:sp>
        <p:nvSpPr>
          <p:cNvPr id="9" name="Text Placeholder 8"/>
          <p:cNvSpPr>
            <a:spLocks noGrp="1"/>
          </p:cNvSpPr>
          <p:nvPr>
            <p:ph type="body" idx="116"/>
          </p:nvPr>
        </p:nvSpPr>
        <p:spPr/>
        <p:txBody>
          <a:bodyPr/>
          <a:lstStyle/>
          <a:p>
            <a:r>
              <a:t>Ordres de grandeur : petits ~1–8B, moyens ~8–70B, grands 100B+. C’est un proxy de capacité, pas une garantie : données, post-training et architecture pèsent autant.</a:t>
            </a:r>
          </a:p>
        </p:txBody>
      </p:sp>
      <p:sp>
        <p:nvSpPr>
          <p:cNvPr id="10" name="Picture Placeholder 9"/>
          <p:cNvSpPr>
            <a:spLocks noGrp="1"/>
          </p:cNvSpPr>
          <p:nvPr>
            <p:ph type="pic" idx="117" sz="quarter"/>
          </p:nvPr>
        </p:nvSpPr>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architecture &amp; variantes</a:t>
            </a:r>
          </a:p>
        </p:txBody>
      </p:sp>
      <p:sp>
        <p:nvSpPr>
          <p:cNvPr id="3" name="Text Placeholder 2"/>
          <p:cNvSpPr>
            <a:spLocks noGrp="1"/>
          </p:cNvSpPr>
          <p:nvPr>
            <p:ph type="body" idx="109"/>
          </p:nvPr>
        </p:nvSpPr>
        <p:spPr/>
        <p:txBody>
          <a:bodyPr/>
          <a:lstStyle/>
          <a:p>
            <a:r>
              <a:t>Rappel express (2/3)</a:t>
            </a:r>
          </a:p>
        </p:txBody>
      </p:sp>
      <p:sp>
        <p:nvSpPr>
          <p:cNvPr id="4" name="Text Placeholder 3"/>
          <p:cNvSpPr>
            <a:spLocks noGrp="1"/>
          </p:cNvSpPr>
          <p:nvPr>
            <p:ph type="body" idx="111"/>
          </p:nvPr>
        </p:nvSpPr>
        <p:spPr/>
        <p:txBody>
          <a:bodyPr/>
          <a:lstStyle/>
          <a:p>
            <a:r>
              <a:t>ARCHITECTURE</a:t>
            </a:r>
          </a:p>
        </p:txBody>
      </p:sp>
      <p:sp>
        <p:nvSpPr>
          <p:cNvPr id="5" name="Text Placeholder 4"/>
          <p:cNvSpPr>
            <a:spLocks noGrp="1"/>
          </p:cNvSpPr>
          <p:nvPr>
            <p:ph type="body" idx="112"/>
          </p:nvPr>
        </p:nvSpPr>
        <p:spPr/>
        <p:txBody>
          <a:bodyPr/>
          <a:lstStyle/>
          <a:p>
            <a:r>
              <a:t>Dense vs MoE</a:t>
            </a:r>
          </a:p>
        </p:txBody>
      </p:sp>
      <p:sp>
        <p:nvSpPr>
          <p:cNvPr id="6" name="Text Placeholder 5"/>
          <p:cNvSpPr>
            <a:spLocks noGrp="1"/>
          </p:cNvSpPr>
          <p:nvPr>
            <p:ph type="body" idx="113"/>
          </p:nvPr>
        </p:nvSpPr>
        <p:spPr/>
        <p:txBody>
          <a:bodyPr/>
          <a:lstStyle/>
          <a:p>
            <a:r>
              <a:t>Dense : tous les paramètres actifs à chaque token. MoE (Mixture of Experts) : un routeur n'active que quelques experts. D'où la distinction paramètres totaux vs actifs : le calcul par token suit la fraction active, mais la mémoire (tous les poids chargés) et la communication entre experts suivent la taille totale.</a:t>
            </a:r>
          </a:p>
        </p:txBody>
      </p:sp>
      <p:sp>
        <p:nvSpPr>
          <p:cNvPr id="7" name="Text Placeholder 6"/>
          <p:cNvSpPr>
            <a:spLocks noGrp="1"/>
          </p:cNvSpPr>
          <p:nvPr>
            <p:ph type="body" idx="114"/>
          </p:nvPr>
        </p:nvSpPr>
        <p:spPr/>
        <p:txBody>
          <a:bodyPr/>
          <a:lstStyle/>
          <a:p>
            <a:r>
              <a:t>VARIANTES</a:t>
            </a:r>
          </a:p>
        </p:txBody>
      </p:sp>
      <p:sp>
        <p:nvSpPr>
          <p:cNvPr id="8" name="Text Placeholder 7"/>
          <p:cNvSpPr>
            <a:spLocks noGrp="1"/>
          </p:cNvSpPr>
          <p:nvPr>
            <p:ph type="body" idx="115"/>
          </p:nvPr>
        </p:nvSpPr>
        <p:spPr/>
        <p:txBody>
          <a:bodyPr/>
          <a:lstStyle/>
          <a:p>
            <a:r>
              <a:t>Base, instruct, reasoning…</a:t>
            </a:r>
          </a:p>
        </p:txBody>
      </p:sp>
      <p:sp>
        <p:nvSpPr>
          <p:cNvPr id="9" name="Text Placeholder 8"/>
          <p:cNvSpPr>
            <a:spLocks noGrp="1"/>
          </p:cNvSpPr>
          <p:nvPr>
            <p:ph type="body" idx="116"/>
          </p:nvPr>
        </p:nvSpPr>
        <p:spPr/>
        <p:txBody>
          <a:bodyPr/>
          <a:lstStyle/>
          <a:p>
            <a:r>
              <a:t>Base (pré-entraîné brut), instruct/chat (conversationnel), reasoning (entraîné à raisonner par étapes avant de répondre), distilled (petit modèle entraîné sur les sorties d’un gros).</a:t>
            </a:r>
          </a:p>
        </p:txBody>
      </p:sp>
      <p:sp>
        <p:nvSpPr>
          <p:cNvPr id="10" name="Picture Placeholder 9"/>
          <p:cNvSpPr>
            <a:spLocks noGrp="1"/>
          </p:cNvSpPr>
          <p:nvPr>
            <p:ph type="pic" idx="117" sz="quarter"/>
          </p:nvPr>
        </p:nvSpPr>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formats &amp; quantization</a:t>
            </a:r>
          </a:p>
        </p:txBody>
      </p:sp>
      <p:sp>
        <p:nvSpPr>
          <p:cNvPr id="3" name="Text Placeholder 2"/>
          <p:cNvSpPr>
            <a:spLocks noGrp="1"/>
          </p:cNvSpPr>
          <p:nvPr>
            <p:ph type="body" idx="109"/>
          </p:nvPr>
        </p:nvSpPr>
        <p:spPr/>
        <p:txBody>
          <a:bodyPr/>
          <a:lstStyle/>
          <a:p>
            <a:r>
              <a:t>Rappel express (3/3)</a:t>
            </a:r>
          </a:p>
        </p:txBody>
      </p:sp>
      <p:sp>
        <p:nvSpPr>
          <p:cNvPr id="4" name="Text Placeholder 3"/>
          <p:cNvSpPr>
            <a:spLocks noGrp="1"/>
          </p:cNvSpPr>
          <p:nvPr>
            <p:ph type="body" idx="111"/>
          </p:nvPr>
        </p:nvSpPr>
        <p:spPr/>
        <p:txBody>
          <a:bodyPr/>
          <a:lstStyle/>
          <a:p>
            <a:r>
              <a:t>FORMATS</a:t>
            </a:r>
          </a:p>
        </p:txBody>
      </p:sp>
      <p:sp>
        <p:nvSpPr>
          <p:cNvPr id="5" name="Text Placeholder 4"/>
          <p:cNvSpPr>
            <a:spLocks noGrp="1"/>
          </p:cNvSpPr>
          <p:nvPr>
            <p:ph type="body" idx="112"/>
          </p:nvPr>
        </p:nvSpPr>
        <p:spPr/>
        <p:txBody>
          <a:bodyPr/>
          <a:lstStyle/>
          <a:p>
            <a:r>
              <a:t>safetensors &amp; GGUF</a:t>
            </a:r>
          </a:p>
        </p:txBody>
      </p:sp>
      <p:sp>
        <p:nvSpPr>
          <p:cNvPr id="6" name="Text Placeholder 5"/>
          <p:cNvSpPr>
            <a:spLocks noGrp="1"/>
          </p:cNvSpPr>
          <p:nvPr>
            <p:ph type="body" idx="113"/>
          </p:nvPr>
        </p:nvSpPr>
        <p:spPr/>
        <p:txBody>
          <a:bodyPr/>
          <a:lstStyle/>
          <a:p>
            <a:r>
              <a:t>safetensors : le format standard de stockage des poids (côté Hugging Face). GGUF : le format des runtimes locaux (llama.cpp), qui embarque poids + métadonnées et porte la quantization.</a:t>
            </a:r>
          </a:p>
        </p:txBody>
      </p:sp>
      <p:sp>
        <p:nvSpPr>
          <p:cNvPr id="7" name="Text Placeholder 6"/>
          <p:cNvSpPr>
            <a:spLocks noGrp="1"/>
          </p:cNvSpPr>
          <p:nvPr>
            <p:ph type="body" idx="114"/>
          </p:nvPr>
        </p:nvSpPr>
        <p:spPr/>
        <p:txBody>
          <a:bodyPr/>
          <a:lstStyle/>
          <a:p>
            <a:r>
              <a:t>QUANTIZATION</a:t>
            </a:r>
          </a:p>
        </p:txBody>
      </p:sp>
      <p:sp>
        <p:nvSpPr>
          <p:cNvPr id="8" name="Text Placeholder 7"/>
          <p:cNvSpPr>
            <a:spLocks noGrp="1"/>
          </p:cNvSpPr>
          <p:nvPr>
            <p:ph type="body" idx="115"/>
          </p:nvPr>
        </p:nvSpPr>
        <p:spPr/>
        <p:txBody>
          <a:bodyPr/>
          <a:lstStyle/>
          <a:p>
            <a:r>
              <a:t>Réduire la précision</a:t>
            </a:r>
          </a:p>
        </p:txBody>
      </p:sp>
      <p:sp>
        <p:nvSpPr>
          <p:cNvPr id="9" name="Text Placeholder 8"/>
          <p:cNvSpPr>
            <a:spLocks noGrp="1"/>
          </p:cNvSpPr>
          <p:nvPr>
            <p:ph type="body" idx="116"/>
          </p:nvPr>
        </p:nvSpPr>
        <p:spPr/>
        <p:txBody>
          <a:bodyPr/>
          <a:lstStyle/>
          <a:p>
            <a:r>
              <a:t>FP16 → int8 → int4… : réduire la précision des poids pour tenir en mémoire et accélérer, au prix d’un peu de qualité. C’est ce qui rend un modèle open-weight exécutable en on-prem ou sur matériel modeste.</a:t>
            </a:r>
          </a:p>
        </p:txBody>
      </p:sp>
      <p:sp>
        <p:nvSpPr>
          <p:cNvPr id="10" name="Picture Placeholder 9"/>
          <p:cNvSpPr>
            <a:spLocks noGrp="1"/>
          </p:cNvSpPr>
          <p:nvPr>
            <p:ph type="pic" idx="117" sz="quarter"/>
          </p:nvPr>
        </p:nvSpPr>
        <p:spPr/>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Qu’est-ce qu’un agent ?</a:t>
            </a:r>
          </a:p>
        </p:txBody>
      </p:sp>
      <p:sp>
        <p:nvSpPr>
          <p:cNvPr id="3" name="Text Placeholder 2"/>
          <p:cNvSpPr>
            <a:spLocks noGrp="1"/>
          </p:cNvSpPr>
          <p:nvPr>
            <p:ph type="body" idx="109"/>
          </p:nvPr>
        </p:nvSpPr>
        <p:spPr/>
        <p:txBody>
          <a:bodyPr/>
          <a:lstStyle/>
          <a:p>
            <a:r>
              <a:t>Un LLM dans une boucle, capable d’agir sur son environnement</a:t>
            </a:r>
          </a:p>
        </p:txBody>
      </p:sp>
      <p:sp>
        <p:nvSpPr>
          <p:cNvPr id="4" name="Text Placeholder 3"/>
          <p:cNvSpPr>
            <a:spLocks noGrp="1"/>
          </p:cNvSpPr>
          <p:nvPr>
            <p:ph type="body" idx="111"/>
          </p:nvPr>
        </p:nvSpPr>
        <p:spPr/>
        <p:txBody>
          <a:bodyPr/>
          <a:lstStyle/>
          <a:p>
            <a:r>
              <a:t>ANATOMIE</a:t>
            </a:r>
          </a:p>
        </p:txBody>
      </p:sp>
      <p:sp>
        <p:nvSpPr>
          <p:cNvPr id="5" name="Text Placeholder 4"/>
          <p:cNvSpPr>
            <a:spLocks noGrp="1"/>
          </p:cNvSpPr>
          <p:nvPr>
            <p:ph type="body" idx="112"/>
          </p:nvPr>
        </p:nvSpPr>
        <p:spPr/>
        <p:txBody>
          <a:bodyPr/>
          <a:lstStyle/>
          <a:p>
            <a:r>
              <a:t>La boucle agentique</a:t>
            </a:r>
          </a:p>
        </p:txBody>
      </p:sp>
      <p:sp>
        <p:nvSpPr>
          <p:cNvPr id="6" name="Text Placeholder 5"/>
          <p:cNvSpPr>
            <a:spLocks noGrp="1"/>
          </p:cNvSpPr>
          <p:nvPr>
            <p:ph type="body" idx="113"/>
          </p:nvPr>
        </p:nvSpPr>
        <p:spPr/>
        <p:txBody>
          <a:bodyPr/>
          <a:lstStyle/>
          <a:p>
            <a:r>
              <a:t>Percevoir → décider → agir → observer, en itérant. Le modèle raisonne, appelle des outils, lit les résultats, recommence jusqu’à l’objectif.</a:t>
            </a:r>
          </a:p>
        </p:txBody>
      </p:sp>
      <p:sp>
        <p:nvSpPr>
          <p:cNvPr id="7" name="Text Placeholder 6"/>
          <p:cNvSpPr>
            <a:spLocks noGrp="1"/>
          </p:cNvSpPr>
          <p:nvPr>
            <p:ph type="body" idx="114"/>
          </p:nvPr>
        </p:nvSpPr>
        <p:spPr/>
        <p:txBody>
          <a:bodyPr/>
          <a:lstStyle/>
          <a:p>
            <a:r>
              <a:t>PATTERNS</a:t>
            </a:r>
          </a:p>
        </p:txBody>
      </p:sp>
      <p:sp>
        <p:nvSpPr>
          <p:cNvPr id="8" name="Text Placeholder 7"/>
          <p:cNvSpPr>
            <a:spLocks noGrp="1"/>
          </p:cNvSpPr>
          <p:nvPr>
            <p:ph type="body" idx="115"/>
          </p:nvPr>
        </p:nvSpPr>
        <p:spPr/>
        <p:txBody>
          <a:bodyPr/>
          <a:lstStyle/>
          <a:p>
            <a:r>
              <a:t>Modes de raisonnement</a:t>
            </a:r>
          </a:p>
        </p:txBody>
      </p:sp>
      <p:sp>
        <p:nvSpPr>
          <p:cNvPr id="9" name="Text Placeholder 8"/>
          <p:cNvSpPr>
            <a:spLocks noGrp="1"/>
          </p:cNvSpPr>
          <p:nvPr>
            <p:ph type="body" idx="116"/>
          </p:nvPr>
        </p:nvSpPr>
        <p:spPr/>
        <p:txBody>
          <a:bodyPr/>
          <a:lstStyle/>
          <a:p>
            <a:r>
              <a:t>ReAct (raisonner puis agir), planification, réflexion et critique, décomposition en sous-tâches.</a:t>
            </a:r>
          </a:p>
        </p:txBody>
      </p:sp>
      <p:sp>
        <p:nvSpPr>
          <p:cNvPr id="10" name="Picture Placeholder 9"/>
          <p:cNvSpPr>
            <a:spLocks noGrp="1"/>
          </p:cNvSpPr>
          <p:nvPr>
            <p:ph type="pic" idx="117" sz="quarter"/>
          </p:nvPr>
        </p:nvSpPr>
        <p:spPr/>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briques d’un agent</a:t>
            </a:r>
          </a:p>
        </p:txBody>
      </p:sp>
      <p:sp>
        <p:nvSpPr>
          <p:cNvPr id="3" name="Text Placeholder 2"/>
          <p:cNvSpPr>
            <a:spLocks noGrp="1"/>
          </p:cNvSpPr>
          <p:nvPr>
            <p:ph type="body" idx="105"/>
          </p:nvPr>
        </p:nvSpPr>
        <p:spPr/>
        <p:txBody>
          <a:bodyPr/>
          <a:lstStyle/>
          <a:p>
            <a:r>
              <a:t>Ce que la platform team devra outiller et exposer</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Les actions : appels de fonctions, accès au SI. C’est ce que MCP standardise.</a:t>
            </a:r>
          </a:p>
        </p:txBody>
      </p:sp>
      <p:sp>
        <p:nvSpPr>
          <p:cNvPr id="6" name="Text Placeholder 5"/>
          <p:cNvSpPr>
            <a:spLocks noGrp="1"/>
          </p:cNvSpPr>
          <p:nvPr>
            <p:ph type="body" idx="112"/>
          </p:nvPr>
        </p:nvSpPr>
        <p:spPr/>
        <p:txBody>
          <a:bodyPr/>
          <a:lstStyle/>
          <a:p>
            <a:r>
              <a:t>Skills</a:t>
            </a:r>
          </a:p>
        </p:txBody>
      </p:sp>
      <p:sp>
        <p:nvSpPr>
          <p:cNvPr id="7" name="Text Placeholder 6"/>
          <p:cNvSpPr>
            <a:spLocks noGrp="1"/>
          </p:cNvSpPr>
          <p:nvPr>
            <p:ph type="body" idx="113"/>
          </p:nvPr>
        </p:nvSpPr>
        <p:spPr/>
        <p:txBody>
          <a:bodyPr/>
          <a:lstStyle/>
          <a:p>
            <a:r>
              <a:t>Le savoir-faire : des instructions réutilisables que l’agent charge à la demande.</a:t>
            </a:r>
          </a:p>
        </p:txBody>
      </p:sp>
      <p:sp>
        <p:nvSpPr>
          <p:cNvPr id="8" name="Text Placeholder 7"/>
          <p:cNvSpPr>
            <a:spLocks noGrp="1"/>
          </p:cNvSpPr>
          <p:nvPr>
            <p:ph type="body" idx="115"/>
          </p:nvPr>
        </p:nvSpPr>
        <p:spPr/>
        <p:txBody>
          <a:bodyPr/>
          <a:lstStyle/>
          <a:p>
            <a:r>
              <a:t>Mémoire</a:t>
            </a:r>
          </a:p>
        </p:txBody>
      </p:sp>
      <p:sp>
        <p:nvSpPr>
          <p:cNvPr id="9" name="Text Placeholder 8"/>
          <p:cNvSpPr>
            <a:spLocks noGrp="1"/>
          </p:cNvSpPr>
          <p:nvPr>
            <p:ph type="body" idx="116"/>
          </p:nvPr>
        </p:nvSpPr>
        <p:spPr/>
        <p:txBody>
          <a:bodyPr/>
          <a:lstStyle/>
          <a:p>
            <a:r>
              <a:t>Le contexte qui persiste : historique, préférences, connaissances partagées.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Multi-agents &amp; supervision humaine</a:t>
            </a:r>
          </a:p>
        </p:txBody>
      </p:sp>
      <p:sp>
        <p:nvSpPr>
          <p:cNvPr id="3" name="Text Placeholder 2"/>
          <p:cNvSpPr>
            <a:spLocks noGrp="1"/>
          </p:cNvSpPr>
          <p:nvPr>
            <p:ph type="body" idx="109"/>
          </p:nvPr>
        </p:nvSpPr>
        <p:spPr/>
        <p:txBody>
          <a:bodyPr/>
          <a:lstStyle/>
          <a:p>
            <a:r>
              <a:t>Composer des agents, garder l’humain dans la boucle</a:t>
            </a:r>
          </a:p>
        </p:txBody>
      </p:sp>
      <p:sp>
        <p:nvSpPr>
          <p:cNvPr id="4" name="Text Placeholder 3"/>
          <p:cNvSpPr>
            <a:spLocks noGrp="1"/>
          </p:cNvSpPr>
          <p:nvPr>
            <p:ph type="body" idx="111"/>
          </p:nvPr>
        </p:nvSpPr>
        <p:spPr/>
        <p:txBody>
          <a:bodyPr/>
          <a:lstStyle/>
          <a:p>
            <a:r>
              <a:t>COMPOSITION</a:t>
            </a:r>
          </a:p>
        </p:txBody>
      </p:sp>
      <p:sp>
        <p:nvSpPr>
          <p:cNvPr id="5" name="Text Placeholder 4"/>
          <p:cNvSpPr>
            <a:spLocks noGrp="1"/>
          </p:cNvSpPr>
          <p:nvPr>
            <p:ph type="body" idx="112"/>
          </p:nvPr>
        </p:nvSpPr>
        <p:spPr/>
        <p:txBody>
          <a:bodyPr/>
          <a:lstStyle/>
          <a:p>
            <a:r>
              <a:t>Plusieurs agents</a:t>
            </a:r>
          </a:p>
        </p:txBody>
      </p:sp>
      <p:sp>
        <p:nvSpPr>
          <p:cNvPr id="6" name="Text Placeholder 5"/>
          <p:cNvSpPr>
            <a:spLocks noGrp="1"/>
          </p:cNvSpPr>
          <p:nvPr>
            <p:ph type="body" idx="113"/>
          </p:nvPr>
        </p:nvSpPr>
        <p:spPr/>
        <p:txBody>
          <a:bodyPr/>
          <a:lstStyle/>
          <a:p>
            <a:r>
              <a:t>Un orchestrateur délègue à des sous-agents spécialisés. Plus de modularité, mais plus de coordination et de coût à maîtriser.</a:t>
            </a:r>
          </a:p>
        </p:txBody>
      </p:sp>
      <p:sp>
        <p:nvSpPr>
          <p:cNvPr id="7" name="Text Placeholder 6"/>
          <p:cNvSpPr>
            <a:spLocks noGrp="1"/>
          </p:cNvSpPr>
          <p:nvPr>
            <p:ph type="body" idx="114"/>
          </p:nvPr>
        </p:nvSpPr>
        <p:spPr/>
        <p:txBody>
          <a:bodyPr/>
          <a:lstStyle/>
          <a:p>
            <a:r>
              <a:t>CONTRÔLE</a:t>
            </a:r>
          </a:p>
        </p:txBody>
      </p:sp>
      <p:sp>
        <p:nvSpPr>
          <p:cNvPr id="8" name="Text Placeholder 7"/>
          <p:cNvSpPr>
            <a:spLocks noGrp="1"/>
          </p:cNvSpPr>
          <p:nvPr>
            <p:ph type="body" idx="115"/>
          </p:nvPr>
        </p:nvSpPr>
        <p:spPr/>
        <p:txBody>
          <a:bodyPr/>
          <a:lstStyle/>
          <a:p>
            <a:r>
              <a:t>Human-in-the-loop</a:t>
            </a:r>
          </a:p>
        </p:txBody>
      </p:sp>
      <p:sp>
        <p:nvSpPr>
          <p:cNvPr id="9" name="Text Placeholder 8"/>
          <p:cNvSpPr>
            <a:spLocks noGrp="1"/>
          </p:cNvSpPr>
          <p:nvPr>
            <p:ph type="body" idx="116"/>
          </p:nvPr>
        </p:nvSpPr>
        <p:spPr/>
        <p:txBody>
          <a:bodyPr/>
          <a:lstStyle/>
          <a:p>
            <a:r>
              <a:t>Points de validation, garde-fous, approbations sur les actions sensibles. La supervision est un choix d’architecture, pas une option.</a:t>
            </a:r>
          </a:p>
        </p:txBody>
      </p:sp>
      <p:sp>
        <p:nvSpPr>
          <p:cNvPr id="10" name="Picture Placeholder 9"/>
          <p:cNvSpPr>
            <a:spLocks noGrp="1"/>
          </p:cNvSpPr>
          <p:nvPr>
            <p:ph type="pic" idx="117" sz="quarter"/>
          </p:nvPr>
        </p:nvSpPr>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Panorama des protocoles agentiques</a:t>
            </a:r>
          </a:p>
        </p:txBody>
      </p:sp>
      <p:sp>
        <p:nvSpPr>
          <p:cNvPr id="3" name="Text Placeholder 2"/>
          <p:cNvSpPr>
            <a:spLocks noGrp="1"/>
          </p:cNvSpPr>
          <p:nvPr>
            <p:ph type="body" idx="105"/>
          </p:nvPr>
        </p:nvSpPr>
        <p:spPr/>
        <p:txBody>
          <a:bodyPr/>
          <a:lstStyle/>
          <a:p>
            <a:r>
              <a:t>Des standards émergents ; MCP est le socle d’intégration</a:t>
            </a:r>
          </a:p>
        </p:txBody>
      </p:sp>
      <p:sp>
        <p:nvSpPr>
          <p:cNvPr id="4" name="Text Placeholder 3"/>
          <p:cNvSpPr>
            <a:spLocks noGrp="1"/>
          </p:cNvSpPr>
          <p:nvPr>
            <p:ph type="body" idx="110"/>
          </p:nvPr>
        </p:nvSpPr>
        <p:spPr/>
        <p:txBody>
          <a:bodyPr/>
          <a:lstStyle/>
          <a:p>
            <a:r>
              <a:t>MCP</a:t>
            </a:r>
          </a:p>
        </p:txBody>
      </p:sp>
      <p:sp>
        <p:nvSpPr>
          <p:cNvPr id="5" name="Text Placeholder 4"/>
          <p:cNvSpPr>
            <a:spLocks noGrp="1"/>
          </p:cNvSpPr>
          <p:nvPr>
            <p:ph type="body" idx="111"/>
          </p:nvPr>
        </p:nvSpPr>
        <p:spPr/>
        <p:txBody>
          <a:bodyPr/>
          <a:lstStyle/>
          <a:p>
            <a:r>
              <a:t>Model Context Protocol — relie un agent aux outils, ressources et prompts du SI.</a:t>
            </a:r>
          </a:p>
        </p:txBody>
      </p:sp>
      <p:sp>
        <p:nvSpPr>
          <p:cNvPr id="6" name="Text Placeholder 5"/>
          <p:cNvSpPr>
            <a:spLocks noGrp="1"/>
          </p:cNvSpPr>
          <p:nvPr>
            <p:ph type="body" idx="115"/>
          </p:nvPr>
        </p:nvSpPr>
        <p:spPr/>
        <p:txBody>
          <a:bodyPr/>
          <a:lstStyle/>
          <a:p>
            <a:r>
              <a:t>A2A</a:t>
            </a:r>
          </a:p>
        </p:txBody>
      </p:sp>
      <p:sp>
        <p:nvSpPr>
          <p:cNvPr id="7" name="Text Placeholder 6"/>
          <p:cNvSpPr>
            <a:spLocks noGrp="1"/>
          </p:cNvSpPr>
          <p:nvPr>
            <p:ph type="body" idx="116"/>
          </p:nvPr>
        </p:nvSpPr>
        <p:spPr/>
        <p:txBody>
          <a:bodyPr/>
          <a:lstStyle/>
          <a:p>
            <a:r>
              <a:t>Agent-to-Agent — communication et délégation entre agents.</a:t>
            </a:r>
          </a:p>
        </p:txBody>
      </p:sp>
      <p:sp>
        <p:nvSpPr>
          <p:cNvPr id="8" name="Text Placeholder 7"/>
          <p:cNvSpPr>
            <a:spLocks noGrp="1"/>
          </p:cNvSpPr>
          <p:nvPr>
            <p:ph type="body" idx="120"/>
          </p:nvPr>
        </p:nvSpPr>
        <p:spPr/>
        <p:txBody>
          <a:bodyPr/>
          <a:lstStyle/>
          <a:p>
            <a:r>
              <a:t>A2UI</a:t>
            </a:r>
          </a:p>
        </p:txBody>
      </p:sp>
      <p:sp>
        <p:nvSpPr>
          <p:cNvPr id="9" name="Text Placeholder 8"/>
          <p:cNvSpPr>
            <a:spLocks noGrp="1"/>
          </p:cNvSpPr>
          <p:nvPr>
            <p:ph type="body" idx="121"/>
          </p:nvPr>
        </p:nvSpPr>
        <p:spPr/>
        <p:txBody>
          <a:bodyPr/>
          <a:lstStyle/>
          <a:p>
            <a:r>
              <a:t>Agent-to-UI — l’agent rend et pilote des interfaces.</a:t>
            </a:r>
          </a:p>
        </p:txBody>
      </p:sp>
      <p:sp>
        <p:nvSpPr>
          <p:cNvPr id="10" name="Text Placeholder 9"/>
          <p:cNvSpPr>
            <a:spLocks noGrp="1"/>
          </p:cNvSpPr>
          <p:nvPr>
            <p:ph type="body" idx="125"/>
          </p:nvPr>
        </p:nvSpPr>
        <p:spPr/>
        <p:txBody>
          <a:bodyPr/>
          <a:lstStyle/>
          <a:p>
            <a:r>
              <a:t>AP2</a:t>
            </a:r>
          </a:p>
        </p:txBody>
      </p:sp>
      <p:sp>
        <p:nvSpPr>
          <p:cNvPr id="11" name="Text Placeholder 10"/>
          <p:cNvSpPr>
            <a:spLocks noGrp="1"/>
          </p:cNvSpPr>
          <p:nvPr>
            <p:ph type="body" idx="126"/>
          </p:nvPr>
        </p:nvSpPr>
        <p:spPr/>
        <p:txBody>
          <a:bodyPr/>
          <a:lstStyle/>
          <a:p>
            <a:r>
              <a:t>Agent Payments Protocol — mandats et autorisations de paiement agentiques.</a:t>
            </a:r>
          </a:p>
        </p:txBody>
      </p:sp>
      <p:sp>
        <p:nvSpPr>
          <p:cNvPr id="12" name="Picture Placeholder 11"/>
          <p:cNvSpPr>
            <a:spLocks noGrp="1"/>
          </p:cNvSpPr>
          <p:nvPr>
            <p:ph type="pic" idx="127" sz="quarter"/>
          </p:nvPr>
        </p:nvSpPr>
        <p:spPr/>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M2 — Architecture MCP</a:t>
            </a:r>
          </a:p>
        </p:txBody>
      </p:sp>
      <p:sp>
        <p:nvSpPr>
          <p:cNvPr id="3" name="Content Placeholder 2"/>
          <p:cNvSpPr>
            <a:spLocks noGrp="1"/>
          </p:cNvSpPr>
          <p:nvPr>
            <p:ph idx="12" sz="quarter"/>
          </p:nvPr>
        </p:nvSpPr>
        <p:spPr/>
        <p:txBody>
          <a:bodyPr/>
          <a:lstStyle/>
          <a:p>
            <a:r>
              <a:t>Le socle d’intégration : rôles, primitives, transports, choix Java.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Hôte, client, serveur — l’architecture en trois rôles</a:t>
            </a:r>
          </a:p>
        </p:txBody>
      </p:sp>
      <p:sp>
        <p:nvSpPr>
          <p:cNvPr id="3" name="Content Placeholder 2"/>
          <p:cNvSpPr>
            <a:spLocks noGrp="1"/>
          </p:cNvSpPr>
          <p:nvPr>
            <p:ph idx="12" sz="quarter"/>
          </p:nvPr>
        </p:nvSpPr>
        <p:spPr/>
        <p:txBody>
          <a:bodyPr/>
          <a:lstStyle/>
          <a:p/>
        </p:txBody>
      </p:sp>
      <p:pic>
        <p:nvPicPr>
          <p:cNvPr id="4" name="Picture 3" descr="mcp_archi.png"/>
          <p:cNvPicPr>
            <a:picLocks noChangeAspect="1"/>
          </p:cNvPicPr>
          <p:nvPr/>
        </p:nvPicPr>
        <p:blipFill>
          <a:blip r:embed="rId2"/>
          <a:stretch>
            <a:fillRect/>
          </a:stretch>
        </p:blipFill>
        <p:spPr>
          <a:xfrm>
            <a:off x="546100" y="2006600"/>
            <a:ext cx="11099800" cy="42799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trois primitives — et qui les contrôle</a:t>
            </a:r>
          </a:p>
        </p:txBody>
      </p:sp>
      <p:sp>
        <p:nvSpPr>
          <p:cNvPr id="3" name="Text Placeholder 2"/>
          <p:cNvSpPr>
            <a:spLocks noGrp="1"/>
          </p:cNvSpPr>
          <p:nvPr>
            <p:ph type="body" idx="105"/>
          </p:nvPr>
        </p:nvSpPr>
        <p:spPr/>
        <p:txBody>
          <a:bodyPr/>
          <a:lstStyle/>
          <a:p>
            <a:r>
              <a:t>Trois primitives cœur — au-delà : sampling, roots, elicitation</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Des actions invocables (effets de bord sur le SI). Contrôlées par le modèle.</a:t>
            </a:r>
          </a:p>
        </p:txBody>
      </p:sp>
      <p:sp>
        <p:nvSpPr>
          <p:cNvPr id="6" name="Text Placeholder 5"/>
          <p:cNvSpPr>
            <a:spLocks noGrp="1"/>
          </p:cNvSpPr>
          <p:nvPr>
            <p:ph type="body" idx="112"/>
          </p:nvPr>
        </p:nvSpPr>
        <p:spPr/>
        <p:txBody>
          <a:bodyPr/>
          <a:lstStyle/>
          <a:p>
            <a:r>
              <a:t>Resources</a:t>
            </a:r>
          </a:p>
        </p:txBody>
      </p:sp>
      <p:sp>
        <p:nvSpPr>
          <p:cNvPr id="7" name="Text Placeholder 6"/>
          <p:cNvSpPr>
            <a:spLocks noGrp="1"/>
          </p:cNvSpPr>
          <p:nvPr>
            <p:ph type="body" idx="113"/>
          </p:nvPr>
        </p:nvSpPr>
        <p:spPr/>
        <p:txBody>
          <a:bodyPr/>
          <a:lstStyle/>
          <a:p>
            <a:r>
              <a:t>Des données lues via URI (fichiers, enregistrements). Contrôlées par l’application.</a:t>
            </a:r>
          </a:p>
        </p:txBody>
      </p:sp>
      <p:sp>
        <p:nvSpPr>
          <p:cNvPr id="8" name="Text Placeholder 7"/>
          <p:cNvSpPr>
            <a:spLocks noGrp="1"/>
          </p:cNvSpPr>
          <p:nvPr>
            <p:ph type="body" idx="115"/>
          </p:nvPr>
        </p:nvSpPr>
        <p:spPr/>
        <p:txBody>
          <a:bodyPr/>
          <a:lstStyle/>
          <a:p>
            <a:r>
              <a:t>Prompts</a:t>
            </a:r>
          </a:p>
        </p:txBody>
      </p:sp>
      <p:sp>
        <p:nvSpPr>
          <p:cNvPr id="9" name="Text Placeholder 8"/>
          <p:cNvSpPr>
            <a:spLocks noGrp="1"/>
          </p:cNvSpPr>
          <p:nvPr>
            <p:ph type="body" idx="116"/>
          </p:nvPr>
        </p:nvSpPr>
        <p:spPr/>
        <p:txBody>
          <a:bodyPr/>
          <a:lstStyle/>
          <a:p>
            <a:r>
              <a:t>Des templates réutilisables (type slash-commands). Contrôlés par l’utilisateur.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Session &amp; transports</a:t>
            </a:r>
          </a:p>
        </p:txBody>
      </p:sp>
      <p:sp>
        <p:nvSpPr>
          <p:cNvPr id="3" name="Text Placeholder 2"/>
          <p:cNvSpPr>
            <a:spLocks noGrp="1"/>
          </p:cNvSpPr>
          <p:nvPr>
            <p:ph type="body" idx="109"/>
          </p:nvPr>
        </p:nvSpPr>
        <p:spPr/>
        <p:txBody>
          <a:bodyPr/>
          <a:lstStyle/>
          <a:p>
            <a:r>
              <a:t>Une négociation de capacités, puis un canal adapté au déploiement</a:t>
            </a:r>
          </a:p>
        </p:txBody>
      </p:sp>
      <p:sp>
        <p:nvSpPr>
          <p:cNvPr id="4" name="Text Placeholder 3"/>
          <p:cNvSpPr>
            <a:spLocks noGrp="1"/>
          </p:cNvSpPr>
          <p:nvPr>
            <p:ph type="body" idx="111"/>
          </p:nvPr>
        </p:nvSpPr>
        <p:spPr/>
        <p:txBody>
          <a:bodyPr/>
          <a:lstStyle/>
          <a:p>
            <a:r>
              <a:t>CYCLE DE VIE</a:t>
            </a:r>
          </a:p>
        </p:txBody>
      </p:sp>
      <p:sp>
        <p:nvSpPr>
          <p:cNvPr id="5" name="Text Placeholder 4"/>
          <p:cNvSpPr>
            <a:spLocks noGrp="1"/>
          </p:cNvSpPr>
          <p:nvPr>
            <p:ph type="body" idx="112"/>
          </p:nvPr>
        </p:nvSpPr>
        <p:spPr/>
        <p:txBody>
          <a:bodyPr/>
          <a:lstStyle/>
          <a:p>
            <a:r>
              <a:t>Initialize → échanges → arrêt</a:t>
            </a:r>
          </a:p>
        </p:txBody>
      </p:sp>
      <p:sp>
        <p:nvSpPr>
          <p:cNvPr id="6" name="Text Placeholder 5"/>
          <p:cNvSpPr>
            <a:spLocks noGrp="1"/>
          </p:cNvSpPr>
          <p:nvPr>
            <p:ph type="body" idx="113"/>
          </p:nvPr>
        </p:nvSpPr>
        <p:spPr/>
        <p:txBody>
          <a:bodyPr/>
          <a:lstStyle/>
          <a:p>
            <a:r>
              <a:t>À la connexion, client et serveur négocient leurs capacités (initialize). Suivent les échanges — appels de tools, lectures de resources — jusqu’à l’arrêt propre de la session.</a:t>
            </a:r>
          </a:p>
        </p:txBody>
      </p:sp>
      <p:sp>
        <p:nvSpPr>
          <p:cNvPr id="7" name="Text Placeholder 6"/>
          <p:cNvSpPr>
            <a:spLocks noGrp="1"/>
          </p:cNvSpPr>
          <p:nvPr>
            <p:ph type="body" idx="114"/>
          </p:nvPr>
        </p:nvSpPr>
        <p:spPr/>
        <p:txBody>
          <a:bodyPr/>
          <a:lstStyle/>
          <a:p>
            <a:r>
              <a:t>TRANSPORTS</a:t>
            </a:r>
          </a:p>
        </p:txBody>
      </p:sp>
      <p:sp>
        <p:nvSpPr>
          <p:cNvPr id="8" name="Text Placeholder 7"/>
          <p:cNvSpPr>
            <a:spLocks noGrp="1"/>
          </p:cNvSpPr>
          <p:nvPr>
            <p:ph type="body" idx="115"/>
          </p:nvPr>
        </p:nvSpPr>
        <p:spPr/>
        <p:txBody>
          <a:bodyPr/>
          <a:lstStyle/>
          <a:p>
            <a:r>
              <a:t>stdio &amp; Streamable HTTP</a:t>
            </a:r>
          </a:p>
        </p:txBody>
      </p:sp>
      <p:sp>
        <p:nvSpPr>
          <p:cNvPr id="9" name="Text Placeholder 8"/>
          <p:cNvSpPr>
            <a:spLocks noGrp="1"/>
          </p:cNvSpPr>
          <p:nvPr>
            <p:ph type="body" idx="116"/>
          </p:nvPr>
        </p:nvSpPr>
        <p:spPr/>
        <p:txBody>
          <a:bodyPr/>
          <a:lstStyle/>
          <a:p>
            <a:r>
              <a:t>stdio : local, même machine — idéal en dev. Streamable HTTP : distant, production (l’ancien HTTP+SSE est en voie de sunset). Le transport, c’est la topologie de déploiement.</a:t>
            </a:r>
          </a:p>
        </p:txBody>
      </p:sp>
      <p:sp>
        <p:nvSpPr>
          <p:cNvPr id="10" name="Picture Placeholder 9"/>
          <p:cNvSpPr>
            <a:spLocks noGrp="1"/>
          </p:cNvSpPr>
          <p:nvPr>
            <p:ph type="pic" idx="117" sz="quarter"/>
          </p:nvPr>
        </p:nvSpPr>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Implémenter en Java : Quarkus</a:t>
            </a:r>
          </a:p>
        </p:txBody>
      </p:sp>
      <p:sp>
        <p:nvSpPr>
          <p:cNvPr id="3" name="Text Placeholder 2"/>
          <p:cNvSpPr>
            <a:spLocks noGrp="1"/>
          </p:cNvSpPr>
          <p:nvPr>
            <p:ph type="body" idx="11"/>
          </p:nvPr>
        </p:nvSpPr>
        <p:spPr/>
        <p:txBody>
          <a:bodyPr/>
          <a:lstStyle/>
          <a:p>
            <a:r>
              <a:t>Notre choix pour les TP : Quarkus, avec l’extension quarkus-mcp-server.</a:t>
            </a:r>
          </a:p>
        </p:txBody>
      </p:sp>
      <p:sp>
        <p:nvSpPr>
          <p:cNvPr id="4" name="Text Placeholder 3"/>
          <p:cNvSpPr>
            <a:spLocks noGrp="1"/>
          </p:cNvSpPr>
          <p:nvPr>
            <p:ph type="body" idx="12"/>
          </p:nvPr>
        </p:nvSpPr>
        <p:spPr/>
        <p:txBody>
          <a:bodyPr/>
          <a:lstStyle/>
          <a:p>
            <a:r>
              <a:t>Pourquoi Quarkus</a:t>
            </a:r>
          </a:p>
        </p:txBody>
      </p:sp>
      <p:sp>
        <p:nvSpPr>
          <p:cNvPr id="5" name="Text Placeholder 4"/>
          <p:cNvSpPr>
            <a:spLocks noGrp="1"/>
          </p:cNvSpPr>
          <p:nvPr>
            <p:ph type="body" idx="13"/>
          </p:nvPr>
        </p:nvSpPr>
        <p:spPr/>
        <p:txBody>
          <a:bodyPr/>
          <a:lstStyle/>
          <a:p>
            <a:r>
              <a:t>Découverte et validation des primitives au build (les erreurs explosent à la compilation).  Démarrage instantané, image native, bonne observabilité.  Annotations @Tool / @Resource / @Prompt idiomatiques.  Le transport (stdio ou HTTP) est un simple choix de dépendance.</a:t>
            </a:r>
          </a:p>
        </p:txBody>
      </p:sp>
      <p:sp>
        <p:nvSpPr>
          <p:cNvPr id="6" name="Text Placeholder 5"/>
          <p:cNvSpPr>
            <a:spLocks noGrp="1"/>
          </p:cNvSpPr>
          <p:nvPr>
            <p:ph type="body" idx="14"/>
          </p:nvPr>
        </p:nvSpPr>
        <p:spPr/>
        <p:txBody>
          <a:bodyPr/>
          <a:lstStyle/>
          <a:p>
            <a:r>
              <a:t>En note — Spring AI</a:t>
            </a:r>
          </a:p>
        </p:txBody>
      </p:sp>
      <p:sp>
        <p:nvSpPr>
          <p:cNvPr id="7" name="Text Placeholder 6"/>
          <p:cNvSpPr>
            <a:spLocks noGrp="1"/>
          </p:cNvSpPr>
          <p:nvPr>
            <p:ph type="body" idx="15"/>
          </p:nvPr>
        </p:nvSpPr>
        <p:spPr/>
        <p:txBody>
          <a:bodyPr/>
          <a:lstStyle/>
          <a:p>
            <a:r>
              <a:t>Alternative tout aussi valable : DX Spring Boot familière, API à annotations. À privilégier si le client est déjà fortement outillé Spring.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fil rouge « méta » : deux chaînes distinctes</a:t>
            </a:r>
          </a:p>
        </p:txBody>
      </p:sp>
      <p:sp>
        <p:nvSpPr>
          <p:cNvPr id="3" name="TextBox 2"/>
          <p:cNvSpPr txBox="1"/>
          <p:nvPr/>
        </p:nvSpPr>
        <p:spPr>
          <a:xfrm>
            <a:off x="548640" y="1750000"/>
            <a:ext cx="11094720" cy="300000"/>
          </a:xfrm>
          <a:prstGeom prst="rect">
            <a:avLst/>
          </a:prstGeom>
          <a:noFill/>
        </p:spPr>
        <p:txBody>
          <a:bodyPr wrap="square" lIns="0" rIns="0" tIns="0" bIns="0">
            <a:spAutoFit/>
          </a:bodyPr>
          <a:lstStyle/>
          <a:p>
            <a:pPr algn="l"/>
            <a:r>
              <a:rPr sz="1100" b="1" i="0">
                <a:solidFill>
                  <a:srgbClr val="222D45"/>
                </a:solidFill>
                <a:latin typeface="DM Sans"/>
              </a:rPr>
              <a:t>FABRIQUER LE SERVEUR — la chaîne que les participants outillent (TP1 → TP4)</a:t>
            </a:r>
          </a:p>
        </p:txBody>
      </p:sp>
      <p:sp>
        <p:nvSpPr>
          <p:cNvPr id="4" name="Rounded Rectangle 3"/>
          <p:cNvSpPr/>
          <p:nvPr/>
        </p:nvSpPr>
        <p:spPr>
          <a:xfrm>
            <a:off x="548640"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Participant</a:t>
            </a:r>
          </a:p>
          <a:p>
            <a:pPr algn="ctr"/>
            <a:r>
              <a:rPr sz="1100" b="0">
                <a:solidFill>
                  <a:srgbClr val="FFFFFF"/>
                </a:solidFill>
                <a:latin typeface="DM Sans"/>
              </a:rPr>
              <a:t>prompte, relit, valide</a:t>
            </a:r>
          </a:p>
        </p:txBody>
      </p:sp>
      <p:cxnSp>
        <p:nvCxnSpPr>
          <p:cNvPr id="5" name="Connector 4"/>
          <p:cNvCxnSpPr/>
          <p:nvPr/>
        </p:nvCxnSpPr>
        <p:spPr>
          <a:xfrm>
            <a:off x="2579584"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819584"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OpenCode + Skill</a:t>
            </a:r>
          </a:p>
          <a:p>
            <a:pPr algn="ctr"/>
            <a:r>
              <a:rPr sz="1100" b="0">
                <a:solidFill>
                  <a:srgbClr val="FFFFFF"/>
                </a:solidFill>
                <a:latin typeface="DM Sans"/>
              </a:rPr>
              <a:t>create-quarkus-mcp-server (TP2)</a:t>
            </a:r>
          </a:p>
        </p:txBody>
      </p:sp>
      <p:cxnSp>
        <p:nvCxnSpPr>
          <p:cNvPr id="7" name="Connector 6"/>
          <p:cNvCxnSpPr/>
          <p:nvPr/>
        </p:nvCxnSpPr>
        <p:spPr>
          <a:xfrm>
            <a:off x="4850528"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90528"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Code Quarkus</a:t>
            </a:r>
          </a:p>
          <a:p>
            <a:pPr algn="ctr"/>
            <a:r>
              <a:rPr sz="1100" b="0">
                <a:solidFill>
                  <a:srgbClr val="FFFFFF"/>
                </a:solidFill>
                <a:latin typeface="DM Sans"/>
              </a:rPr>
              <a:t>serveur MCP généré (TP1)</a:t>
            </a:r>
          </a:p>
        </p:txBody>
      </p:sp>
      <p:cxnSp>
        <p:nvCxnSpPr>
          <p:cNvPr id="9" name="Connector 8"/>
          <p:cNvCxnSpPr/>
          <p:nvPr/>
        </p:nvCxnSpPr>
        <p:spPr>
          <a:xfrm>
            <a:off x="7121472"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61472"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Évaluations</a:t>
            </a:r>
          </a:p>
          <a:p>
            <a:pPr algn="ctr"/>
            <a:r>
              <a:rPr sz="1100" b="0">
                <a:solidFill>
                  <a:srgbClr val="FFFFFF"/>
                </a:solidFill>
                <a:latin typeface="DM Sans"/>
              </a:rPr>
              <a:t>assertions + juge (TP3)</a:t>
            </a:r>
          </a:p>
        </p:txBody>
      </p:sp>
      <p:cxnSp>
        <p:nvCxnSpPr>
          <p:cNvPr id="11" name="Connector 10"/>
          <p:cNvCxnSpPr/>
          <p:nvPr/>
        </p:nvCxnSpPr>
        <p:spPr>
          <a:xfrm>
            <a:off x="9392416"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632416"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Revue GitLab</a:t>
            </a:r>
          </a:p>
          <a:p>
            <a:pPr algn="ctr"/>
            <a:r>
              <a:rPr sz="1100" b="0">
                <a:solidFill>
                  <a:srgbClr val="FFFFFF"/>
                </a:solidFill>
                <a:latin typeface="DM Sans"/>
              </a:rPr>
              <a:t>MR, CI, protections (TP4)</a:t>
            </a:r>
          </a:p>
        </p:txBody>
      </p:sp>
      <p:sp>
        <p:nvSpPr>
          <p:cNvPr id="13" name="TextBox 12"/>
          <p:cNvSpPr txBox="1"/>
          <p:nvPr/>
        </p:nvSpPr>
        <p:spPr>
          <a:xfrm>
            <a:off x="548640" y="4080000"/>
            <a:ext cx="11094720" cy="300000"/>
          </a:xfrm>
          <a:prstGeom prst="rect">
            <a:avLst/>
          </a:prstGeom>
          <a:noFill/>
        </p:spPr>
        <p:txBody>
          <a:bodyPr wrap="square" lIns="0" rIns="0" tIns="0" bIns="0">
            <a:spAutoFit/>
          </a:bodyPr>
          <a:lstStyle/>
          <a:p>
            <a:pPr algn="l"/>
            <a:r>
              <a:rPr sz="1100" b="1" i="0">
                <a:solidFill>
                  <a:srgbClr val="222D45"/>
                </a:solidFill>
                <a:latin typeface="DM Sans"/>
              </a:rPr>
              <a:t>UTILISER LE SERVEUR — la chaîne que le serveur produit rend possible</a:t>
            </a:r>
          </a:p>
        </p:txBody>
      </p:sp>
      <p:sp>
        <p:nvSpPr>
          <p:cNvPr id="14" name="Rounded Rectangle 13"/>
          <p:cNvSpPr/>
          <p:nvPr/>
        </p:nvSpPr>
        <p:spPr>
          <a:xfrm>
            <a:off x="548640"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Agent consommateur</a:t>
            </a:r>
          </a:p>
          <a:p>
            <a:pPr algn="ctr"/>
            <a:r>
              <a:rPr sz="1100" b="0">
                <a:solidFill>
                  <a:srgbClr val="16100E"/>
                </a:solidFill>
                <a:latin typeface="DM Sans"/>
              </a:rPr>
              <a:t>OpenCode, Claude Code, autre client MCP</a:t>
            </a:r>
          </a:p>
        </p:txBody>
      </p:sp>
      <p:cxnSp>
        <p:nvCxnSpPr>
          <p:cNvPr id="15" name="Connector 14"/>
          <p:cNvCxnSpPr/>
          <p:nvPr/>
        </p:nvCxnSpPr>
        <p:spPr>
          <a:xfrm>
            <a:off x="4093546"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33546"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Serveur MCP</a:t>
            </a:r>
          </a:p>
          <a:p>
            <a:pPr algn="ctr"/>
            <a:r>
              <a:rPr sz="1100" b="0">
                <a:solidFill>
                  <a:srgbClr val="16100E"/>
                </a:solidFill>
                <a:latin typeface="DM Sans"/>
              </a:rPr>
              <a:t>find_service · get_owner · service://{name} · fiche_service</a:t>
            </a:r>
          </a:p>
        </p:txBody>
      </p:sp>
      <p:cxnSp>
        <p:nvCxnSpPr>
          <p:cNvPr id="17" name="Connector 16"/>
          <p:cNvCxnSpPr/>
          <p:nvPr/>
        </p:nvCxnSpPr>
        <p:spPr>
          <a:xfrm>
            <a:off x="7878452"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18452"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Catalogue de services</a:t>
            </a:r>
          </a:p>
          <a:p>
            <a:pPr algn="ctr"/>
            <a:r>
              <a:rPr sz="1100" b="0">
                <a:solidFill>
                  <a:srgbClr val="16100E"/>
                </a:solidFill>
                <a:latin typeface="DM Sans"/>
              </a:rPr>
              <a:t>auth, facturation, catalogue-produits, recherche, notifications</a:t>
            </a:r>
          </a:p>
        </p:txBody>
      </p:sp>
      <p:cxnSp>
        <p:nvCxnSpPr>
          <p:cNvPr id="19" name="Connector 18"/>
          <p:cNvCxnSpPr/>
          <p:nvPr/>
        </p:nvCxnSpPr>
        <p:spPr>
          <a:xfrm flipH="1">
            <a:off x="6095999" y="3060000"/>
            <a:ext cx="1" cy="1370000"/>
          </a:xfrm>
          <a:prstGeom prst="line">
            <a:avLst/>
          </a:prstGeom>
          <a:ln w="28575">
            <a:solidFill>
              <a:srgbClr val="FFC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5999" y="3410000"/>
            <a:ext cx="3600000" cy="500000"/>
          </a:xfrm>
          <a:prstGeom prst="rect">
            <a:avLst/>
          </a:prstGeom>
          <a:noFill/>
        </p:spPr>
        <p:txBody>
          <a:bodyPr wrap="square" lIns="0" rIns="0" tIns="0" bIns="0">
            <a:spAutoFit/>
          </a:bodyPr>
          <a:lstStyle/>
          <a:p>
            <a:pPr algn="l"/>
            <a:r>
              <a:rPr sz="1000" b="0" i="1">
                <a:solidFill>
                  <a:srgbClr val="504C49"/>
                </a:solidFill>
                <a:latin typeface="DM Sans"/>
              </a:rPr>
              <a:t>Le code produit par la première chaîne est le serveur de la seconde.</a:t>
            </a:r>
          </a:p>
        </p:txBody>
      </p:sp>
      <p:sp>
        <p:nvSpPr>
          <p:cNvPr id="21" name="TextBox 20"/>
          <p:cNvSpPr txBox="1"/>
          <p:nvPr/>
        </p:nvSpPr>
        <p:spPr>
          <a:xfrm>
            <a:off x="548640" y="5620000"/>
            <a:ext cx="11094720" cy="600000"/>
          </a:xfrm>
          <a:prstGeom prst="rect">
            <a:avLst/>
          </a:prstGeom>
          <a:noFill/>
        </p:spPr>
        <p:txBody>
          <a:bodyPr wrap="square" lIns="0" rIns="0" tIns="0" bIns="0">
            <a:spAutoFit/>
          </a:bodyPr>
          <a:lstStyle/>
          <a:p>
            <a:pPr algn="l"/>
            <a:r>
              <a:rPr sz="1100" b="0" i="0">
                <a:solidFill>
                  <a:srgbClr val="504C49"/>
                </a:solidFill>
                <a:latin typeface="DM Sans"/>
              </a:rPr>
              <a:t>Pendant les TP, vous travaillez sur la première chaîne ; les preuves (appels MCP, assertions, MR) portent sur la seconde.</a:t>
            </a:r>
          </a:p>
          <a:p>
            <a:pPr algn="l"/>
            <a:r>
              <a:rPr sz="1100" b="0" i="0">
                <a:solidFill>
                  <a:srgbClr val="504C49"/>
                </a:solidFill>
                <a:latin typeface="DM Sans"/>
              </a:rPr>
              <a:t>Le contrat du catalogue est détaillé sur la fiche TP1.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Lancer un TP : les guides pas à pas</a:t>
            </a:r>
          </a:p>
        </p:txBody>
      </p:sp>
      <p:sp>
        <p:nvSpPr>
          <p:cNvPr id="3" name="Text Placeholder 2"/>
          <p:cNvSpPr>
            <a:spLocks noGrp="1"/>
          </p:cNvSpPr>
          <p:nvPr>
            <p:ph type="body" idx="105"/>
          </p:nvPr>
        </p:nvSpPr>
        <p:spPr/>
        <p:txBody>
          <a:bodyPr/>
          <a:lstStyle/>
          <a:p>
            <a:r>
              <a:t>Un lien et un QR code par TP — le support projeté renvoie au mode opératoire</a:t>
            </a:r>
          </a:p>
        </p:txBody>
      </p:sp>
      <p:sp>
        <p:nvSpPr>
          <p:cNvPr id="4" name="Text Placeholder 3"/>
          <p:cNvSpPr>
            <a:spLocks noGrp="1"/>
          </p:cNvSpPr>
          <p:nvPr>
            <p:ph type="body" idx="110"/>
          </p:nvPr>
        </p:nvSpPr>
        <p:spPr>
          <a:xfrm>
            <a:off x="1508760" y="2121408"/>
            <a:ext cx="2851960" cy="502920"/>
          </a:xfrm>
        </p:spPr>
        <p:txBody>
          <a:bodyPr/>
          <a:lstStyle/>
          <a:p>
            <a:r>
              <a:t>TP1 · Générer</a:t>
            </a:r>
          </a:p>
        </p:txBody>
      </p:sp>
      <p:sp>
        <p:nvSpPr>
          <p:cNvPr id="5" name="Text Placeholder 4"/>
          <p:cNvSpPr>
            <a:spLocks noGrp="1"/>
          </p:cNvSpPr>
          <p:nvPr>
            <p:ph type="body" idx="111"/>
          </p:nvPr>
        </p:nvSpPr>
        <p:spPr>
          <a:xfrm>
            <a:off x="822960" y="2743200"/>
            <a:ext cx="3537760" cy="1097280"/>
          </a:xfrm>
        </p:spPr>
        <p:txBody>
          <a:bodyPr/>
          <a:lstStyle/>
          <a:p>
            <a:r>
              <a:rPr>
                <a:hlinkClick r:id="rId2"/>
              </a:rPr>
              <a:t>sciam-fr.github.io/formation-ia/tp1/</a:t>
            </a:r>
          </a:p>
          <a:p>
            <a:r>
              <a:t>Durées, preuves attendues, dépannage et point de passage.</a:t>
            </a:r>
          </a:p>
        </p:txBody>
      </p:sp>
      <p:sp>
        <p:nvSpPr>
          <p:cNvPr id="6" name="Text Placeholder 5"/>
          <p:cNvSpPr>
            <a:spLocks noGrp="1"/>
          </p:cNvSpPr>
          <p:nvPr>
            <p:ph type="body" idx="115"/>
          </p:nvPr>
        </p:nvSpPr>
        <p:spPr>
          <a:xfrm>
            <a:off x="7132320" y="2121408"/>
            <a:ext cx="2851960" cy="502920"/>
          </a:xfrm>
        </p:spPr>
        <p:txBody>
          <a:bodyPr/>
          <a:lstStyle/>
          <a:p>
            <a:r>
              <a:t>TP2 · Formaliser</a:t>
            </a:r>
          </a:p>
        </p:txBody>
      </p:sp>
      <p:sp>
        <p:nvSpPr>
          <p:cNvPr id="7" name="Text Placeholder 6"/>
          <p:cNvSpPr>
            <a:spLocks noGrp="1"/>
          </p:cNvSpPr>
          <p:nvPr>
            <p:ph type="body" idx="116"/>
          </p:nvPr>
        </p:nvSpPr>
        <p:spPr>
          <a:xfrm>
            <a:off x="6446520" y="2743200"/>
            <a:ext cx="3537760" cy="1097280"/>
          </a:xfrm>
        </p:spPr>
        <p:txBody>
          <a:bodyPr/>
          <a:lstStyle/>
          <a:p>
            <a:r>
              <a:rPr>
                <a:hlinkClick r:id="rId4"/>
              </a:rPr>
              <a:t>sciam-fr.github.io/formation-ia/tp2/</a:t>
            </a:r>
          </a:p>
          <a:p>
            <a:r>
              <a:t>Durées, preuves attendues, dépannage et point de passage.</a:t>
            </a:r>
          </a:p>
        </p:txBody>
      </p:sp>
      <p:sp>
        <p:nvSpPr>
          <p:cNvPr id="8" name="Text Placeholder 7"/>
          <p:cNvSpPr>
            <a:spLocks noGrp="1"/>
          </p:cNvSpPr>
          <p:nvPr>
            <p:ph type="body" idx="120"/>
          </p:nvPr>
        </p:nvSpPr>
        <p:spPr>
          <a:xfrm>
            <a:off x="1508760" y="4361688"/>
            <a:ext cx="2851960" cy="502920"/>
          </a:xfrm>
        </p:spPr>
        <p:txBody>
          <a:bodyPr/>
          <a:lstStyle/>
          <a:p>
            <a:r>
              <a:t>TP3 · Évaluer</a:t>
            </a:r>
          </a:p>
        </p:txBody>
      </p:sp>
      <p:sp>
        <p:nvSpPr>
          <p:cNvPr id="9" name="Text Placeholder 8"/>
          <p:cNvSpPr>
            <a:spLocks noGrp="1"/>
          </p:cNvSpPr>
          <p:nvPr>
            <p:ph type="body" idx="121"/>
          </p:nvPr>
        </p:nvSpPr>
        <p:spPr>
          <a:xfrm>
            <a:off x="822960" y="4983480"/>
            <a:ext cx="3537760" cy="1097280"/>
          </a:xfrm>
        </p:spPr>
        <p:txBody>
          <a:bodyPr/>
          <a:lstStyle/>
          <a:p>
            <a:r>
              <a:rPr>
                <a:hlinkClick r:id="rId6"/>
              </a:rPr>
              <a:t>sciam-fr.github.io/formation-ia/tp3/</a:t>
            </a:r>
          </a:p>
          <a:p>
            <a:r>
              <a:t>Durées, preuves attendues, dépannage et point de passage.</a:t>
            </a:r>
          </a:p>
        </p:txBody>
      </p:sp>
      <p:sp>
        <p:nvSpPr>
          <p:cNvPr id="10" name="Text Placeholder 9"/>
          <p:cNvSpPr>
            <a:spLocks noGrp="1"/>
          </p:cNvSpPr>
          <p:nvPr>
            <p:ph type="body" idx="125"/>
          </p:nvPr>
        </p:nvSpPr>
        <p:spPr>
          <a:xfrm>
            <a:off x="7132320" y="4361688"/>
            <a:ext cx="2851960" cy="502920"/>
          </a:xfrm>
        </p:spPr>
        <p:txBody>
          <a:bodyPr/>
          <a:lstStyle/>
          <a:p>
            <a:r>
              <a:t>TP4 · Gouverner</a:t>
            </a:r>
          </a:p>
        </p:txBody>
      </p:sp>
      <p:sp>
        <p:nvSpPr>
          <p:cNvPr id="11" name="Text Placeholder 10"/>
          <p:cNvSpPr>
            <a:spLocks noGrp="1"/>
          </p:cNvSpPr>
          <p:nvPr>
            <p:ph type="body" idx="126"/>
          </p:nvPr>
        </p:nvSpPr>
        <p:spPr>
          <a:xfrm>
            <a:off x="6446520" y="4983480"/>
            <a:ext cx="3537760" cy="1097280"/>
          </a:xfrm>
        </p:spPr>
        <p:txBody>
          <a:bodyPr/>
          <a:lstStyle/>
          <a:p>
            <a:r>
              <a:rPr>
                <a:hlinkClick r:id="rId8"/>
              </a:rPr>
              <a:t>sciam-fr.github.io/formation-ia/tp4/</a:t>
            </a:r>
          </a:p>
          <a:p>
            <a:r>
              <a:t>Durées, preuves attendues, dépannage et point de passage.</a:t>
            </a:r>
          </a:p>
        </p:txBody>
      </p:sp>
      <p:pic>
        <p:nvPicPr>
          <p:cNvPr id="13" name="Picture 12" descr="qr-tp1.png"/>
          <p:cNvPicPr>
            <a:picLocks noChangeAspect="1"/>
          </p:cNvPicPr>
          <p:nvPr/>
        </p:nvPicPr>
        <p:blipFill>
          <a:blip r:embed="rId3"/>
          <a:stretch>
            <a:fillRect/>
          </a:stretch>
        </p:blipFill>
        <p:spPr>
          <a:xfrm>
            <a:off x="4510720" y="2061408"/>
            <a:ext cx="1250000" cy="1250000"/>
          </a:xfrm>
          <a:prstGeom prst="rect">
            <a:avLst/>
          </a:prstGeom>
        </p:spPr>
      </p:pic>
      <p:pic>
        <p:nvPicPr>
          <p:cNvPr id="14" name="Picture 13" descr="qr-tp2.png"/>
          <p:cNvPicPr>
            <a:picLocks noChangeAspect="1"/>
          </p:cNvPicPr>
          <p:nvPr/>
        </p:nvPicPr>
        <p:blipFill>
          <a:blip r:embed="rId5"/>
          <a:stretch>
            <a:fillRect/>
          </a:stretch>
        </p:blipFill>
        <p:spPr>
          <a:xfrm>
            <a:off x="10134280" y="2061408"/>
            <a:ext cx="1250000" cy="1250000"/>
          </a:xfrm>
          <a:prstGeom prst="rect">
            <a:avLst/>
          </a:prstGeom>
        </p:spPr>
      </p:pic>
      <p:pic>
        <p:nvPicPr>
          <p:cNvPr id="15" name="Picture 14" descr="qr-tp3.png"/>
          <p:cNvPicPr>
            <a:picLocks noChangeAspect="1"/>
          </p:cNvPicPr>
          <p:nvPr/>
        </p:nvPicPr>
        <p:blipFill>
          <a:blip r:embed="rId7"/>
          <a:stretch>
            <a:fillRect/>
          </a:stretch>
        </p:blipFill>
        <p:spPr>
          <a:xfrm>
            <a:off x="4510720" y="4301688"/>
            <a:ext cx="1250000" cy="1250000"/>
          </a:xfrm>
          <a:prstGeom prst="rect">
            <a:avLst/>
          </a:prstGeom>
        </p:spPr>
      </p:pic>
      <p:pic>
        <p:nvPicPr>
          <p:cNvPr id="16" name="Picture 15" descr="qr-tp4.png"/>
          <p:cNvPicPr>
            <a:picLocks noChangeAspect="1"/>
          </p:cNvPicPr>
          <p:nvPr/>
        </p:nvPicPr>
        <p:blipFill>
          <a:blip r:embed="rId9"/>
          <a:stretch>
            <a:fillRect/>
          </a:stretch>
        </p:blipFill>
        <p:spPr>
          <a:xfrm>
            <a:off x="10134280" y="4301688"/>
            <a:ext cx="1250000" cy="1250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TP1 — Bâtir un serveur MCP Quarkus avec OpenCode</a:t>
            </a:r>
          </a:p>
        </p:txBody>
      </p:sp>
      <p:sp>
        <p:nvSpPr>
          <p:cNvPr id="3" name="Text Placeholder 2"/>
          <p:cNvSpPr>
            <a:spLocks noGrp="1"/>
          </p:cNvSpPr>
          <p:nvPr>
            <p:ph type="body" idx="11"/>
          </p:nvPr>
        </p:nvSpPr>
        <p:spPr/>
        <p:txBody>
          <a:bodyPr/>
          <a:lstStyle/>
          <a:p>
            <a:r>
              <a:t>Faire produire un serveur pour le catalogue de services local : on prompte, on relit, on valide.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Sans Skill : générer avec OpenCode à partir du catalogue fourni.</a:t>
            </a:r>
          </a:p>
          <a:p>
            <a:r>
              <a:t>Deux tools : find_service(query) et get_owner(service).</a:t>
            </a:r>
          </a:p>
          <a:p>
            <a:r>
              <a:t>Une resource : service://{name} ; un prompt : fiche_service.</a:t>
            </a:r>
          </a:p>
          <a:p>
            <a:r>
              <a:t>Construire, démarrer et exercer les quatre primitives dans l’inspecteur.</a:t>
            </a:r>
          </a:p>
          <a:p>
            <a:r>
              <a:t>Comparer aux conventions et au voisin ; conserver la baseline.</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serveur, appels observés et tableau des écarts éventuels.</a:t>
            </a:r>
          </a:p>
          <a:p>
            <a:r>
              <a:t>Une baseline déjà conforme est un résultat valide, pas un échec du TP.</a:t>
            </a:r>
          </a:p>
          <a:p>
            <a:r>
              <a:t>Approfondir : seconde génération indépendante, sans modifier la baseline.</a:t>
            </a:r>
          </a:p>
          <a:p>
            <a:r>
              <a:rPr>
                <a:hlinkClick r:id="rId2"/>
              </a:rPr>
              <a:t>Guide pas à pas : sciam-fr.github.io/formation-ia/tp1/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M3 — Le contexte LLM comme actif partagé</a:t>
            </a:r>
          </a:p>
        </p:txBody>
      </p:sp>
      <p:sp>
        <p:nvSpPr>
          <p:cNvPr id="3" name="Content Placeholder 2"/>
          <p:cNvSpPr>
            <a:spLocks noGrp="1"/>
          </p:cNvSpPr>
          <p:nvPr>
            <p:ph idx="12" sz="quarter"/>
          </p:nvPr>
        </p:nvSpPr>
        <p:spPr/>
        <p:txBody>
          <a:bodyPr/>
          <a:lstStyle/>
          <a:p>
            <a:r>
              <a:t>Le contexte comme actif : MCP vs Skills, et OpenCode pour le consommer.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Qu’est-ce que « le contexte » ?</a:t>
            </a:r>
          </a:p>
        </p:txBody>
      </p:sp>
      <p:sp>
        <p:nvSpPr>
          <p:cNvPr id="3" name="Text Placeholder 2"/>
          <p:cNvSpPr>
            <a:spLocks noGrp="1"/>
          </p:cNvSpPr>
          <p:nvPr>
            <p:ph type="body" idx="105"/>
          </p:nvPr>
        </p:nvSpPr>
        <p:spPr/>
        <p:txBody>
          <a:bodyPr/>
          <a:lstStyle/>
          <a:p>
            <a:r>
              <a:t>Bien plus que le prompt : tout ce qui entre dans la fenêtre du modèle</a:t>
            </a:r>
          </a:p>
        </p:txBody>
      </p:sp>
      <p:sp>
        <p:nvSpPr>
          <p:cNvPr id="4" name="Text Placeholder 3"/>
          <p:cNvSpPr>
            <a:spLocks noGrp="1"/>
          </p:cNvSpPr>
          <p:nvPr>
            <p:ph type="body" idx="111"/>
          </p:nvPr>
        </p:nvSpPr>
        <p:spPr/>
        <p:txBody>
          <a:bodyPr/>
          <a:lstStyle/>
          <a:p>
            <a:r>
              <a:t>System prompt</a:t>
            </a:r>
          </a:p>
        </p:txBody>
      </p:sp>
      <p:sp>
        <p:nvSpPr>
          <p:cNvPr id="5" name="Text Placeholder 4"/>
          <p:cNvSpPr>
            <a:spLocks noGrp="1"/>
          </p:cNvSpPr>
          <p:nvPr>
            <p:ph type="body" idx="112"/>
          </p:nvPr>
        </p:nvSpPr>
        <p:spPr/>
        <p:txBody>
          <a:bodyPr/>
          <a:lstStyle/>
          <a:p>
            <a:r>
              <a:t>Le cadrage de base : rôle, ton, garde-fous.</a:t>
            </a:r>
          </a:p>
        </p:txBody>
      </p:sp>
      <p:sp>
        <p:nvSpPr>
          <p:cNvPr id="6" name="Text Placeholder 5"/>
          <p:cNvSpPr>
            <a:spLocks noGrp="1"/>
          </p:cNvSpPr>
          <p:nvPr>
            <p:ph type="body" idx="115"/>
          </p:nvPr>
        </p:nvSpPr>
        <p:spPr/>
        <p:txBody>
          <a:bodyPr/>
          <a:lstStyle/>
          <a:p>
            <a:r>
              <a:t>Instructions &amp; règles</a:t>
            </a:r>
          </a:p>
        </p:txBody>
      </p:sp>
      <p:sp>
        <p:nvSpPr>
          <p:cNvPr id="7" name="Text Placeholder 6"/>
          <p:cNvSpPr>
            <a:spLocks noGrp="1"/>
          </p:cNvSpPr>
          <p:nvPr>
            <p:ph type="body" idx="116"/>
          </p:nvPr>
        </p:nvSpPr>
        <p:spPr/>
        <p:txBody>
          <a:bodyPr/>
          <a:lstStyle/>
          <a:p>
            <a:r>
              <a:t>Consignes projet, conventions, contraintes.</a:t>
            </a:r>
          </a:p>
        </p:txBody>
      </p:sp>
      <p:sp>
        <p:nvSpPr>
          <p:cNvPr id="8" name="Text Placeholder 7"/>
          <p:cNvSpPr>
            <a:spLocks noGrp="1"/>
          </p:cNvSpPr>
          <p:nvPr>
            <p:ph type="body" idx="119"/>
          </p:nvPr>
        </p:nvSpPr>
        <p:spPr/>
        <p:txBody>
          <a:bodyPr/>
          <a:lstStyle/>
          <a:p>
            <a:r>
              <a:t>Skills</a:t>
            </a:r>
          </a:p>
        </p:txBody>
      </p:sp>
      <p:sp>
        <p:nvSpPr>
          <p:cNvPr id="9" name="Text Placeholder 8"/>
          <p:cNvSpPr>
            <a:spLocks noGrp="1"/>
          </p:cNvSpPr>
          <p:nvPr>
            <p:ph type="body" idx="120"/>
          </p:nvPr>
        </p:nvSpPr>
        <p:spPr/>
        <p:txBody>
          <a:bodyPr/>
          <a:lstStyle/>
          <a:p>
            <a:r>
              <a:t>Du savoir-faire chargé à la demande.</a:t>
            </a:r>
          </a:p>
        </p:txBody>
      </p:sp>
      <p:sp>
        <p:nvSpPr>
          <p:cNvPr id="10" name="Text Placeholder 9"/>
          <p:cNvSpPr>
            <a:spLocks noGrp="1"/>
          </p:cNvSpPr>
          <p:nvPr>
            <p:ph type="body" idx="123"/>
          </p:nvPr>
        </p:nvSpPr>
        <p:spPr/>
        <p:txBody>
          <a:bodyPr/>
          <a:lstStyle/>
          <a:p>
            <a:r>
              <a:t>Resources MCP</a:t>
            </a:r>
          </a:p>
        </p:txBody>
      </p:sp>
      <p:sp>
        <p:nvSpPr>
          <p:cNvPr id="11" name="Text Placeholder 10"/>
          <p:cNvSpPr>
            <a:spLocks noGrp="1"/>
          </p:cNvSpPr>
          <p:nvPr>
            <p:ph type="body" idx="124"/>
          </p:nvPr>
        </p:nvSpPr>
        <p:spPr/>
        <p:txBody>
          <a:bodyPr/>
          <a:lstStyle/>
          <a:p>
            <a:r>
              <a:t>Des données du SI lues via URI.</a:t>
            </a:r>
          </a:p>
        </p:txBody>
      </p:sp>
      <p:sp>
        <p:nvSpPr>
          <p:cNvPr id="12" name="Text Placeholder 11"/>
          <p:cNvSpPr>
            <a:spLocks noGrp="1"/>
          </p:cNvSpPr>
          <p:nvPr>
            <p:ph type="body" idx="127"/>
          </p:nvPr>
        </p:nvSpPr>
        <p:spPr/>
        <p:txBody>
          <a:bodyPr/>
          <a:lstStyle/>
          <a:p>
            <a:r>
              <a:t>Mémoire</a:t>
            </a:r>
          </a:p>
        </p:txBody>
      </p:sp>
      <p:sp>
        <p:nvSpPr>
          <p:cNvPr id="13" name="Text Placeholder 12"/>
          <p:cNvSpPr>
            <a:spLocks noGrp="1"/>
          </p:cNvSpPr>
          <p:nvPr>
            <p:ph type="body" idx="128"/>
          </p:nvPr>
        </p:nvSpPr>
        <p:spPr/>
        <p:txBody>
          <a:bodyPr/>
          <a:lstStyle/>
          <a:p>
            <a:r>
              <a:t>Historique, préférences, décisions passées.</a:t>
            </a:r>
          </a:p>
        </p:txBody>
      </p:sp>
      <p:sp>
        <p:nvSpPr>
          <p:cNvPr id="14" name="Text Placeholder 13"/>
          <p:cNvSpPr>
            <a:spLocks noGrp="1"/>
          </p:cNvSpPr>
          <p:nvPr>
            <p:ph type="body" idx="131"/>
          </p:nvPr>
        </p:nvSpPr>
        <p:spPr/>
        <p:txBody>
          <a:bodyPr/>
          <a:lstStyle/>
          <a:p>
            <a:r>
              <a:t>Bases de connaissances</a:t>
            </a:r>
          </a:p>
        </p:txBody>
      </p:sp>
      <p:sp>
        <p:nvSpPr>
          <p:cNvPr id="15" name="Text Placeholder 14"/>
          <p:cNvSpPr>
            <a:spLocks noGrp="1"/>
          </p:cNvSpPr>
          <p:nvPr>
            <p:ph type="body" idx="132"/>
          </p:nvPr>
        </p:nvSpPr>
        <p:spPr/>
        <p:txBody>
          <a:bodyPr/>
          <a:lstStyle/>
          <a:p>
            <a:r>
              <a:t>Documentation et corpus récupérés (RAG).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Context engineering</a:t>
            </a:r>
          </a:p>
        </p:txBody>
      </p:sp>
      <p:sp>
        <p:nvSpPr>
          <p:cNvPr id="3" name="Text Placeholder 2"/>
          <p:cNvSpPr>
            <a:spLocks noGrp="1"/>
          </p:cNvSpPr>
          <p:nvPr>
            <p:ph type="body" idx="109"/>
          </p:nvPr>
        </p:nvSpPr>
        <p:spPr/>
        <p:txBody>
          <a:bodyPr/>
          <a:lstStyle/>
          <a:p>
            <a:r>
              <a:t>La fenêtre est un budget : ce qu’on y met arbitre coût, latence et qualité</a:t>
            </a:r>
          </a:p>
        </p:txBody>
      </p:sp>
      <p:sp>
        <p:nvSpPr>
          <p:cNvPr id="4" name="Text Placeholder 3"/>
          <p:cNvSpPr>
            <a:spLocks noGrp="1"/>
          </p:cNvSpPr>
          <p:nvPr>
            <p:ph type="body" idx="111"/>
          </p:nvPr>
        </p:nvSpPr>
        <p:spPr/>
        <p:txBody>
          <a:bodyPr/>
          <a:lstStyle/>
          <a:p>
            <a:r>
              <a:t>LE BUDGET</a:t>
            </a:r>
          </a:p>
        </p:txBody>
      </p:sp>
      <p:sp>
        <p:nvSpPr>
          <p:cNvPr id="5" name="Text Placeholder 4"/>
          <p:cNvSpPr>
            <a:spLocks noGrp="1"/>
          </p:cNvSpPr>
          <p:nvPr>
            <p:ph type="body" idx="112"/>
          </p:nvPr>
        </p:nvSpPr>
        <p:spPr/>
        <p:txBody>
          <a:bodyPr/>
          <a:lstStyle/>
          <a:p>
            <a:r>
              <a:t>Une fenêtre finie</a:t>
            </a:r>
          </a:p>
        </p:txBody>
      </p:sp>
      <p:sp>
        <p:nvSpPr>
          <p:cNvPr id="6" name="Text Placeholder 5"/>
          <p:cNvSpPr>
            <a:spLocks noGrp="1"/>
          </p:cNvSpPr>
          <p:nvPr>
            <p:ph type="body" idx="113"/>
          </p:nvPr>
        </p:nvSpPr>
        <p:spPr/>
        <p:txBody>
          <a:bodyPr/>
          <a:lstStyle/>
          <a:p>
            <a:r>
              <a:t>Chaque token coûte en latence et en argent, et trop de contexte dilue l’attention du modèle. Le contexte n’est pas « plus = mieux » : c’est un budget à allouer.</a:t>
            </a:r>
          </a:p>
        </p:txBody>
      </p:sp>
      <p:sp>
        <p:nvSpPr>
          <p:cNvPr id="7" name="Text Placeholder 6"/>
          <p:cNvSpPr>
            <a:spLocks noGrp="1"/>
          </p:cNvSpPr>
          <p:nvPr>
            <p:ph type="body" idx="114"/>
          </p:nvPr>
        </p:nvSpPr>
        <p:spPr/>
        <p:txBody>
          <a:bodyPr/>
          <a:lstStyle/>
          <a:p>
            <a:r>
              <a:t>L’ARBITRAGE</a:t>
            </a:r>
          </a:p>
        </p:txBody>
      </p:sp>
      <p:sp>
        <p:nvSpPr>
          <p:cNvPr id="8" name="Text Placeholder 7"/>
          <p:cNvSpPr>
            <a:spLocks noGrp="1"/>
          </p:cNvSpPr>
          <p:nvPr>
            <p:ph type="body" idx="115"/>
          </p:nvPr>
        </p:nvSpPr>
        <p:spPr/>
        <p:txBody>
          <a:bodyPr/>
          <a:lstStyle/>
          <a:p>
            <a:r>
              <a:t>Le bon contexte, au bon moment</a:t>
            </a:r>
          </a:p>
        </p:txBody>
      </p:sp>
      <p:sp>
        <p:nvSpPr>
          <p:cNvPr id="9" name="Text Placeholder 8"/>
          <p:cNvSpPr>
            <a:spLocks noGrp="1"/>
          </p:cNvSpPr>
          <p:nvPr>
            <p:ph type="body" idx="116"/>
          </p:nvPr>
        </p:nvSpPr>
        <p:spPr/>
        <p:txBody>
          <a:bodyPr/>
          <a:lstStyle/>
          <a:p>
            <a:r>
              <a:t>Mettre le pertinent, à la demande, pas tout d’avance ; récupérer plutôt que pré-charger. C’est précisément ce que permettent MCP (à la demande) et les Skills (chargés quand utiles).</a:t>
            </a:r>
          </a:p>
        </p:txBody>
      </p:sp>
      <p:sp>
        <p:nvSpPr>
          <p:cNvPr id="10" name="Picture Placeholder 9"/>
          <p:cNvSpPr>
            <a:spLocks noGrp="1"/>
          </p:cNvSpPr>
          <p:nvPr>
            <p:ph type="pic" idx="117" sz="quarter"/>
          </p:nvPr>
        </p:nvSpPr>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vs Skills : outils et savoir-faire</a:t>
            </a:r>
          </a:p>
        </p:txBody>
      </p:sp>
      <p:sp>
        <p:nvSpPr>
          <p:cNvPr id="3" name="Text Placeholder 2"/>
          <p:cNvSpPr>
            <a:spLocks noGrp="1"/>
          </p:cNvSpPr>
          <p:nvPr>
            <p:ph type="body" idx="109"/>
          </p:nvPr>
        </p:nvSpPr>
        <p:spPr/>
        <p:txBody>
          <a:bodyPr/>
          <a:lstStyle/>
          <a:p>
            <a:r>
              <a:t>Deux natures de contexte, complémentaires — pas concurrentes</a:t>
            </a:r>
          </a:p>
        </p:txBody>
      </p:sp>
      <p:sp>
        <p:nvSpPr>
          <p:cNvPr id="4" name="Text Placeholder 3"/>
          <p:cNvSpPr>
            <a:spLocks noGrp="1"/>
          </p:cNvSpPr>
          <p:nvPr>
            <p:ph type="body" idx="111"/>
          </p:nvPr>
        </p:nvSpPr>
        <p:spPr/>
        <p:txBody>
          <a:bodyPr/>
          <a:lstStyle/>
          <a:p>
            <a:r>
              <a:t>MCP</a:t>
            </a:r>
          </a:p>
        </p:txBody>
      </p:sp>
      <p:sp>
        <p:nvSpPr>
          <p:cNvPr id="5" name="Text Placeholder 4"/>
          <p:cNvSpPr>
            <a:spLocks noGrp="1"/>
          </p:cNvSpPr>
          <p:nvPr>
            <p:ph type="body" idx="112"/>
          </p:nvPr>
        </p:nvSpPr>
        <p:spPr/>
        <p:txBody>
          <a:bodyPr/>
          <a:lstStyle/>
          <a:p>
            <a:r>
              <a:t>Les outils — exécuter</a:t>
            </a:r>
          </a:p>
        </p:txBody>
      </p:sp>
      <p:sp>
        <p:nvSpPr>
          <p:cNvPr id="6" name="Text Placeholder 5"/>
          <p:cNvSpPr>
            <a:spLocks noGrp="1"/>
          </p:cNvSpPr>
          <p:nvPr>
            <p:ph type="body" idx="113"/>
          </p:nvPr>
        </p:nvSpPr>
        <p:spPr/>
        <p:txBody>
          <a:bodyPr/>
          <a:lstStyle/>
          <a:p>
            <a:r>
              <a:t>Programmatique : des actions et des données exposées par un serveur. L’agent invoque, le SI répond. Ça fait.</a:t>
            </a:r>
          </a:p>
        </p:txBody>
      </p:sp>
      <p:sp>
        <p:nvSpPr>
          <p:cNvPr id="7" name="Text Placeholder 6"/>
          <p:cNvSpPr>
            <a:spLocks noGrp="1"/>
          </p:cNvSpPr>
          <p:nvPr>
            <p:ph type="body" idx="114"/>
          </p:nvPr>
        </p:nvSpPr>
        <p:spPr/>
        <p:txBody>
          <a:bodyPr/>
          <a:lstStyle/>
          <a:p>
            <a:r>
              <a:t>SKILLS</a:t>
            </a:r>
          </a:p>
        </p:txBody>
      </p:sp>
      <p:sp>
        <p:nvSpPr>
          <p:cNvPr id="8" name="Text Placeholder 7"/>
          <p:cNvSpPr>
            <a:spLocks noGrp="1"/>
          </p:cNvSpPr>
          <p:nvPr>
            <p:ph type="body" idx="115"/>
          </p:nvPr>
        </p:nvSpPr>
        <p:spPr/>
        <p:txBody>
          <a:bodyPr/>
          <a:lstStyle/>
          <a:p>
            <a:r>
              <a:t>Le savoir-faire — guider</a:t>
            </a:r>
          </a:p>
        </p:txBody>
      </p:sp>
      <p:sp>
        <p:nvSpPr>
          <p:cNvPr id="9" name="Text Placeholder 8"/>
          <p:cNvSpPr>
            <a:spLocks noGrp="1"/>
          </p:cNvSpPr>
          <p:nvPr>
            <p:ph type="body" idx="116"/>
          </p:nvPr>
        </p:nvSpPr>
        <p:spPr/>
        <p:txBody>
          <a:bodyPr/>
          <a:lstStyle/>
          <a:p>
            <a:r>
              <a:t>Déclaratif : des instructions réutilisables que l’agent charge quand c’est pertinent. Ça oriente. Un bon Skill orchestre souvent des tools MCP.</a:t>
            </a:r>
          </a:p>
        </p:txBody>
      </p:sp>
      <p:sp>
        <p:nvSpPr>
          <p:cNvPr id="10" name="Picture Placeholder 9"/>
          <p:cNvSpPr>
            <a:spLocks noGrp="1"/>
          </p:cNvSpPr>
          <p:nvPr>
            <p:ph type="pic" idx="117" sz="quarter"/>
          </p:nvPr>
        </p:nvSpPr>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OpenCode, consommateur agnostique</a:t>
            </a:r>
          </a:p>
        </p:txBody>
      </p:sp>
      <p:sp>
        <p:nvSpPr>
          <p:cNvPr id="3" name="Text Placeholder 2"/>
          <p:cNvSpPr>
            <a:spLocks noGrp="1"/>
          </p:cNvSpPr>
          <p:nvPr>
            <p:ph type="body" idx="105"/>
          </p:nvPr>
        </p:nvSpPr>
        <p:spPr/>
        <p:txBody>
          <a:bodyPr/>
          <a:lstStyle/>
          <a:p>
            <a:r>
              <a:t>Support natif des Skills (SKILL.md), indépendant du fournisseur de LLM</a:t>
            </a:r>
          </a:p>
        </p:txBody>
      </p:sp>
      <p:sp>
        <p:nvSpPr>
          <p:cNvPr id="4" name="Text Placeholder 3"/>
          <p:cNvSpPr>
            <a:spLocks noGrp="1"/>
          </p:cNvSpPr>
          <p:nvPr>
            <p:ph type="body" idx="109"/>
          </p:nvPr>
        </p:nvSpPr>
        <p:spPr/>
        <p:txBody>
          <a:bodyPr/>
          <a:lstStyle/>
          <a:p>
            <a:r>
              <a:t>Découverte</a:t>
            </a:r>
          </a:p>
        </p:txBody>
      </p:sp>
      <p:sp>
        <p:nvSpPr>
          <p:cNvPr id="5" name="Text Placeholder 4"/>
          <p:cNvSpPr>
            <a:spLocks noGrp="1"/>
          </p:cNvSpPr>
          <p:nvPr>
            <p:ph type="body" idx="110"/>
          </p:nvPr>
        </p:nvSpPr>
        <p:spPr/>
        <p:txBody>
          <a:bodyPr/>
          <a:lstStyle/>
          <a:p>
            <a:r>
              <a:t>Scanne des chemins standards (.opencode/skills, .claude/skills…) et liste les Skills disponibles.</a:t>
            </a:r>
          </a:p>
        </p:txBody>
      </p:sp>
      <p:sp>
        <p:nvSpPr>
          <p:cNvPr id="6" name="Text Placeholder 5"/>
          <p:cNvSpPr>
            <a:spLocks noGrp="1"/>
          </p:cNvSpPr>
          <p:nvPr>
            <p:ph type="body" idx="112"/>
          </p:nvPr>
        </p:nvSpPr>
        <p:spPr/>
        <p:txBody>
          <a:bodyPr/>
          <a:lstStyle/>
          <a:p>
            <a:r>
              <a:t>À la demande</a:t>
            </a:r>
          </a:p>
        </p:txBody>
      </p:sp>
      <p:sp>
        <p:nvSpPr>
          <p:cNvPr id="7" name="Text Placeholder 6"/>
          <p:cNvSpPr>
            <a:spLocks noGrp="1"/>
          </p:cNvSpPr>
          <p:nvPr>
            <p:ph type="body" idx="113"/>
          </p:nvPr>
        </p:nvSpPr>
        <p:spPr/>
        <p:txBody>
          <a:bodyPr/>
          <a:lstStyle/>
          <a:p>
            <a:r>
              <a:t>L’agent charge le SKILL.md seulement quand la tâche le justifie — le budget de contexte est préservé.</a:t>
            </a:r>
          </a:p>
        </p:txBody>
      </p:sp>
      <p:sp>
        <p:nvSpPr>
          <p:cNvPr id="8" name="Text Placeholder 7"/>
          <p:cNvSpPr>
            <a:spLocks noGrp="1"/>
          </p:cNvSpPr>
          <p:nvPr>
            <p:ph type="body" idx="115"/>
          </p:nvPr>
        </p:nvSpPr>
        <p:spPr/>
        <p:txBody>
          <a:bodyPr/>
          <a:lstStyle/>
          <a:p>
            <a:r>
              <a:t>Permissions</a:t>
            </a:r>
          </a:p>
        </p:txBody>
      </p:sp>
      <p:sp>
        <p:nvSpPr>
          <p:cNvPr id="9" name="Text Placeholder 8"/>
          <p:cNvSpPr>
            <a:spLocks noGrp="1"/>
          </p:cNvSpPr>
          <p:nvPr>
            <p:ph type="body" idx="116"/>
          </p:nvPr>
        </p:nvSpPr>
        <p:spPr/>
        <p:txBody>
          <a:bodyPr/>
          <a:lstStyle/>
          <a:p>
            <a:r>
              <a:t>Autorisations par agent (allow/deny) : le crochet de gouvernance qu’on exploite en TP4.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TP2 — Écrire le Skill create-quarkus-mcp-server</a:t>
            </a:r>
          </a:p>
        </p:txBody>
      </p:sp>
      <p:sp>
        <p:nvSpPr>
          <p:cNvPr id="3" name="Text Placeholder 2"/>
          <p:cNvSpPr>
            <a:spLocks noGrp="1"/>
          </p:cNvSpPr>
          <p:nvPr>
            <p:ph type="body" idx="11"/>
          </p:nvPr>
        </p:nvSpPr>
        <p:spPr/>
        <p:txBody>
          <a:bodyPr/>
          <a:lstStyle/>
          <a:p>
            <a:r>
              <a:t>Transformer les écarts observés en instructions ; comparer une génération neuve à la baseline du TP1.</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Compléter le SKILL.md et sa référence de conventions.</a:t>
            </a:r>
          </a:p>
          <a:p>
            <a:r>
              <a:t>Installer les deux dans .opencode/skills/create-quarkus-mcp-server/.</a:t>
            </a:r>
          </a:p>
          <a:p>
            <a:r>
              <a:t>Observer le chargement du Skill et la lecture de sa référence.</a:t>
            </a:r>
          </a:p>
          <a:p>
            <a:r>
              <a:t>Générer un nouveau serveur ; rejouer build, démarrage et appels MCP.</a:t>
            </a:r>
          </a:p>
          <a:p>
            <a:r>
              <a:t>Comparer au TP1 et conserver les sources du Skill. GitLab au TP4.</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Skill chargé, génération neuve et comparaison argumentée.</a:t>
            </a:r>
          </a:p>
          <a:p>
            <a:r>
              <a:t>Un succès ne prouve pas la répétabilité. Corriger les écarts bloquants.</a:t>
            </a:r>
          </a:p>
          <a:p>
            <a:r>
              <a:t>Approfondir : répéter à modèle et Skill fixés, puis varier les demandes.</a:t>
            </a:r>
          </a:p>
          <a:p>
            <a:r>
              <a:rPr>
                <a:hlinkClick r:id="rId2"/>
              </a:rPr>
              <a:t>Guide pas à pas : sciam-fr.github.io/formation-ia/tp2/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2 — Évaluer et gouverner</a:t>
            </a:r>
          </a:p>
        </p:txBody>
      </p:sp>
      <p:sp>
        <p:nvSpPr>
          <p:cNvPr id="3" name="Content Placeholder 2"/>
          <p:cNvSpPr>
            <a:spLocks noGrp="1"/>
          </p:cNvSpPr>
          <p:nvPr>
            <p:ph idx="12" sz="quarter"/>
          </p:nvPr>
        </p:nvSpPr>
        <p:spPr/>
        <p:txBody>
          <a:bodyPr/>
          <a:lstStyle/>
          <a:p>
            <a:r>
              <a:t>Matin — Évaluer les produits IA (stratégie, datasets, scorers), harnais d'éval 100 % Java, exploiter &amp; sécuriser en production, avec une démonstration de gateway de modèles (LiteLLM).  Après-midi — Gouverner le contexte à l'échelle sur GitLab, puis atelier : le modèle opératoire de l'usine logicielle IA.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M4 — Évaluer les produits IA</a:t>
            </a:r>
          </a:p>
        </p:txBody>
      </p:sp>
      <p:sp>
        <p:nvSpPr>
          <p:cNvPr id="3" name="Content Placeholder 2"/>
          <p:cNvSpPr>
            <a:spLocks noGrp="1"/>
          </p:cNvSpPr>
          <p:nvPr>
            <p:ph idx="12" sz="quarter"/>
          </p:nvPr>
        </p:nvSpPr>
        <p:spPr/>
        <p:txBody>
          <a:bodyPr/>
          <a:lstStyle/>
          <a:p>
            <a:r>
              <a:t>Pourquoi c’est différent, quoi mesurer, et avec quels scorers.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Évaluer un système LLM : ce qui change</a:t>
            </a:r>
          </a:p>
        </p:txBody>
      </p:sp>
      <p:sp>
        <p:nvSpPr>
          <p:cNvPr id="3" name="Text Placeholder 2"/>
          <p:cNvSpPr>
            <a:spLocks noGrp="1"/>
          </p:cNvSpPr>
          <p:nvPr>
            <p:ph type="body" idx="109"/>
          </p:nvPr>
        </p:nvSpPr>
        <p:spPr/>
        <p:txBody>
          <a:bodyPr/>
          <a:lstStyle/>
          <a:p>
            <a:r>
              <a:t>Pas de sortie unique attendue, et une cible qui bouge</a:t>
            </a:r>
          </a:p>
        </p:txBody>
      </p:sp>
      <p:sp>
        <p:nvSpPr>
          <p:cNvPr id="4" name="Text Placeholder 3"/>
          <p:cNvSpPr>
            <a:spLocks noGrp="1"/>
          </p:cNvSpPr>
          <p:nvPr>
            <p:ph type="body" idx="111"/>
          </p:nvPr>
        </p:nvSpPr>
        <p:spPr/>
        <p:txBody>
          <a:bodyPr/>
          <a:lstStyle/>
          <a:p>
            <a:r>
              <a:t>LA DIFFICULTÉ</a:t>
            </a:r>
          </a:p>
        </p:txBody>
      </p:sp>
      <p:sp>
        <p:nvSpPr>
          <p:cNvPr id="5" name="Text Placeholder 4"/>
          <p:cNvSpPr>
            <a:spLocks noGrp="1"/>
          </p:cNvSpPr>
          <p:nvPr>
            <p:ph type="body" idx="112"/>
          </p:nvPr>
        </p:nvSpPr>
        <p:spPr/>
        <p:txBody>
          <a:bodyPr/>
          <a:lstStyle/>
          <a:p>
            <a:r>
              <a:t>Non déterministe, mouvant</a:t>
            </a:r>
          </a:p>
        </p:txBody>
      </p:sp>
      <p:sp>
        <p:nvSpPr>
          <p:cNvPr id="6" name="Text Placeholder 5"/>
          <p:cNvSpPr>
            <a:spLocks noGrp="1"/>
          </p:cNvSpPr>
          <p:nvPr>
            <p:ph type="body" idx="113"/>
          </p:nvPr>
        </p:nvSpPr>
        <p:spPr/>
        <p:txBody>
          <a:bodyPr/>
          <a:lstStyle/>
          <a:p>
            <a:r>
              <a:t>Même entrée, sorties variables ; pas d’oracle unique. Et la cible dérive : changer de modèle ou de prompt déplace le comportement du jour au lendemain.</a:t>
            </a:r>
          </a:p>
        </p:txBody>
      </p:sp>
      <p:sp>
        <p:nvSpPr>
          <p:cNvPr id="7" name="Text Placeholder 6"/>
          <p:cNvSpPr>
            <a:spLocks noGrp="1"/>
          </p:cNvSpPr>
          <p:nvPr>
            <p:ph type="body" idx="114"/>
          </p:nvPr>
        </p:nvSpPr>
        <p:spPr/>
        <p:txBody>
          <a:bodyPr/>
          <a:lstStyle/>
          <a:p>
            <a:r>
              <a:t>LA RÉPONSE</a:t>
            </a:r>
          </a:p>
        </p:txBody>
      </p:sp>
      <p:sp>
        <p:nvSpPr>
          <p:cNvPr id="8" name="Text Placeholder 7"/>
          <p:cNvSpPr>
            <a:spLocks noGrp="1"/>
          </p:cNvSpPr>
          <p:nvPr>
            <p:ph type="body" idx="115"/>
          </p:nvPr>
        </p:nvSpPr>
        <p:spPr/>
        <p:txBody>
          <a:bodyPr/>
          <a:lstStyle/>
          <a:p>
            <a:r>
              <a:t>Évaluer en continu</a:t>
            </a:r>
          </a:p>
        </p:txBody>
      </p:sp>
      <p:sp>
        <p:nvSpPr>
          <p:cNvPr id="9" name="Text Placeholder 8"/>
          <p:cNvSpPr>
            <a:spLocks noGrp="1"/>
          </p:cNvSpPr>
          <p:nvPr>
            <p:ph type="body" idx="116"/>
          </p:nvPr>
        </p:nvSpPr>
        <p:spPr/>
        <p:txBody>
          <a:bodyPr/>
          <a:lstStyle/>
          <a:p>
            <a:r>
              <a:t>On teste sur une distribution de cas, pas un exemple ; on versionne l’éval comme du code ; on accepte un signal statistique plutôt qu’un pass/fail binaire. L’éval est un actif, pas un one-shot.</a:t>
            </a:r>
          </a:p>
        </p:txBody>
      </p:sp>
      <p:sp>
        <p:nvSpPr>
          <p:cNvPr id="10" name="Picture Placeholder 9"/>
          <p:cNvSpPr>
            <a:spLocks noGrp="1"/>
          </p:cNvSpPr>
          <p:nvPr>
            <p:ph type="pic" idx="117" sz="quarter"/>
          </p:nvPr>
        </p:nvSpPr>
        <p:spPr/>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Stratégie : quoi, où, quand</a:t>
            </a:r>
          </a:p>
        </p:txBody>
      </p:sp>
      <p:sp>
        <p:nvSpPr>
          <p:cNvPr id="3" name="Text Placeholder 2"/>
          <p:cNvSpPr>
            <a:spLocks noGrp="1"/>
          </p:cNvSpPr>
          <p:nvPr>
            <p:ph type="body" idx="105"/>
          </p:nvPr>
        </p:nvSpPr>
        <p:spPr/>
        <p:txBody>
          <a:bodyPr/>
          <a:lstStyle/>
          <a:p>
            <a:r>
              <a:t>Cadrer l’évaluation avant d’écrire le premier test</a:t>
            </a:r>
          </a:p>
        </p:txBody>
      </p:sp>
      <p:sp>
        <p:nvSpPr>
          <p:cNvPr id="4" name="Text Placeholder 3"/>
          <p:cNvSpPr>
            <a:spLocks noGrp="1"/>
          </p:cNvSpPr>
          <p:nvPr>
            <p:ph type="body" idx="109"/>
          </p:nvPr>
        </p:nvSpPr>
        <p:spPr/>
        <p:txBody>
          <a:bodyPr/>
          <a:lstStyle/>
          <a:p>
            <a:r>
              <a:t>Quoi</a:t>
            </a:r>
          </a:p>
        </p:txBody>
      </p:sp>
      <p:sp>
        <p:nvSpPr>
          <p:cNvPr id="5" name="Text Placeholder 4"/>
          <p:cNvSpPr>
            <a:spLocks noGrp="1"/>
          </p:cNvSpPr>
          <p:nvPr>
            <p:ph type="body" idx="110"/>
          </p:nvPr>
        </p:nvSpPr>
        <p:spPr/>
        <p:txBody>
          <a:bodyPr/>
          <a:lstStyle/>
          <a:p>
            <a:r>
              <a:t>Les critères : conformité, qualité, coût, latence, robustesse. On priorise ce qui compte pour le produit.</a:t>
            </a:r>
          </a:p>
        </p:txBody>
      </p:sp>
      <p:sp>
        <p:nvSpPr>
          <p:cNvPr id="6" name="Text Placeholder 5"/>
          <p:cNvSpPr>
            <a:spLocks noGrp="1"/>
          </p:cNvSpPr>
          <p:nvPr>
            <p:ph type="body" idx="112"/>
          </p:nvPr>
        </p:nvSpPr>
        <p:spPr/>
        <p:txBody>
          <a:bodyPr/>
          <a:lstStyle/>
          <a:p>
            <a:r>
              <a:t>Où</a:t>
            </a:r>
          </a:p>
        </p:txBody>
      </p:sp>
      <p:sp>
        <p:nvSpPr>
          <p:cNvPr id="7" name="Text Placeholder 6"/>
          <p:cNvSpPr>
            <a:spLocks noGrp="1"/>
          </p:cNvSpPr>
          <p:nvPr>
            <p:ph type="body" idx="113"/>
          </p:nvPr>
        </p:nvSpPr>
        <p:spPr/>
        <p:txBody>
          <a:bodyPr/>
          <a:lstStyle/>
          <a:p>
            <a:r>
              <a:t>En dev (boucle rapide), en CI (non-régression), en prod (monitoring en ligne).</a:t>
            </a:r>
          </a:p>
        </p:txBody>
      </p:sp>
      <p:sp>
        <p:nvSpPr>
          <p:cNvPr id="8" name="Text Placeholder 7"/>
          <p:cNvSpPr>
            <a:spLocks noGrp="1"/>
          </p:cNvSpPr>
          <p:nvPr>
            <p:ph type="body" idx="115"/>
          </p:nvPr>
        </p:nvSpPr>
        <p:spPr/>
        <p:txBody>
          <a:bodyPr/>
          <a:lstStyle/>
          <a:p>
            <a:r>
              <a:t>Quand</a:t>
            </a:r>
          </a:p>
        </p:txBody>
      </p:sp>
      <p:sp>
        <p:nvSpPr>
          <p:cNvPr id="9" name="Text Placeholder 8"/>
          <p:cNvSpPr>
            <a:spLocks noGrp="1"/>
          </p:cNvSpPr>
          <p:nvPr>
            <p:ph type="body" idx="116"/>
          </p:nvPr>
        </p:nvSpPr>
        <p:spPr/>
        <p:txBody>
          <a:bodyPr/>
          <a:lstStyle/>
          <a:p>
            <a:r>
              <a:t>À chaque changement de modèle, de prompt, de Skill. L’éval garde le fil rouge sous contrôle.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dataset : couvrir les trois chemins</a:t>
            </a:r>
          </a:p>
        </p:txBody>
      </p:sp>
      <p:sp>
        <p:nvSpPr>
          <p:cNvPr id="3" name="Text Placeholder 2"/>
          <p:cNvSpPr>
            <a:spLocks noGrp="1"/>
          </p:cNvSpPr>
          <p:nvPr>
            <p:ph type="body" idx="105"/>
          </p:nvPr>
        </p:nvSpPr>
        <p:spPr/>
        <p:txBody>
          <a:bodyPr/>
          <a:lstStyle/>
          <a:p>
            <a:r>
              <a:t>Un jeu de cas représentatif, pas seulement le cas idéal</a:t>
            </a:r>
          </a:p>
        </p:txBody>
      </p:sp>
      <p:sp>
        <p:nvSpPr>
          <p:cNvPr id="4" name="Text Placeholder 3"/>
          <p:cNvSpPr>
            <a:spLocks noGrp="1"/>
          </p:cNvSpPr>
          <p:nvPr>
            <p:ph type="body" idx="109"/>
          </p:nvPr>
        </p:nvSpPr>
        <p:spPr/>
        <p:txBody>
          <a:bodyPr/>
          <a:lstStyle/>
          <a:p>
            <a:r>
              <a:t>Happy path</a:t>
            </a:r>
          </a:p>
        </p:txBody>
      </p:sp>
      <p:sp>
        <p:nvSpPr>
          <p:cNvPr id="5" name="Text Placeholder 4"/>
          <p:cNvSpPr>
            <a:spLocks noGrp="1"/>
          </p:cNvSpPr>
          <p:nvPr>
            <p:ph type="body" idx="110"/>
          </p:nvPr>
        </p:nvSpPr>
        <p:spPr/>
        <p:txBody>
          <a:bodyPr/>
          <a:lstStyle/>
          <a:p>
            <a:r>
              <a:t>Le cas nominal : ce qui doit marcher tous les jours.</a:t>
            </a:r>
          </a:p>
        </p:txBody>
      </p:sp>
      <p:sp>
        <p:nvSpPr>
          <p:cNvPr id="6" name="Text Placeholder 5"/>
          <p:cNvSpPr>
            <a:spLocks noGrp="1"/>
          </p:cNvSpPr>
          <p:nvPr>
            <p:ph type="body" idx="112"/>
          </p:nvPr>
        </p:nvSpPr>
        <p:spPr/>
        <p:txBody>
          <a:bodyPr/>
          <a:lstStyle/>
          <a:p>
            <a:r>
              <a:t>Realistic path</a:t>
            </a:r>
          </a:p>
        </p:txBody>
      </p:sp>
      <p:sp>
        <p:nvSpPr>
          <p:cNvPr id="7" name="Text Placeholder 6"/>
          <p:cNvSpPr>
            <a:spLocks noGrp="1"/>
          </p:cNvSpPr>
          <p:nvPr>
            <p:ph type="body" idx="113"/>
          </p:nvPr>
        </p:nvSpPr>
        <p:spPr/>
        <p:txBody>
          <a:bodyPr/>
          <a:lstStyle/>
          <a:p>
            <a:r>
              <a:t>Les cas réels, ambigus, incomplets — la vraie vie.</a:t>
            </a:r>
          </a:p>
        </p:txBody>
      </p:sp>
      <p:sp>
        <p:nvSpPr>
          <p:cNvPr id="8" name="Text Placeholder 7"/>
          <p:cNvSpPr>
            <a:spLocks noGrp="1"/>
          </p:cNvSpPr>
          <p:nvPr>
            <p:ph type="body" idx="115"/>
          </p:nvPr>
        </p:nvSpPr>
        <p:spPr/>
        <p:txBody>
          <a:bodyPr/>
          <a:lstStyle/>
          <a:p>
            <a:r>
              <a:t>Adverse path</a:t>
            </a:r>
          </a:p>
        </p:txBody>
      </p:sp>
      <p:sp>
        <p:nvSpPr>
          <p:cNvPr id="9" name="Text Placeholder 8"/>
          <p:cNvSpPr>
            <a:spLocks noGrp="1"/>
          </p:cNvSpPr>
          <p:nvPr>
            <p:ph type="body" idx="116"/>
          </p:nvPr>
        </p:nvSpPr>
        <p:spPr/>
        <p:txBody>
          <a:bodyPr/>
          <a:lstStyle/>
          <a:p>
            <a:r>
              <a:t>Les cas limites et hostiles : ce qui doit échouer proprement.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scorers : quatre familles</a:t>
            </a:r>
          </a:p>
        </p:txBody>
      </p:sp>
      <p:sp>
        <p:nvSpPr>
          <p:cNvPr id="3" name="Text Placeholder 2"/>
          <p:cNvSpPr>
            <a:spLocks noGrp="1"/>
          </p:cNvSpPr>
          <p:nvPr>
            <p:ph type="body" idx="105"/>
          </p:nvPr>
        </p:nvSpPr>
        <p:spPr/>
        <p:txBody>
          <a:bodyPr/>
          <a:lstStyle/>
          <a:p>
            <a:r>
              <a:t>Du plus déterministe au plus humain — souvent combinés</a:t>
            </a:r>
          </a:p>
        </p:txBody>
      </p:sp>
      <p:sp>
        <p:nvSpPr>
          <p:cNvPr id="4" name="Text Placeholder 3"/>
          <p:cNvSpPr>
            <a:spLocks noGrp="1"/>
          </p:cNvSpPr>
          <p:nvPr>
            <p:ph type="body" idx="110"/>
          </p:nvPr>
        </p:nvSpPr>
        <p:spPr/>
        <p:txBody>
          <a:bodyPr/>
          <a:lstStyle/>
          <a:p>
            <a:r>
              <a:t>Déterministe</a:t>
            </a:r>
          </a:p>
        </p:txBody>
      </p:sp>
      <p:sp>
        <p:nvSpPr>
          <p:cNvPr id="5" name="Text Placeholder 4"/>
          <p:cNvSpPr>
            <a:spLocks noGrp="1"/>
          </p:cNvSpPr>
          <p:nvPr>
            <p:ph type="body" idx="111"/>
          </p:nvPr>
        </p:nvSpPr>
        <p:spPr/>
        <p:txBody>
          <a:bodyPr/>
          <a:lstStyle/>
          <a:p>
            <a:r>
              <a:t>Assertions exactes : compile, primitives enregistrées, convention respectée. Rapide et fiable.</a:t>
            </a:r>
          </a:p>
        </p:txBody>
      </p:sp>
      <p:sp>
        <p:nvSpPr>
          <p:cNvPr id="6" name="Text Placeholder 5"/>
          <p:cNvSpPr>
            <a:spLocks noGrp="1"/>
          </p:cNvSpPr>
          <p:nvPr>
            <p:ph type="body" idx="115"/>
          </p:nvPr>
        </p:nvSpPr>
        <p:spPr/>
        <p:txBody>
          <a:bodyPr/>
          <a:lstStyle/>
          <a:p>
            <a:r>
              <a:t>Sémantique</a:t>
            </a:r>
          </a:p>
        </p:txBody>
      </p:sp>
      <p:sp>
        <p:nvSpPr>
          <p:cNvPr id="7" name="Text Placeholder 6"/>
          <p:cNvSpPr>
            <a:spLocks noGrp="1"/>
          </p:cNvSpPr>
          <p:nvPr>
            <p:ph type="body" idx="116"/>
          </p:nvPr>
        </p:nvSpPr>
        <p:spPr/>
        <p:txBody>
          <a:bodyPr/>
          <a:lstStyle/>
          <a:p>
            <a:r>
              <a:t>Similarité de sens (embeddings) : la sortie est-elle proche de l’attendu ?</a:t>
            </a:r>
          </a:p>
        </p:txBody>
      </p:sp>
      <p:sp>
        <p:nvSpPr>
          <p:cNvPr id="8" name="Text Placeholder 7"/>
          <p:cNvSpPr>
            <a:spLocks noGrp="1"/>
          </p:cNvSpPr>
          <p:nvPr>
            <p:ph type="body" idx="120"/>
          </p:nvPr>
        </p:nvSpPr>
        <p:spPr/>
        <p:txBody>
          <a:bodyPr/>
          <a:lstStyle/>
          <a:p>
            <a:r>
              <a:t>LLM-as-a-Judge</a:t>
            </a:r>
          </a:p>
        </p:txBody>
      </p:sp>
      <p:sp>
        <p:nvSpPr>
          <p:cNvPr id="9" name="Text Placeholder 8"/>
          <p:cNvSpPr>
            <a:spLocks noGrp="1"/>
          </p:cNvSpPr>
          <p:nvPr>
            <p:ph type="body" idx="121"/>
          </p:nvPr>
        </p:nvSpPr>
        <p:spPr/>
        <p:txBody>
          <a:bodyPr/>
          <a:lstStyle/>
          <a:p>
            <a:r>
              <a:t>Un modèle note selon une grille : utile pour le flou (qualité, conformité nuancée).</a:t>
            </a:r>
          </a:p>
        </p:txBody>
      </p:sp>
      <p:sp>
        <p:nvSpPr>
          <p:cNvPr id="10" name="Text Placeholder 9"/>
          <p:cNvSpPr>
            <a:spLocks noGrp="1"/>
          </p:cNvSpPr>
          <p:nvPr>
            <p:ph type="body" idx="125"/>
          </p:nvPr>
        </p:nvSpPr>
        <p:spPr/>
        <p:txBody>
          <a:bodyPr/>
          <a:lstStyle/>
          <a:p>
            <a:r>
              <a:t>Humain</a:t>
            </a:r>
          </a:p>
        </p:txBody>
      </p:sp>
      <p:sp>
        <p:nvSpPr>
          <p:cNvPr id="11" name="Text Placeholder 10"/>
          <p:cNvSpPr>
            <a:spLocks noGrp="1"/>
          </p:cNvSpPr>
          <p:nvPr>
            <p:ph type="body" idx="126"/>
          </p:nvPr>
        </p:nvSpPr>
        <p:spPr/>
        <p:txBody>
          <a:bodyPr/>
          <a:lstStyle/>
          <a:p>
            <a:r>
              <a:t>L’arbitre ultime sur les cas sensibles ; sert à calibrer les autres scorers.</a:t>
            </a:r>
          </a:p>
        </p:txBody>
      </p:sp>
      <p:sp>
        <p:nvSpPr>
          <p:cNvPr id="12" name="Picture Placeholder 11"/>
          <p:cNvSpPr>
            <a:spLocks noGrp="1"/>
          </p:cNvSpPr>
          <p:nvPr>
            <p:ph type="pic" idx="127" sz="quarter"/>
          </p:nvPr>
        </p:nvSpPr>
        <p:spPr/>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Démonstration : le faux vert d'un scorer</a:t>
            </a:r>
          </a:p>
        </p:txBody>
      </p:sp>
      <p:sp>
        <p:nvSpPr>
          <p:cNvPr id="3" name="Text Placeholder 2"/>
          <p:cNvSpPr>
            <a:spLocks noGrp="1"/>
          </p:cNvSpPr>
          <p:nvPr>
            <p:ph type="body" idx="109"/>
          </p:nvPr>
        </p:nvSpPr>
        <p:spPr/>
        <p:txBody>
          <a:bodyPr/>
          <a:lstStyle/>
          <a:p>
            <a:r>
              <a:t>Une regex trouve « find_service » dans un commentaire ; le tool n'existe pas</a:t>
            </a:r>
          </a:p>
        </p:txBody>
      </p:sp>
      <p:sp>
        <p:nvSpPr>
          <p:cNvPr id="4" name="Text Placeholder 3"/>
          <p:cNvSpPr>
            <a:spLocks noGrp="1"/>
          </p:cNvSpPr>
          <p:nvPr>
            <p:ph type="body" idx="111"/>
          </p:nvPr>
        </p:nvSpPr>
        <p:spPr/>
        <p:txBody>
          <a:bodyPr/>
          <a:lstStyle/>
          <a:p>
            <a:r>
              <a:t>LE PIÈGE</a:t>
            </a:r>
          </a:p>
        </p:txBody>
      </p:sp>
      <p:sp>
        <p:nvSpPr>
          <p:cNvPr id="5" name="Text Placeholder 4"/>
          <p:cNvSpPr>
            <a:spLocks noGrp="1"/>
          </p:cNvSpPr>
          <p:nvPr>
            <p:ph type="body" idx="112"/>
          </p:nvPr>
        </p:nvSpPr>
        <p:spPr/>
        <p:txBody>
          <a:bodyPr/>
          <a:lstStyle/>
          <a:p>
            <a:r>
              <a:t>Un vert sans preuve</a:t>
            </a:r>
          </a:p>
        </p:txBody>
      </p:sp>
      <p:sp>
        <p:nvSpPr>
          <p:cNvPr id="6" name="Text Placeholder 5"/>
          <p:cNvSpPr>
            <a:spLocks noGrp="1"/>
          </p:cNvSpPr>
          <p:nvPr>
            <p:ph type="body" idx="113"/>
          </p:nvPr>
        </p:nvSpPr>
        <p:spPr/>
        <p:txBody>
          <a:bodyPr/>
          <a:lstStyle/>
          <a:p>
            <a:r>
              <a:t>sourceContient("find_service") passe : le nom figure dans un commentaire ou dans un test, sans aucun @Tool portant ce nom. Le harnais concatène tous les .java, tests inclus. Le rapport est vert ; le serveur ne fait rien.</a:t>
            </a:r>
          </a:p>
        </p:txBody>
      </p:sp>
      <p:sp>
        <p:nvSpPr>
          <p:cNvPr id="7" name="Text Placeholder 6"/>
          <p:cNvSpPr>
            <a:spLocks noGrp="1"/>
          </p:cNvSpPr>
          <p:nvPr>
            <p:ph type="body" idx="114"/>
          </p:nvPr>
        </p:nvSpPr>
        <p:spPr/>
        <p:txBody>
          <a:bodyPr/>
          <a:lstStyle/>
          <a:p>
            <a:r>
              <a:t>LA PARADE</a:t>
            </a:r>
          </a:p>
        </p:txBody>
      </p:sp>
      <p:sp>
        <p:nvSpPr>
          <p:cNvPr id="8" name="Text Placeholder 7"/>
          <p:cNvSpPr>
            <a:spLocks noGrp="1"/>
          </p:cNvSpPr>
          <p:nvPr>
            <p:ph type="body" idx="115"/>
          </p:nvPr>
        </p:nvSpPr>
        <p:spPr/>
        <p:txBody>
          <a:bodyPr/>
          <a:lstStyle/>
          <a:p>
            <a:r>
              <a:t>Vérifier le contrat</a:t>
            </a:r>
          </a:p>
        </p:txBody>
      </p:sp>
      <p:sp>
        <p:nvSpPr>
          <p:cNvPr id="9" name="Text Placeholder 8"/>
          <p:cNvSpPr>
            <a:spLocks noGrp="1"/>
          </p:cNvSpPr>
          <p:nvPr>
            <p:ph type="body" idx="116"/>
          </p:nvPr>
        </p:nvSpPr>
        <p:spPr/>
        <p:txBody>
          <a:bodyPr/>
          <a:lstStyle/>
          <a:p>
            <a:r>
              <a:t>Exiger l'annotation et le nom public : @Tool(name = "find_service"), sur une méthode, hors commentaires et hors tests. Puis prouver que le test devient rouge sur la mutation avant de le croire vert. Variante formateur : formateur/demo-scorer-trompeur/.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543560" y="1655825"/>
          <a:ext cx="11094719" cy="3320000"/>
        </p:xfrm>
        <a:graphic>
          <a:graphicData uri="http://schemas.openxmlformats.org/drawingml/2006/table">
            <a:tbl>
              <a:tblPr firstRow="1" bandRow="1">
                <a:tableStyleId>{5C22544A-7EE6-4342-B048-85BDC9FD1C3A}</a:tableStyleId>
              </a:tblPr>
              <a:tblGrid>
                <a:gridCol w="2500000"/>
                <a:gridCol w="1250000"/>
                <a:gridCol w="2150000"/>
                <a:gridCol w="1150000"/>
                <a:gridCol w="1750000"/>
                <a:gridCol w="2294719"/>
              </a:tblGrid>
              <a:tr h="520000">
                <a:tc>
                  <a:txBody>
                    <a:bodyPr/>
                    <a:lstStyle/>
                    <a:p>
                      <a:r>
                        <a:rPr sz="1100" b="1">
                          <a:solidFill>
                            <a:srgbClr val="FFFFFF"/>
                          </a:solidFill>
                          <a:latin typeface="DM Sans"/>
                        </a:rPr>
                        <a:t>Provenance / cas</a:t>
                      </a:r>
                    </a:p>
                  </a:txBody>
                  <a:tcPr marL="72000" marR="72000" marT="45000" marB="45000">
                    <a:solidFill>
                      <a:srgbClr val="222D45"/>
                    </a:solidFill>
                  </a:tcPr>
                </a:tc>
                <a:tc>
                  <a:txBody>
                    <a:bodyPr/>
                    <a:lstStyle/>
                    <a:p>
                      <a:r>
                        <a:rPr sz="1100" b="1">
                          <a:solidFill>
                            <a:srgbClr val="FFFFFF"/>
                          </a:solidFill>
                          <a:latin typeface="DM Sans"/>
                        </a:rPr>
                        <a:t>Build / tests</a:t>
                      </a:r>
                    </a:p>
                  </a:txBody>
                  <a:tcPr marL="72000" marR="72000" marT="45000" marB="45000">
                    <a:solidFill>
                      <a:srgbClr val="222D45"/>
                    </a:solidFill>
                  </a:tcPr>
                </a:tc>
                <a:tc>
                  <a:txBody>
                    <a:bodyPr/>
                    <a:lstStyle/>
                    <a:p>
                      <a:r>
                        <a:rPr sz="1100" b="1">
                          <a:solidFill>
                            <a:srgbClr val="FFFFFF"/>
                          </a:solidFill>
                          <a:latin typeface="DM Sans"/>
                        </a:rPr>
                        <a:t>Contrat MCP observé</a:t>
                      </a:r>
                    </a:p>
                  </a:txBody>
                  <a:tcPr marL="72000" marR="72000" marT="45000" marB="45000">
                    <a:solidFill>
                      <a:srgbClr val="222D45"/>
                    </a:solidFill>
                  </a:tcPr>
                </a:tc>
                <a:tc>
                  <a:txBody>
                    <a:bodyPr/>
                    <a:lstStyle/>
                    <a:p>
                      <a:r>
                        <a:rPr sz="1100" b="1">
                          <a:solidFill>
                            <a:srgbClr val="FFFFFF"/>
                          </a:solidFill>
                          <a:latin typeface="DM Sans"/>
                        </a:rPr>
                        <a:t>Assertions</a:t>
                      </a:r>
                    </a:p>
                  </a:txBody>
                  <a:tcPr marL="72000" marR="72000" marT="45000" marB="45000">
                    <a:solidFill>
                      <a:srgbClr val="222D45"/>
                    </a:solidFill>
                  </a:tcPr>
                </a:tc>
                <a:tc>
                  <a:txBody>
                    <a:bodyPr/>
                    <a:lstStyle/>
                    <a:p>
                      <a:r>
                        <a:rPr sz="1100" b="1">
                          <a:solidFill>
                            <a:srgbClr val="FFFFFF"/>
                          </a:solidFill>
                          <a:latin typeface="DM Sans"/>
                        </a:rPr>
                        <a:t>Juge /10</a:t>
                      </a:r>
                    </a:p>
                  </a:txBody>
                  <a:tcPr marL="72000" marR="72000" marT="45000" marB="45000">
                    <a:solidFill>
                      <a:srgbClr val="222D45"/>
                    </a:solidFill>
                  </a:tcPr>
                </a:tc>
                <a:tc>
                  <a:txBody>
                    <a:bodyPr/>
                    <a:lstStyle/>
                    <a:p>
                      <a:r>
                        <a:rPr sz="1100" b="1">
                          <a:solidFill>
                            <a:srgbClr val="FFFFFF"/>
                          </a:solidFill>
                          <a:latin typeface="DM Sans"/>
                        </a:rPr>
                        <a:t>Lecture</a:t>
                      </a:r>
                    </a:p>
                  </a:txBody>
                  <a:tcPr marL="72000" marR="72000" marT="45000" marB="45000">
                    <a:solidFill>
                      <a:srgbClr val="222D45"/>
                    </a:solidFill>
                  </a:tcPr>
                </a:tc>
              </a:tr>
              <a:tr h="700000">
                <a:tc>
                  <a:txBody>
                    <a:bodyPr/>
                    <a:lstStyle/>
                    <a:p>
                      <a:r>
                        <a:rPr sz="1200" b="1">
                          <a:solidFill>
                            <a:srgbClr val="16100E"/>
                          </a:solidFill>
                          <a:latin typeface="DM Sans"/>
                        </a:rPr>
                        <a:t>Génération TP2 (hors dataset)</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a:solidFill>
                            <a:srgbClr val="16100E"/>
                          </a:solidFill>
                          <a:latin typeface="DM Sans"/>
                        </a:rPr>
                        <a:t>4 primitives vues</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a:solidFill>
                            <a:srgbClr val="16100E"/>
                          </a:solidFill>
                          <a:latin typeface="DM Sans"/>
                        </a:rPr>
                        <a:t>8 — accord humain</a:t>
                      </a:r>
                    </a:p>
                  </a:txBody>
                  <a:tcPr marL="72000" marR="72000" marT="45000" marB="45000">
                    <a:solidFill>
                      <a:srgbClr val="FFFFFF"/>
                    </a:solidFill>
                  </a:tcPr>
                </a:tc>
                <a:tc>
                  <a:txBody>
                    <a:bodyPr/>
                    <a:lstStyle/>
                    <a:p>
                      <a:r>
                        <a:rPr sz="1200" b="0">
                          <a:solidFill>
                            <a:srgbClr val="16100E"/>
                          </a:solidFill>
                          <a:latin typeface="DM Sans"/>
                        </a:rPr>
                        <a:t>Conforme ; répétabilité non prouvée</a:t>
                      </a:r>
                    </a:p>
                  </a:txBody>
                  <a:tcPr marL="72000" marR="72000" marT="45000" marB="45000">
                    <a:solidFill>
                      <a:srgbClr val="FFFFFF"/>
                    </a:solidFill>
                  </a:tcPr>
                </a:tc>
              </a:tr>
              <a:tr h="700000">
                <a:tc>
                  <a:txBody>
                    <a:bodyPr/>
                    <a:lstStyle/>
                    <a:p>
                      <a:r>
                        <a:rPr sz="1200" b="1">
                          <a:solidFill>
                            <a:srgbClr val="16100E"/>
                          </a:solidFill>
                          <a:latin typeface="DM Sans"/>
                        </a:rPr>
                        <a:t>adverse-1 · rép. 1</a:t>
                      </a:r>
                    </a:p>
                  </a:txBody>
                  <a:tcPr marL="72000" marR="72000" marT="45000" marB="45000">
                    <a:solidFill>
                      <a:srgbClr val="F3F1EF"/>
                    </a:solidFill>
                  </a:tcPr>
                </a:tc>
                <a:tc>
                  <a:txBody>
                    <a:bodyPr/>
                    <a:lstStyle/>
                    <a:p>
                      <a:r>
                        <a:rPr sz="1200" b="0">
                          <a:solidFill>
                            <a:srgbClr val="1F7A3E"/>
                          </a:solidFill>
                          <a:latin typeface="DM Sans"/>
                        </a:rPr>
                        <a:t>vert</a:t>
                      </a:r>
                    </a:p>
                  </a:txBody>
                  <a:tcPr marL="72000" marR="72000" marT="45000" marB="45000">
                    <a:solidFill>
                      <a:srgbClr val="F3F1EF"/>
                    </a:solidFill>
                  </a:tcPr>
                </a:tc>
                <a:tc>
                  <a:txBody>
                    <a:bodyPr/>
                    <a:lstStyle/>
                    <a:p>
                      <a:r>
                        <a:rPr sz="1200" b="0">
                          <a:solidFill>
                            <a:srgbClr val="16100E"/>
                          </a:solidFill>
                          <a:latin typeface="DM Sans"/>
                        </a:rPr>
                        <a:t>3 primitives (prompt absent)</a:t>
                      </a:r>
                    </a:p>
                  </a:txBody>
                  <a:tcPr marL="72000" marR="72000" marT="45000" marB="45000">
                    <a:solidFill>
                      <a:srgbClr val="F3F1EF"/>
                    </a:solidFill>
                  </a:tcPr>
                </a:tc>
                <a:tc>
                  <a:txBody>
                    <a:bodyPr/>
                    <a:lstStyle/>
                    <a:p>
                      <a:r>
                        <a:rPr sz="1200" b="0">
                          <a:solidFill>
                            <a:srgbClr val="16100E"/>
                          </a:solidFill>
                          <a:latin typeface="DM Sans"/>
                        </a:rPr>
                        <a:t>4 / 5</a:t>
                      </a:r>
                    </a:p>
                  </a:txBody>
                  <a:tcPr marL="72000" marR="72000" marT="45000" marB="45000">
                    <a:solidFill>
                      <a:srgbClr val="F3F1EF"/>
                    </a:solidFill>
                  </a:tcPr>
                </a:tc>
                <a:tc>
                  <a:txBody>
                    <a:bodyPr/>
                    <a:lstStyle/>
                    <a:p>
                      <a:r>
                        <a:rPr sz="1200" b="0">
                          <a:solidFill>
                            <a:srgbClr val="16100E"/>
                          </a:solidFill>
                          <a:latin typeface="DM Sans"/>
                        </a:rPr>
                        <a:t>6 — désaccord</a:t>
                      </a:r>
                    </a:p>
                  </a:txBody>
                  <a:tcPr marL="72000" marR="72000" marT="45000" marB="45000">
                    <a:solidFill>
                      <a:srgbClr val="F3F1EF"/>
                    </a:solidFill>
                  </a:tcPr>
                </a:tc>
                <a:tc>
                  <a:txBody>
                    <a:bodyPr/>
                    <a:lstStyle/>
                    <a:p>
                      <a:r>
                        <a:rPr sz="1200" b="0">
                          <a:solidFill>
                            <a:srgbClr val="16100E"/>
                          </a:solidFill>
                          <a:latin typeface="DM Sans"/>
                        </a:rPr>
                        <a:t>Non conforme : à corriger dans le Skill</a:t>
                      </a:r>
                    </a:p>
                  </a:txBody>
                  <a:tcPr marL="72000" marR="72000" marT="45000" marB="45000">
                    <a:solidFill>
                      <a:srgbClr val="F3F1EF"/>
                    </a:solidFill>
                  </a:tcPr>
                </a:tc>
              </a:tr>
              <a:tr h="700000">
                <a:tc>
                  <a:txBody>
                    <a:bodyPr/>
                    <a:lstStyle/>
                    <a:p>
                      <a:r>
                        <a:rPr sz="1200" b="1">
                          <a:solidFill>
                            <a:srgbClr val="16100E"/>
                          </a:solidFill>
                          <a:latin typeface="DM Sans"/>
                        </a:rPr>
                        <a:t>realistic-2 · rép. 1</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i="1">
                          <a:solidFill>
                            <a:srgbClr val="B42318"/>
                          </a:solidFill>
                          <a:latin typeface="DM Sans"/>
                        </a:rPr>
                        <a:t>non vérifié</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i="1">
                          <a:solidFill>
                            <a:srgbClr val="B42318"/>
                          </a:solidFill>
                          <a:latin typeface="DM Sans"/>
                        </a:rPr>
                        <a:t>non exécuté</a:t>
                      </a:r>
                    </a:p>
                  </a:txBody>
                  <a:tcPr marL="72000" marR="72000" marT="45000" marB="45000">
                    <a:solidFill>
                      <a:srgbClr val="FFFFFF"/>
                    </a:solidFill>
                  </a:tcPr>
                </a:tc>
                <a:tc>
                  <a:txBody>
                    <a:bodyPr/>
                    <a:lstStyle/>
                    <a:p>
                      <a:r>
                        <a:rPr sz="1200" b="0">
                          <a:solidFill>
                            <a:srgbClr val="16100E"/>
                          </a:solidFill>
                          <a:latin typeface="DM Sans"/>
                        </a:rPr>
                        <a:t>Partiel : preuve MCP et juge manquants</a:t>
                      </a:r>
                    </a:p>
                  </a:txBody>
                  <a:tcPr marL="72000" marR="72000" marT="45000" marB="45000">
                    <a:solidFill>
                      <a:srgbClr val="FFFFFF"/>
                    </a:solidFill>
                  </a:tcPr>
                </a:tc>
              </a:tr>
              <a:tr h="700000">
                <a:tc>
                  <a:txBody>
                    <a:bodyPr/>
                    <a:lstStyle/>
                    <a:p>
                      <a:r>
                        <a:rPr sz="1200" b="1">
                          <a:solidFill>
                            <a:srgbClr val="16100E"/>
                          </a:solidFill>
                          <a:latin typeface="DM Sans"/>
                        </a:rPr>
                        <a:t>happy-1</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a:solidFill>
                            <a:srgbClr val="16100E"/>
                          </a:solidFill>
                          <a:latin typeface="DM Sans"/>
                        </a:rPr>
                        <a:t>Hors séance : approfondissement</a:t>
                      </a:r>
                    </a:p>
                  </a:txBody>
                  <a:tcPr marL="72000" marR="72000" marT="45000" marB="45000">
                    <a:solidFill>
                      <a:srgbClr val="F3F1EF"/>
                    </a:solidFill>
                  </a:tcPr>
                </a:tc>
              </a:tr>
            </a:tbl>
          </a:graphicData>
        </a:graphic>
      </p:graphicFrame>
      <p:sp>
        <p:nvSpPr>
          <p:cNvPr id="3" name="Title 2"/>
          <p:cNvSpPr>
            <a:spLocks noGrp="1"/>
          </p:cNvSpPr>
          <p:nvPr>
            <p:ph type="title"/>
          </p:nvPr>
        </p:nvSpPr>
        <p:spPr/>
        <p:txBody>
          <a:bodyPr/>
          <a:lstStyle/>
          <a:p>
            <a:r>
              <a:t>Lire les résultats : quatre colonnes, un verdict</a:t>
            </a:r>
          </a:p>
        </p:txBody>
      </p:sp>
      <p:sp>
        <p:nvSpPr>
          <p:cNvPr id="4" name="TextBox 3"/>
          <p:cNvSpPr txBox="1"/>
          <p:nvPr/>
        </p:nvSpPr>
        <p:spPr>
          <a:xfrm>
            <a:off x="548640" y="6000000"/>
            <a:ext cx="11094720" cy="600000"/>
          </a:xfrm>
          <a:prstGeom prst="rect">
            <a:avLst/>
          </a:prstGeom>
          <a:noFill/>
        </p:spPr>
        <p:txBody>
          <a:bodyPr wrap="square" lIns="0" rIns="0" tIns="0" bIns="0">
            <a:spAutoFit/>
          </a:bodyPr>
          <a:lstStyle/>
          <a:p>
            <a:pPr algn="l"/>
            <a:r>
              <a:rPr sz="1000" b="0" i="0">
                <a:solidFill>
                  <a:srgbClr val="504C49"/>
                </a:solidFill>
                <a:latin typeface="DM Sans"/>
              </a:rPr>
              <a:t>Exemple fictif. Quatre colonnes séparées : ce qui compile, ce que l'inspecteur montre, ce que les assertions vérifient, ce que le juge estime.</a:t>
            </a:r>
          </a:p>
          <a:p>
            <a:pPr algn="l"/>
            <a:r>
              <a:rPr sz="1000" b="0" i="0">
                <a:solidFill>
                  <a:srgbClr val="504C49"/>
                </a:solidFill>
                <a:latin typeface="DM Sans"/>
              </a:rPr>
              <a:t>Un « non exécuté » reste visible : il ne devient jamais un vert. Cinq cas donnent un premier signal exploratoire, pas une preuve statistique.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TP3 — Évaluer le Skill create-quarkus-mcp-server</a:t>
            </a:r>
          </a:p>
        </p:txBody>
      </p:sp>
      <p:sp>
        <p:nvSpPr>
          <p:cNvPr id="3" name="Text Placeholder 2"/>
          <p:cNvSpPr>
            <a:spLocks noGrp="1"/>
          </p:cNvSpPr>
          <p:nvPr>
            <p:ph type="body" idx="11"/>
          </p:nvPr>
        </p:nvSpPr>
        <p:spPr/>
        <p:txBody>
          <a:bodyPr/>
          <a:lstStyle/>
          <a:p>
            <a:r>
              <a:t>Écrire les critères de jugement sur le serveur du TP2 ; séparer sources, exécution et verdict LLM.</a:t>
            </a:r>
          </a:p>
        </p:txBody>
      </p:sp>
      <p:sp>
        <p:nvSpPr>
          <p:cNvPr id="4" name="Text Placeholder 3"/>
          <p:cNvSpPr>
            <a:spLocks noGrp="1"/>
          </p:cNvSpPr>
          <p:nvPr>
            <p:ph type="body" idx="12"/>
          </p:nvPr>
        </p:nvSpPr>
        <p:spPr/>
        <p:txBody>
          <a:bodyPr/>
          <a:lstStyle/>
          <a:p>
            <a:r>
              <a:t>Essentiel · 2 h</a:t>
            </a:r>
          </a:p>
        </p:txBody>
      </p:sp>
      <p:sp>
        <p:nvSpPr>
          <p:cNvPr id="5" name="Text Placeholder 4"/>
          <p:cNvSpPr>
            <a:spLocks noGrp="1"/>
          </p:cNvSpPr>
          <p:nvPr>
            <p:ph type="body" idx="13"/>
          </p:nvPr>
        </p:nvSpPr>
        <p:spPr/>
        <p:txBody>
          <a:bodyPr/>
          <a:lstStyle/>
          <a:p>
            <a:r>
              <a:t>Fourni : lecteur POM/sources, exemple JUnit, client du juge.</a:t>
            </a:r>
          </a:p>
          <a:p>
            <a:r>
              <a:t>Compléter les quatre tests ; provoquer un échec par mutation, puis corriger.</a:t>
            </a:r>
          </a:p>
          <a:p>
            <a:r>
              <a:t>Écrire la grille ; discuter un premier verdict avec une relecture humaine.</a:t>
            </a:r>
          </a:p>
          <a:p>
            <a:r>
              <a:t>Vérifier séparément build/tests du serveur et appels MCP.</a:t>
            </a:r>
          </a:p>
          <a:p>
            <a:r>
              <a:t>Conserver les résultats ; juge absent = parcours partiel, pas succès.</a:t>
            </a:r>
          </a:p>
        </p:txBody>
      </p:sp>
      <p:sp>
        <p:nvSpPr>
          <p:cNvPr id="6" name="Text Placeholder 5"/>
          <p:cNvSpPr>
            <a:spLocks noGrp="1"/>
          </p:cNvSpPr>
          <p:nvPr>
            <p:ph type="body" idx="14"/>
          </p:nvPr>
        </p:nvSpPr>
        <p:spPr/>
        <p:txBody>
          <a:bodyPr/>
          <a:lstStyle/>
          <a:p>
            <a:r>
              <a:t>Limites &amp; approfondissement</a:t>
            </a:r>
          </a:p>
        </p:txBody>
      </p:sp>
      <p:sp>
        <p:nvSpPr>
          <p:cNvPr id="7" name="Text Placeholder 6"/>
          <p:cNvSpPr>
            <a:spLocks noGrp="1"/>
          </p:cNvSpPr>
          <p:nvPr>
            <p:ph type="body" idx="15"/>
          </p:nvPr>
        </p:nvSpPr>
        <p:spPr/>
        <p:txBody>
          <a:bodyPr/>
          <a:lstStyle/>
          <a:p>
            <a:r>
              <a:t>Le harnais inspecte les sources : il ne génère ni ne démarre le serveur.</a:t>
            </a:r>
          </a:p>
          <a:p>
            <a:r>
              <a:t>À produire : assertions, preuve rouge/vert, grille et verdict discuté.</a:t>
            </a:r>
          </a:p>
          <a:p>
            <a:r>
              <a:t>Approfondir : cinq cas, répétitions, autres mutations. Dataset non automatisé.</a:t>
            </a:r>
          </a:p>
          <a:p>
            <a:r>
              <a:rPr>
                <a:hlinkClick r:id="rId2"/>
              </a:rPr>
              <a:t>Guide pas à pas : sciam-fr.github.io/formation-ia/tp3/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M5 — Exploiter &amp; sécuriser en production</a:t>
            </a:r>
          </a:p>
        </p:txBody>
      </p:sp>
      <p:sp>
        <p:nvSpPr>
          <p:cNvPr id="3" name="Content Placeholder 2"/>
          <p:cNvSpPr>
            <a:spLocks noGrp="1"/>
          </p:cNvSpPr>
          <p:nvPr>
            <p:ph idx="12" sz="quarter"/>
          </p:nvPr>
        </p:nvSpPr>
        <p:spPr/>
        <p:txBody>
          <a:bodyPr/>
          <a:lstStyle/>
          <a:p>
            <a:r>
              <a:t>Observabilité, guardrails, sécurité des accès MCP — et une gateway de modèles (LiteLLM) en démonstration.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Observabilité</a:t>
            </a:r>
          </a:p>
        </p:txBody>
      </p:sp>
      <p:sp>
        <p:nvSpPr>
          <p:cNvPr id="3" name="Text Placeholder 2"/>
          <p:cNvSpPr>
            <a:spLocks noGrp="1"/>
          </p:cNvSpPr>
          <p:nvPr>
            <p:ph type="body" idx="105"/>
          </p:nvPr>
        </p:nvSpPr>
        <p:spPr/>
        <p:txBody>
          <a:bodyPr/>
          <a:lstStyle/>
          <a:p>
            <a:r>
              <a:t>Voir ce que fait l’agent en production — et ce qu’il coûte</a:t>
            </a:r>
          </a:p>
        </p:txBody>
      </p:sp>
      <p:sp>
        <p:nvSpPr>
          <p:cNvPr id="4" name="Text Placeholder 3"/>
          <p:cNvSpPr>
            <a:spLocks noGrp="1"/>
          </p:cNvSpPr>
          <p:nvPr>
            <p:ph type="body" idx="109"/>
          </p:nvPr>
        </p:nvSpPr>
        <p:spPr/>
        <p:txBody>
          <a:bodyPr/>
          <a:lstStyle/>
          <a:p>
            <a:r>
              <a:t>Traces &amp; logs</a:t>
            </a:r>
          </a:p>
        </p:txBody>
      </p:sp>
      <p:sp>
        <p:nvSpPr>
          <p:cNvPr id="5" name="Text Placeholder 4"/>
          <p:cNvSpPr>
            <a:spLocks noGrp="1"/>
          </p:cNvSpPr>
          <p:nvPr>
            <p:ph type="body" idx="110"/>
          </p:nvPr>
        </p:nvSpPr>
        <p:spPr/>
        <p:txBody>
          <a:bodyPr/>
          <a:lstStyle/>
          <a:p>
            <a:r>
              <a:t>Chaque appel de tool, chaque prompt : tracés et corrélés.</a:t>
            </a:r>
          </a:p>
        </p:txBody>
      </p:sp>
      <p:sp>
        <p:nvSpPr>
          <p:cNvPr id="6" name="Text Placeholder 5"/>
          <p:cNvSpPr>
            <a:spLocks noGrp="1"/>
          </p:cNvSpPr>
          <p:nvPr>
            <p:ph type="body" idx="112"/>
          </p:nvPr>
        </p:nvSpPr>
        <p:spPr/>
        <p:txBody>
          <a:bodyPr/>
          <a:lstStyle/>
          <a:p>
            <a:r>
              <a:t>Latence &amp; coût</a:t>
            </a:r>
          </a:p>
        </p:txBody>
      </p:sp>
      <p:sp>
        <p:nvSpPr>
          <p:cNvPr id="7" name="Text Placeholder 6"/>
          <p:cNvSpPr>
            <a:spLocks noGrp="1"/>
          </p:cNvSpPr>
          <p:nvPr>
            <p:ph type="body" idx="113"/>
          </p:nvPr>
        </p:nvSpPr>
        <p:spPr/>
        <p:txBody>
          <a:bodyPr/>
          <a:lstStyle/>
          <a:p>
            <a:r>
              <a:t>Tokens, temps de réponse, coût par requête — les métriques qui pilotent.</a:t>
            </a:r>
          </a:p>
        </p:txBody>
      </p:sp>
      <p:sp>
        <p:nvSpPr>
          <p:cNvPr id="8" name="Text Placeholder 7"/>
          <p:cNvSpPr>
            <a:spLocks noGrp="1"/>
          </p:cNvSpPr>
          <p:nvPr>
            <p:ph type="body" idx="115"/>
          </p:nvPr>
        </p:nvSpPr>
        <p:spPr/>
        <p:txBody>
          <a:bodyPr/>
          <a:lstStyle/>
          <a:p>
            <a:r>
              <a:t>Alerting</a:t>
            </a:r>
          </a:p>
        </p:txBody>
      </p:sp>
      <p:sp>
        <p:nvSpPr>
          <p:cNvPr id="9" name="Text Placeholder 8"/>
          <p:cNvSpPr>
            <a:spLocks noGrp="1"/>
          </p:cNvSpPr>
          <p:nvPr>
            <p:ph type="body" idx="116"/>
          </p:nvPr>
        </p:nvSpPr>
        <p:spPr/>
        <p:txBody>
          <a:bodyPr/>
          <a:lstStyle/>
          <a:p>
            <a:r>
              <a:t>Seuils sur les dérives de qualité, de coût et d’erreurs.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Guardrails : la frontière avec l’éval</a:t>
            </a:r>
          </a:p>
        </p:txBody>
      </p:sp>
      <p:sp>
        <p:nvSpPr>
          <p:cNvPr id="3" name="Text Placeholder 2"/>
          <p:cNvSpPr>
            <a:spLocks noGrp="1"/>
          </p:cNvSpPr>
          <p:nvPr>
            <p:ph type="body" idx="109"/>
          </p:nvPr>
        </p:nvSpPr>
        <p:spPr/>
        <p:txBody>
          <a:bodyPr/>
          <a:lstStyle/>
          <a:p>
            <a:r>
              <a:t>Évaluer mesure ; un guardrail intervient pour contraindre</a:t>
            </a:r>
          </a:p>
        </p:txBody>
      </p:sp>
      <p:sp>
        <p:nvSpPr>
          <p:cNvPr id="4" name="Text Placeholder 3"/>
          <p:cNvSpPr>
            <a:spLocks noGrp="1"/>
          </p:cNvSpPr>
          <p:nvPr>
            <p:ph type="body" idx="111"/>
          </p:nvPr>
        </p:nvSpPr>
        <p:spPr/>
        <p:txBody>
          <a:bodyPr/>
          <a:lstStyle/>
          <a:p>
            <a:r>
              <a:t>ÉVAL</a:t>
            </a:r>
          </a:p>
        </p:txBody>
      </p:sp>
      <p:sp>
        <p:nvSpPr>
          <p:cNvPr id="5" name="Text Placeholder 4"/>
          <p:cNvSpPr>
            <a:spLocks noGrp="1"/>
          </p:cNvSpPr>
          <p:nvPr>
            <p:ph type="body" idx="112"/>
          </p:nvPr>
        </p:nvSpPr>
        <p:spPr/>
        <p:txBody>
          <a:bodyPr/>
          <a:lstStyle/>
          <a:p>
            <a:r>
              <a:t>Mesurer, pour décider</a:t>
            </a:r>
          </a:p>
        </p:txBody>
      </p:sp>
      <p:sp>
        <p:nvSpPr>
          <p:cNvPr id="6" name="Text Placeholder 5"/>
          <p:cNvSpPr>
            <a:spLocks noGrp="1"/>
          </p:cNvSpPr>
          <p:nvPr>
            <p:ph type="body" idx="113"/>
          </p:nvPr>
        </p:nvSpPr>
        <p:spPr/>
        <p:txBody>
          <a:bodyPr/>
          <a:lstStyle/>
          <a:p>
            <a:r>
              <a:t>On mesure la qualité : hors ligne sur un dataset pour décider de déployer (c'est TP3), ou en ligne sur le trafic réel pour surveiller (le « où » de M4). Mesurer informe une décision ; ça ne bloque rien en soi.</a:t>
            </a:r>
          </a:p>
        </p:txBody>
      </p:sp>
      <p:sp>
        <p:nvSpPr>
          <p:cNvPr id="7" name="Text Placeholder 6"/>
          <p:cNvSpPr>
            <a:spLocks noGrp="1"/>
          </p:cNvSpPr>
          <p:nvPr>
            <p:ph type="body" idx="114"/>
          </p:nvPr>
        </p:nvSpPr>
        <p:spPr/>
        <p:txBody>
          <a:bodyPr/>
          <a:lstStyle/>
          <a:p>
            <a:r>
              <a:t>GUARDRAILS</a:t>
            </a:r>
          </a:p>
        </p:txBody>
      </p:sp>
      <p:sp>
        <p:nvSpPr>
          <p:cNvPr id="8" name="Text Placeholder 7"/>
          <p:cNvSpPr>
            <a:spLocks noGrp="1"/>
          </p:cNvSpPr>
          <p:nvPr>
            <p:ph type="body" idx="115"/>
          </p:nvPr>
        </p:nvSpPr>
        <p:spPr/>
        <p:txBody>
          <a:bodyPr/>
          <a:lstStyle/>
          <a:p>
            <a:r>
              <a:t>Contraindre, dans le flux</a:t>
            </a:r>
          </a:p>
        </p:txBody>
      </p:sp>
      <p:sp>
        <p:nvSpPr>
          <p:cNvPr id="9" name="Text Placeholder 8"/>
          <p:cNvSpPr>
            <a:spLocks noGrp="1"/>
          </p:cNvSpPr>
          <p:nvPr>
            <p:ph type="body" idx="116"/>
          </p:nvPr>
        </p:nvSpPr>
        <p:spPr/>
        <p:txBody>
          <a:bodyPr/>
          <a:lstStyle/>
          <a:p>
            <a:r>
              <a:t>On intercepte en direct : filtrer une entrée dangereuse, bloquer une sortie non conforme, couper une boucle. Un guardrail agit sur la requête en cours ; il ne remplace pas la mesure, qui sert aussi à le calibrer.</a:t>
            </a:r>
          </a:p>
        </p:txBody>
      </p:sp>
      <p:sp>
        <p:nvSpPr>
          <p:cNvPr id="10" name="Picture Placeholder 9"/>
          <p:cNvSpPr>
            <a:spLocks noGrp="1"/>
          </p:cNvSpPr>
          <p:nvPr>
            <p:ph type="pic" idx="117" sz="quarter"/>
          </p:nvPr>
        </p:nvSpPr>
        <p:spPr/>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Sécuriser les accès MCP : le gateway</a:t>
            </a:r>
          </a:p>
        </p:txBody>
      </p:sp>
      <p:sp>
        <p:nvSpPr>
          <p:cNvPr id="3" name="Text Placeholder 2"/>
          <p:cNvSpPr>
            <a:spLocks noGrp="1"/>
          </p:cNvSpPr>
          <p:nvPr>
            <p:ph type="body" idx="109"/>
          </p:nvPr>
        </p:nvSpPr>
        <p:spPr/>
        <p:txBody>
          <a:bodyPr/>
          <a:lstStyle/>
          <a:p>
            <a:r>
              <a:t>Un pattern possible, pas une garantie : savoir où chaque contrôle s'applique</a:t>
            </a:r>
          </a:p>
        </p:txBody>
      </p:sp>
      <p:sp>
        <p:nvSpPr>
          <p:cNvPr id="4" name="Text Placeholder 3"/>
          <p:cNvSpPr>
            <a:spLocks noGrp="1"/>
          </p:cNvSpPr>
          <p:nvPr>
            <p:ph type="body" idx="111"/>
          </p:nvPr>
        </p:nvSpPr>
        <p:spPr/>
        <p:txBody>
          <a:bodyPr/>
          <a:lstStyle/>
          <a:p>
            <a:r>
              <a:t>LE PATTERN</a:t>
            </a:r>
          </a:p>
        </p:txBody>
      </p:sp>
      <p:sp>
        <p:nvSpPr>
          <p:cNvPr id="5" name="Text Placeholder 4"/>
          <p:cNvSpPr>
            <a:spLocks noGrp="1"/>
          </p:cNvSpPr>
          <p:nvPr>
            <p:ph type="body" idx="112"/>
          </p:nvPr>
        </p:nvSpPr>
        <p:spPr/>
        <p:txBody>
          <a:bodyPr/>
          <a:lstStyle/>
          <a:p>
            <a:r>
              <a:t>Un frontal optionnel</a:t>
            </a:r>
          </a:p>
        </p:txBody>
      </p:sp>
      <p:sp>
        <p:nvSpPr>
          <p:cNvPr id="6" name="Text Placeholder 5"/>
          <p:cNvSpPr>
            <a:spLocks noGrp="1"/>
          </p:cNvSpPr>
          <p:nvPr>
            <p:ph type="body" idx="113"/>
          </p:nvPr>
        </p:nvSpPr>
        <p:spPr/>
        <p:txBody>
          <a:bodyPr/>
          <a:lstStyle/>
          <a:p>
            <a:r>
              <a:t>Un gateway devant les serveurs MCP centralise l'entrée des clients et évite des accès directs dispersés. Utile à l'échelle ; ni obligatoire ni suffisant : chaque serveur reste responsable de ses propres contrôles.</a:t>
            </a:r>
          </a:p>
        </p:txBody>
      </p:sp>
      <p:sp>
        <p:nvSpPr>
          <p:cNvPr id="7" name="Text Placeholder 6"/>
          <p:cNvSpPr>
            <a:spLocks noGrp="1"/>
          </p:cNvSpPr>
          <p:nvPr>
            <p:ph type="body" idx="114"/>
          </p:nvPr>
        </p:nvSpPr>
        <p:spPr/>
        <p:txBody>
          <a:bodyPr/>
          <a:lstStyle/>
          <a:p>
            <a:r>
              <a:t>OÙ S'APPLIQUE CHAQUE CONTRÔLE</a:t>
            </a:r>
          </a:p>
        </p:txBody>
      </p:sp>
      <p:sp>
        <p:nvSpPr>
          <p:cNvPr id="8" name="Text Placeholder 7"/>
          <p:cNvSpPr>
            <a:spLocks noGrp="1"/>
          </p:cNvSpPr>
          <p:nvPr>
            <p:ph type="body" idx="115"/>
          </p:nvPr>
        </p:nvSpPr>
        <p:spPr/>
        <p:txBody>
          <a:bodyPr/>
          <a:lstStyle/>
          <a:p>
            <a:r>
              <a:t>Auth, autorisation, audit</a:t>
            </a:r>
          </a:p>
        </p:txBody>
      </p:sp>
      <p:sp>
        <p:nvSpPr>
          <p:cNvPr id="9" name="Text Placeholder 8"/>
          <p:cNvSpPr>
            <a:spLocks noGrp="1"/>
          </p:cNvSpPr>
          <p:nvPr>
            <p:ph type="body" idx="116"/>
          </p:nvPr>
        </p:nvSpPr>
        <p:spPr/>
        <p:txBody>
          <a:bodyPr/>
          <a:lstStyle/>
          <a:p>
            <a:r>
              <a:t>Authentification : qui appelle — la spécification MCP prévoit OAuth 2.1 pour HTTP ; une clé API n'en est pas l'équivalent. Autorisation : quel outil, quelle portée — appliquée là où l'action s'exécute. Audit : journal corrélé. Pour chacun, dire où il est réellement appliqué.</a:t>
            </a:r>
          </a:p>
        </p:txBody>
      </p:sp>
      <p:sp>
        <p:nvSpPr>
          <p:cNvPr id="10" name="Picture Placeholder 9"/>
          <p:cNvSpPr>
            <a:spLocks noGrp="1"/>
          </p:cNvSpPr>
          <p:nvPr>
            <p:ph type="pic" idx="117" sz="quarter"/>
          </p:nvPr>
        </p:nvSpPr>
        <p:spPr/>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Une gateway de modèles : LiteLLM</a:t>
            </a:r>
          </a:p>
        </p:txBody>
      </p:sp>
      <p:sp>
        <p:nvSpPr>
          <p:cNvPr id="3" name="Text Placeholder 2"/>
          <p:cNvSpPr>
            <a:spLocks noGrp="1"/>
          </p:cNvSpPr>
          <p:nvPr>
            <p:ph type="body" idx="109"/>
          </p:nvPr>
        </p:nvSpPr>
        <p:spPr/>
        <p:txBody>
          <a:bodyPr/>
          <a:lstStyle/>
          <a:p>
            <a:r>
              <a:t>Un proxy compatible OpenAI devant les fournisseurs — le mécanisme, pas la politique</a:t>
            </a:r>
          </a:p>
        </p:txBody>
      </p:sp>
      <p:sp>
        <p:nvSpPr>
          <p:cNvPr id="4" name="Text Placeholder 3"/>
          <p:cNvSpPr>
            <a:spLocks noGrp="1"/>
          </p:cNvSpPr>
          <p:nvPr>
            <p:ph type="body" idx="111"/>
          </p:nvPr>
        </p:nvSpPr>
        <p:spPr/>
        <p:txBody>
          <a:bodyPr/>
          <a:lstStyle/>
          <a:p>
            <a:r>
              <a:t>CE QU'ELLE FAIT</a:t>
            </a:r>
          </a:p>
        </p:txBody>
      </p:sp>
      <p:sp>
        <p:nvSpPr>
          <p:cNvPr id="5" name="Text Placeholder 4"/>
          <p:cNvSpPr>
            <a:spLocks noGrp="1"/>
          </p:cNvSpPr>
          <p:nvPr>
            <p:ph type="body" idx="112"/>
          </p:nvPr>
        </p:nvSpPr>
        <p:spPr/>
        <p:txBody>
          <a:bodyPr/>
          <a:lstStyle/>
          <a:p>
            <a:r>
              <a:t>Un point d'entrée unique</a:t>
            </a:r>
          </a:p>
        </p:txBody>
      </p:sp>
      <p:sp>
        <p:nvSpPr>
          <p:cNvPr id="6" name="Text Placeholder 5"/>
          <p:cNvSpPr>
            <a:spLocks noGrp="1"/>
          </p:cNvSpPr>
          <p:nvPr>
            <p:ph type="body" idx="113"/>
          </p:nvPr>
        </p:nvSpPr>
        <p:spPr/>
        <p:txBody>
          <a:bodyPr/>
          <a:lstStyle/>
          <a:p>
            <a:r>
              <a:t>Une API compatible OpenAI devant les fournisseurs, API ou open-weight. Des alias de modèles, du routage et du repli, un journal des appels et des dépenses. Des clés virtuelles rattachées à des équipes : budgets, limites de débit, modèles autorisés. SSO sur l'interface d'administration. Vu à l'œuvre chez un grand client : souvent la première brique de plateforme IA qui tient.</a:t>
            </a:r>
          </a:p>
        </p:txBody>
      </p:sp>
      <p:sp>
        <p:nvSpPr>
          <p:cNvPr id="7" name="Text Placeholder 6"/>
          <p:cNvSpPr>
            <a:spLocks noGrp="1"/>
          </p:cNvSpPr>
          <p:nvPr>
            <p:ph type="body" idx="114"/>
          </p:nvPr>
        </p:nvSpPr>
        <p:spPr/>
        <p:txBody>
          <a:bodyPr/>
          <a:lstStyle/>
          <a:p>
            <a:r>
              <a:t>CE QU'ELLE NE FAIT PAS</a:t>
            </a:r>
          </a:p>
        </p:txBody>
      </p:sp>
      <p:sp>
        <p:nvSpPr>
          <p:cNvPr id="8" name="Text Placeholder 7"/>
          <p:cNvSpPr>
            <a:spLocks noGrp="1"/>
          </p:cNvSpPr>
          <p:nvPr>
            <p:ph type="body" idx="115"/>
          </p:nvPr>
        </p:nvSpPr>
        <p:spPr/>
        <p:txBody>
          <a:bodyPr/>
          <a:lstStyle/>
          <a:p>
            <a:r>
              <a:t>Décider à votre place</a:t>
            </a:r>
          </a:p>
        </p:txBody>
      </p:sp>
      <p:sp>
        <p:nvSpPr>
          <p:cNvPr id="9" name="Text Placeholder 8"/>
          <p:cNvSpPr>
            <a:spLocks noGrp="1"/>
          </p:cNvSpPr>
          <p:nvPr>
            <p:ph type="body" idx="116"/>
          </p:nvPr>
        </p:nvSpPr>
        <p:spPr/>
        <p:txBody>
          <a:bodyPr/>
          <a:lstStyle/>
          <a:p>
            <a:r>
              <a:t>Quel budget, pour qui, sur quels modèles, avec quelle rétention des journaux : ces politiques restent à l'organisation. Elle ne sécurise pas un serveur MCP à elle seule et n'évalue pas la qualité d'une génération. Open source ; SSO au-delà de cinq utilisateurs et organisations : licence Enterprise, à vérifier sur la version retenue.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Ce que la gateway rend gouvernable</a:t>
            </a:r>
          </a:p>
        </p:txBody>
      </p:sp>
      <p:sp>
        <p:nvSpPr>
          <p:cNvPr id="3" name="Text Placeholder 2"/>
          <p:cNvSpPr>
            <a:spLocks noGrp="1"/>
          </p:cNvSpPr>
          <p:nvPr>
            <p:ph type="body" idx="105"/>
          </p:nvPr>
        </p:nvSpPr>
        <p:spPr/>
        <p:txBody>
          <a:bodyPr/>
          <a:lstStyle/>
          <a:p>
            <a:r>
              <a:t>Quatre contrôles, quatre responsabilités de M0 — que la démo fait observer</a:t>
            </a:r>
          </a:p>
        </p:txBody>
      </p:sp>
      <p:sp>
        <p:nvSpPr>
          <p:cNvPr id="4" name="Text Placeholder 3"/>
          <p:cNvSpPr>
            <a:spLocks noGrp="1"/>
          </p:cNvSpPr>
          <p:nvPr>
            <p:ph type="body" idx="110"/>
          </p:nvPr>
        </p:nvSpPr>
        <p:spPr/>
        <p:txBody>
          <a:bodyPr/>
          <a:lstStyle/>
          <a:p>
            <a:r>
              <a:t>Identité des appels</a:t>
            </a:r>
          </a:p>
        </p:txBody>
      </p:sp>
      <p:sp>
        <p:nvSpPr>
          <p:cNvPr id="5" name="Text Placeholder 4"/>
          <p:cNvSpPr>
            <a:spLocks noGrp="1"/>
          </p:cNvSpPr>
          <p:nvPr>
            <p:ph type="body" idx="111"/>
          </p:nvPr>
        </p:nvSpPr>
        <p:spPr/>
        <p:txBody>
          <a:bodyPr/>
          <a:lstStyle/>
          <a:p>
            <a:r>
              <a:t>Une clé virtuelle par équipe et par agent CI ; SSO sur l'interface. Qui appelle est toujours connu, jamais la clé du fournisseur.</a:t>
            </a:r>
          </a:p>
        </p:txBody>
      </p:sp>
      <p:sp>
        <p:nvSpPr>
          <p:cNvPr id="6" name="Text Placeholder 5"/>
          <p:cNvSpPr>
            <a:spLocks noGrp="1"/>
          </p:cNvSpPr>
          <p:nvPr>
            <p:ph type="body" idx="115"/>
          </p:nvPr>
        </p:nvSpPr>
        <p:spPr/>
        <p:txBody>
          <a:bodyPr/>
          <a:lstStyle/>
          <a:p>
            <a:r>
              <a:t>Quotas et budgets</a:t>
            </a:r>
          </a:p>
        </p:txBody>
      </p:sp>
      <p:sp>
        <p:nvSpPr>
          <p:cNvPr id="7" name="Text Placeholder 6"/>
          <p:cNvSpPr>
            <a:spLocks noGrp="1"/>
          </p:cNvSpPr>
          <p:nvPr>
            <p:ph type="body" idx="116"/>
          </p:nvPr>
        </p:nvSpPr>
        <p:spPr/>
        <p:txBody>
          <a:bodyPr/>
          <a:lstStyle/>
          <a:p>
            <a:r>
              <a:t>Budget et période par équipe, limites de requêtes et de tokens par minute. Refus explicite 4xx avant d'atteindre le fournisseur.</a:t>
            </a:r>
          </a:p>
        </p:txBody>
      </p:sp>
      <p:sp>
        <p:nvSpPr>
          <p:cNvPr id="8" name="Text Placeholder 7"/>
          <p:cNvSpPr>
            <a:spLocks noGrp="1"/>
          </p:cNvSpPr>
          <p:nvPr>
            <p:ph type="body" idx="120"/>
          </p:nvPr>
        </p:nvSpPr>
        <p:spPr/>
        <p:txBody>
          <a:bodyPr/>
          <a:lstStyle/>
          <a:p>
            <a:r>
              <a:t>Modèles et routage</a:t>
            </a:r>
          </a:p>
        </p:txBody>
      </p:sp>
      <p:sp>
        <p:nvSpPr>
          <p:cNvPr id="9" name="Text Placeholder 8"/>
          <p:cNvSpPr>
            <a:spLocks noGrp="1"/>
          </p:cNvSpPr>
          <p:nvPr>
            <p:ph type="body" idx="121"/>
          </p:nvPr>
        </p:nvSpPr>
        <p:spPr/>
        <p:txBody>
          <a:bodyPr/>
          <a:lstStyle/>
          <a:p>
            <a:r>
              <a:t>Alias modele-generation et modele-juge, groupes d'accès, repli entre fournisseurs : on change de modèle sans toucher au code des TP.</a:t>
            </a:r>
          </a:p>
        </p:txBody>
      </p:sp>
      <p:sp>
        <p:nvSpPr>
          <p:cNvPr id="10" name="Text Placeholder 9"/>
          <p:cNvSpPr>
            <a:spLocks noGrp="1"/>
          </p:cNvSpPr>
          <p:nvPr>
            <p:ph type="body" idx="125"/>
          </p:nvPr>
        </p:nvSpPr>
        <p:spPr/>
        <p:txBody>
          <a:bodyPr/>
          <a:lstStyle/>
          <a:p>
            <a:r>
              <a:t>Journal et dépense</a:t>
            </a:r>
          </a:p>
        </p:txBody>
      </p:sp>
      <p:sp>
        <p:nvSpPr>
          <p:cNvPr id="11" name="Text Placeholder 10"/>
          <p:cNvSpPr>
            <a:spLocks noGrp="1"/>
          </p:cNvSpPr>
          <p:nvPr>
            <p:ph type="body" idx="126"/>
          </p:nvPr>
        </p:nvSpPr>
        <p:spPr/>
        <p:txBody>
          <a:bodyPr/>
          <a:lstStyle/>
          <a:p>
            <a:r>
              <a:t>Dépense par clé, équipe et tag ; journal des appels sans le contenu des messages si on le décide. La rétention reste une politique.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Démo : le fil rouge à travers une gateway</a:t>
            </a:r>
          </a:p>
        </p:txBody>
      </p:sp>
      <p:sp>
        <p:nvSpPr>
          <p:cNvPr id="3" name="Text Placeholder 2"/>
          <p:cNvSpPr>
            <a:spLocks noGrp="1"/>
          </p:cNvSpPr>
          <p:nvPr>
            <p:ph type="body" idx="105"/>
          </p:nvPr>
        </p:nvSpPr>
        <p:spPr/>
        <p:txBody>
          <a:bodyPr/>
          <a:lstStyle/>
          <a:p>
            <a:r>
              <a:t>LiteLLM sur le poste du formateur ; le juge, OpenCode et le serveur MCP des TP passent dedans</a:t>
            </a:r>
          </a:p>
        </p:txBody>
      </p:sp>
      <p:sp>
        <p:nvSpPr>
          <p:cNvPr id="4" name="Text Placeholder 3"/>
          <p:cNvSpPr>
            <a:spLocks noGrp="1"/>
          </p:cNvSpPr>
          <p:nvPr>
            <p:ph type="body" idx="109"/>
          </p:nvPr>
        </p:nvSpPr>
        <p:spPr/>
        <p:txBody>
          <a:bodyPr/>
          <a:lstStyle/>
          <a:p>
            <a:r>
              <a:t>Brancher</a:t>
            </a:r>
          </a:p>
        </p:txBody>
      </p:sp>
      <p:sp>
        <p:nvSpPr>
          <p:cNvPr id="5" name="Text Placeholder 4"/>
          <p:cNvSpPr>
            <a:spLocks noGrp="1"/>
          </p:cNvSpPr>
          <p:nvPr>
            <p:ph type="body" idx="110"/>
          </p:nvPr>
        </p:nvSpPr>
        <p:spPr/>
        <p:txBody>
          <a:bodyPr/>
          <a:lstStyle/>
          <a:p>
            <a:r>
              <a:t>Le juge du TP3 relancé avec l'URL de la gateway et l'alias modele-juge : même test, même verdict, et l'appel apparaît au journal avec son coût et son équipe.</a:t>
            </a:r>
          </a:p>
          <a:p>
            <a:r>
              <a:t>Une génération OpenCode d'une phrase : même chose. Le code des TP n'a pas changé ; le modèle derrière l'alias, si.</a:t>
            </a:r>
          </a:p>
        </p:txBody>
      </p:sp>
      <p:sp>
        <p:nvSpPr>
          <p:cNvPr id="6" name="Text Placeholder 5"/>
          <p:cNvSpPr>
            <a:spLocks noGrp="1"/>
          </p:cNvSpPr>
          <p:nvPr>
            <p:ph type="body" idx="112"/>
          </p:nvPr>
        </p:nvSpPr>
        <p:spPr/>
        <p:txBody>
          <a:bodyPr/>
          <a:lstStyle/>
          <a:p>
            <a:r>
              <a:t>Refuser</a:t>
            </a:r>
          </a:p>
        </p:txBody>
      </p:sp>
      <p:sp>
        <p:nvSpPr>
          <p:cNvPr id="7" name="Text Placeholder 6"/>
          <p:cNvSpPr>
            <a:spLocks noGrp="1"/>
          </p:cNvSpPr>
          <p:nvPr>
            <p:ph type="body" idx="113"/>
          </p:nvPr>
        </p:nvSpPr>
        <p:spPr/>
        <p:txBody>
          <a:bodyPr/>
          <a:lstStyle/>
          <a:p>
            <a:r>
              <a:t>Un modèle réservé appelé par une équipe produit : refusé. Une clé au budget de 0,01 $ : erreur explicite, le fournisseur n'est jamais appelé.</a:t>
            </a:r>
          </a:p>
          <a:p>
            <a:r>
              <a:t>Quarante appels en boucle : 429. À chaque fois : où, et qui a fixé la valeur.</a:t>
            </a:r>
          </a:p>
        </p:txBody>
      </p:sp>
      <p:sp>
        <p:nvSpPr>
          <p:cNvPr id="8" name="Text Placeholder 7"/>
          <p:cNvSpPr>
            <a:spLocks noGrp="1"/>
          </p:cNvSpPr>
          <p:nvPr>
            <p:ph type="body" idx="115"/>
          </p:nvPr>
        </p:nvSpPr>
        <p:spPr/>
        <p:txBody>
          <a:bodyPr/>
          <a:lstStyle/>
          <a:p>
            <a:r>
              <a:t>Tracer</a:t>
            </a:r>
          </a:p>
        </p:txBody>
      </p:sp>
      <p:sp>
        <p:nvSpPr>
          <p:cNvPr id="9" name="Text Placeholder 8"/>
          <p:cNvSpPr>
            <a:spLocks noGrp="1"/>
          </p:cNvSpPr>
          <p:nvPr>
            <p:ph type="body" idx="116"/>
          </p:nvPr>
        </p:nvSpPr>
        <p:spPr/>
        <p:txBody>
          <a:bodyPr/>
          <a:lstStyle/>
          <a:p>
            <a:r>
              <a:t>Dépense par équipe et par tag : « le juge du TP3 a coûté combien ? ». Ce que le journal montre, ce qu'il ne montre pas.</a:t>
            </a:r>
          </a:p>
          <a:p>
            <a:r>
              <a:t>SSO par un Keycloak local : alice arrive avec son rôle et son équipe, posés par un attribut et un groupe.</a:t>
            </a:r>
          </a:p>
          <a:p>
            <a:r>
              <a:t>Puis le serveur MCP du fil rouge derrière le MCP gateway : accès par équipe, pas par outil.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Mini-exercice (15 min) : lire une trace</a:t>
            </a:r>
          </a:p>
        </p:txBody>
      </p:sp>
      <p:sp>
        <p:nvSpPr>
          <p:cNvPr id="3" name="Text Placeholder 2"/>
          <p:cNvSpPr>
            <a:spLocks noGrp="1"/>
          </p:cNvSpPr>
          <p:nvPr>
            <p:ph type="body" idx="105"/>
          </p:nvPr>
        </p:nvSpPr>
        <p:spPr/>
        <p:txBody>
          <a:bodyPr/>
          <a:lstStyle/>
          <a:p>
            <a:r>
              <a:t>Le contrôle, son emplacement, son responsable — et ce que la gateway réglerait, ou pas</a:t>
            </a:r>
          </a:p>
        </p:txBody>
      </p:sp>
      <p:sp>
        <p:nvSpPr>
          <p:cNvPr id="4" name="Text Placeholder 3"/>
          <p:cNvSpPr>
            <a:spLocks noGrp="1"/>
          </p:cNvSpPr>
          <p:nvPr>
            <p:ph type="body" idx="109"/>
          </p:nvPr>
        </p:nvSpPr>
        <p:spPr/>
        <p:txBody>
          <a:bodyPr/>
          <a:lstStyle/>
          <a:p>
            <a:r>
              <a:t>Action non autorisée</a:t>
            </a:r>
          </a:p>
        </p:txBody>
      </p:sp>
      <p:sp>
        <p:nvSpPr>
          <p:cNvPr id="5" name="Text Placeholder 4"/>
          <p:cNvSpPr>
            <a:spLocks noGrp="1"/>
          </p:cNvSpPr>
          <p:nvPr>
            <p:ph type="body" idx="110"/>
          </p:nvPr>
        </p:nvSpPr>
        <p:spPr/>
        <p:txBody>
          <a:bodyPr/>
          <a:lstStyle/>
          <a:p>
            <a:r>
              <a:t>L'agent appelle delete_service alors que ce client ne devrait voir que find_service et get_owner. L'appel aboutit.</a:t>
            </a:r>
          </a:p>
          <a:p>
            <a:r>
              <a:t>Quel contrôle manquait ? Où aurait-il dû s'appliquer : gateway, serveur, SI ? Qui en est responsable ?</a:t>
            </a:r>
          </a:p>
        </p:txBody>
      </p:sp>
      <p:sp>
        <p:nvSpPr>
          <p:cNvPr id="6" name="Text Placeholder 5"/>
          <p:cNvSpPr>
            <a:spLocks noGrp="1"/>
          </p:cNvSpPr>
          <p:nvPr>
            <p:ph type="body" idx="112"/>
          </p:nvPr>
        </p:nvSpPr>
        <p:spPr/>
        <p:txBody>
          <a:bodyPr/>
          <a:lstStyle/>
          <a:p>
            <a:r>
              <a:t>Boucle trop longue</a:t>
            </a:r>
          </a:p>
        </p:txBody>
      </p:sp>
      <p:sp>
        <p:nvSpPr>
          <p:cNvPr id="7" name="Text Placeholder 6"/>
          <p:cNvSpPr>
            <a:spLocks noGrp="1"/>
          </p:cNvSpPr>
          <p:nvPr>
            <p:ph type="body" idx="113"/>
          </p:nvPr>
        </p:nvSpPr>
        <p:spPr/>
        <p:txBody>
          <a:bodyPr/>
          <a:lstStyle/>
          <a:p>
            <a:r>
              <a:t>42 appels find_service en 90 s avec la même requête, aucune réponse finale, coût multiplié par vingt.</a:t>
            </a:r>
          </a:p>
          <a:p>
            <a:r>
              <a:t>Guardrail (coupe-circuit), budget par session ou alerte ? À quel niveau ? Qui fixe le seuil ?</a:t>
            </a:r>
          </a:p>
        </p:txBody>
      </p:sp>
      <p:sp>
        <p:nvSpPr>
          <p:cNvPr id="8" name="Text Placeholder 7"/>
          <p:cNvSpPr>
            <a:spLocks noGrp="1"/>
          </p:cNvSpPr>
          <p:nvPr>
            <p:ph type="body" idx="115"/>
          </p:nvPr>
        </p:nvSpPr>
        <p:spPr/>
        <p:txBody>
          <a:bodyPr/>
          <a:lstStyle/>
          <a:p>
            <a:r>
              <a:t>Donnée sensible dans les logs</a:t>
            </a:r>
          </a:p>
        </p:txBody>
      </p:sp>
      <p:sp>
        <p:nvSpPr>
          <p:cNvPr id="9" name="Text Placeholder 8"/>
          <p:cNvSpPr>
            <a:spLocks noGrp="1"/>
          </p:cNvSpPr>
          <p:nvPr>
            <p:ph type="body" idx="116"/>
          </p:nvPr>
        </p:nvSpPr>
        <p:spPr/>
        <p:txBody>
          <a:bodyPr/>
          <a:lstStyle/>
          <a:p>
            <a:r>
              <a:t>Une clé API apparaît en clair dans la trace d'un appel de tool, conservée 90 jours dans la plateforme de logs.</a:t>
            </a:r>
          </a:p>
          <a:p>
            <a:r>
              <a:t>Filtrage à l'émission, rétention, révocation : quel contrôle, où, et qui décide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M6 — Gouverner le contexte à l’échelle (GitLab)</a:t>
            </a:r>
          </a:p>
        </p:txBody>
      </p:sp>
      <p:sp>
        <p:nvSpPr>
          <p:cNvPr id="3" name="Content Placeholder 2"/>
          <p:cNvSpPr>
            <a:spLocks noGrp="1"/>
          </p:cNvSpPr>
          <p:nvPr>
            <p:ph idx="12" sz="quarter"/>
          </p:nvPr>
        </p:nvSpPr>
        <p:spPr/>
        <p:txBody>
          <a:bodyPr/>
          <a:lstStyle/>
          <a:p>
            <a:r>
              <a:t>Le contexte est du code : le versionner, le revoir, le protéger.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Gouverner le contexte comme du code</a:t>
            </a:r>
          </a:p>
        </p:txBody>
      </p:sp>
      <p:sp>
        <p:nvSpPr>
          <p:cNvPr id="3" name="Text Placeholder 2"/>
          <p:cNvSpPr>
            <a:spLocks noGrp="1"/>
          </p:cNvSpPr>
          <p:nvPr>
            <p:ph type="body" idx="105"/>
          </p:nvPr>
        </p:nvSpPr>
        <p:spPr/>
        <p:txBody>
          <a:bodyPr/>
          <a:lstStyle/>
          <a:p>
            <a:r>
              <a:t>GitLab gouverne les changements ; OpenCode le chargement ; MCP les accès</a:t>
            </a:r>
          </a:p>
        </p:txBody>
      </p:sp>
      <p:sp>
        <p:nvSpPr>
          <p:cNvPr id="4" name="Text Placeholder 3"/>
          <p:cNvSpPr>
            <a:spLocks noGrp="1"/>
          </p:cNvSpPr>
          <p:nvPr>
            <p:ph type="body" idx="110"/>
          </p:nvPr>
        </p:nvSpPr>
        <p:spPr/>
        <p:txBody>
          <a:bodyPr/>
          <a:lstStyle/>
          <a:p>
            <a:r>
              <a:t>Changements · GitLab</a:t>
            </a:r>
          </a:p>
        </p:txBody>
      </p:sp>
      <p:sp>
        <p:nvSpPr>
          <p:cNvPr id="5" name="Text Placeholder 4"/>
          <p:cNvSpPr>
            <a:spLocks noGrp="1"/>
          </p:cNvSpPr>
          <p:nvPr>
            <p:ph type="body" idx="111"/>
          </p:nvPr>
        </p:nvSpPr>
        <p:spPr/>
        <p:txBody>
          <a:bodyPr/>
          <a:lstStyle/>
          <a:p>
            <a:r>
              <a:t>MR, branche protégée et règles d’approbation : la revue doit être configurée et vérifiée.</a:t>
            </a:r>
          </a:p>
        </p:txBody>
      </p:sp>
      <p:sp>
        <p:nvSpPr>
          <p:cNvPr id="6" name="Text Placeholder 5"/>
          <p:cNvSpPr>
            <a:spLocks noGrp="1"/>
          </p:cNvSpPr>
          <p:nvPr>
            <p:ph type="body" idx="115"/>
          </p:nvPr>
        </p:nvSpPr>
        <p:spPr/>
        <p:txBody>
          <a:bodyPr/>
          <a:lstStyle/>
          <a:p>
            <a:r>
              <a:t>Skills · OpenCode</a:t>
            </a:r>
          </a:p>
        </p:txBody>
      </p:sp>
      <p:sp>
        <p:nvSpPr>
          <p:cNvPr id="7" name="Text Placeholder 6"/>
          <p:cNvSpPr>
            <a:spLocks noGrp="1"/>
          </p:cNvSpPr>
          <p:nvPr>
            <p:ph type="body" idx="116"/>
          </p:nvPr>
        </p:nvSpPr>
        <p:spPr/>
        <p:txBody>
          <a:bodyPr/>
          <a:lstStyle/>
          <a:p>
            <a:r>
              <a:t>allow/deny règle le chargement du Skill par agent, pas les droits sur les outils MCP.</a:t>
            </a:r>
          </a:p>
        </p:txBody>
      </p:sp>
      <p:sp>
        <p:nvSpPr>
          <p:cNvPr id="8" name="Text Placeholder 7"/>
          <p:cNvSpPr>
            <a:spLocks noGrp="1"/>
          </p:cNvSpPr>
          <p:nvPr>
            <p:ph type="body" idx="120"/>
          </p:nvPr>
        </p:nvSpPr>
        <p:spPr/>
        <p:txBody>
          <a:bodyPr/>
          <a:lstStyle/>
          <a:p>
            <a:r>
              <a:t>Accès · serveur MCP</a:t>
            </a:r>
          </a:p>
        </p:txBody>
      </p:sp>
      <p:sp>
        <p:nvSpPr>
          <p:cNvPr id="9" name="Text Placeholder 8"/>
          <p:cNvSpPr>
            <a:spLocks noGrp="1"/>
          </p:cNvSpPr>
          <p:nvPr>
            <p:ph type="body" idx="121"/>
          </p:nvPr>
        </p:nvSpPr>
        <p:spPr/>
        <p:txBody>
          <a:bodyPr/>
          <a:lstStyle/>
          <a:p>
            <a:r>
              <a:t>Identité, autorisation et audit à l’exécution ; ni secrets ni données sensibles dans le contexte partagé.</a:t>
            </a:r>
          </a:p>
        </p:txBody>
      </p:sp>
      <p:sp>
        <p:nvSpPr>
          <p:cNvPr id="10" name="Text Placeholder 9"/>
          <p:cNvSpPr>
            <a:spLocks noGrp="1"/>
          </p:cNvSpPr>
          <p:nvPr>
            <p:ph type="body" idx="125"/>
          </p:nvPr>
        </p:nvSpPr>
        <p:spPr/>
        <p:txBody>
          <a:bodyPr/>
          <a:lstStyle/>
          <a:p>
            <a:r>
              <a:t>Évolution · évaluations</a:t>
            </a:r>
          </a:p>
        </p:txBody>
      </p:sp>
      <p:sp>
        <p:nvSpPr>
          <p:cNvPr id="11" name="Text Placeholder 10"/>
          <p:cNvSpPr>
            <a:spLocks noGrp="1"/>
          </p:cNvSpPr>
          <p:nvPr>
            <p:ph type="body" idx="126"/>
          </p:nvPr>
        </p:nvSpPr>
        <p:spPr/>
        <p:txBody>
          <a:bodyPr/>
          <a:lstStyle/>
          <a:p>
            <a:r>
              <a:t>Retirer une instruction seulement si les preuves restent acceptables ; garder les contrôles.</a:t>
            </a:r>
          </a:p>
        </p:txBody>
      </p:sp>
      <p:sp>
        <p:nvSpPr>
          <p:cNvPr id="12" name="Picture Placeholder 11"/>
          <p:cNvSpPr>
            <a:spLocks noGrp="1"/>
          </p:cNvSpPr>
          <p:nvPr>
            <p:ph type="pic" idx="127" sz="quarter"/>
          </p:nvPr>
        </p:nvSpPr>
        <p:spPr/>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boucle de gouvernance</a:t>
            </a:r>
          </a:p>
        </p:txBody>
      </p:sp>
      <p:sp>
        <p:nvSpPr>
          <p:cNvPr id="3" name="Text Placeholder 2"/>
          <p:cNvSpPr>
            <a:spLocks noGrp="1"/>
          </p:cNvSpPr>
          <p:nvPr>
            <p:ph type="body" idx="11"/>
          </p:nvPr>
        </p:nvSpPr>
        <p:spPr/>
        <p:txBody>
          <a:bodyPr/>
          <a:lstStyle/>
          <a:p>
            <a:r>
              <a:rPr sz="2400"/>
              <a:t>MR → génération avec son Skill → build/tests → évaluation → revue.</a:t>
            </a:r>
          </a:p>
          <a:p>
            <a:r>
              <a:rPr sz="2400"/>
              <a:t>Fusion : pipeline réussie exigée ; push direct interdit.</a:t>
            </a:r>
          </a:p>
          <a:p>
            <a:r>
              <a:rPr sz="2400"/>
              <a:t>CODEOWNERS : approbation à configurer selon l’offre GitLab.</a:t>
            </a:r>
          </a:p>
          <a:p>
            <a:r>
              <a:rPr sz="2400"/>
              <a:t>Preuve : un échec bloque la fusion ; la correction permet la revue.</a:t>
            </a:r>
          </a:p>
          <a:p>
            <a:r>
              <a:rPr sz="2400"/>
              <a:t>Le squelette CI contient un TODO : cette boucle reste à câbler.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TP4 — Gouverner le Skill sur GitLab</a:t>
            </a:r>
          </a:p>
        </p:txBody>
      </p:sp>
      <p:sp>
        <p:nvSpPr>
          <p:cNvPr id="3" name="Text Placeholder 2"/>
          <p:cNvSpPr>
            <a:spLocks noGrp="1"/>
          </p:cNvSpPr>
          <p:nvPr>
            <p:ph type="body" idx="11"/>
          </p:nvPr>
        </p:nvSpPr>
        <p:spPr/>
        <p:txBody>
          <a:bodyPr/>
          <a:lstStyle/>
          <a:p>
            <a:r>
              <a:t>Prouver la gouvernance sur une MR ; environnement et génération réelle prévalidés avant la séance.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Avant séance : formateur prépare GitLab, runner, OpenCode et secrets autorisés.</a:t>
            </a:r>
          </a:p>
          <a:p>
            <a:r>
              <a:t>Vérifier la génération avec le Skill de la MR : le YAML fourni est un squelette.</a:t>
            </a:r>
          </a:p>
          <a:p>
            <a:r>
              <a:t>Protéger main ; configurer revue et approbations selon l’offre.</a:t>
            </a:r>
          </a:p>
          <a:p>
            <a:r>
              <a:t>Démontrer : test rouge → fusion bloquée ; correction → évaluation verte.</a:t>
            </a:r>
          </a:p>
          <a:p>
            <a:r>
              <a:t>Vérifier allow/deny dans OpenCode ; conserver MR et preuves.</a:t>
            </a:r>
          </a:p>
        </p:txBody>
      </p:sp>
      <p:sp>
        <p:nvSpPr>
          <p:cNvPr id="6" name="Text Placeholder 5"/>
          <p:cNvSpPr>
            <a:spLocks noGrp="1"/>
          </p:cNvSpPr>
          <p:nvPr>
            <p:ph type="body" idx="14"/>
          </p:nvPr>
        </p:nvSpPr>
        <p:spPr/>
        <p:txBody>
          <a:bodyPr/>
          <a:lstStyle/>
          <a:p>
            <a:r>
              <a:t>Préparation &amp; approfondissement</a:t>
            </a:r>
          </a:p>
        </p:txBody>
      </p:sp>
      <p:sp>
        <p:nvSpPr>
          <p:cNvPr id="7" name="Text Placeholder 6"/>
          <p:cNvSpPr>
            <a:spLocks noGrp="1"/>
          </p:cNvSpPr>
          <p:nvPr>
            <p:ph type="body" idx="15"/>
          </p:nvPr>
        </p:nvSpPr>
        <p:spPr/>
        <p:txBody>
          <a:bodyPr/>
          <a:lstStyle/>
          <a:p>
            <a:r>
              <a:t>À produire : MR relue, évaluation réelle et blocage constaté.</a:t>
            </a:r>
          </a:p>
          <a:p>
            <a:r>
              <a:t>Sans préparation : allonger l’atelier ou noter une démonstration partielle.</a:t>
            </a:r>
          </a:p>
          <a:p>
            <a:r>
              <a:t>Approfondir : CI de zéro, plusieurs cas, suppression d’une règle évaluée.</a:t>
            </a:r>
          </a:p>
          <a:p>
            <a:r>
              <a:rPr>
                <a:hlinkClick r:id="rId2"/>
              </a:rPr>
              <a:t>Guide pas à pas : sciam-fr.github.io/formation-ia/tp4/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M7 — Atelier : le modèle opératoire de l’usine logicielle IA</a:t>
            </a:r>
          </a:p>
        </p:txBody>
      </p:sp>
      <p:sp>
        <p:nvSpPr>
          <p:cNvPr id="3" name="Content Placeholder 2"/>
          <p:cNvSpPr>
            <a:spLocks noGrp="1"/>
          </p:cNvSpPr>
          <p:nvPr>
            <p:ph idx="12" sz="quarter"/>
          </p:nvPr>
        </p:nvSpPr>
        <p:spPr/>
        <p:txBody>
          <a:bodyPr/>
          <a:lstStyle/>
          <a:p>
            <a:r>
              <a:t>La platform team comme route pavée — et l’atelier de synthèse.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La platform team comme route pavée</a:t>
            </a:r>
          </a:p>
        </p:txBody>
      </p:sp>
      <p:sp>
        <p:nvSpPr>
          <p:cNvPr id="3" name="Text Placeholder 2"/>
          <p:cNvSpPr>
            <a:spLocks noGrp="1"/>
          </p:cNvSpPr>
          <p:nvPr>
            <p:ph type="body" idx="109"/>
          </p:nvPr>
        </p:nvSpPr>
        <p:spPr/>
        <p:txBody>
          <a:bodyPr/>
          <a:lstStyle/>
          <a:p>
            <a:r>
              <a:t>Vous fournissez des capacités ; les équipes les consomment en libre-service</a:t>
            </a:r>
          </a:p>
        </p:txBody>
      </p:sp>
      <p:sp>
        <p:nvSpPr>
          <p:cNvPr id="4" name="Text Placeholder 3"/>
          <p:cNvSpPr>
            <a:spLocks noGrp="1"/>
          </p:cNvSpPr>
          <p:nvPr>
            <p:ph type="body" idx="111"/>
          </p:nvPr>
        </p:nvSpPr>
        <p:spPr/>
        <p:txBody>
          <a:bodyPr/>
          <a:lstStyle/>
          <a:p>
            <a:r>
              <a:t>VOUS FOURNISSEZ</a:t>
            </a:r>
          </a:p>
        </p:txBody>
      </p:sp>
      <p:sp>
        <p:nvSpPr>
          <p:cNvPr id="5" name="Text Placeholder 4"/>
          <p:cNvSpPr>
            <a:spLocks noGrp="1"/>
          </p:cNvSpPr>
          <p:nvPr>
            <p:ph type="body" idx="112"/>
          </p:nvPr>
        </p:nvSpPr>
        <p:spPr/>
        <p:txBody>
          <a:bodyPr/>
          <a:lstStyle/>
          <a:p>
            <a:r>
              <a:t>Un catalogue de capacités</a:t>
            </a:r>
          </a:p>
        </p:txBody>
      </p:sp>
      <p:sp>
        <p:nvSpPr>
          <p:cNvPr id="6" name="Text Placeholder 5"/>
          <p:cNvSpPr>
            <a:spLocks noGrp="1"/>
          </p:cNvSpPr>
          <p:nvPr>
            <p:ph type="body" idx="113"/>
          </p:nvPr>
        </p:nvSpPr>
        <p:spPr/>
        <p:txBody>
          <a:bodyPr/>
          <a:lstStyle/>
          <a:p>
            <a:r>
              <a:t>Serveurs MCP, Skills, scorers réutilisables — construits, évalués, gouvernés. Le fil rouge de ces deux jours en est un exemplaire.</a:t>
            </a:r>
          </a:p>
        </p:txBody>
      </p:sp>
      <p:sp>
        <p:nvSpPr>
          <p:cNvPr id="7" name="Text Placeholder 6"/>
          <p:cNvSpPr>
            <a:spLocks noGrp="1"/>
          </p:cNvSpPr>
          <p:nvPr>
            <p:ph type="body" idx="114"/>
          </p:nvPr>
        </p:nvSpPr>
        <p:spPr/>
        <p:txBody>
          <a:bodyPr/>
          <a:lstStyle/>
          <a:p>
            <a:r>
              <a:t>LES ÉQUIPES CONSOMMENT</a:t>
            </a:r>
          </a:p>
        </p:txBody>
      </p:sp>
      <p:sp>
        <p:nvSpPr>
          <p:cNvPr id="8" name="Text Placeholder 7"/>
          <p:cNvSpPr>
            <a:spLocks noGrp="1"/>
          </p:cNvSpPr>
          <p:nvPr>
            <p:ph type="body" idx="115"/>
          </p:nvPr>
        </p:nvSpPr>
        <p:spPr/>
        <p:txBody>
          <a:bodyPr/>
          <a:lstStyle/>
          <a:p>
            <a:r>
              <a:t>Conforme par défaut</a:t>
            </a:r>
          </a:p>
        </p:txBody>
      </p:sp>
      <p:sp>
        <p:nvSpPr>
          <p:cNvPr id="9" name="Text Placeholder 8"/>
          <p:cNvSpPr>
            <a:spLocks noGrp="1"/>
          </p:cNvSpPr>
          <p:nvPr>
            <p:ph type="body" idx="116"/>
          </p:nvPr>
        </p:nvSpPr>
        <p:spPr/>
        <p:txBody>
          <a:bodyPr/>
          <a:lstStyle/>
          <a:p>
            <a:r>
              <a:t>Elles partent du catalogue plutôt que de la page blanche. La conformité est fournie, pas imposée après coup.</a:t>
            </a:r>
          </a:p>
        </p:txBody>
      </p:sp>
      <p:sp>
        <p:nvSpPr>
          <p:cNvPr id="10" name="Picture Placeholder 9"/>
          <p:cNvSpPr>
            <a:spLocks noGrp="1"/>
          </p:cNvSpPr>
          <p:nvPr>
            <p:ph type="pic" idx="117" sz="quarter"/>
          </p:nvPr>
        </p:nvSpPr>
        <p:spPr/>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cycle de vie d’une capacité</a:t>
            </a:r>
          </a:p>
        </p:txBody>
      </p:sp>
      <p:sp>
        <p:nvSpPr>
          <p:cNvPr id="3" name="Text Placeholder 2"/>
          <p:cNvSpPr>
            <a:spLocks noGrp="1"/>
          </p:cNvSpPr>
          <p:nvPr>
            <p:ph type="body" idx="105"/>
          </p:nvPr>
        </p:nvSpPr>
        <p:spPr/>
        <p:txBody>
          <a:bodyPr/>
          <a:lstStyle/>
          <a:p>
            <a:r>
              <a:t>Une capacité se gère comme un produit — jusqu’à sa fin</a:t>
            </a:r>
          </a:p>
        </p:txBody>
      </p:sp>
      <p:sp>
        <p:nvSpPr>
          <p:cNvPr id="4" name="Text Placeholder 3"/>
          <p:cNvSpPr>
            <a:spLocks noGrp="1"/>
          </p:cNvSpPr>
          <p:nvPr>
            <p:ph type="body" idx="110"/>
          </p:nvPr>
        </p:nvSpPr>
        <p:spPr/>
        <p:txBody>
          <a:bodyPr/>
          <a:lstStyle/>
          <a:p>
            <a:r>
              <a:t>Contribution</a:t>
            </a:r>
          </a:p>
        </p:txBody>
      </p:sp>
      <p:sp>
        <p:nvSpPr>
          <p:cNvPr id="5" name="Text Placeholder 4"/>
          <p:cNvSpPr>
            <a:spLocks noGrp="1"/>
          </p:cNvSpPr>
          <p:nvPr>
            <p:ph type="body" idx="111"/>
          </p:nvPr>
        </p:nvSpPr>
        <p:spPr/>
        <p:txBody>
          <a:bodyPr/>
          <a:lstStyle/>
          <a:p>
            <a:r>
              <a:t>Une équipe propose une capacité (serveur MCP, Skill).</a:t>
            </a:r>
          </a:p>
        </p:txBody>
      </p:sp>
      <p:sp>
        <p:nvSpPr>
          <p:cNvPr id="6" name="Text Placeholder 5"/>
          <p:cNvSpPr>
            <a:spLocks noGrp="1"/>
          </p:cNvSpPr>
          <p:nvPr>
            <p:ph type="body" idx="115"/>
          </p:nvPr>
        </p:nvSpPr>
        <p:spPr/>
        <p:txBody>
          <a:bodyPr/>
          <a:lstStyle/>
          <a:p>
            <a:r>
              <a:t>Revue</a:t>
            </a:r>
          </a:p>
        </p:txBody>
      </p:sp>
      <p:sp>
        <p:nvSpPr>
          <p:cNvPr id="7" name="Text Placeholder 6"/>
          <p:cNvSpPr>
            <a:spLocks noGrp="1"/>
          </p:cNvSpPr>
          <p:nvPr>
            <p:ph type="body" idx="116"/>
          </p:nvPr>
        </p:nvSpPr>
        <p:spPr/>
        <p:txBody>
          <a:bodyPr/>
          <a:lstStyle/>
          <a:p>
            <a:r>
              <a:t>La platform team valide : conformité, éval, sécurité.</a:t>
            </a:r>
          </a:p>
        </p:txBody>
      </p:sp>
      <p:sp>
        <p:nvSpPr>
          <p:cNvPr id="8" name="Text Placeholder 7"/>
          <p:cNvSpPr>
            <a:spLocks noGrp="1"/>
          </p:cNvSpPr>
          <p:nvPr>
            <p:ph type="body" idx="120"/>
          </p:nvPr>
        </p:nvSpPr>
        <p:spPr/>
        <p:txBody>
          <a:bodyPr/>
          <a:lstStyle/>
          <a:p>
            <a:r>
              <a:t>Distribution</a:t>
            </a:r>
          </a:p>
        </p:txBody>
      </p:sp>
      <p:sp>
        <p:nvSpPr>
          <p:cNvPr id="9" name="Text Placeholder 8"/>
          <p:cNvSpPr>
            <a:spLocks noGrp="1"/>
          </p:cNvSpPr>
          <p:nvPr>
            <p:ph type="body" idx="121"/>
          </p:nvPr>
        </p:nvSpPr>
        <p:spPr/>
        <p:txBody>
          <a:bodyPr/>
          <a:lstStyle/>
          <a:p>
            <a:r>
              <a:t>Publiée au catalogue, versionnée, consommable en libre-service.</a:t>
            </a:r>
          </a:p>
        </p:txBody>
      </p:sp>
      <p:sp>
        <p:nvSpPr>
          <p:cNvPr id="10" name="Text Placeholder 9"/>
          <p:cNvSpPr>
            <a:spLocks noGrp="1"/>
          </p:cNvSpPr>
          <p:nvPr>
            <p:ph type="body" idx="125"/>
          </p:nvPr>
        </p:nvSpPr>
        <p:spPr/>
        <p:txBody>
          <a:bodyPr/>
          <a:lstStyle/>
          <a:p>
            <a:r>
              <a:t>Dépréciation</a:t>
            </a:r>
          </a:p>
        </p:txBody>
      </p:sp>
      <p:sp>
        <p:nvSpPr>
          <p:cNvPr id="11" name="Text Placeholder 10"/>
          <p:cNvSpPr>
            <a:spLocks noGrp="1"/>
          </p:cNvSpPr>
          <p:nvPr>
            <p:ph type="body" idx="126"/>
          </p:nvPr>
        </p:nvSpPr>
        <p:spPr/>
        <p:txBody>
          <a:bodyPr/>
          <a:lstStyle/>
          <a:p>
            <a:r>
              <a:t>Le test de suppression : quand le socle l’absorbe, on la retire.</a:t>
            </a:r>
          </a:p>
        </p:txBody>
      </p:sp>
      <p:sp>
        <p:nvSpPr>
          <p:cNvPr id="12" name="Picture Placeholder 11"/>
          <p:cNvSpPr>
            <a:spLocks noGrp="1"/>
          </p:cNvSpPr>
          <p:nvPr>
            <p:ph type="pic" idx="127" sz="quarter"/>
          </p:nvPr>
        </p:nvSpPr>
        <p:spPr/>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Atelier — esquisser la cible du groupe</a:t>
            </a:r>
          </a:p>
        </p:txBody>
      </p:sp>
      <p:sp>
        <p:nvSpPr>
          <p:cNvPr id="3" name="Text Placeholder 2"/>
          <p:cNvSpPr>
            <a:spLocks noGrp="1"/>
          </p:cNvSpPr>
          <p:nvPr>
            <p:ph type="body" idx="11"/>
          </p:nvPr>
        </p:nvSpPr>
        <p:spPr/>
        <p:txBody>
          <a:bodyPr/>
          <a:lstStyle/>
          <a:p>
            <a:r>
              <a:t>Traduire les deux jours en un premier modèle opératoire d’usine logicielle IA pour votre groupe.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Cartographier les capacités déjà bricolées dans les équipes.</a:t>
            </a:r>
          </a:p>
          <a:p>
            <a:r>
              <a:t>Choisir la première à cataloguer : un serveur MCP ou un Skill.</a:t>
            </a:r>
          </a:p>
          <a:p>
            <a:r>
              <a:t>Remplir la fiche de sortie, ligne par ligne, en binôme.</a:t>
            </a:r>
          </a:p>
          <a:p>
            <a:r>
              <a:t>Définir qui décide quoi : contribution, revue, dépréciation.</a:t>
            </a:r>
          </a:p>
          <a:p>
            <a:r>
              <a:t>Appliquer le test de suppression à une capacité maison existante.</a:t>
            </a:r>
          </a:p>
        </p:txBody>
      </p:sp>
      <p:sp>
        <p:nvSpPr>
          <p:cNvPr id="6" name="Text Placeholder 5"/>
          <p:cNvSpPr>
            <a:spLocks noGrp="1"/>
          </p:cNvSpPr>
          <p:nvPr>
            <p:ph type="body" idx="14"/>
          </p:nvPr>
        </p:nvSpPr>
        <p:spPr/>
        <p:txBody>
          <a:bodyPr/>
          <a:lstStyle/>
          <a:p>
            <a:r>
              <a:t>Livrable</a:t>
            </a:r>
          </a:p>
        </p:txBody>
      </p:sp>
      <p:sp>
        <p:nvSpPr>
          <p:cNvPr id="7" name="Text Placeholder 6"/>
          <p:cNvSpPr>
            <a:spLocks noGrp="1"/>
          </p:cNvSpPr>
          <p:nvPr>
            <p:ph type="body" idx="15"/>
          </p:nvPr>
        </p:nvSpPr>
        <p:spPr/>
        <p:txBody>
          <a:bodyPr/>
          <a:lstStyle/>
          <a:p>
            <a:r>
              <a:t>Une fiche de sortie remplie : capacité, consommateurs, propriétaire, contrat, critères d'évaluation, distribution et version, contrôles d'accès, dépréciation, première action datée.</a:t>
            </a:r>
          </a:p>
          <a:p>
            <a:r>
              <a:t>Le canevas est sur la diapo suivante et dans les guides.</a:t>
            </a:r>
          </a:p>
          <a:p>
            <a:r>
              <a:rPr>
                <a:hlinkClick r:id="rId2"/>
              </a:rPr>
              <a:t>Canevas : sciam-fr.github.io/formation-ia/fiche-de-sortie/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543560" y="1655825"/>
          <a:ext cx="11094719" cy="3850000"/>
        </p:xfrm>
        <a:graphic>
          <a:graphicData uri="http://schemas.openxmlformats.org/drawingml/2006/table">
            <a:tbl>
              <a:tblPr firstRow="1" bandRow="1">
                <a:tableStyleId>{5C22544A-7EE6-4342-B048-85BDC9FD1C3A}</a:tableStyleId>
              </a:tblPr>
              <a:tblGrid>
                <a:gridCol w="2100000"/>
                <a:gridCol w="3900000"/>
                <a:gridCol w="5094719"/>
              </a:tblGrid>
              <a:tr h="340000">
                <a:tc>
                  <a:txBody>
                    <a:bodyPr/>
                    <a:lstStyle/>
                    <a:p>
                      <a:r>
                        <a:rPr sz="1000" b="1">
                          <a:solidFill>
                            <a:srgbClr val="FFFFFF"/>
                          </a:solidFill>
                          <a:latin typeface="DM Sans"/>
                        </a:rPr>
                        <a:t>Ligne</a:t>
                      </a:r>
                    </a:p>
                  </a:txBody>
                  <a:tcPr marL="72000" marR="72000" marT="30000" marB="30000">
                    <a:solidFill>
                      <a:srgbClr val="222D45"/>
                    </a:solidFill>
                  </a:tcPr>
                </a:tc>
                <a:tc>
                  <a:txBody>
                    <a:bodyPr/>
                    <a:lstStyle/>
                    <a:p>
                      <a:r>
                        <a:rPr sz="1000" b="1">
                          <a:solidFill>
                            <a:srgbClr val="FFFFFF"/>
                          </a:solidFill>
                          <a:latin typeface="DM Sans"/>
                        </a:rPr>
                        <a:t>La question à trancher</a:t>
                      </a:r>
                    </a:p>
                  </a:txBody>
                  <a:tcPr marL="72000" marR="72000" marT="30000" marB="30000">
                    <a:solidFill>
                      <a:srgbClr val="222D45"/>
                    </a:solidFill>
                  </a:tcPr>
                </a:tc>
                <a:tc>
                  <a:txBody>
                    <a:bodyPr/>
                    <a:lstStyle/>
                    <a:p>
                      <a:r>
                        <a:rPr sz="1000" b="1">
                          <a:solidFill>
                            <a:srgbClr val="FFFFFF"/>
                          </a:solidFill>
                          <a:latin typeface="DM Sans"/>
                        </a:rPr>
                        <a:t>Exemple — fil rouge</a:t>
                      </a:r>
                    </a:p>
                  </a:txBody>
                  <a:tcPr marL="72000" marR="72000" marT="30000" marB="30000">
                    <a:solidFill>
                      <a:srgbClr val="222D45"/>
                    </a:solidFill>
                  </a:tcPr>
                </a:tc>
              </a:tr>
              <a:tr h="390000">
                <a:tc>
                  <a:txBody>
                    <a:bodyPr/>
                    <a:lstStyle/>
                    <a:p>
                      <a:r>
                        <a:rPr sz="1000" b="1">
                          <a:solidFill>
                            <a:srgbClr val="16100E"/>
                          </a:solidFill>
                          <a:latin typeface="DM Sans"/>
                        </a:rPr>
                        <a:t>Capacité</a:t>
                      </a:r>
                    </a:p>
                  </a:txBody>
                  <a:tcPr marL="72000" marR="72000" marT="30000" marB="30000">
                    <a:solidFill>
                      <a:srgbClr val="FFFFFF"/>
                    </a:solidFill>
                  </a:tcPr>
                </a:tc>
                <a:tc>
                  <a:txBody>
                    <a:bodyPr/>
                    <a:lstStyle/>
                    <a:p>
                      <a:r>
                        <a:rPr sz="1000" b="0">
                          <a:solidFill>
                            <a:srgbClr val="16100E"/>
                          </a:solidFill>
                          <a:latin typeface="DM Sans"/>
                        </a:rPr>
                        <a:t>Quoi, en une phrase ; ce qu'elle ne fait pas</a:t>
                      </a:r>
                    </a:p>
                  </a:txBody>
                  <a:tcPr marL="72000" marR="72000" marT="30000" marB="30000">
                    <a:solidFill>
                      <a:srgbClr val="FFFFFF"/>
                    </a:solidFill>
                  </a:tcPr>
                </a:tc>
                <a:tc>
                  <a:txBody>
                    <a:bodyPr/>
                    <a:lstStyle/>
                    <a:p>
                      <a:r>
                        <a:rPr sz="1000" b="0" i="1">
                          <a:solidFill>
                            <a:srgbClr val="504C49"/>
                          </a:solidFill>
                          <a:latin typeface="DM Sans"/>
                        </a:rPr>
                        <a:t>Skill create-quarkus-mcp-server : génère un serveur MCP conforme aux conventions</a:t>
                      </a:r>
                    </a:p>
                  </a:txBody>
                  <a:tcPr marL="72000" marR="72000" marT="30000" marB="30000">
                    <a:solidFill>
                      <a:srgbClr val="FFFFFF"/>
                    </a:solidFill>
                  </a:tcPr>
                </a:tc>
              </a:tr>
              <a:tr h="390000">
                <a:tc>
                  <a:txBody>
                    <a:bodyPr/>
                    <a:lstStyle/>
                    <a:p>
                      <a:r>
                        <a:rPr sz="1000" b="1">
                          <a:solidFill>
                            <a:srgbClr val="16100E"/>
                          </a:solidFill>
                          <a:latin typeface="DM Sans"/>
                        </a:rPr>
                        <a:t>Consommateurs</a:t>
                      </a:r>
                    </a:p>
                  </a:txBody>
                  <a:tcPr marL="72000" marR="72000" marT="30000" marB="30000">
                    <a:solidFill>
                      <a:srgbClr val="F3F1EF"/>
                    </a:solidFill>
                  </a:tcPr>
                </a:tc>
                <a:tc>
                  <a:txBody>
                    <a:bodyPr/>
                    <a:lstStyle/>
                    <a:p>
                      <a:r>
                        <a:rPr sz="1000" b="0">
                          <a:solidFill>
                            <a:srgbClr val="16100E"/>
                          </a:solidFill>
                          <a:latin typeface="DM Sans"/>
                        </a:rPr>
                        <a:t>Qui l'utilise, par quel client</a:t>
                      </a:r>
                    </a:p>
                  </a:txBody>
                  <a:tcPr marL="72000" marR="72000" marT="30000" marB="30000">
                    <a:solidFill>
                      <a:srgbClr val="F3F1EF"/>
                    </a:solidFill>
                  </a:tcPr>
                </a:tc>
                <a:tc>
                  <a:txBody>
                    <a:bodyPr/>
                    <a:lstStyle/>
                    <a:p>
                      <a:r>
                        <a:rPr sz="1000" b="0" i="1">
                          <a:solidFill>
                            <a:srgbClr val="504C49"/>
                          </a:solidFill>
                          <a:latin typeface="DM Sans"/>
                        </a:rPr>
                        <a:t>Équipes produit via OpenCode ; agents CI de la platform team</a:t>
                      </a:r>
                    </a:p>
                  </a:txBody>
                  <a:tcPr marL="72000" marR="72000" marT="30000" marB="30000">
                    <a:solidFill>
                      <a:srgbClr val="F3F1EF"/>
                    </a:solidFill>
                  </a:tcPr>
                </a:tc>
              </a:tr>
              <a:tr h="390000">
                <a:tc>
                  <a:txBody>
                    <a:bodyPr/>
                    <a:lstStyle/>
                    <a:p>
                      <a:r>
                        <a:rPr sz="1000" b="1">
                          <a:solidFill>
                            <a:srgbClr val="16100E"/>
                          </a:solidFill>
                          <a:latin typeface="DM Sans"/>
                        </a:rPr>
                        <a:t>Propriétaire</a:t>
                      </a:r>
                    </a:p>
                  </a:txBody>
                  <a:tcPr marL="72000" marR="72000" marT="30000" marB="30000">
                    <a:solidFill>
                      <a:srgbClr val="FFFFFF"/>
                    </a:solidFill>
                  </a:tcPr>
                </a:tc>
                <a:tc>
                  <a:txBody>
                    <a:bodyPr/>
                    <a:lstStyle/>
                    <a:p>
                      <a:r>
                        <a:rPr sz="1000" b="0">
                          <a:solidFill>
                            <a:srgbClr val="16100E"/>
                          </a:solidFill>
                          <a:latin typeface="DM Sans"/>
                        </a:rPr>
                        <a:t>Un nom et un suppléant, pas une équipe</a:t>
                      </a:r>
                    </a:p>
                  </a:txBody>
                  <a:tcPr marL="72000" marR="72000" marT="30000" marB="30000">
                    <a:solidFill>
                      <a:srgbClr val="FFFFFF"/>
                    </a:solidFill>
                  </a:tcPr>
                </a:tc>
                <a:tc>
                  <a:txBody>
                    <a:bodyPr/>
                    <a:lstStyle/>
                    <a:p>
                      <a:r>
                        <a:rPr sz="1000" b="0" i="1">
                          <a:solidFill>
                            <a:srgbClr val="504C49"/>
                          </a:solidFill>
                          <a:latin typeface="DM Sans"/>
                        </a:rPr>
                        <a:t>À nommer — une personne, une adresse</a:t>
                      </a:r>
                    </a:p>
                  </a:txBody>
                  <a:tcPr marL="72000" marR="72000" marT="30000" marB="30000">
                    <a:solidFill>
                      <a:srgbClr val="FFFFFF"/>
                    </a:solidFill>
                  </a:tcPr>
                </a:tc>
              </a:tr>
              <a:tr h="390000">
                <a:tc>
                  <a:txBody>
                    <a:bodyPr/>
                    <a:lstStyle/>
                    <a:p>
                      <a:r>
                        <a:rPr sz="1000" b="1">
                          <a:solidFill>
                            <a:srgbClr val="16100E"/>
                          </a:solidFill>
                          <a:latin typeface="DM Sans"/>
                        </a:rPr>
                        <a:t>Contrat</a:t>
                      </a:r>
                    </a:p>
                  </a:txBody>
                  <a:tcPr marL="72000" marR="72000" marT="30000" marB="30000">
                    <a:solidFill>
                      <a:srgbClr val="F3F1EF"/>
                    </a:solidFill>
                  </a:tcPr>
                </a:tc>
                <a:tc>
                  <a:txBody>
                    <a:bodyPr/>
                    <a:lstStyle/>
                    <a:p>
                      <a:r>
                        <a:rPr sz="1000" b="0">
                          <a:solidFill>
                            <a:srgbClr val="16100E"/>
                          </a:solidFill>
                          <a:latin typeface="DM Sans"/>
                        </a:rPr>
                        <a:t>Ce qui est garanti, versionné, observable</a:t>
                      </a:r>
                    </a:p>
                  </a:txBody>
                  <a:tcPr marL="72000" marR="72000" marT="30000" marB="30000">
                    <a:solidFill>
                      <a:srgbClr val="F3F1EF"/>
                    </a:solidFill>
                  </a:tcPr>
                </a:tc>
                <a:tc>
                  <a:txBody>
                    <a:bodyPr/>
                    <a:lstStyle/>
                    <a:p>
                      <a:r>
                        <a:rPr sz="1000" b="0" i="1">
                          <a:solidFill>
                            <a:srgbClr val="504C49"/>
                          </a:solidFill>
                          <a:latin typeface="DM Sans"/>
                        </a:rPr>
                        <a:t>Tools find_service / get_owner, resource service://{name}, prompt fiche_service</a:t>
                      </a:r>
                    </a:p>
                  </a:txBody>
                  <a:tcPr marL="72000" marR="72000" marT="30000" marB="30000">
                    <a:solidFill>
                      <a:srgbClr val="F3F1EF"/>
                    </a:solidFill>
                  </a:tcPr>
                </a:tc>
              </a:tr>
              <a:tr h="390000">
                <a:tc>
                  <a:txBody>
                    <a:bodyPr/>
                    <a:lstStyle/>
                    <a:p>
                      <a:r>
                        <a:rPr sz="1000" b="1">
                          <a:solidFill>
                            <a:srgbClr val="16100E"/>
                          </a:solidFill>
                          <a:latin typeface="DM Sans"/>
                        </a:rPr>
                        <a:t>Critères d'évaluation</a:t>
                      </a:r>
                    </a:p>
                  </a:txBody>
                  <a:tcPr marL="72000" marR="72000" marT="30000" marB="30000">
                    <a:solidFill>
                      <a:srgbClr val="FFFFFF"/>
                    </a:solidFill>
                  </a:tcPr>
                </a:tc>
                <a:tc>
                  <a:txBody>
                    <a:bodyPr/>
                    <a:lstStyle/>
                    <a:p>
                      <a:r>
                        <a:rPr sz="1000" b="0">
                          <a:solidFill>
                            <a:srgbClr val="16100E"/>
                          </a:solidFill>
                          <a:latin typeface="DM Sans"/>
                        </a:rPr>
                        <a:t>Assertions, grille, seuil ; quand on rejoue</a:t>
                      </a:r>
                    </a:p>
                  </a:txBody>
                  <a:tcPr marL="72000" marR="72000" marT="30000" marB="30000">
                    <a:solidFill>
                      <a:srgbClr val="FFFFFF"/>
                    </a:solidFill>
                  </a:tcPr>
                </a:tc>
                <a:tc>
                  <a:txBody>
                    <a:bodyPr/>
                    <a:lstStyle/>
                    <a:p>
                      <a:r>
                        <a:rPr sz="1000" b="0" i="1">
                          <a:solidFill>
                            <a:srgbClr val="504C49"/>
                          </a:solidFill>
                          <a:latin typeface="DM Sans"/>
                        </a:rPr>
                        <a:t>tp3-eval : 5 assertions, juge ≥ 7/10 ; à chaque MR et changement de modèle</a:t>
                      </a:r>
                    </a:p>
                  </a:txBody>
                  <a:tcPr marL="72000" marR="72000" marT="30000" marB="30000">
                    <a:solidFill>
                      <a:srgbClr val="FFFFFF"/>
                    </a:solidFill>
                  </a:tcPr>
                </a:tc>
              </a:tr>
              <a:tr h="390000">
                <a:tc>
                  <a:txBody>
                    <a:bodyPr/>
                    <a:lstStyle/>
                    <a:p>
                      <a:r>
                        <a:rPr sz="1000" b="1">
                          <a:solidFill>
                            <a:srgbClr val="16100E"/>
                          </a:solidFill>
                          <a:latin typeface="DM Sans"/>
                        </a:rPr>
                        <a:t>Distribution / version</a:t>
                      </a:r>
                    </a:p>
                  </a:txBody>
                  <a:tcPr marL="72000" marR="72000" marT="30000" marB="30000">
                    <a:solidFill>
                      <a:srgbClr val="F3F1EF"/>
                    </a:solidFill>
                  </a:tcPr>
                </a:tc>
                <a:tc>
                  <a:txBody>
                    <a:bodyPr/>
                    <a:lstStyle/>
                    <a:p>
                      <a:r>
                        <a:rPr sz="1000" b="0">
                          <a:solidFill>
                            <a:srgbClr val="16100E"/>
                          </a:solidFill>
                          <a:latin typeface="DM Sans"/>
                        </a:rPr>
                        <a:t>Où on la trouve, comment on la référence</a:t>
                      </a:r>
                    </a:p>
                  </a:txBody>
                  <a:tcPr marL="72000" marR="72000" marT="30000" marB="30000">
                    <a:solidFill>
                      <a:srgbClr val="F3F1EF"/>
                    </a:solidFill>
                  </a:tcPr>
                </a:tc>
                <a:tc>
                  <a:txBody>
                    <a:bodyPr/>
                    <a:lstStyle/>
                    <a:p>
                      <a:r>
                        <a:rPr sz="1000" b="0" i="1">
                          <a:solidFill>
                            <a:srgbClr val="504C49"/>
                          </a:solidFill>
                          <a:latin typeface="DM Sans"/>
                        </a:rPr>
                        <a:t>Dépôt GitLab, tag semver, catalogue interne</a:t>
                      </a:r>
                    </a:p>
                  </a:txBody>
                  <a:tcPr marL="72000" marR="72000" marT="30000" marB="30000">
                    <a:solidFill>
                      <a:srgbClr val="F3F1EF"/>
                    </a:solidFill>
                  </a:tcPr>
                </a:tc>
              </a:tr>
              <a:tr h="390000">
                <a:tc>
                  <a:txBody>
                    <a:bodyPr/>
                    <a:lstStyle/>
                    <a:p>
                      <a:r>
                        <a:rPr sz="1000" b="1">
                          <a:solidFill>
                            <a:srgbClr val="16100E"/>
                          </a:solidFill>
                          <a:latin typeface="DM Sans"/>
                        </a:rPr>
                        <a:t>Contrôles d'accès</a:t>
                      </a:r>
                    </a:p>
                  </a:txBody>
                  <a:tcPr marL="72000" marR="72000" marT="30000" marB="30000">
                    <a:solidFill>
                      <a:srgbClr val="FFFFFF"/>
                    </a:solidFill>
                  </a:tcPr>
                </a:tc>
                <a:tc>
                  <a:txBody>
                    <a:bodyPr/>
                    <a:lstStyle/>
                    <a:p>
                      <a:r>
                        <a:rPr sz="1000" b="0">
                          <a:solidFill>
                            <a:srgbClr val="16100E"/>
                          </a:solidFill>
                          <a:latin typeface="DM Sans"/>
                        </a:rPr>
                        <a:t>Qui peut charger, modifier, appeler</a:t>
                      </a:r>
                    </a:p>
                  </a:txBody>
                  <a:tcPr marL="72000" marR="72000" marT="30000" marB="30000">
                    <a:solidFill>
                      <a:srgbClr val="FFFFFF"/>
                    </a:solidFill>
                  </a:tcPr>
                </a:tc>
                <a:tc>
                  <a:txBody>
                    <a:bodyPr/>
                    <a:lstStyle/>
                    <a:p>
                      <a:r>
                        <a:rPr sz="1000" b="0" i="1">
                          <a:solidFill>
                            <a:srgbClr val="504C49"/>
                          </a:solidFill>
                          <a:latin typeface="DM Sans"/>
                        </a:rPr>
                        <a:t>CODEOWNERS ; permission.skill par agent ; OAuth 2.1 sur le serveur</a:t>
                      </a:r>
                    </a:p>
                  </a:txBody>
                  <a:tcPr marL="72000" marR="72000" marT="30000" marB="30000">
                    <a:solidFill>
                      <a:srgbClr val="FFFFFF"/>
                    </a:solidFill>
                  </a:tcPr>
                </a:tc>
              </a:tr>
              <a:tr h="390000">
                <a:tc>
                  <a:txBody>
                    <a:bodyPr/>
                    <a:lstStyle/>
                    <a:p>
                      <a:r>
                        <a:rPr sz="1000" b="1">
                          <a:solidFill>
                            <a:srgbClr val="16100E"/>
                          </a:solidFill>
                          <a:latin typeface="DM Sans"/>
                        </a:rPr>
                        <a:t>Dépréciation</a:t>
                      </a:r>
                    </a:p>
                  </a:txBody>
                  <a:tcPr marL="72000" marR="72000" marT="30000" marB="30000">
                    <a:solidFill>
                      <a:srgbClr val="F3F1EF"/>
                    </a:solidFill>
                  </a:tcPr>
                </a:tc>
                <a:tc>
                  <a:txBody>
                    <a:bodyPr/>
                    <a:lstStyle/>
                    <a:p>
                      <a:r>
                        <a:rPr sz="1000" b="0">
                          <a:solidFill>
                            <a:srgbClr val="16100E"/>
                          </a:solidFill>
                          <a:latin typeface="DM Sans"/>
                        </a:rPr>
                        <a:t>Le test de suppression : critère, cadence, décision</a:t>
                      </a:r>
                    </a:p>
                  </a:txBody>
                  <a:tcPr marL="72000" marR="72000" marT="30000" marB="30000">
                    <a:solidFill>
                      <a:srgbClr val="F3F1EF"/>
                    </a:solidFill>
                  </a:tcPr>
                </a:tc>
                <a:tc>
                  <a:txBody>
                    <a:bodyPr/>
                    <a:lstStyle/>
                    <a:p>
                      <a:r>
                        <a:rPr sz="1000" b="0" i="1">
                          <a:solidFill>
                            <a:srgbClr val="504C49"/>
                          </a:solidFill>
                          <a:latin typeface="DM Sans"/>
                        </a:rPr>
                        <a:t>Rejouer sans une règle à chaque nouveau modèle ; retirer si les preuves tiennent</a:t>
                      </a:r>
                    </a:p>
                  </a:txBody>
                  <a:tcPr marL="72000" marR="72000" marT="30000" marB="30000">
                    <a:solidFill>
                      <a:srgbClr val="F3F1EF"/>
                    </a:solidFill>
                  </a:tcPr>
                </a:tc>
              </a:tr>
              <a:tr h="390000">
                <a:tc>
                  <a:txBody>
                    <a:bodyPr/>
                    <a:lstStyle/>
                    <a:p>
                      <a:r>
                        <a:rPr sz="1000" b="1">
                          <a:solidFill>
                            <a:srgbClr val="16100E"/>
                          </a:solidFill>
                          <a:latin typeface="DM Sans"/>
                        </a:rPr>
                        <a:t>Première action datée</a:t>
                      </a:r>
                    </a:p>
                  </a:txBody>
                  <a:tcPr marL="72000" marR="72000" marT="30000" marB="30000">
                    <a:solidFill>
                      <a:srgbClr val="FFFFFF"/>
                    </a:solidFill>
                  </a:tcPr>
                </a:tc>
                <a:tc>
                  <a:txBody>
                    <a:bodyPr/>
                    <a:lstStyle/>
                    <a:p>
                      <a:r>
                        <a:rPr sz="1000" b="0">
                          <a:solidFill>
                            <a:srgbClr val="16100E"/>
                          </a:solidFill>
                          <a:latin typeface="DM Sans"/>
                        </a:rPr>
                        <a:t>Un verbe, un nom, une date</a:t>
                      </a:r>
                    </a:p>
                  </a:txBody>
                  <a:tcPr marL="72000" marR="72000" marT="30000" marB="30000">
                    <a:solidFill>
                      <a:srgbClr val="FFFFFF"/>
                    </a:solidFill>
                  </a:tcPr>
                </a:tc>
                <a:tc>
                  <a:txBody>
                    <a:bodyPr/>
                    <a:lstStyle/>
                    <a:p>
                      <a:r>
                        <a:rPr sz="1000" b="0" i="1">
                          <a:solidFill>
                            <a:srgbClr val="504C49"/>
                          </a:solidFill>
                          <a:latin typeface="DM Sans"/>
                        </a:rPr>
                        <a:t>Ex. : ouvrir la MR du catalogue — &lt;nom&gt;, &lt;date&gt;</a:t>
                      </a:r>
                    </a:p>
                  </a:txBody>
                  <a:tcPr marL="72000" marR="72000" marT="30000" marB="30000">
                    <a:solidFill>
                      <a:srgbClr val="FFFFFF"/>
                    </a:solidFill>
                  </a:tcPr>
                </a:tc>
              </a:tr>
            </a:tbl>
          </a:graphicData>
        </a:graphic>
      </p:graphicFrame>
      <p:sp>
        <p:nvSpPr>
          <p:cNvPr id="3" name="Title 2"/>
          <p:cNvSpPr>
            <a:spLocks noGrp="1"/>
          </p:cNvSpPr>
          <p:nvPr>
            <p:ph type="title"/>
          </p:nvPr>
        </p:nvSpPr>
        <p:spPr/>
        <p:txBody>
          <a:bodyPr/>
          <a:lstStyle/>
          <a:p>
            <a:r>
              <a:t>La fiche de sortie : une capacité, neuf lignes</a:t>
            </a:r>
          </a:p>
        </p:txBody>
      </p:sp>
      <p:sp>
        <p:nvSpPr>
          <p:cNvPr id="4" name="TextBox 3"/>
          <p:cNvSpPr txBox="1"/>
          <p:nvPr/>
        </p:nvSpPr>
        <p:spPr>
          <a:xfrm>
            <a:off x="548640" y="6050000"/>
            <a:ext cx="11094720" cy="500000"/>
          </a:xfrm>
          <a:prstGeom prst="rect">
            <a:avLst/>
          </a:prstGeom>
          <a:noFill/>
        </p:spPr>
        <p:txBody>
          <a:bodyPr wrap="square" lIns="0" rIns="0" tIns="0" bIns="0">
            <a:spAutoFit/>
          </a:bodyPr>
          <a:lstStyle/>
          <a:p>
            <a:pPr algn="l"/>
            <a:r>
              <a:rPr sz="1000" b="0" i="0">
                <a:solidFill>
                  <a:srgbClr val="504C49"/>
                </a:solidFill>
                <a:latin typeface="DM Sans"/>
              </a:rPr>
              <a:t>Une ligne vide ou une intention (« à définir ») n'est pas une réponse : la fiche est le livrable de l'atelier. Canevas téléchargeable dans les guides (fiche-de-sortie).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Quatre artefacts, des preuves, une suite</a:t>
            </a:r>
          </a:p>
        </p:txBody>
      </p:sp>
      <p:sp>
        <p:nvSpPr>
          <p:cNvPr id="3" name="Text Placeholder 2"/>
          <p:cNvSpPr>
            <a:spLocks noGrp="1"/>
          </p:cNvSpPr>
          <p:nvPr>
            <p:ph type="body" idx="12"/>
          </p:nvPr>
        </p:nvSpPr>
        <p:spPr/>
        <p:txBody>
          <a:bodyPr/>
          <a:lstStyle/>
          <a:p>
            <a:r>
              <a:t>Avant la production</a:t>
            </a:r>
          </a:p>
        </p:txBody>
      </p:sp>
      <p:sp>
        <p:nvSpPr>
          <p:cNvPr id="4" name="Text Placeholder 3"/>
          <p:cNvSpPr>
            <a:spLocks noGrp="1"/>
          </p:cNvSpPr>
          <p:nvPr>
            <p:ph type="body" idx="13"/>
          </p:nvPr>
        </p:nvSpPr>
        <p:spPr/>
        <p:txBody>
          <a:bodyPr/>
          <a:lstStyle/>
          <a:p>
            <a:r>
              <a:t>Élargir les cas et répéter les évaluations.</a:t>
            </a:r>
          </a:p>
          <a:p>
            <a:r>
              <a:t>Valider identité, accès, secrets, observabilité et budgets.</a:t>
            </a:r>
          </a:p>
          <a:p>
            <a:r>
              <a:t>Nommer un propriétaire, versionner et prévoir le retour arrière.</a:t>
            </a:r>
          </a:p>
          <a:p>
            <a:r>
              <a:t>Un prototype évalué n’est pas une plateforme prête pour la production.</a:t>
            </a:r>
          </a:p>
        </p:txBody>
      </p:sp>
      <p:sp>
        <p:nvSpPr>
          <p:cNvPr id="5" name="Text Placeholder 4"/>
          <p:cNvSpPr>
            <a:spLocks noGrp="1"/>
          </p:cNvSpPr>
          <p:nvPr>
            <p:ph type="body" idx="14" sz="quarter"/>
          </p:nvPr>
        </p:nvSpPr>
        <p:spPr/>
        <p:txBody>
          <a:bodyPr/>
          <a:lstStyle/>
          <a:p>
            <a:r>
              <a:rPr sz="2400"/>
              <a:t>TP1 · Un serveur et des appels MCP observés.</a:t>
            </a:r>
          </a:p>
          <a:p>
            <a:r>
              <a:rPr sz="2400"/>
              <a:t>TP2 · Un Skill chargé et une génération comparée.</a:t>
            </a:r>
          </a:p>
          <a:p>
            <a:r>
              <a:rPr sz="2400"/>
              <a:t>TP3 · Des assertions éprouvées et un verdict discuté.</a:t>
            </a:r>
          </a:p>
          <a:p>
            <a:r>
              <a:rPr sz="2400"/>
              <a:t>TP4 · Une MR relue et un blocage CI démontré.</a:t>
            </a:r>
          </a:p>
          <a:p>
            <a:r>
              <a:rPr sz="2400"/>
              <a:t>Bâtir au-dessus du socle ; conserver la responsabilité des contrôles.</a:t>
            </a:r>
          </a:p>
        </p:txBody>
      </p:sp>
    </p:spTree>
  </p:cSld>
  <p:clrMapOvr>
    <a:masterClrMapping/>
  </p:clrMapOvr>
</p:sld>
</file>

<file path=ppt/theme/theme1.xml><?xml version="1.0" encoding="utf-8"?>
<a:theme xmlns:a="http://schemas.openxmlformats.org/drawingml/2006/main" name="SCIAM colors:   # Surface &amp; background">
  <a:themeElements>
    <a:clrScheme name="Personnalisé 13">
      <a:dk1>
        <a:srgbClr val="16100E"/>
      </a:dk1>
      <a:lt1>
        <a:srgbClr val="FFFFFF"/>
      </a:lt1>
      <a:dk2>
        <a:srgbClr val="222D45"/>
      </a:dk2>
      <a:lt2>
        <a:srgbClr val="FFFFFF"/>
      </a:lt2>
      <a:accent1>
        <a:srgbClr val="222D45"/>
      </a:accent1>
      <a:accent2>
        <a:srgbClr val="504C49"/>
      </a:accent2>
      <a:accent3>
        <a:srgbClr val="FFFFFF"/>
      </a:accent3>
      <a:accent4>
        <a:srgbClr val="16100E"/>
      </a:accent4>
      <a:accent5>
        <a:srgbClr val="FFC000"/>
      </a:accent5>
      <a:accent6>
        <a:srgbClr val="E0DDDA"/>
      </a:accent6>
      <a:hlink>
        <a:srgbClr val="222D45"/>
      </a:hlink>
      <a:folHlink>
        <a:srgbClr val="504C49"/>
      </a:folHlink>
    </a:clrScheme>
    <a:fontScheme name="SCIAM colors:   # Surface &amp; background">
      <a:majorFont>
        <a:latin typeface="DM Serif Text"/>
        <a:ea typeface=""/>
        <a:cs typeface=""/>
      </a:majorFont>
      <a:minorFont>
        <a:latin typeface="DM Sans"/>
        <a:ea typeface=""/>
        <a:cs typeface=""/>
      </a:minorFont>
    </a:fontScheme>
    <a:fmtScheme name="Office">
      <a:fillStyleLst>
        <a:solidFill>
          <a:schemeClr val="phClr"/>
        </a:solidFill>
        <a:gradFill rotWithShape="1">
          <a:gsLst>
            <a:gs pos="0">
              <a:schemeClr val="phClr"/>
            </a:gs>
            <a:gs pos="100000">
              <a:schemeClr val="phClr">
                <a:shade val="85000"/>
              </a:schemeClr>
            </a:gs>
          </a:gsLst>
          <a:lin ang="5400000" scaled="0"/>
        </a:gradFill>
        <a:gradFill rotWithShape="1">
          <a:gsLst>
            <a:gs pos="0">
              <a:schemeClr val="phClr">
                <a:tint val="80000"/>
              </a:schemeClr>
            </a:gs>
            <a:gs pos="100000">
              <a:schemeClr val="phClr">
                <a:shade val="80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objectDefaults/>
  <a:extraClrSchemeLst/>
  <a:extLst>
    <a:ext uri="{05A4C25C-085E-4340-85A3-A5531E510DB2}">
      <thm15:themeFamily xmlns:thm15="http://schemas.microsoft.com/office/thememl/2012/main" name="Modele_SCIAM_DESIGN_v2.0" id="{1D7A38D8-AC19-4F45-A6C7-418676066534}" vid="{2DBF16DA-9F93-412D-A3F5-5D7943BEB230}"/>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C71040-C1FF-4136-A7C7-46492B432F12}">
  <we:reference id="WA200010001" version="1.0.0.1" store="Omex" storeType="OMEX"/>
  <we:alternateReferences>
    <we:reference id="WA200010001" version="1.0.0.1" store="WA200010001" storeType="OMEX"/>
  </we:alternateReferences>
  <we:properties>
    <we:property name="claude.fileId" value="&quot;3018b23d-a3de-443a-9a89-3a3f4544974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4</TotalTime>
  <Words>724</Words>
  <Application>Microsoft Office PowerPoint</Application>
  <PresentationFormat>Grand écran</PresentationFormat>
  <Paragraphs>147</Paragraphs>
  <Slides>12</Slides>
  <Notes>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12</vt:i4>
      </vt:variant>
    </vt:vector>
  </HeadingPairs>
  <TitlesOfParts>
    <vt:vector size="16" baseType="lpstr">
      <vt:lpstr>Aptos</vt:lpstr>
      <vt:lpstr>Arial</vt:lpstr>
      <vt:lpstr>DM Sans</vt:lpstr>
      <vt:lpstr>SCIAM colors:   # Surface &amp; background</vt:lpstr>
      <vt:lpstr>Charte Graphique 2.0 SCIAM</vt:lpstr>
      <vt:lpstr>Sommaire</vt:lpstr>
      <vt:lpstr>Contexte &amp; enjeux</vt:lpstr>
      <vt:lpstr>Contexte &amp; enjeux</vt:lpstr>
      <vt:lpstr>Nos valeurs</vt:lpstr>
      <vt:lpstr>Notre Proposition</vt:lpstr>
      <vt:lpstr>Notre Proposition</vt:lpstr>
      <vt:lpstr>Nos équipes</vt:lpstr>
      <vt:lpstr>Pourquoi choisir SCIAM ?</vt:lpstr>
      <vt:lpstr>Des experts reconnus à l’échelle mondiale</vt:lpstr>
      <vt:lpstr>Comment nous travaillons</vt:lpstr>
      <vt:lpstr>Conseil, expertise &amp; accompagnement technologique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SCIAM PowerPoint Template</dc:subject>
  <dc:creator>Pierre Lepagnol</dc:creator>
  <cp:lastModifiedBy>Pierre Lepagnol</cp:lastModifiedBy>
  <cp:revision>6</cp:revision>
  <dcterms:created xsi:type="dcterms:W3CDTF">2026-07-06T13:55:42Z</dcterms:created>
  <dcterms:modified xsi:type="dcterms:W3CDTF">2026-07-06T14:00:42Z</dcterms:modified>
</cp:coreProperties>
</file>