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256" r:id="rId8"/>
    <p:sldId id="257" r:id="rId9"/>
    <p:sldId id="258" r:id="rId10"/>
    <p:sldId id="259" r:id="rId11"/>
    <p:sldId id="260" r:id="rId12"/>
    <p:sldId id="261" r:id="rId13"/>
    <p:sldId id="262" r:id="rId7"/>
    <p:sldId id="263" r:id="rId6"/>
    <p:sldId id="264" r:id="rId5"/>
    <p:sldId id="265" r:id="rId4"/>
    <p:sldId id="266" r:id="rId3"/>
    <p:sldId id="267" r:id="rId2"/>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548640">
          <p15:clr>
            <a:srgbClr val="A4A3A4"/>
          </p15:clr>
        </p15:guide>
        <p15:guide id="2" pos="11643360">
          <p15:clr>
            <a:srgbClr val="A4A3A4"/>
          </p15:clr>
        </p15:guide>
        <p15:guide id="3" orient="horz" pos="502920">
          <p15:clr>
            <a:srgbClr val="A4A3A4"/>
          </p15:clr>
        </p15:guide>
        <p15:guide id="4" orient="horz" pos="64922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9F6"/>
    <a:srgbClr val="314163"/>
    <a:srgbClr val="00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2990" autoAdjust="0"/>
  </p:normalViewPr>
  <p:slideViewPr>
    <p:cSldViewPr snapToGrid="0" snapToObjects="1">
      <p:cViewPr varScale="1">
        <p:scale>
          <a:sx n="144" d="100"/>
          <a:sy n="144" d="100"/>
        </p:scale>
        <p:origin x="2466" y="126"/>
      </p:cViewPr>
      <p:guideLst>
        <p:guide pos="548640"/>
        <p:guide pos="11643360"/>
        <p:guide orient="horz" pos="502920"/>
        <p:guide orient="horz" pos="6492240"/>
      </p:guideLst>
    </p:cSldViewPr>
  </p:slideViewPr>
  <p:notesTextViewPr>
    <p:cViewPr>
      <p:scale>
        <a:sx n="3" d="2"/>
        <a:sy n="3" d="2"/>
      </p:scale>
      <p:origin x="0" y="0"/>
    </p:cViewPr>
  </p:notesTextViewPr>
  <p:notesViewPr>
    <p:cSldViewPr snapToGrid="0" snapToObjects="1">
      <p:cViewPr varScale="1">
        <p:scale>
          <a:sx n="89" d="100"/>
          <a:sy n="89" d="100"/>
        </p:scale>
        <p:origin x="563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98FEE70-9643-1636-F329-88E1DC2886CD}"/>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0B493B6B-B215-AF4D-52AC-EDDA52D7E493}"/>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29FC3DDA-5E2B-4F31-BDED-2800E2194720}" type="datetimeFigureOut">
              <a:rPr lang="fr-FR" smtClean="0"/>
              <a:t>06/07/2026</a:t>
            </a:fld>
            <a:endParaRPr lang="fr-FR"/>
          </a:p>
        </p:txBody>
      </p:sp>
      <p:sp>
        <p:nvSpPr>
          <p:cNvPr id="5" name="Espace réservé du numéro de diapositive 4">
            <a:extLst>
              <a:ext uri="{FF2B5EF4-FFF2-40B4-BE49-F238E27FC236}">
                <a16:creationId xmlns:a16="http://schemas.microsoft.com/office/drawing/2014/main" id="{D8D63422-FFEB-2CBC-31A5-5264FC32EBD7}"/>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4F318222-5C0B-48F7-A39C-815EB064AF7B}" type="slidenum">
              <a:rPr lang="fr-FR" smtClean="0"/>
              <a:t>‹N°›</a:t>
            </a:fld>
            <a:endParaRPr lang="fr-FR"/>
          </a:p>
        </p:txBody>
      </p:sp>
    </p:spTree>
    <p:extLst>
      <p:ext uri="{BB962C8B-B14F-4D97-AF65-F5344CB8AC3E}">
        <p14:creationId xmlns:p14="http://schemas.microsoft.com/office/powerpoint/2010/main" val="18047067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3141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Point de départ, dans LEUR monde. Racontez l'histoire vraie : pendant des années, valider des politiques K8s = déployer Gatekeeper ou Kyverno, avec CRDs et webhook d'admission dans le chemin critique. Du code maison, maintenu, testé. Puis K8s 1.30 rend CEL natif dans l'API server (ValidatingAdmissionPolicy) : la capacité passe sous la ligne de flottaison.</a:t>
            </a:r>
          </a:p>
          <a:p>
            <a:r>
              <a:t>Message clé : ce n'était pas une erreur de l'avoir écrit — c'était en avance sur le socle. Le socle absorbe le MÉCANISME (comment on valide), pas l'INTENTION (quelles règles). Transition : ce schéma va se répéter avec les LLM, mais bien plus vite.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6" name="Notes Placeholder"/>
          <p:cNvSpPr>
            <a:spLocks noGrp="1"/>
          </p:cNvSpPr>
          <p:nvPr>
            <p:ph type="body" idx="1"/>
          </p:nvPr>
        </p:nvSpPr>
        <p:spPr/>
        <p:txBody>
          <a:bodyPr/>
          <a:lstStyle/>
          <a:p>
            <a:r>
              <a:t>La métaphore de Gregor Hohpe (Platform Strategy). Le niveau monte. Deux stratégies : sink — on garde la capacité maison, elle finit sous l'eau, dupliquée et coûteuse ; float — on abandonne au fur et à mesure et on réinvestit plus haut.</a:t>
            </a:r>
          </a:p>
          <a:p>
            <a:r>
              <a:t>Point politique à ne pas rater : le contrat social. Une plateforme qui flotte prévient ses équipes de ce qui sera retiré — sinon retirer = trahir. Reliez à leur rôle : leur métier n'est pas d'accumuler des capacités, mais de savoir lesquelles lâcher.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7" name="Notes Placeholder"/>
          <p:cNvSpPr>
            <a:spLocks noGrp="1"/>
          </p:cNvSpPr>
          <p:nvPr>
            <p:ph type="body" idx="1"/>
          </p:nvPr>
        </p:nvSpPr>
        <p:spPr/>
        <p:txBody>
          <a:bodyPr/>
          <a:lstStyle/>
          <a:p>
            <a:r>
              <a:t>Enfoncez le clou avec des exemples K8s qu'ils reconnaissent dans leurs tripes : admission policy (déjà vu), sidecars (injection maison type Istio → sidecars natifs gérés par le kubelet), scheduling gates, in-place pod resize. À chaque fois : quelqu'un a écrit du tooling, le socle l'a absorbé — cycle normal d'une plateforme.</a:t>
            </a:r>
          </a:p>
          <a:p>
            <a:r>
              <a:t>Interaction : demandez à la salle quel tooling maison ils ont déjà supprimé grâce à une feature K8s. Ça crée l'adhésion avant le pivot IA.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8" name="Notes Placeholder"/>
          <p:cNvSpPr>
            <a:spLocks noGrp="1"/>
          </p:cNvSpPr>
          <p:nvPr>
            <p:ph type="body" idx="1"/>
          </p:nvPr>
        </p:nvSpPr>
        <p:spPr/>
        <p:txBody>
          <a:bodyPr/>
          <a:lstStyle/>
          <a:p>
            <a:r>
              <a:t>Le cœur du keynote : on garde le modèle mental, on change de socle. Faites la correspondance rôle par rôle (la slide est en regard) : API server → le modèle ; opérateur/webhook → le harnais autour du LLM ; CRD → les formats d'outils propriétaires ; feature native → ce que le modèle suivant sait faire seul.</a:t>
            </a:r>
          </a:p>
          <a:p>
            <a:r>
              <a:t>Le point qui réveille la salle : la VITESSE. En K8s la montée des eaux prend ~5 ans ; côté LLM, ~18 mois entre deux générations. La dette de harnais se rembourse — ou s'accumule — beaucoup plus vite.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9" name="Notes Placeholder"/>
          <p:cNvSpPr>
            <a:spLocks noGrp="1"/>
          </p:cNvSpPr>
          <p:nvPr>
            <p:ph type="body" idx="1"/>
          </p:nvPr>
        </p:nvSpPr>
        <p:spPr/>
        <p:txBody>
          <a:bodyPr/>
          <a:lstStyle/>
          <a:p>
            <a:r>
              <a:t>Les exemples d'absorption côté IA, en miroir du K8s :</a:t>
            </a:r>
          </a:p>
          <a:p>
            <a:r>
              <a:t>- parsing d'outils à la main (ReAct, regex sur la sortie) → function calling natif ;</a:t>
            </a:r>
          </a:p>
          <a:p>
            <a:r>
              <a:t>- CoT forcé par prompt ("réfléchis étape par étape") → modèles de raisonnement entraînés à le faire seuls. NUANCE forte : forcer le CoT sur un modèle de raisonnement récent peut DÉGRADER la qualité — le vieux harnais devient nuisible ;</a:t>
            </a:r>
          </a:p>
          <a:p>
            <a:r>
              <a:t>- validation JSON par retry → sorties structurées garanties ;</a:t>
            </a:r>
          </a:p>
          <a:p>
            <a:r>
              <a:t>- chunking pour tenir en 4k → fenêtres longues + cache.</a:t>
            </a:r>
          </a:p>
          <a:p>
            <a:r>
              <a:t>Chacun était une bonne idée devenue du poids mort.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0" name="Notes Placeholder"/>
          <p:cNvSpPr>
            <a:spLocks noGrp="1"/>
          </p:cNvSpPr>
          <p:nvPr>
            <p:ph type="body" idx="1"/>
          </p:nvPr>
        </p:nvSpPr>
        <p:spPr/>
        <p:txBody>
          <a:bodyPr/>
          <a:lstStyle/>
          <a:p>
            <a:r>
              <a:t>Nuance indispensable, sinon la métaphore est fausse. K8s = un substrat unifié. Les LLM = pluriels et concurrents (fermés : OpenAI, Anthropic, Google, xAI ; open-weight : DeepSeek, Qwen, Llama, Mistral).</a:t>
            </a:r>
          </a:p>
          <a:p>
            <a:r>
              <a:t>Donc TROIS issues, pas deux : absorption (le socle avale → on supprime) ; normalisation (une interface se fige → on garde un adaptateur : CRI/CNI/CSI côté K8s, l'API compatible OpenAI côté LLM) ; divergence durable (rien ne converge → on maintient, coût assumé).</a:t>
            </a:r>
          </a:p>
          <a:p>
            <a:r>
              <a:t>C'est l'outil de décision de la platform team : pour chaque capacité maison, dans quelle case je suis ?</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1" name="Notes Placeholder"/>
          <p:cNvSpPr>
            <a:spLocks noGrp="1"/>
          </p:cNvSpPr>
          <p:nvPr>
            <p:ph type="body" idx="1"/>
          </p:nvPr>
        </p:nvSpPr>
        <p:spPr/>
        <p:txBody>
          <a:bodyPr/>
          <a:lstStyle/>
          <a:p>
            <a:r>
              <a:t>MCP illustre la normalisation PAR LE HAUT — contre-intuitif : d'habitude les standards montent du bas. Ici un lab frontière (Anthropic, fin 2024) publie un protocole ouvert, et les concurrents l'adoptent : faire grossir l'écosystème vaut mieux que le verrouiller.</a:t>
            </a:r>
          </a:p>
          <a:p>
            <a:r>
              <a:t>Résultat : le point d'intégration devient une interface fine et stable — le "col du sablier" — exactement comme CRI/CNI/CSI ont fait du kubelet un point neutre.</a:t>
            </a:r>
          </a:p>
          <a:p>
            <a:r>
              <a:t>C'est LE moment de transition vers le workshop : on va passer deux jours à construire sur cette interface normalisée.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2" name="Notes Placeholder"/>
          <p:cNvSpPr>
            <a:spLocks noGrp="1"/>
          </p:cNvSpPr>
          <p:nvPr>
            <p:ph type="body" idx="1"/>
          </p:nvPr>
        </p:nvSpPr>
        <p:spPr/>
        <p:txBody>
          <a:bodyPr/>
          <a:lstStyle/>
          <a:p>
            <a:r>
              <a:t>La conclusion rassurante du keynote : tout ne monte pas. Cinq zones ne seront jamais absorbées par le modèle parce qu'elles sont propres à VOUS, pas au modèle : identité &amp; accès, audit &amp; traçabilité, coût &amp; routing multi-modèle, règles métier &amp; réglementaire, évaluation.</a:t>
            </a:r>
          </a:p>
          <a:p>
            <a:r>
              <a:t>C'est le périmètre durable de la platform team — la vraie ligne de flottaison. Ces cinq zones structurent le Jour 2. Message : lâchez le harnais, gardez la gouvernance.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4" name="Notes Placeholder"/>
          <p:cNvSpPr>
            <a:spLocks noGrp="1"/>
          </p:cNvSpPr>
          <p:nvPr>
            <p:ph type="body" idx="1"/>
          </p:nvPr>
        </p:nvSpPr>
        <p:spPr/>
        <p:txBody>
          <a:bodyPr/>
          <a:lstStyle/>
          <a:p>
            <a:r>
              <a:t>RAPPEL, pas un cours — restez en surface. Vocabulaire commun.</a:t>
            </a:r>
          </a:p>
          <a:p>
            <a:r>
              <a:t>- Frontier vs open-weight. Frontier = propriétaires, API, poids non publiés (exemples À DATE sept. 2026 : GPT-6/GPT-5.x d'OpenAI, Claude Opus 5 / Fable d'Anthropic, Gemini 3.x, Grok 4.x). Open-weight = poids téléchargeables, auto-hébergeables (DeepSeek V4, Qwen 3.x, Llama 4, Mistral, GLM, Kimi).</a:t>
            </a:r>
          </a:p>
          <a:p>
            <a:r>
              <a:t>- À corriger absolument : open weights ≠ open source. Poids ouverts, mais données et code d'entraînement rarement.</a:t>
            </a:r>
          </a:p>
          <a:p>
            <a:r>
              <a:t>- Fait marquant 2026 : l'open-weight est revenu à quelques points des fermés sur beaucoup de benchmarks → alimente la "normalisation par le bas" de M0.</a:t>
            </a:r>
          </a:p>
          <a:p>
            <a:r>
              <a:t>- Paramètres : petits ~1-8B (laptop), moyens ~8-70B, grands 100B+. C'est un PROXY, pas une garantie (données + post-training + archi pèsent autant).</a:t>
            </a:r>
          </a:p>
          <a:p>
            <a:r>
              <a:t>- Caveat : les noms de modèles datent en semaines. Donnez-les en illustration, rafraîchissez avant chaque session.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5" name="Notes Placeholder"/>
          <p:cNvSpPr>
            <a:spLocks noGrp="1"/>
          </p:cNvSpPr>
          <p:nvPr>
            <p:ph type="body" idx="1"/>
          </p:nvPr>
        </p:nvSpPr>
        <p:spPr/>
        <p:txBody>
          <a:bodyPr/>
          <a:lstStyle/>
          <a:p>
            <a:r>
              <a:t>- Dense vs MoE. Dense = tous les paramètres actifs à chaque token. MoE (Mixture of Experts) = un routeur n'active que quelques experts → total ≠ actif. Exemple parlant (à date) : DeepSeek V4 ≈ 1,6 T paramètres TOTAUX mais ~50 B ACTIFS ; Llama 4 Maverick 400B/17B. À l'inférence, un gros MoE coûte le prix de sa fraction active, pas de sa taille affichée. En 2026 le MoE est l'archi par défaut au frontier open ; le milieu (dense 70-100B) s'est vidé.</a:t>
            </a:r>
          </a:p>
          <a:p>
            <a:r>
              <a:t>- Variantes : base (brut, ne suit pas les instructions, inutilisable en chat) ; instruct/chat (aligné, conversationnel) ; reasoning (entraîné à raisonner par étapes avant de répondre) ; distilled (petit modèle entraîné sur les sorties d'un gros).</a:t>
            </a:r>
          </a:p>
          <a:p>
            <a:r>
              <a:t>- Lien M0 : le "reasoning" natif, c'est le CoT qu'on forçait à la main hier, désormais absorbé.</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"source",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Un open-weight frontier-class (ex. DeepSeek V4) reste lourd (plusieurs H100) ; ses variantes quantisées descendent vers du GPU unique.</a:t>
            </a:r>
          </a:p>
          <a:p>
            <a:r>
              <a:t>- Transition : voilà la carte. Maintenant ce qu'on met AUTOUR du modèle — les agents.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8" name="Notes Placeholder"/>
          <p:cNvSpPr>
            <a:spLocks noGrp="1"/>
          </p:cNvSpPr>
          <p:nvPr>
            <p:ph type="body" idx="1"/>
          </p:nvPr>
        </p:nvSpPr>
        <p:spPr/>
        <p:txBody>
          <a:bodyPr/>
          <a:lstStyle/>
          <a:p>
            <a:r>
              <a:t>Les trois briques que la platform team devra outiller :</a:t>
            </a:r>
          </a:p>
          <a:p>
            <a:r>
              <a:t>- Tools : les actions (appels de fonction, accès SI) — ce que MCP standardise, on y passe la journée ;</a:t>
            </a:r>
          </a:p>
          <a:p>
            <a:r>
              <a:t>- Skills : le savoir-faire réutilisable chargé à la demande — le cœur du fil rouge (TP2) ;</a:t>
            </a:r>
          </a:p>
          <a:p>
            <a:r>
              <a:t>- Mémoire : le contexte qui persiste (historique, préférences, connaissances).</a:t>
            </a:r>
          </a:p>
          <a:p>
            <a:r>
              <a:t>Message : ce sont des ACTIFS PARTAGÉS à gouverner, pas des détails d'implémentation. Bascule vers M3.</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9" name="Notes Placeholder"/>
          <p:cNvSpPr>
            <a:spLocks noGrp="1"/>
          </p:cNvSpPr>
          <p:nvPr>
            <p:ph type="body" idx="1"/>
          </p:nvPr>
        </p:nvSpPr>
        <p:spPr/>
        <p:txBody>
          <a:bodyPr/>
          <a:lstStyle/>
          <a:p>
            <a:r>
              <a:t>Deux idées.</a:t>
            </a:r>
          </a:p>
          <a:p>
            <a:r>
              <a:t>- Composition : un orchestrateur délègue à des sous-agents spécialisés → plus de modularité, mais plus de coordination, de latence et de coût. Ne pas multiplier les agents par réflexe.</a:t>
            </a:r>
          </a:p>
          <a:p>
            <a:r>
              <a:t>- Human-in-the-loop : points de validation et garde-fous sur les actions sensibles.</a:t>
            </a:r>
          </a:p>
          <a:p>
            <a:r>
              <a:t>Insistez : la supervision humaine est un choix d'ARCHITECTURE, décidé à la conception, pas une case cochée après coup. Prépare M5 (guardrails) et la gouvernance.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20" name="Notes Placeholder"/>
          <p:cNvSpPr>
            <a:spLocks noGrp="1"/>
          </p:cNvSpPr>
          <p:nvPr>
            <p:ph type="body" idx="1"/>
          </p:nvPr>
        </p:nvSpPr>
        <p:spPr/>
        <p:txBody>
          <a:bodyPr/>
          <a:lstStyle/>
          <a:p>
            <a:r>
              <a:t>Panorama : MCP n'est pas seul, c'est une pile ; chaque protocole résout une couche.</a:t>
            </a:r>
          </a:p>
          <a:p>
            <a:r>
              <a:t>- MCP (Anthropic, nov. 2024) : relie un agent aux outils/données/prompts. Agent-agnostique : le même serveur marche avec n'importe quel client. Notre sujet.</a:t>
            </a:r>
          </a:p>
          <a:p>
            <a:r>
              <a:t>- A2A (Agent2Agent, Google, avr. 2025 → Linux Foundation) : la communication ENTRE agents. Découverte via "Agent Cards" (/.well-known/agent-card.json), délégation de tâches. MCP = agent↔outils ; A2A = agent↔agent : la distinction à marteler.</a:t>
            </a:r>
          </a:p>
          <a:p>
            <a:r>
              <a:t>- A2UI / AG-UI : la couche interface — l'agent génère de l'UI (A2UI, déclaratif) ou dialogue en temps réel (AG-UI, CopilotKit).</a:t>
            </a:r>
          </a:p>
          <a:p>
            <a:r>
              <a:t>- AP2 (Agent Payments Protocol, Google + 60 orgs, sept. 2025) : autorisation de paiement agentique, preuves cryptographiques d'intention ; extension d'A2A et de MCP.</a:t>
            </a:r>
          </a:p>
          <a:p>
            <a:r>
              <a:t>- NUANCE à jour (crédibilité) : ACP (Agent Communication Protocol d'IBM), souvent cité avec AP2, a FUSIONNÉ dans A2A mi-2025. En 2026, A2A a absorbé son principal concurrent.</a:t>
            </a:r>
          </a:p>
          <a:p>
            <a:r>
              <a:t>- Fil conceptuel : ces protocoles sont eux-mêmes de la normalisation par le haut (labs frontière + Linux Foundation). Critère plateforme : n'adoptez que la couche utile, ils sont modulaires. Pour l'accès outils/données, MCP est le socle → d'où le workshop.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COUVERTURE">
    <p:spTree>
      <p:nvGrpSpPr>
        <p:cNvPr id="1" name=""/>
        <p:cNvGrpSpPr/>
        <p:nvPr/>
      </p:nvGrpSpPr>
      <p:grpSpPr>
        <a:xfrm>
          <a:off x="0" y="0"/>
          <a:ext cx="0" cy="0"/>
          <a:chOff x="0" y="0"/>
          <a:chExt cx="0" cy="0"/>
        </a:xfrm>
      </p:grpSpPr>
      <p:sp>
        <p:nvSpPr>
          <p:cNvPr id="2" name="CoverPanelBackground"/>
          <p:cNvSpPr/>
          <p:nvPr/>
        </p:nvSpPr>
        <p:spPr>
          <a:xfrm>
            <a:off x="0" y="0"/>
            <a:ext cx="5669280" cy="6858000"/>
          </a:xfrm>
          <a:prstGeom prst="rect">
            <a:avLst/>
          </a:prstGeom>
          <a:solidFill>
            <a:schemeClr val="accent1"/>
          </a:solidFill>
          <a:ln/>
        </p:spPr>
        <p:txBody>
          <a:bodyPr/>
          <a:lstStyle/>
          <a:p>
            <a:endParaRPr lang="fr-FR" dirty="0"/>
          </a:p>
        </p:txBody>
      </p:sp>
      <p:pic>
        <p:nvPicPr>
          <p:cNvPr id="15" name="CoverPhoto">
            <a:extLst>
              <a:ext uri="{FF2B5EF4-FFF2-40B4-BE49-F238E27FC236}">
                <a16:creationId xmlns:a16="http://schemas.microsoft.com/office/drawing/2014/main" id="{E6F8A69B-C948-877E-9934-74E67B845029}"/>
              </a:ext>
            </a:extLst>
          </p:cNvPr>
          <p:cNvPicPr>
            <a:picLocks noChangeAspect="1"/>
          </p:cNvPicPr>
          <p:nvPr userDrawn="1"/>
        </p:nvPicPr>
        <p:blipFill>
          <a:blip r:embed="rId2">
            <a:alphaModFix amt="50000"/>
          </a:blip>
          <a:srcRect r="53500"/>
          <a:stretch>
            <a:fillRect/>
          </a:stretch>
        </p:blipFill>
        <p:spPr>
          <a:xfrm>
            <a:off x="0" y="0"/>
            <a:ext cx="5669280" cy="6858000"/>
          </a:xfrm>
          <a:prstGeom prst="rect">
            <a:avLst/>
          </a:prstGeom>
        </p:spPr>
      </p:pic>
      <p:sp>
        <p:nvSpPr>
          <p:cNvPr id="4" name="TitleAccentMark"/>
          <p:cNvSpPr/>
          <p:nvPr/>
        </p:nvSpPr>
        <p:spPr>
          <a:xfrm>
            <a:off x="640080" y="4846320"/>
            <a:ext cx="548640" cy="36576"/>
          </a:xfrm>
          <a:prstGeom prst="rect">
            <a:avLst/>
          </a:prstGeom>
          <a:solidFill>
            <a:schemeClr val="accent5"/>
          </a:solidFill>
          <a:ln/>
        </p:spPr>
        <p:txBody>
          <a:bodyPr/>
          <a:lstStyle/>
          <a:p>
            <a:endParaRPr lang="fr-FR"/>
          </a:p>
        </p:txBody>
      </p:sp>
      <p:pic>
        <p:nvPicPr>
          <p:cNvPr id="5" name="CoverAccentGraphic" descr="sciam_logo.png"/>
          <p:cNvPicPr>
            <a:picLocks noChangeAspect="1"/>
          </p:cNvPicPr>
          <p:nvPr/>
        </p:nvPicPr>
        <p:blipFill>
          <a:blip r:embed="rId3"/>
          <a:stretch>
            <a:fillRect/>
          </a:stretch>
        </p:blipFill>
        <p:spPr>
          <a:xfrm>
            <a:off x="7680960" y="1828800"/>
            <a:ext cx="2926080" cy="3840480"/>
          </a:xfrm>
          <a:prstGeom prst="rect">
            <a:avLst/>
          </a:prstGeom>
        </p:spPr>
      </p:pic>
      <p:sp>
        <p:nvSpPr>
          <p:cNvPr id="6" name="PreparedForLabel"/>
          <p:cNvSpPr/>
          <p:nvPr/>
        </p:nvSpPr>
        <p:spPr>
          <a:xfrm>
            <a:off x="640080" y="5943600"/>
            <a:ext cx="3657600" cy="274320"/>
          </a:xfrm>
          <a:prstGeom prst="rect">
            <a:avLst/>
          </a:prstGeom>
          <a:noFill/>
          <a:ln/>
        </p:spPr>
        <p:txBody>
          <a:bodyPr wrap="square" lIns="0" tIns="0" rIns="0" bIns="0" rtlCol="0" anchor="ctr"/>
          <a:lstStyle/>
          <a:p>
            <a:pPr marL="0" indent="0">
              <a:buNone/>
            </a:pPr>
            <a:r>
              <a:rPr lang="en-US" sz="900" b="1" kern="0" spc="144" dirty="0">
                <a:solidFill>
                  <a:schemeClr val="lt2"/>
                </a:solidFill>
                <a:latin typeface="+mn-lt" pitchFamily="34" charset="0"/>
                <a:ea typeface="+mn-ea" pitchFamily="34" charset="-122"/>
                <a:cs typeface="+mn-cs" pitchFamily="34" charset="-120"/>
              </a:rPr>
              <a:t>PRÉPARÉ POUR</a:t>
            </a:r>
            <a:endParaRPr lang="en-US" sz="900" dirty="0"/>
          </a:p>
        </p:txBody>
      </p:sp>
      <p:sp>
        <p:nvSpPr>
          <p:cNvPr id="7" name="CompanyTagline"/>
          <p:cNvSpPr/>
          <p:nvPr/>
        </p:nvSpPr>
        <p:spPr>
          <a:xfrm>
            <a:off x="7680960" y="5760720"/>
            <a:ext cx="292608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sp>
        <p:nvSpPr>
          <p:cNvPr id="8" name="CompanyName"/>
          <p:cNvSpPr/>
          <p:nvPr/>
        </p:nvSpPr>
        <p:spPr>
          <a:xfrm>
            <a:off x="7680960" y="6126480"/>
            <a:ext cx="2926080" cy="365760"/>
          </a:xfrm>
          <a:prstGeom prst="rect">
            <a:avLst/>
          </a:prstGeom>
          <a:noFill/>
          <a:ln/>
        </p:spPr>
        <p:txBody>
          <a:bodyPr wrap="square" lIns="0" tIns="0" rIns="0" bIns="0" rtlCol="0" anchor="ctr"/>
          <a:lstStyle/>
          <a:p>
            <a:pPr marL="0" indent="0" algn="ctr">
              <a:buNone/>
            </a:pPr>
            <a:r>
              <a:rPr lang="en-US" sz="1100" b="1" kern="0" spc="0" dirty="0">
                <a:solidFill>
                  <a:schemeClr val="accent6"/>
                </a:solidFill>
                <a:latin typeface="+mn-lt" pitchFamily="34" charset="0"/>
                <a:ea typeface="+mn-ea" pitchFamily="34" charset="-122"/>
                <a:cs typeface="+mn-cs" pitchFamily="34" charset="-120"/>
              </a:rPr>
              <a:t>SCIAM</a:t>
            </a:r>
            <a:endParaRPr lang="en-US" sz="1100" dirty="0"/>
          </a:p>
        </p:txBody>
      </p:sp>
      <p:sp>
        <p:nvSpPr>
          <p:cNvPr id="9" name="DocumentTypeLabel"/>
          <p:cNvSpPr>
            <a:spLocks noGrp="1"/>
          </p:cNvSpPr>
          <p:nvPr>
            <p:ph type="body" idx="107" hasCustomPrompt="1"/>
          </p:nvPr>
        </p:nvSpPr>
        <p:spPr>
          <a:xfrm>
            <a:off x="640080" y="640080"/>
            <a:ext cx="4937760" cy="365760"/>
          </a:xfrm>
          <a:prstGeom prst="rect">
            <a:avLst/>
          </a:prstGeom>
          <a:noFill/>
          <a:ln/>
        </p:spPr>
        <p:txBody>
          <a:bodyPr wrap="square" rtlCol="0"/>
          <a:lstStyle>
            <a:lvl1pPr marL="0" indent="0">
              <a:lnSpc>
                <a:spcPct val="143000"/>
              </a:lnSpc>
              <a:buNone/>
              <a:defRPr lang="en-US" sz="1100" b="1" kern="0" spc="0" dirty="0">
                <a:solidFill>
                  <a:schemeClr val="lt2"/>
                </a:solidFill>
                <a:latin typeface="+mn-lt" pitchFamily="34" charset="0"/>
                <a:ea typeface="+mn-ea" pitchFamily="34" charset="-122"/>
                <a:cs typeface="+mn-cs" pitchFamily="34" charset="-120"/>
              </a:defRPr>
            </a:lvl1pPr>
          </a:lstStyle>
          <a:p>
            <a:pPr marL="0" indent="0">
              <a:buNone/>
            </a:pPr>
            <a:r>
              <a:rPr lang="en-US" sz="1100" b="1" kern="0" spc="0" dirty="0">
                <a:solidFill>
                  <a:schemeClr val="lt2"/>
                </a:solidFill>
                <a:latin typeface="+mn-lt" pitchFamily="34" charset="0"/>
                <a:ea typeface="+mn-ea" pitchFamily="34" charset="-122"/>
                <a:cs typeface="+mn-cs" pitchFamily="34" charset="-120"/>
              </a:rPr>
              <a:t>TYPE DE DOCUMENT</a:t>
            </a:r>
            <a:endParaRPr lang="en-US" sz="1100" dirty="0"/>
          </a:p>
        </p:txBody>
      </p:sp>
      <p:sp>
        <p:nvSpPr>
          <p:cNvPr id="10" name="DocumentDate"/>
          <p:cNvSpPr>
            <a:spLocks noGrp="1"/>
          </p:cNvSpPr>
          <p:nvPr>
            <p:ph type="body" idx="108" hasCustomPrompt="1"/>
          </p:nvPr>
        </p:nvSpPr>
        <p:spPr>
          <a:xfrm>
            <a:off x="640080" y="1005840"/>
            <a:ext cx="4937760" cy="365760"/>
          </a:xfrm>
          <a:prstGeom prst="rect">
            <a:avLst/>
          </a:prstGeom>
          <a:noFill/>
          <a:ln/>
        </p:spPr>
        <p:txBody>
          <a:bodyPr wrap="square" rtlCol="0"/>
          <a:lstStyle>
            <a:lvl1pPr marL="0" indent="0">
              <a:lnSpc>
                <a:spcPct val="150000"/>
              </a:lnSpc>
              <a:buNone/>
              <a:defRPr lang="en-US" sz="1200" kern="0" spc="0" dirty="0">
                <a:solidFill>
                  <a:schemeClr val="lt2"/>
                </a:solidFill>
                <a:latin typeface="+mn-lt" pitchFamily="34" charset="0"/>
                <a:ea typeface="+mn-ea" pitchFamily="34" charset="-122"/>
                <a:cs typeface="+mn-cs" pitchFamily="34" charset="-120"/>
              </a:defRPr>
            </a:lvl1pPr>
          </a:lstStyle>
          <a:p>
            <a:pPr marL="0" indent="0">
              <a:buNone/>
            </a:pPr>
            <a:r>
              <a:rPr lang="en-US" sz="1200" kern="0" spc="0" dirty="0">
                <a:solidFill>
                  <a:schemeClr val="lt2"/>
                </a:solidFill>
                <a:latin typeface="+mn-lt" pitchFamily="34" charset="0"/>
                <a:ea typeface="+mn-ea" pitchFamily="34" charset="-122"/>
                <a:cs typeface="+mn-cs" pitchFamily="34" charset="-120"/>
              </a:rPr>
              <a:t>Mois Année</a:t>
            </a:r>
            <a:endParaRPr lang="en-US" sz="1200" dirty="0"/>
          </a:p>
        </p:txBody>
      </p:sp>
      <p:sp>
        <p:nvSpPr>
          <p:cNvPr id="11" name="Title"/>
          <p:cNvSpPr>
            <a:spLocks noGrp="1"/>
          </p:cNvSpPr>
          <p:nvPr>
            <p:ph type="title" idx="109" hasCustomPrompt="1"/>
          </p:nvPr>
        </p:nvSpPr>
        <p:spPr>
          <a:xfrm>
            <a:off x="640080" y="2194560"/>
            <a:ext cx="5029200" cy="2743200"/>
          </a:xfrm>
          <a:prstGeom prst="rect">
            <a:avLst/>
          </a:prstGeom>
          <a:noFill/>
          <a:ln/>
        </p:spPr>
        <p:txBody>
          <a:bodyPr wrap="square" rtlCol="0"/>
          <a:lstStyle>
            <a:lvl1pPr marL="0" indent="0" algn="l">
              <a:lnSpc>
                <a:spcPct val="105000"/>
              </a:lnSpc>
              <a:buNone/>
              <a:defRPr lang="en-US" sz="3600" spc="-144" dirty="0">
                <a:solidFill>
                  <a:schemeClr val="lt2"/>
                </a:solidFill>
                <a:latin typeface="+mj-lt" pitchFamily="18" charset="0"/>
                <a:ea typeface="+mj-ea" pitchFamily="18" charset="-122"/>
                <a:cs typeface="+mj-cs" pitchFamily="18" charset="-120"/>
              </a:defRPr>
            </a:lvl1pPr>
          </a:lstStyle>
          <a:p>
            <a:pPr marL="0" indent="0" algn="l">
              <a:buNone/>
            </a:pPr>
            <a:r>
              <a:rPr lang="en-US" sz="3600" dirty="0">
                <a:solidFill>
                  <a:schemeClr val="lt2"/>
                </a:solidFill>
                <a:latin typeface="+mj-lt" pitchFamily="18" charset="0"/>
                <a:ea typeface="+mj-ea" pitchFamily="18" charset="-122"/>
                <a:cs typeface="+mj-cs" pitchFamily="18" charset="-120"/>
              </a:rPr>
              <a:t>Titre principal sur deux ou trois lignes</a:t>
            </a:r>
            <a:endParaRPr lang="en-US" sz="3600" dirty="0"/>
          </a:p>
        </p:txBody>
      </p:sp>
      <p:sp>
        <p:nvSpPr>
          <p:cNvPr id="12" name="Subtitle"/>
          <p:cNvSpPr>
            <a:spLocks noGrp="1"/>
          </p:cNvSpPr>
          <p:nvPr>
            <p:ph type="body" idx="110" hasCustomPrompt="1"/>
          </p:nvPr>
        </p:nvSpPr>
        <p:spPr>
          <a:xfrm>
            <a:off x="640080" y="5029200"/>
            <a:ext cx="5029200" cy="457200"/>
          </a:xfrm>
          <a:prstGeom prst="rect">
            <a:avLst/>
          </a:prstGeom>
          <a:noFill/>
          <a:ln/>
        </p:spPr>
        <p:txBody>
          <a:bodyPr wrap="square" rtlCol="0"/>
          <a:lstStyle>
            <a:lvl1pPr marL="0" indent="0">
              <a:lnSpc>
                <a:spcPct val="150000"/>
              </a:lnSpc>
              <a:buNone/>
              <a:defRPr lang="en-US" sz="1600" i="1" spc="0" dirty="0">
                <a:solidFill>
                  <a:schemeClr val="lt2"/>
                </a:solidFill>
                <a:latin typeface="+mn-lt" pitchFamily="34" charset="0"/>
                <a:ea typeface="+mn-ea" pitchFamily="34" charset="-122"/>
                <a:cs typeface="+mn-cs" pitchFamily="34" charset="-120"/>
              </a:defRPr>
            </a:lvl1pPr>
          </a:lstStyle>
          <a:p>
            <a:pPr marL="0" indent="0">
              <a:buNone/>
            </a:pPr>
            <a:r>
              <a:rPr lang="en-US" sz="1600" i="1" dirty="0">
                <a:solidFill>
                  <a:schemeClr val="lt2"/>
                </a:solidFill>
                <a:latin typeface="+mn-lt" pitchFamily="34" charset="0"/>
                <a:ea typeface="+mn-ea" pitchFamily="34" charset="-122"/>
                <a:cs typeface="+mn-cs" pitchFamily="34" charset="-120"/>
              </a:rPr>
              <a:t>Sous-titre descriptif</a:t>
            </a:r>
            <a:endParaRPr lang="en-US" sz="1600" dirty="0"/>
          </a:p>
        </p:txBody>
      </p:sp>
      <p:sp>
        <p:nvSpPr>
          <p:cNvPr id="13" name="ClientName"/>
          <p:cNvSpPr>
            <a:spLocks noGrp="1"/>
          </p:cNvSpPr>
          <p:nvPr>
            <p:ph type="body" idx="111" hasCustomPrompt="1"/>
          </p:nvPr>
        </p:nvSpPr>
        <p:spPr>
          <a:xfrm>
            <a:off x="640080" y="6172200"/>
            <a:ext cx="3657600" cy="411480"/>
          </a:xfrm>
          <a:prstGeom prst="rect">
            <a:avLst/>
          </a:prstGeom>
          <a:noFill/>
          <a:ln/>
        </p:spPr>
        <p:txBody>
          <a:bodyPr wrap="square" rtlCol="0"/>
          <a:lstStyle>
            <a:lvl1pPr marL="0" indent="0">
              <a:lnSpc>
                <a:spcPct val="135000"/>
              </a:lnSpc>
              <a:buNone/>
              <a:defRPr lang="en-US" sz="2000" b="1" spc="-40" dirty="0">
                <a:solidFill>
                  <a:schemeClr val="lt2"/>
                </a:solidFill>
                <a:latin typeface="+mn-lt" pitchFamily="34" charset="0"/>
                <a:ea typeface="+mn-ea" pitchFamily="34" charset="-122"/>
                <a:cs typeface="+mn-cs" pitchFamily="34" charset="-120"/>
              </a:defRPr>
            </a:lvl1pPr>
          </a:lstStyle>
          <a:p>
            <a:pPr marL="0" indent="0">
              <a:buNone/>
            </a:pPr>
            <a:r>
              <a:rPr lang="en-US" sz="2000" b="1" dirty="0">
                <a:solidFill>
                  <a:schemeClr val="lt2"/>
                </a:solidFill>
                <a:latin typeface="+mn-lt" pitchFamily="34" charset="0"/>
                <a:ea typeface="+mn-ea" pitchFamily="34" charset="-122"/>
                <a:cs typeface="+mn-cs" pitchFamily="34" charset="-120"/>
              </a:rPr>
              <a:t>Nom du client</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03_SOMMAIRE_FULL">
    <p:spTree>
      <p:nvGrpSpPr>
        <p:cNvPr id="1" name=""/>
        <p:cNvGrpSpPr/>
        <p:nvPr/>
      </p:nvGrpSpPr>
      <p:grpSpPr>
        <a:xfrm>
          <a:off x="0" y="0"/>
          <a:ext cx="0" cy="0"/>
          <a:chOff x="0" y="0"/>
          <a:chExt cx="0" cy="0"/>
        </a:xfrm>
      </p:grpSpPr>
      <p:pic>
        <p:nvPicPr>
          <p:cNvPr id="30" name="BackgroundGraphic">
            <a:extLst>
              <a:ext uri="{FF2B5EF4-FFF2-40B4-BE49-F238E27FC236}">
                <a16:creationId xmlns:a16="http://schemas.microsoft.com/office/drawing/2014/main" id="{EA4B5E84-9047-6DAC-CDC0-A5EA97F2B0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039224" y="217124"/>
            <a:ext cx="6429376" cy="6507572"/>
          </a:xfrm>
          <a:prstGeom prst="rect">
            <a:avLst/>
          </a:prstGeom>
        </p:spPr>
      </p:pic>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Sommaire</a:t>
            </a:r>
            <a:endParaRPr lang="en-US" sz="3400" dirty="0"/>
          </a:p>
        </p:txBody>
      </p:sp>
      <p:grpSp>
        <p:nvGrpSpPr>
          <p:cNvPr id="3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gn="l">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lgn="l">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9" name="Entry1_Number"/>
          <p:cNvSpPr>
            <a:spLocks noGrp="1"/>
          </p:cNvSpPr>
          <p:nvPr>
            <p:ph type="body" idx="107" hasCustomPrompt="1"/>
          </p:nvPr>
        </p:nvSpPr>
        <p:spPr>
          <a:xfrm>
            <a:off x="731520" y="210312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01</a:t>
            </a:r>
            <a:endParaRPr lang="en-US" sz="4000" dirty="0"/>
          </a:p>
        </p:txBody>
      </p:sp>
      <p:sp>
        <p:nvSpPr>
          <p:cNvPr id="10" name="Entry1_Title"/>
          <p:cNvSpPr>
            <a:spLocks noGrp="1"/>
          </p:cNvSpPr>
          <p:nvPr>
            <p:ph type="body" idx="108" hasCustomPrompt="1"/>
          </p:nvPr>
        </p:nvSpPr>
        <p:spPr>
          <a:xfrm>
            <a:off x="1920240" y="212140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1" name="Entry1_Pages"/>
          <p:cNvSpPr>
            <a:spLocks noGrp="1"/>
          </p:cNvSpPr>
          <p:nvPr>
            <p:ph type="body" idx="109" hasCustomPrompt="1"/>
          </p:nvPr>
        </p:nvSpPr>
        <p:spPr>
          <a:xfrm>
            <a:off x="1920240" y="248716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3" name="Entry2_Number"/>
          <p:cNvSpPr>
            <a:spLocks noGrp="1"/>
          </p:cNvSpPr>
          <p:nvPr>
            <p:ph type="body" idx="111" hasCustomPrompt="1"/>
          </p:nvPr>
        </p:nvSpPr>
        <p:spPr>
          <a:xfrm>
            <a:off x="731520" y="292608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02</a:t>
            </a:r>
            <a:endParaRPr lang="en-US" sz="4000" dirty="0"/>
          </a:p>
        </p:txBody>
      </p:sp>
      <p:sp>
        <p:nvSpPr>
          <p:cNvPr id="14" name="Entry2_Title"/>
          <p:cNvSpPr>
            <a:spLocks noGrp="1"/>
          </p:cNvSpPr>
          <p:nvPr>
            <p:ph type="body" idx="112" hasCustomPrompt="1"/>
          </p:nvPr>
        </p:nvSpPr>
        <p:spPr>
          <a:xfrm>
            <a:off x="1920240" y="294436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5" name="Entry2_Pages"/>
          <p:cNvSpPr>
            <a:spLocks noGrp="1"/>
          </p:cNvSpPr>
          <p:nvPr>
            <p:ph type="body" idx="113" hasCustomPrompt="1"/>
          </p:nvPr>
        </p:nvSpPr>
        <p:spPr>
          <a:xfrm>
            <a:off x="1920240" y="331012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7" name="Entry3_Number"/>
          <p:cNvSpPr>
            <a:spLocks noGrp="1"/>
          </p:cNvSpPr>
          <p:nvPr>
            <p:ph type="body" idx="115" hasCustomPrompt="1"/>
          </p:nvPr>
        </p:nvSpPr>
        <p:spPr>
          <a:xfrm>
            <a:off x="731520" y="374904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03</a:t>
            </a:r>
            <a:endParaRPr lang="en-US" sz="4000" dirty="0"/>
          </a:p>
        </p:txBody>
      </p:sp>
      <p:sp>
        <p:nvSpPr>
          <p:cNvPr id="18" name="Entry3_Title"/>
          <p:cNvSpPr>
            <a:spLocks noGrp="1"/>
          </p:cNvSpPr>
          <p:nvPr>
            <p:ph type="body" idx="116" hasCustomPrompt="1"/>
          </p:nvPr>
        </p:nvSpPr>
        <p:spPr>
          <a:xfrm>
            <a:off x="1920240" y="376732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9" name="Entry3_Pages"/>
          <p:cNvSpPr>
            <a:spLocks noGrp="1"/>
          </p:cNvSpPr>
          <p:nvPr>
            <p:ph type="body" idx="117" hasCustomPrompt="1"/>
          </p:nvPr>
        </p:nvSpPr>
        <p:spPr>
          <a:xfrm>
            <a:off x="1920240" y="413308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1" name="Entry4_Number"/>
          <p:cNvSpPr>
            <a:spLocks noGrp="1"/>
          </p:cNvSpPr>
          <p:nvPr>
            <p:ph type="body" idx="119" hasCustomPrompt="1"/>
          </p:nvPr>
        </p:nvSpPr>
        <p:spPr>
          <a:xfrm>
            <a:off x="731520" y="457200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04</a:t>
            </a:r>
            <a:endParaRPr lang="en-US" sz="4000" dirty="0"/>
          </a:p>
        </p:txBody>
      </p:sp>
      <p:sp>
        <p:nvSpPr>
          <p:cNvPr id="22" name="Entry4_Title"/>
          <p:cNvSpPr>
            <a:spLocks noGrp="1"/>
          </p:cNvSpPr>
          <p:nvPr>
            <p:ph type="body" idx="120" hasCustomPrompt="1"/>
          </p:nvPr>
        </p:nvSpPr>
        <p:spPr>
          <a:xfrm>
            <a:off x="1920240" y="459028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3" name="Entry4_Pages"/>
          <p:cNvSpPr>
            <a:spLocks noGrp="1"/>
          </p:cNvSpPr>
          <p:nvPr>
            <p:ph type="body" idx="121" hasCustomPrompt="1"/>
          </p:nvPr>
        </p:nvSpPr>
        <p:spPr>
          <a:xfrm>
            <a:off x="1920240" y="495604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5" name="Entry5_Number"/>
          <p:cNvSpPr>
            <a:spLocks noGrp="1"/>
          </p:cNvSpPr>
          <p:nvPr>
            <p:ph type="body" idx="123" hasCustomPrompt="1"/>
          </p:nvPr>
        </p:nvSpPr>
        <p:spPr>
          <a:xfrm>
            <a:off x="731520" y="539496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05</a:t>
            </a:r>
            <a:endParaRPr lang="en-US" sz="4000" dirty="0"/>
          </a:p>
        </p:txBody>
      </p:sp>
      <p:sp>
        <p:nvSpPr>
          <p:cNvPr id="26" name="Entry5_Title"/>
          <p:cNvSpPr>
            <a:spLocks noGrp="1"/>
          </p:cNvSpPr>
          <p:nvPr>
            <p:ph type="body" idx="124" hasCustomPrompt="1"/>
          </p:nvPr>
        </p:nvSpPr>
        <p:spPr>
          <a:xfrm>
            <a:off x="1920240" y="541324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7" name="Entry5_Pages"/>
          <p:cNvSpPr>
            <a:spLocks noGrp="1"/>
          </p:cNvSpPr>
          <p:nvPr>
            <p:ph type="body" idx="125" hasCustomPrompt="1"/>
          </p:nvPr>
        </p:nvSpPr>
        <p:spPr>
          <a:xfrm>
            <a:off x="1920240" y="577900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9_ANNEXE_DIVIDER">
    <p:spTree>
      <p:nvGrpSpPr>
        <p:cNvPr id="1" name=""/>
        <p:cNvGrpSpPr/>
        <p:nvPr/>
      </p:nvGrpSpPr>
      <p:grpSpPr>
        <a:xfrm>
          <a:off x="0" y="0"/>
          <a:ext cx="0" cy="0"/>
          <a:chOff x="0" y="0"/>
          <a:chExt cx="0" cy="0"/>
        </a:xfrm>
      </p:grpSpPr>
      <p:grpSp>
        <p:nvGrpSpPr>
          <p:cNvPr id="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288000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2948487"/>
            <a:ext cx="11094720" cy="1097280"/>
          </a:xfrm>
          <a:prstGeom prst="rect">
            <a:avLst/>
          </a:prstGeom>
          <a:noFill/>
          <a:ln/>
        </p:spPr>
        <p:txBody>
          <a:bodyPr wrap="square" rtlCol="0" anchor="t">
            <a:normAutofit/>
          </a:bodyPr>
          <a:lstStyle>
            <a:lvl1pPr marL="0" indent="0" algn="l">
              <a:lnSpc>
                <a:spcPct val="95000"/>
              </a:lnSpc>
              <a:buNone/>
              <a:defRPr lang="fr-FR" sz="5400" spc="0" dirty="0">
                <a:solidFill>
                  <a:schemeClr val="accent1"/>
                </a:solidFill>
                <a:latin typeface="+mj-lt" pitchFamily="34" charset="0"/>
                <a:ea typeface="+mj-ea" pitchFamily="34" charset="-122"/>
                <a:cs typeface="+mj-cs" pitchFamily="34" charset="-120"/>
              </a:defRPr>
            </a:lvl1pPr>
          </a:lstStyle>
          <a:p>
            <a:pPr marL="0" indent="0" algn="l">
              <a:buNone/>
            </a:pPr>
            <a:r>
              <a:rPr lang="fr-FR" sz="5400" dirty="0">
                <a:solidFill>
                  <a:schemeClr val="accent1"/>
                </a:solidFill>
                <a:latin typeface="+mj-lt" pitchFamily="34" charset="0"/>
                <a:ea typeface="+mj-ea" pitchFamily="34" charset="-122"/>
                <a:cs typeface="+mj-cs" pitchFamily="34" charset="-120"/>
              </a:rPr>
              <a:t>Annexes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04_DEUX_COLONNES">
    <p:spTree>
      <p:nvGrpSpPr>
        <p:cNvPr id="1" name=""/>
        <p:cNvGrpSpPr/>
        <p:nvPr/>
      </p:nvGrpSpPr>
      <p:grpSpPr>
        <a:xfrm>
          <a:off x="0" y="0"/>
          <a:ext cx="0" cy="0"/>
          <a:chOff x="0" y="0"/>
          <a:chExt cx="0" cy="0"/>
        </a:xfrm>
      </p:grpSpPr>
      <p:grpSp>
        <p:nvGrpSpPr>
          <p:cNvPr id="1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grpSp>
        <p:nvGrpSpPr>
          <p:cNvPr id="20" name="LeftColumnGroup"/>
          <p:cNvGrpSpPr/>
          <p:nvPr/>
        </p:nvGrpSpPr>
        <p:grpSpPr>
          <a:xfrm>
            <a:off x="548640" y="1920240"/>
            <a:ext cx="5394960" cy="4114800"/>
            <a:chOff x="548640" y="1920240"/>
            <a:chExt cx="5394960" cy="4114800"/>
          </a:xfrm>
        </p:grpSpPr>
        <p:sp>
          <p:nvSpPr>
            <p:cNvPr id="6" name="LeftColumnBackground"/>
            <p:cNvSpPr/>
            <p:nvPr/>
          </p:nvSpPr>
          <p:spPr>
            <a:xfrm>
              <a:off x="548640" y="1920240"/>
              <a:ext cx="5394960" cy="4114800"/>
            </a:xfrm>
            <a:prstGeom prst="rect">
              <a:avLst/>
            </a:prstGeom>
            <a:noFill/>
            <a:ln/>
          </p:spPr>
          <p:txBody>
            <a:bodyPr/>
            <a:lstStyle/>
            <a:p>
              <a:endParaRPr lang="fr-FR"/>
            </a:p>
          </p:txBody>
        </p:sp>
        <p:sp>
          <p:nvSpPr>
            <p:cNvPr id="7" name="LeftColumnAccentBar"/>
            <p:cNvSpPr/>
            <p:nvPr/>
          </p:nvSpPr>
          <p:spPr>
            <a:xfrm>
              <a:off x="722007" y="2103120"/>
              <a:ext cx="29186" cy="3703320"/>
            </a:xfrm>
            <a:prstGeom prst="rect">
              <a:avLst/>
            </a:prstGeom>
            <a:solidFill>
              <a:schemeClr val="accent1"/>
            </a:solidFill>
            <a:ln/>
          </p:spPr>
          <p:txBody>
            <a:bodyPr/>
            <a:lstStyle/>
            <a:p>
              <a:endParaRPr lang="fr-FR"/>
            </a:p>
          </p:txBody>
        </p:sp>
      </p:grpSp>
      <p:grpSp>
        <p:nvGrpSpPr>
          <p:cNvPr id="21" name="RightColumnGroup"/>
          <p:cNvGrpSpPr/>
          <p:nvPr/>
        </p:nvGrpSpPr>
        <p:grpSpPr>
          <a:xfrm>
            <a:off x="6263640" y="1920240"/>
            <a:ext cx="5394960" cy="4114800"/>
            <a:chOff x="6263640" y="1920240"/>
            <a:chExt cx="5394960" cy="4114800"/>
          </a:xfrm>
        </p:grpSpPr>
        <p:sp>
          <p:nvSpPr>
            <p:cNvPr id="8" name="RightColumnBackground"/>
            <p:cNvSpPr/>
            <p:nvPr/>
          </p:nvSpPr>
          <p:spPr>
            <a:xfrm>
              <a:off x="6263640" y="1920240"/>
              <a:ext cx="5394960" cy="4114800"/>
            </a:xfrm>
            <a:prstGeom prst="rect">
              <a:avLst/>
            </a:prstGeom>
            <a:noFill/>
            <a:ln/>
          </p:spPr>
          <p:txBody>
            <a:bodyPr/>
            <a:lstStyle/>
            <a:p>
              <a:endParaRPr lang="fr-FR"/>
            </a:p>
          </p:txBody>
        </p:sp>
        <p:sp>
          <p:nvSpPr>
            <p:cNvPr id="9" name="RightColumnAccentBar"/>
            <p:cNvSpPr/>
            <p:nvPr/>
          </p:nvSpPr>
          <p:spPr>
            <a:xfrm>
              <a:off x="6437007" y="2103120"/>
              <a:ext cx="29186" cy="3703320"/>
            </a:xfrm>
            <a:prstGeom prst="rect">
              <a:avLst/>
            </a:prstGeom>
            <a:solidFill>
              <a:schemeClr val="accent1"/>
            </a:solidFill>
            <a:ln/>
          </p:spPr>
          <p:txBody>
            <a:bodyPr/>
            <a:lstStyle/>
            <a:p>
              <a:endParaRPr lang="fr-FR"/>
            </a:p>
          </p:txBody>
        </p:sp>
      </p:grpSp>
      <p:sp>
        <p:nvSpPr>
          <p:cNvPr id="10" name="Title"/>
          <p:cNvSpPr>
            <a:spLocks noGrp="1"/>
          </p:cNvSpPr>
          <p:nvPr>
            <p:ph type="title" idx="108"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11" name="Subtitle"/>
          <p:cNvSpPr>
            <a:spLocks noGrp="1"/>
          </p:cNvSpPr>
          <p:nvPr>
            <p:ph type="body" idx="109"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13" name="LeftLabel"/>
          <p:cNvSpPr>
            <a:spLocks noGrp="1"/>
          </p:cNvSpPr>
          <p:nvPr>
            <p:ph type="body" idx="111" hasCustomPrompt="1"/>
          </p:nvPr>
        </p:nvSpPr>
        <p:spPr>
          <a:xfrm>
            <a:off x="868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GAUCHE</a:t>
            </a:r>
            <a:endParaRPr lang="en-US" sz="1200" dirty="0"/>
          </a:p>
        </p:txBody>
      </p:sp>
      <p:sp>
        <p:nvSpPr>
          <p:cNvPr id="14" name="LeftTitle"/>
          <p:cNvSpPr>
            <a:spLocks noGrp="1"/>
          </p:cNvSpPr>
          <p:nvPr>
            <p:ph type="body" idx="112" hasCustomPrompt="1"/>
          </p:nvPr>
        </p:nvSpPr>
        <p:spPr>
          <a:xfrm>
            <a:off x="868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5" name="LeftBody"/>
          <p:cNvSpPr>
            <a:spLocks noGrp="1"/>
          </p:cNvSpPr>
          <p:nvPr>
            <p:ph type="body" idx="113" hasCustomPrompt="1"/>
          </p:nvPr>
        </p:nvSpPr>
        <p:spPr>
          <a:xfrm>
            <a:off x="868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 Sed do eiusmod tempor incididunt ut labore et dolore magna aliqua.</a:t>
            </a:r>
            <a:endParaRPr lang="en-US" sz="1600" dirty="0"/>
          </a:p>
        </p:txBody>
      </p:sp>
      <p:sp>
        <p:nvSpPr>
          <p:cNvPr id="16" name="RightLabel"/>
          <p:cNvSpPr>
            <a:spLocks noGrp="1"/>
          </p:cNvSpPr>
          <p:nvPr>
            <p:ph type="body" idx="114" hasCustomPrompt="1"/>
          </p:nvPr>
        </p:nvSpPr>
        <p:spPr>
          <a:xfrm>
            <a:off x="6583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DROITE</a:t>
            </a:r>
            <a:endParaRPr lang="en-US" sz="1200" dirty="0"/>
          </a:p>
        </p:txBody>
      </p:sp>
      <p:sp>
        <p:nvSpPr>
          <p:cNvPr id="17" name="RightTitle"/>
          <p:cNvSpPr>
            <a:spLocks noGrp="1"/>
          </p:cNvSpPr>
          <p:nvPr>
            <p:ph type="body" idx="115" hasCustomPrompt="1"/>
          </p:nvPr>
        </p:nvSpPr>
        <p:spPr>
          <a:xfrm>
            <a:off x="6583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8" name="RightBody"/>
          <p:cNvSpPr>
            <a:spLocks noGrp="1"/>
          </p:cNvSpPr>
          <p:nvPr>
            <p:ph type="body" idx="116" hasCustomPrompt="1"/>
          </p:nvPr>
        </p:nvSpPr>
        <p:spPr>
          <a:xfrm>
            <a:off x="6583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a:t>
            </a:r>
            <a:endParaRPr lang="en-US" sz="1600" dirty="0"/>
          </a:p>
        </p:txBody>
      </p:sp>
      <p:sp>
        <p:nvSpPr>
          <p:cNvPr id="12" name="TopRightImage">
            <a:extLst>
              <a:ext uri="{FF2B5EF4-FFF2-40B4-BE49-F238E27FC236}">
                <a16:creationId xmlns:a16="http://schemas.microsoft.com/office/drawing/2014/main" id="{2F319756-D80D-E91F-6EDA-E9F0056D704D}"/>
              </a:ext>
            </a:extLst>
          </p:cNvPr>
          <p:cNvSpPr>
            <a:spLocks noGrp="1"/>
          </p:cNvSpPr>
          <p:nvPr>
            <p:ph type="pic" sz="quarter" idx="117"/>
          </p:nvPr>
        </p:nvSpPr>
        <p:spPr>
          <a:xfrm>
            <a:off x="9207500" y="256032"/>
            <a:ext cx="2314575" cy="1828800"/>
          </a:xfrm>
          <a:prstGeom prst="rect">
            <a:avLst/>
          </a:prstGeom>
        </p:spPr>
        <p:txBody>
          <a:bodyPr/>
          <a:lstStyle/>
          <a:p>
            <a:r>
              <a:rPr lang="fr-FR"/>
              <a:t>Cliquez sur l'icône pour ajouter une image</a:t>
            </a:r>
            <a:endParaRPr lang="fr-F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05_GRILLE_2x2">
    <p:spTree>
      <p:nvGrpSpPr>
        <p:cNvPr id="1" name=""/>
        <p:cNvGrpSpPr/>
        <p:nvPr/>
      </p:nvGrpSpPr>
      <p:grpSpPr>
        <a:xfrm>
          <a:off x="0" y="0"/>
          <a:ext cx="0" cy="0"/>
          <a:chOff x="0" y="0"/>
          <a:chExt cx="0" cy="0"/>
        </a:xfrm>
      </p:grpSpPr>
      <p:grpSp>
        <p:nvGrpSpPr>
          <p:cNvPr id="2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ard1_NumberBadge"/>
          <p:cNvSpPr/>
          <p:nvPr/>
        </p:nvSpPr>
        <p:spPr>
          <a:xfrm>
            <a:off x="1196340" y="2236470"/>
            <a:ext cx="228600" cy="228600"/>
          </a:xfrm>
          <a:prstGeom prst="rect">
            <a:avLst/>
          </a:prstGeom>
          <a:solidFill>
            <a:schemeClr val="accent1"/>
          </a:solidFill>
          <a:ln/>
        </p:spPr>
        <p:txBody>
          <a:bodyPr/>
          <a:lstStyle/>
          <a:p>
            <a:endParaRPr lang="fr-FR"/>
          </a:p>
        </p:txBody>
      </p:sp>
      <p:sp>
        <p:nvSpPr>
          <p:cNvPr id="12" name="Card1_Title"/>
          <p:cNvSpPr>
            <a:spLocks noGrp="1"/>
          </p:cNvSpPr>
          <p:nvPr>
            <p:ph type="body" idx="110" hasCustomPrompt="1"/>
          </p:nvPr>
        </p:nvSpPr>
        <p:spPr>
          <a:xfrm>
            <a:off x="150876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3" name="Card1_Description"/>
          <p:cNvSpPr>
            <a:spLocks noGrp="1"/>
          </p:cNvSpPr>
          <p:nvPr>
            <p:ph type="body" idx="111" hasCustomPrompt="1"/>
          </p:nvPr>
        </p:nvSpPr>
        <p:spPr>
          <a:xfrm>
            <a:off x="82296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15" name="Card2_NumberBadge"/>
          <p:cNvSpPr/>
          <p:nvPr/>
        </p:nvSpPr>
        <p:spPr>
          <a:xfrm>
            <a:off x="6819900" y="2236470"/>
            <a:ext cx="228600" cy="228600"/>
          </a:xfrm>
          <a:prstGeom prst="rect">
            <a:avLst/>
          </a:prstGeom>
          <a:solidFill>
            <a:schemeClr val="accent1"/>
          </a:solidFill>
          <a:ln/>
        </p:spPr>
        <p:txBody>
          <a:bodyPr/>
          <a:lstStyle/>
          <a:p>
            <a:endParaRPr lang="fr-FR"/>
          </a:p>
        </p:txBody>
      </p:sp>
      <p:sp>
        <p:nvSpPr>
          <p:cNvPr id="17" name="Card2_Title"/>
          <p:cNvSpPr>
            <a:spLocks noGrp="1"/>
          </p:cNvSpPr>
          <p:nvPr>
            <p:ph type="body" idx="115" hasCustomPrompt="1"/>
          </p:nvPr>
        </p:nvSpPr>
        <p:spPr>
          <a:xfrm>
            <a:off x="713232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8" name="Card2_Description"/>
          <p:cNvSpPr>
            <a:spLocks noGrp="1"/>
          </p:cNvSpPr>
          <p:nvPr>
            <p:ph type="body" idx="116" hasCustomPrompt="1"/>
          </p:nvPr>
        </p:nvSpPr>
        <p:spPr>
          <a:xfrm>
            <a:off x="644652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0" name="Card3_NumberBadge"/>
          <p:cNvSpPr/>
          <p:nvPr/>
        </p:nvSpPr>
        <p:spPr>
          <a:xfrm>
            <a:off x="1196340" y="4476750"/>
            <a:ext cx="228600" cy="228600"/>
          </a:xfrm>
          <a:prstGeom prst="rect">
            <a:avLst/>
          </a:prstGeom>
          <a:solidFill>
            <a:schemeClr val="accent1"/>
          </a:solidFill>
          <a:ln/>
        </p:spPr>
        <p:txBody>
          <a:bodyPr/>
          <a:lstStyle/>
          <a:p>
            <a:endParaRPr lang="fr-FR"/>
          </a:p>
        </p:txBody>
      </p:sp>
      <p:sp>
        <p:nvSpPr>
          <p:cNvPr id="22" name="Card3_Title"/>
          <p:cNvSpPr>
            <a:spLocks noGrp="1"/>
          </p:cNvSpPr>
          <p:nvPr>
            <p:ph type="body" idx="120" hasCustomPrompt="1"/>
          </p:nvPr>
        </p:nvSpPr>
        <p:spPr>
          <a:xfrm>
            <a:off x="150876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3" name="Card3_Description"/>
          <p:cNvSpPr>
            <a:spLocks noGrp="1"/>
          </p:cNvSpPr>
          <p:nvPr>
            <p:ph type="body" idx="121" hasCustomPrompt="1"/>
          </p:nvPr>
        </p:nvSpPr>
        <p:spPr>
          <a:xfrm>
            <a:off x="82296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5" name="Card4_NumberBadge"/>
          <p:cNvSpPr/>
          <p:nvPr userDrawn="1"/>
        </p:nvSpPr>
        <p:spPr>
          <a:xfrm>
            <a:off x="6819900" y="4476750"/>
            <a:ext cx="228600" cy="228600"/>
          </a:xfrm>
          <a:prstGeom prst="rect">
            <a:avLst/>
          </a:prstGeom>
          <a:solidFill>
            <a:schemeClr val="accent1"/>
          </a:solidFill>
          <a:ln/>
        </p:spPr>
        <p:txBody>
          <a:bodyPr/>
          <a:lstStyle/>
          <a:p>
            <a:endParaRPr lang="fr-FR"/>
          </a:p>
        </p:txBody>
      </p:sp>
      <p:sp>
        <p:nvSpPr>
          <p:cNvPr id="27" name="Card4_Title"/>
          <p:cNvSpPr>
            <a:spLocks noGrp="1"/>
          </p:cNvSpPr>
          <p:nvPr>
            <p:ph type="body" idx="125" hasCustomPrompt="1"/>
          </p:nvPr>
        </p:nvSpPr>
        <p:spPr>
          <a:xfrm>
            <a:off x="713232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8" name="Card4_Description"/>
          <p:cNvSpPr>
            <a:spLocks noGrp="1"/>
          </p:cNvSpPr>
          <p:nvPr>
            <p:ph type="body" idx="126" hasCustomPrompt="1"/>
          </p:nvPr>
        </p:nvSpPr>
        <p:spPr>
          <a:xfrm>
            <a:off x="644652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8" name="TopRightImage">
            <a:extLst>
              <a:ext uri="{FF2B5EF4-FFF2-40B4-BE49-F238E27FC236}">
                <a16:creationId xmlns:a16="http://schemas.microsoft.com/office/drawing/2014/main" id="{567A6567-821E-F80F-0EC1-0F94D8F2F638}"/>
              </a:ext>
            </a:extLst>
          </p:cNvPr>
          <p:cNvSpPr>
            <a:spLocks noGrp="1"/>
          </p:cNvSpPr>
          <p:nvPr>
            <p:ph type="pic" sz="quarter" idx="127"/>
          </p:nvPr>
        </p:nvSpPr>
        <p:spPr>
          <a:xfrm>
            <a:off x="9156700" y="241300"/>
            <a:ext cx="2692400" cy="1541463"/>
          </a:xfrm>
          <a:prstGeom prst="rect">
            <a:avLst/>
          </a:prstGeom>
        </p:spPr>
        <p:txBody>
          <a:bodyPr/>
          <a:lstStyle/>
          <a:p>
            <a:r>
              <a:rPr lang="fr-FR"/>
              <a:t>Cliquez sur l'icône pour ajouter une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06_TROIS_COLONNES_CITATION">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02652"/>
            <a:ext cx="10058400" cy="34600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olumn1_Number"/>
          <p:cNvSpPr/>
          <p:nvPr/>
        </p:nvSpPr>
        <p:spPr>
          <a:xfrm>
            <a:off x="54864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01</a:t>
            </a:r>
            <a:endParaRPr lang="en-US" sz="5600" dirty="0"/>
          </a:p>
        </p:txBody>
      </p:sp>
      <p:sp>
        <p:nvSpPr>
          <p:cNvPr id="11" name="Column1_Title"/>
          <p:cNvSpPr>
            <a:spLocks noGrp="1"/>
          </p:cNvSpPr>
          <p:nvPr>
            <p:ph type="body" idx="109" hasCustomPrompt="1"/>
          </p:nvPr>
        </p:nvSpPr>
        <p:spPr>
          <a:xfrm>
            <a:off x="54864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2" name="Column1_Description"/>
          <p:cNvSpPr>
            <a:spLocks noGrp="1"/>
          </p:cNvSpPr>
          <p:nvPr>
            <p:ph type="body" idx="110" hasCustomPrompt="1"/>
          </p:nvPr>
        </p:nvSpPr>
        <p:spPr>
          <a:xfrm>
            <a:off x="54864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3" name="Column2_Number"/>
          <p:cNvSpPr/>
          <p:nvPr/>
        </p:nvSpPr>
        <p:spPr>
          <a:xfrm>
            <a:off x="429768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02</a:t>
            </a:r>
            <a:endParaRPr lang="en-US" sz="5600" dirty="0"/>
          </a:p>
        </p:txBody>
      </p:sp>
      <p:sp>
        <p:nvSpPr>
          <p:cNvPr id="14" name="Column2_Title"/>
          <p:cNvSpPr>
            <a:spLocks noGrp="1"/>
          </p:cNvSpPr>
          <p:nvPr>
            <p:ph type="body" idx="112" hasCustomPrompt="1"/>
          </p:nvPr>
        </p:nvSpPr>
        <p:spPr>
          <a:xfrm>
            <a:off x="429768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5" name="Column2_Description"/>
          <p:cNvSpPr>
            <a:spLocks noGrp="1"/>
          </p:cNvSpPr>
          <p:nvPr>
            <p:ph type="body" idx="113" hasCustomPrompt="1"/>
          </p:nvPr>
        </p:nvSpPr>
        <p:spPr>
          <a:xfrm>
            <a:off x="429768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6" name="Column3_Number"/>
          <p:cNvSpPr/>
          <p:nvPr/>
        </p:nvSpPr>
        <p:spPr>
          <a:xfrm>
            <a:off x="804672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03</a:t>
            </a:r>
            <a:endParaRPr lang="en-US" sz="5600" dirty="0"/>
          </a:p>
        </p:txBody>
      </p:sp>
      <p:sp>
        <p:nvSpPr>
          <p:cNvPr id="17" name="Column3_Title"/>
          <p:cNvSpPr>
            <a:spLocks noGrp="1"/>
          </p:cNvSpPr>
          <p:nvPr>
            <p:ph type="body" idx="115" hasCustomPrompt="1"/>
          </p:nvPr>
        </p:nvSpPr>
        <p:spPr>
          <a:xfrm>
            <a:off x="804672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8" name="Column3_Description"/>
          <p:cNvSpPr>
            <a:spLocks noGrp="1"/>
          </p:cNvSpPr>
          <p:nvPr>
            <p:ph type="body" idx="116" hasCustomPrompt="1"/>
          </p:nvPr>
        </p:nvSpPr>
        <p:spPr>
          <a:xfrm>
            <a:off x="804672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08_GRILLE_3x2">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2"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13" name="Item1_Title"/>
          <p:cNvSpPr>
            <a:spLocks noGrp="1"/>
          </p:cNvSpPr>
          <p:nvPr>
            <p:ph type="body" idx="111" hasCustomPrompt="1"/>
          </p:nvPr>
        </p:nvSpPr>
        <p:spPr>
          <a:xfrm>
            <a:off x="822960"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1</a:t>
            </a:r>
            <a:endParaRPr lang="en-US" sz="1500" dirty="0"/>
          </a:p>
        </p:txBody>
      </p:sp>
      <p:sp>
        <p:nvSpPr>
          <p:cNvPr id="14" name="Item1_Description"/>
          <p:cNvSpPr>
            <a:spLocks noGrp="1"/>
          </p:cNvSpPr>
          <p:nvPr>
            <p:ph type="body" idx="112" hasCustomPrompt="1"/>
          </p:nvPr>
        </p:nvSpPr>
        <p:spPr>
          <a:xfrm>
            <a:off x="822960"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16"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17" name="Item2_Title"/>
          <p:cNvSpPr>
            <a:spLocks noGrp="1"/>
          </p:cNvSpPr>
          <p:nvPr>
            <p:ph type="body" idx="115" hasCustomPrompt="1"/>
          </p:nvPr>
        </p:nvSpPr>
        <p:spPr>
          <a:xfrm>
            <a:off x="4599432"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2</a:t>
            </a:r>
            <a:endParaRPr lang="en-US" sz="1500" dirty="0"/>
          </a:p>
        </p:txBody>
      </p:sp>
      <p:sp>
        <p:nvSpPr>
          <p:cNvPr id="18" name="Item2_Description"/>
          <p:cNvSpPr>
            <a:spLocks noGrp="1"/>
          </p:cNvSpPr>
          <p:nvPr>
            <p:ph type="body" idx="116" hasCustomPrompt="1"/>
          </p:nvPr>
        </p:nvSpPr>
        <p:spPr>
          <a:xfrm>
            <a:off x="4599432"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0"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21" name="Item3_Title"/>
          <p:cNvSpPr>
            <a:spLocks noGrp="1"/>
          </p:cNvSpPr>
          <p:nvPr>
            <p:ph type="body" idx="119" hasCustomPrompt="1"/>
          </p:nvPr>
        </p:nvSpPr>
        <p:spPr>
          <a:xfrm>
            <a:off x="8375904" y="2193718"/>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3</a:t>
            </a:r>
            <a:endParaRPr lang="en-US" sz="1500" dirty="0"/>
          </a:p>
        </p:txBody>
      </p:sp>
      <p:sp>
        <p:nvSpPr>
          <p:cNvPr id="22" name="Item3_Description"/>
          <p:cNvSpPr>
            <a:spLocks noGrp="1"/>
          </p:cNvSpPr>
          <p:nvPr>
            <p:ph type="body" idx="120" hasCustomPrompt="1"/>
          </p:nvPr>
        </p:nvSpPr>
        <p:spPr>
          <a:xfrm>
            <a:off x="8375904"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4" name="Item4_LeftBorder"/>
          <p:cNvSpPr/>
          <p:nvPr/>
        </p:nvSpPr>
        <p:spPr>
          <a:xfrm>
            <a:off x="569704" y="4265422"/>
            <a:ext cx="31024" cy="1408176"/>
          </a:xfrm>
          <a:prstGeom prst="rect">
            <a:avLst/>
          </a:prstGeom>
          <a:solidFill>
            <a:schemeClr val="accent1"/>
          </a:solidFill>
          <a:ln/>
        </p:spPr>
        <p:txBody>
          <a:bodyPr/>
          <a:lstStyle/>
          <a:p>
            <a:endParaRPr lang="fr-FR"/>
          </a:p>
        </p:txBody>
      </p:sp>
      <p:sp>
        <p:nvSpPr>
          <p:cNvPr id="25" name="Item4_Title"/>
          <p:cNvSpPr>
            <a:spLocks noGrp="1"/>
          </p:cNvSpPr>
          <p:nvPr>
            <p:ph type="body" idx="123" hasCustomPrompt="1"/>
          </p:nvPr>
        </p:nvSpPr>
        <p:spPr>
          <a:xfrm>
            <a:off x="822960"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4</a:t>
            </a:r>
            <a:endParaRPr lang="en-US" sz="1500" dirty="0"/>
          </a:p>
        </p:txBody>
      </p:sp>
      <p:sp>
        <p:nvSpPr>
          <p:cNvPr id="26" name="Item4_Description"/>
          <p:cNvSpPr>
            <a:spLocks noGrp="1"/>
          </p:cNvSpPr>
          <p:nvPr>
            <p:ph type="body" idx="124" hasCustomPrompt="1"/>
          </p:nvPr>
        </p:nvSpPr>
        <p:spPr>
          <a:xfrm>
            <a:off x="822960"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8" name="Item5_LeftBorder"/>
          <p:cNvSpPr/>
          <p:nvPr/>
        </p:nvSpPr>
        <p:spPr>
          <a:xfrm>
            <a:off x="4346176" y="4265422"/>
            <a:ext cx="31024" cy="1408176"/>
          </a:xfrm>
          <a:prstGeom prst="rect">
            <a:avLst/>
          </a:prstGeom>
          <a:solidFill>
            <a:schemeClr val="accent1"/>
          </a:solidFill>
          <a:ln/>
        </p:spPr>
        <p:txBody>
          <a:bodyPr/>
          <a:lstStyle/>
          <a:p>
            <a:endParaRPr lang="fr-FR"/>
          </a:p>
        </p:txBody>
      </p:sp>
      <p:sp>
        <p:nvSpPr>
          <p:cNvPr id="29" name="Item5_Title"/>
          <p:cNvSpPr>
            <a:spLocks noGrp="1"/>
          </p:cNvSpPr>
          <p:nvPr>
            <p:ph type="body" idx="127" hasCustomPrompt="1"/>
          </p:nvPr>
        </p:nvSpPr>
        <p:spPr>
          <a:xfrm>
            <a:off x="4599432"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5</a:t>
            </a:r>
            <a:endParaRPr lang="en-US" sz="1500" dirty="0"/>
          </a:p>
        </p:txBody>
      </p:sp>
      <p:sp>
        <p:nvSpPr>
          <p:cNvPr id="30" name="Item5_Description"/>
          <p:cNvSpPr>
            <a:spLocks noGrp="1"/>
          </p:cNvSpPr>
          <p:nvPr>
            <p:ph type="body" idx="128" hasCustomPrompt="1"/>
          </p:nvPr>
        </p:nvSpPr>
        <p:spPr>
          <a:xfrm>
            <a:off x="4599432"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32" name="Item6_LeftBorder"/>
          <p:cNvSpPr/>
          <p:nvPr/>
        </p:nvSpPr>
        <p:spPr>
          <a:xfrm>
            <a:off x="8122648" y="4265422"/>
            <a:ext cx="31024" cy="1408176"/>
          </a:xfrm>
          <a:prstGeom prst="rect">
            <a:avLst/>
          </a:prstGeom>
          <a:solidFill>
            <a:schemeClr val="accent1"/>
          </a:solidFill>
          <a:ln/>
        </p:spPr>
        <p:txBody>
          <a:bodyPr/>
          <a:lstStyle/>
          <a:p>
            <a:endParaRPr lang="fr-FR"/>
          </a:p>
        </p:txBody>
      </p:sp>
      <p:sp>
        <p:nvSpPr>
          <p:cNvPr id="33" name="Item6_Title"/>
          <p:cNvSpPr>
            <a:spLocks noGrp="1"/>
          </p:cNvSpPr>
          <p:nvPr>
            <p:ph type="body" idx="131" hasCustomPrompt="1"/>
          </p:nvPr>
        </p:nvSpPr>
        <p:spPr>
          <a:xfrm>
            <a:off x="8244459"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6</a:t>
            </a:r>
            <a:endParaRPr lang="en-US" sz="1500" dirty="0"/>
          </a:p>
        </p:txBody>
      </p:sp>
      <p:sp>
        <p:nvSpPr>
          <p:cNvPr id="34" name="Item6_Description"/>
          <p:cNvSpPr>
            <a:spLocks noGrp="1"/>
          </p:cNvSpPr>
          <p:nvPr>
            <p:ph type="body" idx="132" hasCustomPrompt="1"/>
          </p:nvPr>
        </p:nvSpPr>
        <p:spPr>
          <a:xfrm>
            <a:off x="8244459"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9_FICHE_CV">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grpSp>
      <p:sp>
        <p:nvSpPr>
          <p:cNvPr id="5" name="HeaderBackground"/>
          <p:cNvSpPr/>
          <p:nvPr userDrawn="1"/>
        </p:nvSpPr>
        <p:spPr>
          <a:xfrm>
            <a:off x="0" y="73152"/>
            <a:ext cx="12188952" cy="1280160"/>
          </a:xfrm>
          <a:prstGeom prst="rect">
            <a:avLst/>
          </a:prstGeom>
          <a:solidFill>
            <a:schemeClr val="accent1"/>
          </a:solidFill>
          <a:ln/>
        </p:spPr>
        <p:txBody>
          <a:bodyPr/>
          <a:lstStyle/>
          <a:p>
            <a:endParaRPr lang="fr-FR"/>
          </a:p>
        </p:txBody>
      </p:sp>
      <p:sp>
        <p:nvSpPr>
          <p:cNvPr id="6" name="ExperienceBadgeBackground"/>
          <p:cNvSpPr/>
          <p:nvPr/>
        </p:nvSpPr>
        <p:spPr>
          <a:xfrm>
            <a:off x="10058400" y="365760"/>
            <a:ext cx="1691640" cy="777240"/>
          </a:xfrm>
          <a:prstGeom prst="rect">
            <a:avLst/>
          </a:prstGeom>
          <a:solidFill>
            <a:schemeClr val="lt2"/>
          </a:solidFill>
          <a:ln/>
        </p:spPr>
        <p:txBody>
          <a:bodyPr/>
          <a:lstStyle/>
          <a:p>
            <a:endParaRPr lang="fr-FR"/>
          </a:p>
        </p:txBody>
      </p:sp>
      <p:sp>
        <p:nvSpPr>
          <p:cNvPr id="7" name="SkillsPanelBackground"/>
          <p:cNvSpPr/>
          <p:nvPr/>
        </p:nvSpPr>
        <p:spPr>
          <a:xfrm>
            <a:off x="8229600" y="1554480"/>
            <a:ext cx="3566160" cy="4983480"/>
          </a:xfrm>
          <a:prstGeom prst="rect">
            <a:avLst/>
          </a:prstGeom>
          <a:noFill/>
          <a:ln/>
        </p:spPr>
        <p:txBody>
          <a:bodyPr/>
          <a:lstStyle/>
          <a:p>
            <a:endParaRPr lang="fr-FR"/>
          </a:p>
        </p:txBody>
      </p:sp>
      <p:sp>
        <p:nvSpPr>
          <p:cNvPr id="8" name="Title"/>
          <p:cNvSpPr>
            <a:spLocks noGrp="1"/>
          </p:cNvSpPr>
          <p:nvPr>
            <p:ph type="title" idx="106" hasCustomPrompt="1"/>
          </p:nvPr>
        </p:nvSpPr>
        <p:spPr>
          <a:xfrm>
            <a:off x="548640" y="228600"/>
            <a:ext cx="8229600" cy="640080"/>
          </a:xfrm>
          <a:prstGeom prst="rect">
            <a:avLst/>
          </a:prstGeom>
          <a:noFill/>
          <a:ln/>
        </p:spPr>
        <p:txBody>
          <a:bodyPr wrap="square" rtlCol="0"/>
          <a:lstStyle>
            <a:lvl1pPr marL="0" indent="0" algn="l">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l">
              <a:buNone/>
            </a:pPr>
            <a:r>
              <a:rPr lang="en-US" sz="3000" dirty="0">
                <a:solidFill>
                  <a:schemeClr val="lt2"/>
                </a:solidFill>
                <a:latin typeface="+mj-lt" pitchFamily="18" charset="0"/>
                <a:ea typeface="+mj-ea" pitchFamily="18" charset="-122"/>
                <a:cs typeface="+mj-cs" pitchFamily="18" charset="-120"/>
              </a:rPr>
              <a:t>PRÉNOM NOM</a:t>
            </a:r>
            <a:endParaRPr lang="en-US" sz="3000" dirty="0"/>
          </a:p>
        </p:txBody>
      </p:sp>
      <p:sp>
        <p:nvSpPr>
          <p:cNvPr id="9" name="JobTitle"/>
          <p:cNvSpPr>
            <a:spLocks noGrp="1"/>
          </p:cNvSpPr>
          <p:nvPr>
            <p:ph type="body" idx="107" hasCustomPrompt="1"/>
          </p:nvPr>
        </p:nvSpPr>
        <p:spPr>
          <a:xfrm>
            <a:off x="548640" y="868680"/>
            <a:ext cx="9418320" cy="365760"/>
          </a:xfrm>
          <a:prstGeom prst="rect">
            <a:avLst/>
          </a:prstGeom>
          <a:noFill/>
          <a:ln/>
        </p:spPr>
        <p:txBody>
          <a:bodyPr wrap="square" rtlCol="0"/>
          <a:lstStyle>
            <a:lvl1pPr marL="0" indent="0">
              <a:lnSpc>
                <a:spcPct val="150000"/>
              </a:lnSpc>
              <a:buNone/>
              <a:defRPr lang="en-US" sz="1400" i="1" spc="0" dirty="0">
                <a:solidFill>
                  <a:schemeClr val="lt2"/>
                </a:solidFill>
                <a:latin typeface="+mn-lt" pitchFamily="34" charset="0"/>
                <a:ea typeface="+mn-ea" pitchFamily="34" charset="-122"/>
                <a:cs typeface="+mn-cs" pitchFamily="34" charset="-120"/>
              </a:defRPr>
            </a:lvl1pPr>
          </a:lstStyle>
          <a:p>
            <a:pPr marL="0" indent="0">
              <a:buNone/>
            </a:pPr>
            <a:r>
              <a:rPr lang="en-US" sz="1400" i="1" dirty="0">
                <a:solidFill>
                  <a:schemeClr val="lt2"/>
                </a:solidFill>
                <a:latin typeface="+mn-lt" pitchFamily="34" charset="0"/>
                <a:ea typeface="+mn-ea" pitchFamily="34" charset="-122"/>
                <a:cs typeface="+mn-cs" pitchFamily="34" charset="-120"/>
              </a:rPr>
              <a:t>Poste — Rôle — Mention complémentaire</a:t>
            </a:r>
            <a:endParaRPr lang="en-US" sz="1400" dirty="0"/>
          </a:p>
        </p:txBody>
      </p:sp>
      <p:sp>
        <p:nvSpPr>
          <p:cNvPr id="10" name="ExperienceYears"/>
          <p:cNvSpPr>
            <a:spLocks noGrp="1"/>
          </p:cNvSpPr>
          <p:nvPr>
            <p:ph type="body" idx="108" hasCustomPrompt="1"/>
          </p:nvPr>
        </p:nvSpPr>
        <p:spPr>
          <a:xfrm>
            <a:off x="10058400" y="411480"/>
            <a:ext cx="1691640" cy="411480"/>
          </a:xfrm>
          <a:prstGeom prst="rect">
            <a:avLst/>
          </a:prstGeom>
          <a:noFill/>
          <a:ln/>
        </p:spPr>
        <p:txBody>
          <a:bodyPr wrap="square" rtlCol="0"/>
          <a:lstStyle>
            <a:lvl1pPr marL="0" indent="0" algn="ctr">
              <a:lnSpc>
                <a:spcPct val="135000"/>
              </a:lnSpc>
              <a:buNone/>
              <a:defRPr lang="en-US" sz="2200" b="1" spc="-44" dirty="0">
                <a:solidFill>
                  <a:schemeClr val="accent1"/>
                </a:solidFill>
                <a:latin typeface="+mn-lt" pitchFamily="34" charset="0"/>
                <a:ea typeface="+mn-ea" pitchFamily="34" charset="-122"/>
                <a:cs typeface="+mn-cs" pitchFamily="34" charset="-120"/>
              </a:defRPr>
            </a:lvl1pPr>
          </a:lstStyle>
          <a:p>
            <a:pPr marL="0" indent="0" algn="ctr">
              <a:buNone/>
            </a:pPr>
            <a:r>
              <a:rPr lang="en-US" sz="2200" b="1" dirty="0">
                <a:solidFill>
                  <a:schemeClr val="accent1"/>
                </a:solidFill>
                <a:latin typeface="+mn-lt" pitchFamily="34" charset="0"/>
                <a:ea typeface="+mn-ea" pitchFamily="34" charset="-122"/>
                <a:cs typeface="+mn-cs" pitchFamily="34" charset="-120"/>
              </a:rPr>
              <a:t>X ans</a:t>
            </a:r>
            <a:endParaRPr lang="en-US" sz="2200" dirty="0"/>
          </a:p>
        </p:txBody>
      </p:sp>
      <p:sp>
        <p:nvSpPr>
          <p:cNvPr id="11" name="ExperienceUnit"/>
          <p:cNvSpPr/>
          <p:nvPr/>
        </p:nvSpPr>
        <p:spPr>
          <a:xfrm>
            <a:off x="10058400" y="822960"/>
            <a:ext cx="1691640" cy="274320"/>
          </a:xfrm>
          <a:prstGeom prst="rect">
            <a:avLst/>
          </a:prstGeom>
          <a:noFill/>
          <a:ln/>
        </p:spPr>
        <p:txBody>
          <a:bodyPr wrap="square" lIns="0" tIns="0" rIns="0" bIns="0" rtlCol="0" anchor="ctr"/>
          <a:lstStyle/>
          <a:p>
            <a:pPr marL="0" indent="0" algn="ctr">
              <a:buNone/>
            </a:pPr>
            <a:r>
              <a:rPr lang="en-US" sz="1000" dirty="0">
                <a:solidFill>
                  <a:schemeClr val="accent1"/>
                </a:solidFill>
                <a:latin typeface="+mn-lt" pitchFamily="34" charset="0"/>
                <a:ea typeface="+mn-ea" pitchFamily="34" charset="-122"/>
                <a:cs typeface="+mn-cs" pitchFamily="34" charset="-120"/>
              </a:rPr>
              <a:t>d'expérience</a:t>
            </a:r>
            <a:endParaRPr lang="en-US" sz="1000" dirty="0"/>
          </a:p>
        </p:txBody>
      </p:sp>
      <p:sp>
        <p:nvSpPr>
          <p:cNvPr id="12" name="ProfileSectionLabel"/>
          <p:cNvSpPr/>
          <p:nvPr/>
        </p:nvSpPr>
        <p:spPr>
          <a:xfrm>
            <a:off x="548640" y="155448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PROFIL</a:t>
            </a:r>
            <a:endParaRPr lang="en-US" sz="1100" dirty="0"/>
          </a:p>
        </p:txBody>
      </p:sp>
      <p:sp>
        <p:nvSpPr>
          <p:cNvPr id="13" name="ProfileText"/>
          <p:cNvSpPr>
            <a:spLocks noGrp="1"/>
          </p:cNvSpPr>
          <p:nvPr>
            <p:ph type="body" idx="111" hasCustomPrompt="1"/>
          </p:nvPr>
        </p:nvSpPr>
        <p:spPr>
          <a:xfrm>
            <a:off x="548640" y="1874520"/>
            <a:ext cx="7315200" cy="1508760"/>
          </a:xfrm>
          <a:prstGeom prst="rect">
            <a:avLst/>
          </a:prstGeom>
          <a:noFill/>
          <a:ln/>
        </p:spPr>
        <p:txBody>
          <a:bodyPr wrap="square" rtlCol="0"/>
          <a:lstStyle>
            <a:lvl1pPr marL="0" indent="0">
              <a:lnSpc>
                <a:spcPct val="150000"/>
              </a:lnSpc>
              <a:buNone/>
              <a:defRPr lang="en-US" sz="1200" spc="0" dirty="0">
                <a:solidFill>
                  <a:schemeClr val="dk1"/>
                </a:solidFill>
                <a:latin typeface="+mn-lt" pitchFamily="34" charset="0"/>
                <a:ea typeface="+mn-ea" pitchFamily="34" charset="-122"/>
                <a:cs typeface="+mn-cs" pitchFamily="34" charset="-120"/>
              </a:defRPr>
            </a:lvl1pPr>
          </a:lstStyle>
          <a:p>
            <a:pPr marL="0" indent="0">
              <a:buNone/>
            </a:pPr>
            <a:r>
              <a:rPr lang="en-US" sz="1200" dirty="0">
                <a:solidFill>
                  <a:schemeClr val="dk1"/>
                </a:solidFill>
                <a:latin typeface="+mn-lt" pitchFamily="34" charset="0"/>
                <a:ea typeface="+mn-ea" pitchFamily="34" charset="-122"/>
                <a:cs typeface="+mn-cs" pitchFamily="34" charset="-120"/>
              </a:rPr>
              <a:t>Présentation du profil en quatre à cinq lignes. Mettre en avant les expertises clés, les expériences marquantes, les domaines d'intervention.</a:t>
            </a:r>
            <a:endParaRPr lang="en-US" sz="1200" dirty="0"/>
          </a:p>
        </p:txBody>
      </p:sp>
      <p:sp>
        <p:nvSpPr>
          <p:cNvPr id="14" name="ExperienceSectionLabel"/>
          <p:cNvSpPr/>
          <p:nvPr/>
        </p:nvSpPr>
        <p:spPr>
          <a:xfrm>
            <a:off x="548640" y="347472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PARCOURS</a:t>
            </a:r>
            <a:endParaRPr lang="en-US" sz="1100" dirty="0"/>
          </a:p>
        </p:txBody>
      </p:sp>
      <p:sp>
        <p:nvSpPr>
          <p:cNvPr id="15" name="ExperienceHistory"/>
          <p:cNvSpPr>
            <a:spLocks noGrp="1"/>
          </p:cNvSpPr>
          <p:nvPr>
            <p:ph type="body" idx="113" hasCustomPrompt="1"/>
          </p:nvPr>
        </p:nvSpPr>
        <p:spPr>
          <a:xfrm>
            <a:off x="548640" y="3749040"/>
            <a:ext cx="7589520" cy="27432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Poste / Fonction — Entreprise · Période</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Description des responsabilités et réalisations.</a:t>
            </a:r>
            <a:endParaRPr lang="en-US" sz="1100" dirty="0"/>
          </a:p>
        </p:txBody>
      </p:sp>
      <p:sp>
        <p:nvSpPr>
          <p:cNvPr id="16" name="SkillsSectionLabel"/>
          <p:cNvSpPr/>
          <p:nvPr/>
        </p:nvSpPr>
        <p:spPr>
          <a:xfrm>
            <a:off x="8458200" y="16916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COMPÉTENCES CLÉS</a:t>
            </a:r>
            <a:endParaRPr lang="en-US" sz="1100" dirty="0"/>
          </a:p>
        </p:txBody>
      </p:sp>
      <p:sp>
        <p:nvSpPr>
          <p:cNvPr id="17" name="SkillsList"/>
          <p:cNvSpPr>
            <a:spLocks noGrp="1"/>
          </p:cNvSpPr>
          <p:nvPr>
            <p:ph type="body" idx="115" hasCustomPrompt="1"/>
          </p:nvPr>
        </p:nvSpPr>
        <p:spPr>
          <a:xfrm>
            <a:off x="8458200" y="2011680"/>
            <a:ext cx="3246120" cy="201168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 Compétence 1</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2</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3</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4</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5</a:t>
            </a:r>
            <a:endParaRPr lang="en-US" sz="1100" dirty="0"/>
          </a:p>
        </p:txBody>
      </p:sp>
      <p:sp>
        <p:nvSpPr>
          <p:cNvPr id="18" name="TechnologiesSectionLabel"/>
          <p:cNvSpPr/>
          <p:nvPr/>
        </p:nvSpPr>
        <p:spPr>
          <a:xfrm>
            <a:off x="8458200" y="406908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TECHNOLOGIES</a:t>
            </a:r>
            <a:endParaRPr lang="en-US" sz="1100" dirty="0"/>
          </a:p>
        </p:txBody>
      </p:sp>
      <p:sp>
        <p:nvSpPr>
          <p:cNvPr id="19" name="TechnologiesList"/>
          <p:cNvSpPr>
            <a:spLocks noGrp="1"/>
          </p:cNvSpPr>
          <p:nvPr>
            <p:ph type="body" idx="117" hasCustomPrompt="1"/>
          </p:nvPr>
        </p:nvSpPr>
        <p:spPr>
          <a:xfrm>
            <a:off x="8458200" y="4343400"/>
            <a:ext cx="3246120" cy="9144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Technologie 1 · Technologie 2 · Technologie 3 · Technologie 4</a:t>
            </a:r>
            <a:endParaRPr lang="en-US" sz="1100" dirty="0"/>
          </a:p>
        </p:txBody>
      </p:sp>
      <p:sp>
        <p:nvSpPr>
          <p:cNvPr id="20" name="EducationSectionLabel"/>
          <p:cNvSpPr/>
          <p:nvPr/>
        </p:nvSpPr>
        <p:spPr>
          <a:xfrm>
            <a:off x="8458200" y="53492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FORMATION</a:t>
            </a:r>
            <a:endParaRPr lang="en-US" sz="1100" dirty="0"/>
          </a:p>
        </p:txBody>
      </p:sp>
      <p:sp>
        <p:nvSpPr>
          <p:cNvPr id="21" name="EducationText"/>
          <p:cNvSpPr>
            <a:spLocks noGrp="1"/>
          </p:cNvSpPr>
          <p:nvPr>
            <p:ph type="body" idx="119" hasCustomPrompt="1"/>
          </p:nvPr>
        </p:nvSpPr>
        <p:spPr>
          <a:xfrm>
            <a:off x="8458200" y="5623560"/>
            <a:ext cx="3246120" cy="82296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Diplôme — École, Année</a:t>
            </a:r>
            <a:endParaRPr lang="en-US" sz="11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0_PROPOSITION_COMMERCIALE">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IntroSentence"/>
          <p:cNvSpPr>
            <a:spLocks noGrp="1"/>
          </p:cNvSpPr>
          <p:nvPr>
            <p:ph type="body" idx="105" hasCustomPrompt="1"/>
          </p:nvPr>
        </p:nvSpPr>
        <p:spPr>
          <a:xfrm>
            <a:off x="548640" y="1437894"/>
            <a:ext cx="11064240" cy="497332"/>
          </a:xfrm>
          <a:prstGeom prst="rect">
            <a:avLst/>
          </a:prstGeom>
          <a:noFill/>
          <a:ln/>
        </p:spPr>
        <p:txBody>
          <a:bodyPr wrap="square" rtlCol="0"/>
          <a:lstStyle>
            <a:lvl1pPr marL="0" indent="0">
              <a:lnSpc>
                <a:spcPct val="150000"/>
              </a:lnSpc>
              <a:buNone/>
              <a:defRPr lang="en-US" sz="1500" spc="0" dirty="0">
                <a:solidFill>
                  <a:schemeClr val="accent2"/>
                </a:solidFill>
                <a:latin typeface="+mn-lt" pitchFamily="34" charset="0"/>
                <a:ea typeface="+mn-ea" pitchFamily="34" charset="-122"/>
                <a:cs typeface="+mn-cs" pitchFamily="34" charset="-120"/>
              </a:defRPr>
            </a:lvl1pPr>
          </a:lstStyle>
          <a:p>
            <a:pPr marL="0" indent="0">
              <a:buNone/>
            </a:pPr>
            <a:r>
              <a:rPr lang="en-US" sz="1500" dirty="0">
                <a:solidFill>
                  <a:schemeClr val="accent2"/>
                </a:solidFill>
                <a:latin typeface="+mn-lt" pitchFamily="34" charset="0"/>
                <a:ea typeface="+mn-ea" pitchFamily="34" charset="-122"/>
                <a:cs typeface="+mn-cs" pitchFamily="34" charset="-120"/>
              </a:rPr>
              <a:t>Phrase d'introduction commerciale.</a:t>
            </a:r>
            <a:endParaRPr lang="en-US" sz="1500" dirty="0"/>
          </a:p>
        </p:txBody>
      </p:sp>
      <p:sp>
        <p:nvSpPr>
          <p:cNvPr id="9" name="CategoryALabel"/>
          <p:cNvSpPr/>
          <p:nvPr/>
        </p:nvSpPr>
        <p:spPr>
          <a:xfrm>
            <a:off x="548640" y="22085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A</a:t>
            </a:r>
            <a:endParaRPr lang="en-US" sz="1200" dirty="0"/>
          </a:p>
        </p:txBody>
      </p:sp>
      <p:sp>
        <p:nvSpPr>
          <p:cNvPr id="11" name="LineItem2Highlight"/>
          <p:cNvSpPr/>
          <p:nvPr/>
        </p:nvSpPr>
        <p:spPr>
          <a:xfrm>
            <a:off x="548640" y="3351530"/>
            <a:ext cx="5486400" cy="685800"/>
          </a:xfrm>
          <a:prstGeom prst="rect">
            <a:avLst/>
          </a:prstGeom>
          <a:noFill/>
          <a:ln/>
        </p:spPr>
        <p:txBody>
          <a:bodyPr/>
          <a:lstStyle/>
          <a:p>
            <a:endParaRPr lang="fr-FR"/>
          </a:p>
        </p:txBody>
      </p:sp>
      <p:sp>
        <p:nvSpPr>
          <p:cNvPr id="12" name="LineItem1_Label"/>
          <p:cNvSpPr>
            <a:spLocks noGrp="1"/>
          </p:cNvSpPr>
          <p:nvPr>
            <p:ph type="body" idx="110" hasCustomPrompt="1"/>
          </p:nvPr>
        </p:nvSpPr>
        <p:spPr>
          <a:xfrm>
            <a:off x="731520" y="257429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3" name="LineItem1_Price"/>
          <p:cNvSpPr>
            <a:spLocks noGrp="1"/>
          </p:cNvSpPr>
          <p:nvPr>
            <p:ph type="body" idx="111" hasCustomPrompt="1"/>
          </p:nvPr>
        </p:nvSpPr>
        <p:spPr>
          <a:xfrm>
            <a:off x="4114800" y="257429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4" name="LineItem2_Label"/>
          <p:cNvSpPr>
            <a:spLocks noGrp="1"/>
          </p:cNvSpPr>
          <p:nvPr>
            <p:ph type="body" idx="112" hasCustomPrompt="1"/>
          </p:nvPr>
        </p:nvSpPr>
        <p:spPr>
          <a:xfrm>
            <a:off x="731520" y="335153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5" name="LineItem2_Price"/>
          <p:cNvSpPr>
            <a:spLocks noGrp="1"/>
          </p:cNvSpPr>
          <p:nvPr>
            <p:ph type="body" idx="113" hasCustomPrompt="1"/>
          </p:nvPr>
        </p:nvSpPr>
        <p:spPr>
          <a:xfrm>
            <a:off x="4114800" y="335153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6" name="CategoryBLabel"/>
          <p:cNvSpPr/>
          <p:nvPr/>
        </p:nvSpPr>
        <p:spPr>
          <a:xfrm>
            <a:off x="548640" y="42786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B</a:t>
            </a:r>
            <a:endParaRPr lang="en-US" sz="1200" dirty="0"/>
          </a:p>
        </p:txBody>
      </p:sp>
      <p:sp>
        <p:nvSpPr>
          <p:cNvPr id="18" name="Option2Highlight"/>
          <p:cNvSpPr/>
          <p:nvPr/>
        </p:nvSpPr>
        <p:spPr>
          <a:xfrm>
            <a:off x="3383280" y="4598670"/>
            <a:ext cx="2651760" cy="1143000"/>
          </a:xfrm>
          <a:prstGeom prst="rect">
            <a:avLst/>
          </a:prstGeom>
          <a:solidFill>
            <a:schemeClr val="accent1"/>
          </a:solidFill>
          <a:ln/>
        </p:spPr>
        <p:txBody>
          <a:bodyPr/>
          <a:lstStyle/>
          <a:p>
            <a:endParaRPr lang="fr-FR"/>
          </a:p>
        </p:txBody>
      </p:sp>
      <p:sp>
        <p:nvSpPr>
          <p:cNvPr id="19" name="Option1_Percentage"/>
          <p:cNvSpPr>
            <a:spLocks noGrp="1"/>
          </p:cNvSpPr>
          <p:nvPr>
            <p:ph type="body" idx="117" hasCustomPrompt="1"/>
          </p:nvPr>
        </p:nvSpPr>
        <p:spPr>
          <a:xfrm>
            <a:off x="548640" y="4690110"/>
            <a:ext cx="2651760" cy="457200"/>
          </a:xfrm>
          <a:prstGeom prst="rect">
            <a:avLst/>
          </a:prstGeom>
          <a:noFill/>
          <a:ln/>
        </p:spPr>
        <p:txBody>
          <a:bodyPr wrap="square" rtlCol="0"/>
          <a:lstStyle>
            <a:lvl1pPr marL="0" indent="0" algn="ctr">
              <a:lnSpc>
                <a:spcPct val="120000"/>
              </a:lnSpc>
              <a:buNone/>
              <a:defRPr lang="en-US" sz="3000" spc="-60" dirty="0">
                <a:solidFill>
                  <a:schemeClr val="accent1"/>
                </a:solidFill>
                <a:latin typeface="+mj-lt" pitchFamily="18" charset="0"/>
                <a:ea typeface="+mj-ea" pitchFamily="18" charset="-122"/>
                <a:cs typeface="+mj-cs" pitchFamily="18" charset="-120"/>
              </a:defRPr>
            </a:lvl1pPr>
          </a:lstStyle>
          <a:p>
            <a:pPr marL="0" indent="0" algn="ctr">
              <a:buNone/>
            </a:pPr>
            <a:r>
              <a:rPr lang="en-US" sz="3000" dirty="0">
                <a:solidFill>
                  <a:schemeClr val="accent1"/>
                </a:solidFill>
                <a:latin typeface="+mj-lt" pitchFamily="18" charset="0"/>
                <a:ea typeface="+mj-ea" pitchFamily="18" charset="-122"/>
                <a:cs typeface="+mj-cs" pitchFamily="18" charset="-120"/>
              </a:rPr>
              <a:t>XX %</a:t>
            </a:r>
            <a:endParaRPr lang="en-US" sz="3000" dirty="0"/>
          </a:p>
        </p:txBody>
      </p:sp>
      <p:sp>
        <p:nvSpPr>
          <p:cNvPr id="20" name="Option1_Caption"/>
          <p:cNvSpPr>
            <a:spLocks noGrp="1"/>
          </p:cNvSpPr>
          <p:nvPr>
            <p:ph type="body" idx="118" hasCustomPrompt="1"/>
          </p:nvPr>
        </p:nvSpPr>
        <p:spPr>
          <a:xfrm>
            <a:off x="548640" y="5193030"/>
            <a:ext cx="2651760" cy="457200"/>
          </a:xfrm>
          <a:prstGeom prst="rect">
            <a:avLst/>
          </a:prstGeom>
          <a:noFill/>
          <a:ln/>
        </p:spPr>
        <p:txBody>
          <a:bodyPr wrap="square" rtlCol="0"/>
          <a:lstStyle>
            <a:lvl1pPr marL="0" indent="0" algn="ctr">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lgn="ctr">
              <a:buNone/>
            </a:pPr>
            <a:r>
              <a:rPr lang="en-US" sz="1200" dirty="0">
                <a:solidFill>
                  <a:schemeClr val="accent2"/>
                </a:solidFill>
                <a:latin typeface="+mn-lt" pitchFamily="34" charset="0"/>
                <a:ea typeface="+mn-ea" pitchFamily="34" charset="-122"/>
                <a:cs typeface="+mn-cs" pitchFamily="34" charset="-120"/>
              </a:rPr>
              <a:t>légende option 1</a:t>
            </a:r>
            <a:endParaRPr lang="en-US" sz="1200" dirty="0"/>
          </a:p>
        </p:txBody>
      </p:sp>
      <p:sp>
        <p:nvSpPr>
          <p:cNvPr id="21" name="Option2_Percentage"/>
          <p:cNvSpPr>
            <a:spLocks noGrp="1"/>
          </p:cNvSpPr>
          <p:nvPr>
            <p:ph type="body" idx="119" hasCustomPrompt="1"/>
          </p:nvPr>
        </p:nvSpPr>
        <p:spPr>
          <a:xfrm>
            <a:off x="3383280" y="4690110"/>
            <a:ext cx="2651760" cy="457200"/>
          </a:xfrm>
          <a:prstGeom prst="rect">
            <a:avLst/>
          </a:prstGeom>
          <a:noFill/>
          <a:ln/>
        </p:spPr>
        <p:txBody>
          <a:bodyPr wrap="square" rtlCol="0"/>
          <a:lstStyle>
            <a:lvl1pPr marL="0" indent="0" algn="ctr">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ctr">
              <a:buNone/>
            </a:pPr>
            <a:r>
              <a:rPr lang="en-US" sz="3000" dirty="0">
                <a:solidFill>
                  <a:schemeClr val="lt2"/>
                </a:solidFill>
                <a:latin typeface="+mj-lt" pitchFamily="18" charset="0"/>
                <a:ea typeface="+mj-ea" pitchFamily="18" charset="-122"/>
                <a:cs typeface="+mj-cs" pitchFamily="18" charset="-120"/>
              </a:rPr>
              <a:t>XX %</a:t>
            </a:r>
            <a:endParaRPr lang="en-US" sz="3000" dirty="0"/>
          </a:p>
        </p:txBody>
      </p:sp>
      <p:sp>
        <p:nvSpPr>
          <p:cNvPr id="22" name="Option2_Caption"/>
          <p:cNvSpPr>
            <a:spLocks noGrp="1"/>
          </p:cNvSpPr>
          <p:nvPr>
            <p:ph type="body" idx="120" hasCustomPrompt="1"/>
          </p:nvPr>
        </p:nvSpPr>
        <p:spPr>
          <a:xfrm>
            <a:off x="3383280" y="5193030"/>
            <a:ext cx="2651760" cy="457200"/>
          </a:xfrm>
          <a:prstGeom prst="rect">
            <a:avLst/>
          </a:prstGeom>
          <a:noFill/>
          <a:ln/>
        </p:spPr>
        <p:txBody>
          <a:bodyPr wrap="square" rtlCol="0"/>
          <a:lstStyle>
            <a:lvl1pPr marL="0" indent="0" algn="ctr">
              <a:lnSpc>
                <a:spcPct val="150000"/>
              </a:lnSpc>
              <a:buNone/>
              <a:defRPr lang="en-US" sz="1200" spc="0" dirty="0">
                <a:solidFill>
                  <a:schemeClr val="lt2"/>
                </a:solidFill>
                <a:latin typeface="+mn-lt" pitchFamily="34" charset="0"/>
                <a:ea typeface="+mn-ea" pitchFamily="34" charset="-122"/>
                <a:cs typeface="+mn-cs" pitchFamily="34" charset="-120"/>
              </a:defRPr>
            </a:lvl1pPr>
          </a:lstStyle>
          <a:p>
            <a:pPr marL="0" indent="0" algn="ctr">
              <a:buNone/>
            </a:pPr>
            <a:r>
              <a:rPr lang="en-US" sz="1200" dirty="0">
                <a:solidFill>
                  <a:schemeClr val="lt2"/>
                </a:solidFill>
                <a:latin typeface="+mn-lt" pitchFamily="34" charset="0"/>
                <a:ea typeface="+mn-ea" pitchFamily="34" charset="-122"/>
                <a:cs typeface="+mn-cs" pitchFamily="34" charset="-120"/>
              </a:rPr>
              <a:t>légende option 2</a:t>
            </a:r>
            <a:endParaRPr lang="en-US" sz="1200" dirty="0"/>
          </a:p>
        </p:txBody>
      </p:sp>
      <p:grpSp>
        <p:nvGrpSpPr>
          <p:cNvPr id="31" name="SummaryCardGroup"/>
          <p:cNvGrpSpPr/>
          <p:nvPr/>
        </p:nvGrpSpPr>
        <p:grpSpPr>
          <a:xfrm>
            <a:off x="6766560" y="2221230"/>
            <a:ext cx="4892040" cy="3520440"/>
            <a:chOff x="6766560" y="2926080"/>
            <a:chExt cx="4892040" cy="3520440"/>
          </a:xfrm>
        </p:grpSpPr>
        <p:sp>
          <p:nvSpPr>
            <p:cNvPr id="23" name="SummaryCardBackground"/>
            <p:cNvSpPr/>
            <p:nvPr/>
          </p:nvSpPr>
          <p:spPr>
            <a:xfrm>
              <a:off x="6766560" y="2926080"/>
              <a:ext cx="4892040" cy="3520440"/>
            </a:xfrm>
            <a:prstGeom prst="rect">
              <a:avLst/>
            </a:prstGeom>
            <a:solidFill>
              <a:schemeClr val="accent1"/>
            </a:solidFill>
            <a:ln/>
          </p:spPr>
          <p:txBody>
            <a:bodyPr/>
            <a:lstStyle/>
            <a:p>
              <a:endParaRPr lang="fr-FR"/>
            </a:p>
          </p:txBody>
        </p:sp>
        <p:sp>
          <p:nvSpPr>
            <p:cNvPr id="24" name="SummaryCardAccentTop"/>
            <p:cNvSpPr/>
            <p:nvPr/>
          </p:nvSpPr>
          <p:spPr>
            <a:xfrm>
              <a:off x="6766560" y="2926080"/>
              <a:ext cx="4892040" cy="36576"/>
            </a:xfrm>
            <a:prstGeom prst="rect">
              <a:avLst/>
            </a:prstGeom>
            <a:solidFill>
              <a:schemeClr val="lt2"/>
            </a:solidFill>
            <a:ln/>
          </p:spPr>
          <p:txBody>
            <a:bodyPr/>
            <a:lstStyle/>
            <a:p>
              <a:endParaRPr lang="fr-FR"/>
            </a:p>
          </p:txBody>
        </p:sp>
        <p:sp>
          <p:nvSpPr>
            <p:cNvPr id="25" name="SummaryCardAccentMark"/>
            <p:cNvSpPr/>
            <p:nvPr/>
          </p:nvSpPr>
          <p:spPr>
            <a:xfrm>
              <a:off x="6949440" y="5623560"/>
              <a:ext cx="457200" cy="36576"/>
            </a:xfrm>
            <a:prstGeom prst="rect">
              <a:avLst/>
            </a:prstGeom>
            <a:solidFill>
              <a:schemeClr val="lt2"/>
            </a:solidFill>
            <a:ln/>
          </p:spPr>
          <p:txBody>
            <a:bodyPr/>
            <a:lstStyle/>
            <a:p>
              <a:endParaRPr lang="fr-FR"/>
            </a:p>
          </p:txBody>
        </p:sp>
      </p:grpSp>
      <p:sp>
        <p:nvSpPr>
          <p:cNvPr id="26" name="SummaryLabel"/>
          <p:cNvSpPr>
            <a:spLocks noGrp="1"/>
          </p:cNvSpPr>
          <p:nvPr>
            <p:ph type="body" idx="124" hasCustomPrompt="1"/>
          </p:nvPr>
        </p:nvSpPr>
        <p:spPr>
          <a:xfrm>
            <a:off x="6949440" y="2541270"/>
            <a:ext cx="4572000" cy="274320"/>
          </a:xfrm>
          <a:prstGeom prst="rect">
            <a:avLst/>
          </a:prstGeom>
          <a:noFill/>
          <a:ln/>
        </p:spPr>
        <p:txBody>
          <a:bodyPr wrap="square" rtlCol="0"/>
          <a:lstStyle>
            <a:lvl1pPr marL="0" indent="0">
              <a:lnSpc>
                <a:spcPct val="150000"/>
              </a:lnSpc>
              <a:buNone/>
              <a:defRPr lang="en-US" sz="1200" b="1" kern="0" spc="0" dirty="0">
                <a:solidFill>
                  <a:schemeClr val="lt2"/>
                </a:solidFill>
                <a:latin typeface="+mn-lt" pitchFamily="34" charset="0"/>
                <a:ea typeface="+mn-ea" pitchFamily="34" charset="-122"/>
                <a:cs typeface="+mn-cs" pitchFamily="34" charset="-120"/>
              </a:defRPr>
            </a:lvl1pPr>
          </a:lstStyle>
          <a:p>
            <a:pPr marL="0" indent="0">
              <a:buNone/>
            </a:pPr>
            <a:r>
              <a:rPr lang="en-US" sz="1200" b="1" kern="0" spc="0" dirty="0">
                <a:solidFill>
                  <a:schemeClr val="lt2"/>
                </a:solidFill>
                <a:latin typeface="+mn-lt" pitchFamily="34" charset="0"/>
                <a:ea typeface="+mn-ea" pitchFamily="34" charset="-122"/>
                <a:cs typeface="+mn-cs" pitchFamily="34" charset="-120"/>
              </a:rPr>
              <a:t>CHIFFRE CLÉ</a:t>
            </a:r>
            <a:endParaRPr lang="en-US" sz="1200" dirty="0"/>
          </a:p>
        </p:txBody>
      </p:sp>
      <p:sp>
        <p:nvSpPr>
          <p:cNvPr id="27" name="SummaryValue"/>
          <p:cNvSpPr>
            <a:spLocks noGrp="1"/>
          </p:cNvSpPr>
          <p:nvPr>
            <p:ph type="body" idx="125" hasCustomPrompt="1"/>
          </p:nvPr>
        </p:nvSpPr>
        <p:spPr>
          <a:xfrm>
            <a:off x="6949440" y="2952750"/>
            <a:ext cx="4572000" cy="1280160"/>
          </a:xfrm>
          <a:prstGeom prst="rect">
            <a:avLst/>
          </a:prstGeom>
          <a:noFill/>
          <a:ln/>
        </p:spPr>
        <p:txBody>
          <a:bodyPr wrap="square" rtlCol="0"/>
          <a:lstStyle>
            <a:lvl1pPr marL="0" indent="0">
              <a:lnSpc>
                <a:spcPct val="95000"/>
              </a:lnSpc>
              <a:buNone/>
              <a:defRPr lang="en-US" sz="7600" kern="0" spc="-456" dirty="0">
                <a:solidFill>
                  <a:schemeClr val="lt2"/>
                </a:solidFill>
                <a:latin typeface="+mj-lt" pitchFamily="18" charset="0"/>
                <a:ea typeface="+mj-ea" pitchFamily="18" charset="-122"/>
                <a:cs typeface="+mj-cs" pitchFamily="18" charset="-120"/>
              </a:defRPr>
            </a:lvl1pPr>
          </a:lstStyle>
          <a:p>
            <a:pPr marL="0" indent="0">
              <a:buNone/>
            </a:pPr>
            <a:r>
              <a:rPr lang="en-US" sz="7600" kern="0" spc="-456" dirty="0">
                <a:solidFill>
                  <a:schemeClr val="lt2"/>
                </a:solidFill>
                <a:latin typeface="+mj-lt" pitchFamily="18" charset="0"/>
                <a:ea typeface="+mj-ea" pitchFamily="18" charset="-122"/>
                <a:cs typeface="+mj-cs" pitchFamily="18" charset="-120"/>
              </a:rPr>
              <a:t>000 000</a:t>
            </a:r>
            <a:endParaRPr lang="en-US" sz="7600" dirty="0"/>
          </a:p>
        </p:txBody>
      </p:sp>
      <p:sp>
        <p:nvSpPr>
          <p:cNvPr id="28" name="SummaryUnit"/>
          <p:cNvSpPr>
            <a:spLocks noGrp="1"/>
          </p:cNvSpPr>
          <p:nvPr>
            <p:ph type="body" idx="126" hasCustomPrompt="1"/>
          </p:nvPr>
        </p:nvSpPr>
        <p:spPr>
          <a:xfrm>
            <a:off x="6949440" y="4278630"/>
            <a:ext cx="4572000" cy="457200"/>
          </a:xfrm>
          <a:prstGeom prst="rect">
            <a:avLst/>
          </a:prstGeom>
          <a:noFill/>
          <a:ln/>
        </p:spPr>
        <p:txBody>
          <a:bodyPr wrap="square" rtlCol="0"/>
          <a:lstStyle>
            <a:lvl1pPr marL="0" indent="0">
              <a:lnSpc>
                <a:spcPct val="120000"/>
              </a:lnSpc>
              <a:buNone/>
              <a:defRPr lang="en-US" sz="2600" spc="-52" dirty="0">
                <a:solidFill>
                  <a:schemeClr val="lt2"/>
                </a:solidFill>
                <a:latin typeface="+mn-lt" pitchFamily="34" charset="0"/>
                <a:ea typeface="+mn-ea" pitchFamily="34" charset="-122"/>
                <a:cs typeface="+mn-cs" pitchFamily="34" charset="-120"/>
              </a:defRPr>
            </a:lvl1pPr>
          </a:lstStyle>
          <a:p>
            <a:pPr marL="0" indent="0">
              <a:buNone/>
            </a:pPr>
            <a:r>
              <a:rPr lang="en-US" sz="2600" dirty="0">
                <a:solidFill>
                  <a:schemeClr val="lt2"/>
                </a:solidFill>
                <a:latin typeface="+mn-lt" pitchFamily="34" charset="0"/>
                <a:ea typeface="+mn-ea" pitchFamily="34" charset="-122"/>
                <a:cs typeface="+mn-cs" pitchFamily="34" charset="-120"/>
              </a:rPr>
              <a:t>€ HT</a:t>
            </a:r>
            <a:endParaRPr lang="en-US" sz="2600" dirty="0"/>
          </a:p>
        </p:txBody>
      </p:sp>
      <p:sp>
        <p:nvSpPr>
          <p:cNvPr id="29" name="SummaryCaption"/>
          <p:cNvSpPr>
            <a:spLocks noGrp="1"/>
          </p:cNvSpPr>
          <p:nvPr>
            <p:ph type="body" idx="127" hasCustomPrompt="1"/>
          </p:nvPr>
        </p:nvSpPr>
        <p:spPr>
          <a:xfrm>
            <a:off x="6949440" y="5055870"/>
            <a:ext cx="4572000" cy="411480"/>
          </a:xfrm>
          <a:prstGeom prst="rect">
            <a:avLst/>
          </a:prstGeom>
          <a:noFill/>
          <a:ln/>
        </p:spPr>
        <p:txBody>
          <a:bodyPr wrap="square" rtlCol="0"/>
          <a:lstStyle>
            <a:lvl1pPr marL="0" indent="0">
              <a:lnSpc>
                <a:spcPct val="150000"/>
              </a:lnSpc>
              <a:buNone/>
              <a:defRPr lang="en-US" sz="1200" i="1" spc="0" dirty="0">
                <a:solidFill>
                  <a:schemeClr val="lt2"/>
                </a:solidFill>
                <a:latin typeface="+mn-lt" pitchFamily="34" charset="0"/>
                <a:ea typeface="+mn-ea" pitchFamily="34" charset="-122"/>
                <a:cs typeface="+mn-cs" pitchFamily="34" charset="-120"/>
              </a:defRPr>
            </a:lvl1pPr>
          </a:lstStyle>
          <a:p>
            <a:pPr marL="0" indent="0">
              <a:buNone/>
            </a:pPr>
            <a:r>
              <a:rPr lang="en-US" sz="1200" i="1" dirty="0">
                <a:solidFill>
                  <a:schemeClr val="lt2"/>
                </a:solidFill>
                <a:latin typeface="+mn-lt" pitchFamily="34" charset="0"/>
                <a:ea typeface="+mn-ea" pitchFamily="34" charset="-122"/>
                <a:cs typeface="+mn-cs" pitchFamily="34" charset="-120"/>
              </a:rPr>
              <a:t>Légende du chiffre clé</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1_CONTACT">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3474720"/>
              <a:ext cx="457200" cy="36576"/>
            </a:xfrm>
            <a:prstGeom prst="rect">
              <a:avLst/>
            </a:prstGeom>
            <a:solidFill>
              <a:schemeClr val="accent5"/>
            </a:solidFill>
            <a:ln/>
          </p:spPr>
          <p:txBody>
            <a:bodyPr/>
            <a:lstStyle/>
            <a:p>
              <a:endParaRPr lang="fr-FR"/>
            </a:p>
          </p:txBody>
        </p:sp>
      </p:grpSp>
      <p:grpSp>
        <p:nvGrpSpPr>
          <p:cNvPr id="22" name="PhotoCardGroup"/>
          <p:cNvGrpSpPr/>
          <p:nvPr/>
        </p:nvGrpSpPr>
        <p:grpSpPr>
          <a:xfrm>
            <a:off x="7772400" y="1645920"/>
            <a:ext cx="3931920" cy="4572000"/>
            <a:chOff x="7772400" y="1645920"/>
            <a:chExt cx="3931920" cy="4572000"/>
          </a:xfrm>
        </p:grpSpPr>
        <p:sp>
          <p:nvSpPr>
            <p:cNvPr id="6" name="PhotoCardBackground"/>
            <p:cNvSpPr/>
            <p:nvPr/>
          </p:nvSpPr>
          <p:spPr>
            <a:xfrm>
              <a:off x="7772400" y="1645920"/>
              <a:ext cx="3931920" cy="4572000"/>
            </a:xfrm>
            <a:prstGeom prst="rect">
              <a:avLst/>
            </a:prstGeom>
            <a:noFill/>
            <a:ln/>
          </p:spPr>
          <p:txBody>
            <a:bodyPr/>
            <a:lstStyle/>
            <a:p>
              <a:endParaRPr lang="fr-FR"/>
            </a:p>
          </p:txBody>
        </p:sp>
        <p:pic>
          <p:nvPicPr>
            <p:cNvPr id="8" name="PhotoCardImage" descr="sciam_logo.png"/>
            <p:cNvPicPr>
              <a:picLocks noChangeAspect="1"/>
            </p:cNvPicPr>
            <p:nvPr/>
          </p:nvPicPr>
          <p:blipFill>
            <a:blip r:embed="rId2"/>
            <a:stretch>
              <a:fillRect/>
            </a:stretch>
          </p:blipFill>
          <p:spPr>
            <a:xfrm>
              <a:off x="8595360" y="2103120"/>
              <a:ext cx="2286000" cy="3017520"/>
            </a:xfrm>
            <a:prstGeom prst="rect">
              <a:avLst/>
            </a:prstGeom>
          </p:spPr>
        </p:pic>
        <p:sp>
          <p:nvSpPr>
            <p:cNvPr id="9" name="PhotoCardCompanyName"/>
            <p:cNvSpPr/>
            <p:nvPr/>
          </p:nvSpPr>
          <p:spPr>
            <a:xfrm>
              <a:off x="7772400" y="5166360"/>
              <a:ext cx="3931920" cy="457200"/>
            </a:xfrm>
            <a:prstGeom prst="rect">
              <a:avLst/>
            </a:prstGeom>
            <a:noFill/>
            <a:ln/>
          </p:spPr>
          <p:txBody>
            <a:bodyPr wrap="square" lIns="0" tIns="0" rIns="0" bIns="0" rtlCol="0" anchor="ctr"/>
            <a:lstStyle/>
            <a:p>
              <a:pPr marL="0" indent="0" algn="ctr">
                <a:buNone/>
              </a:pPr>
              <a:r>
                <a:rPr lang="en-US" sz="2200" b="1" kern="0" spc="-44" dirty="0">
                  <a:solidFill>
                    <a:schemeClr val="accent1"/>
                  </a:solidFill>
                  <a:latin typeface="+mn-lt" pitchFamily="34" charset="0"/>
                  <a:ea typeface="+mn-ea" pitchFamily="34" charset="-122"/>
                  <a:cs typeface="+mn-cs" pitchFamily="34" charset="-120"/>
                </a:rPr>
                <a:t>SCIAM</a:t>
              </a:r>
              <a:endParaRPr lang="en-US" sz="2200" dirty="0"/>
            </a:p>
          </p:txBody>
        </p:sp>
        <p:sp>
          <p:nvSpPr>
            <p:cNvPr id="10" name="PhotoCardTagline"/>
            <p:cNvSpPr/>
            <p:nvPr/>
          </p:nvSpPr>
          <p:spPr>
            <a:xfrm>
              <a:off x="7772400" y="5623560"/>
              <a:ext cx="393192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grpSp>
      <p:sp>
        <p:nvSpPr>
          <p:cNvPr id="11" name="ContactSectionLabel"/>
          <p:cNvSpPr/>
          <p:nvPr/>
        </p:nvSpPr>
        <p:spPr>
          <a:xfrm>
            <a:off x="548640" y="1645920"/>
            <a:ext cx="64008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VOTRE INTERLOCUTEUR</a:t>
            </a:r>
            <a:endParaRPr lang="en-US" sz="1200" dirty="0"/>
          </a:p>
        </p:txBody>
      </p:sp>
      <p:sp>
        <p:nvSpPr>
          <p:cNvPr id="12" name="Title"/>
          <p:cNvSpPr>
            <a:spLocks noGrp="1"/>
          </p:cNvSpPr>
          <p:nvPr>
            <p:ph type="title" idx="110" hasCustomPrompt="1"/>
          </p:nvPr>
        </p:nvSpPr>
        <p:spPr>
          <a:xfrm>
            <a:off x="548640" y="2011680"/>
            <a:ext cx="7315200" cy="822960"/>
          </a:xfrm>
          <a:prstGeom prst="rect">
            <a:avLst/>
          </a:prstGeom>
          <a:noFill/>
          <a:ln/>
        </p:spPr>
        <p:txBody>
          <a:bodyPr wrap="square" rtlCol="0"/>
          <a:lstStyle>
            <a:lvl1pPr marL="0" indent="0" algn="l">
              <a:lnSpc>
                <a:spcPct val="100000"/>
              </a:lnSpc>
              <a:buNone/>
              <a:defRPr lang="en-US" sz="4400" spc="-264" dirty="0">
                <a:solidFill>
                  <a:schemeClr val="accent1"/>
                </a:solidFill>
                <a:latin typeface="+mj-lt" pitchFamily="18" charset="0"/>
                <a:ea typeface="+mj-ea" pitchFamily="18" charset="-122"/>
                <a:cs typeface="+mj-cs" pitchFamily="18" charset="-120"/>
              </a:defRPr>
            </a:lvl1pPr>
          </a:lstStyle>
          <a:p>
            <a:pPr marL="0" indent="0" algn="l">
              <a:buNone/>
            </a:pPr>
            <a:r>
              <a:rPr lang="en-US" sz="4400" dirty="0">
                <a:solidFill>
                  <a:schemeClr val="accent1"/>
                </a:solidFill>
                <a:latin typeface="+mj-lt" pitchFamily="18" charset="0"/>
                <a:ea typeface="+mj-ea" pitchFamily="18" charset="-122"/>
                <a:cs typeface="+mj-cs" pitchFamily="18" charset="-120"/>
              </a:rPr>
              <a:t>Prénom NOM</a:t>
            </a:r>
            <a:endParaRPr lang="en-US" sz="4400" dirty="0"/>
          </a:p>
        </p:txBody>
      </p:sp>
      <p:sp>
        <p:nvSpPr>
          <p:cNvPr id="13" name="JobTitle"/>
          <p:cNvSpPr>
            <a:spLocks noGrp="1"/>
          </p:cNvSpPr>
          <p:nvPr>
            <p:ph type="body" idx="111" hasCustomPrompt="1"/>
          </p:nvPr>
        </p:nvSpPr>
        <p:spPr>
          <a:xfrm>
            <a:off x="548640" y="2880360"/>
            <a:ext cx="7315200" cy="457200"/>
          </a:xfrm>
          <a:prstGeom prst="rect">
            <a:avLst/>
          </a:prstGeom>
          <a:noFill/>
          <a:ln/>
        </p:spPr>
        <p:txBody>
          <a:bodyPr wrap="square" rtlCol="0"/>
          <a:lstStyle>
            <a:lvl1pPr marL="0" indent="0">
              <a:lnSpc>
                <a:spcPct val="150000"/>
              </a:lnSpc>
              <a:buNone/>
              <a:defRPr lang="en-US" sz="1800" i="1" spc="0" dirty="0">
                <a:solidFill>
                  <a:schemeClr val="accent2"/>
                </a:solidFill>
                <a:latin typeface="+mn-lt" pitchFamily="34" charset="0"/>
                <a:ea typeface="+mn-ea" pitchFamily="34" charset="-122"/>
                <a:cs typeface="+mn-cs" pitchFamily="34" charset="-120"/>
              </a:defRPr>
            </a:lvl1pPr>
          </a:lstStyle>
          <a:p>
            <a:pPr marL="0" indent="0">
              <a:buNone/>
            </a:pPr>
            <a:r>
              <a:rPr lang="en-US" sz="1800" i="1" dirty="0">
                <a:solidFill>
                  <a:schemeClr val="accent2"/>
                </a:solidFill>
                <a:latin typeface="+mn-lt" pitchFamily="34" charset="0"/>
                <a:ea typeface="+mn-ea" pitchFamily="34" charset="-122"/>
                <a:cs typeface="+mn-cs" pitchFamily="34" charset="-120"/>
              </a:rPr>
              <a:t>Fonction — Entreprise</a:t>
            </a:r>
            <a:endParaRPr lang="en-US" sz="1800" dirty="0"/>
          </a:p>
        </p:txBody>
      </p:sp>
      <p:grpSp>
        <p:nvGrpSpPr>
          <p:cNvPr id="23" name="PhoneIconGroup"/>
          <p:cNvGrpSpPr/>
          <p:nvPr/>
        </p:nvGrpSpPr>
        <p:grpSpPr>
          <a:xfrm>
            <a:off x="548640" y="3886200"/>
            <a:ext cx="457200" cy="457200"/>
            <a:chOff x="548640" y="3886200"/>
            <a:chExt cx="457200" cy="457200"/>
          </a:xfrm>
        </p:grpSpPr>
        <p:sp>
          <p:nvSpPr>
            <p:cNvPr id="14" name="PhoneIconBackground"/>
            <p:cNvSpPr/>
            <p:nvPr/>
          </p:nvSpPr>
          <p:spPr>
            <a:xfrm>
              <a:off x="548640" y="3886200"/>
              <a:ext cx="457200" cy="457200"/>
            </a:xfrm>
            <a:prstGeom prst="rect">
              <a:avLst/>
            </a:prstGeom>
            <a:solidFill>
              <a:schemeClr val="lt2"/>
            </a:solidFill>
            <a:ln/>
          </p:spPr>
          <p:txBody>
            <a:bodyPr/>
            <a:lstStyle/>
            <a:p>
              <a:endParaRPr lang="fr-FR"/>
            </a:p>
          </p:txBody>
        </p:sp>
        <p:sp>
          <p:nvSpPr>
            <p:cNvPr id="15" name="PhoneIcon"/>
            <p:cNvSpPr/>
            <p:nvPr/>
          </p:nvSpPr>
          <p:spPr>
            <a:xfrm>
              <a:off x="548640" y="3886200"/>
              <a:ext cx="457200" cy="457200"/>
            </a:xfrm>
            <a:prstGeom prst="rect">
              <a:avLst/>
            </a:prstGeom>
            <a:noFill/>
            <a:ln/>
          </p:spPr>
          <p:txBody>
            <a:bodyPr wrap="square" lIns="0" tIns="0" rIns="0" bIns="0" rtlCol="0" anchor="ctr"/>
            <a:lstStyle/>
            <a:p>
              <a:pPr marL="0" indent="0" algn="ctr">
                <a:buNone/>
              </a:pPr>
              <a:r>
                <a:rPr lang="en-US" sz="1800" dirty="0">
                  <a:solidFill>
                    <a:schemeClr val="accent1"/>
                  </a:solidFill>
                  <a:latin typeface="+mn-lt"/>
                </a:rPr>
                <a:t>☎</a:t>
              </a:r>
              <a:endParaRPr lang="en-US" sz="1800" dirty="0"/>
            </a:p>
          </p:txBody>
        </p:sp>
      </p:grpSp>
      <p:sp>
        <p:nvSpPr>
          <p:cNvPr id="16" name="PhoneNumber"/>
          <p:cNvSpPr>
            <a:spLocks noGrp="1"/>
          </p:cNvSpPr>
          <p:nvPr>
            <p:ph type="body" idx="114" hasCustomPrompt="1"/>
          </p:nvPr>
        </p:nvSpPr>
        <p:spPr>
          <a:xfrm>
            <a:off x="1188720" y="388620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+33 X XX XX XX XX</a:t>
            </a:r>
            <a:endParaRPr lang="en-US" sz="2000" dirty="0"/>
          </a:p>
        </p:txBody>
      </p:sp>
      <p:grpSp>
        <p:nvGrpSpPr>
          <p:cNvPr id="24" name="EmailIconGroup"/>
          <p:cNvGrpSpPr/>
          <p:nvPr/>
        </p:nvGrpSpPr>
        <p:grpSpPr>
          <a:xfrm>
            <a:off x="548640" y="4526280"/>
            <a:ext cx="457200" cy="457200"/>
            <a:chOff x="548640" y="4526280"/>
            <a:chExt cx="457200" cy="457200"/>
          </a:xfrm>
        </p:grpSpPr>
        <p:sp>
          <p:nvSpPr>
            <p:cNvPr id="17" name="EmailIconBackground"/>
            <p:cNvSpPr/>
            <p:nvPr/>
          </p:nvSpPr>
          <p:spPr>
            <a:xfrm>
              <a:off x="548640" y="4526280"/>
              <a:ext cx="457200" cy="457200"/>
            </a:xfrm>
            <a:prstGeom prst="rect">
              <a:avLst/>
            </a:prstGeom>
            <a:solidFill>
              <a:schemeClr val="lt2"/>
            </a:solidFill>
            <a:ln/>
          </p:spPr>
          <p:txBody>
            <a:bodyPr/>
            <a:lstStyle/>
            <a:p>
              <a:endParaRPr lang="fr-FR"/>
            </a:p>
          </p:txBody>
        </p:sp>
        <p:sp>
          <p:nvSpPr>
            <p:cNvPr id="18" name="EmailIcon"/>
            <p:cNvSpPr/>
            <p:nvPr/>
          </p:nvSpPr>
          <p:spPr>
            <a:xfrm>
              <a:off x="548640" y="4526280"/>
              <a:ext cx="457200" cy="457200"/>
            </a:xfrm>
            <a:prstGeom prst="rect">
              <a:avLst/>
            </a:prstGeom>
            <a:noFill/>
            <a:ln/>
          </p:spPr>
          <p:txBody>
            <a:bodyPr wrap="square" lIns="0" tIns="0" rIns="0" bIns="0" rtlCol="0" anchor="ctr"/>
            <a:lstStyle/>
            <a:p>
              <a:pPr marL="0" indent="0" algn="ctr">
                <a:buNone/>
              </a:pPr>
              <a:r>
                <a:rPr lang="en-US" sz="1800" b="1" dirty="0">
                  <a:solidFill>
                    <a:schemeClr val="accent1"/>
                  </a:solidFill>
                  <a:latin typeface="+mn-lt" pitchFamily="34" charset="0"/>
                  <a:ea typeface="+mn-ea" pitchFamily="34" charset="-122"/>
                  <a:cs typeface="+mn-cs" pitchFamily="34" charset="-120"/>
                </a:rPr>
                <a:t>@</a:t>
              </a:r>
              <a:endParaRPr lang="en-US" sz="1800" dirty="0"/>
            </a:p>
          </p:txBody>
        </p:sp>
      </p:grpSp>
      <p:sp>
        <p:nvSpPr>
          <p:cNvPr id="19" name="Email"/>
          <p:cNvSpPr>
            <a:spLocks noGrp="1"/>
          </p:cNvSpPr>
          <p:nvPr>
            <p:ph type="body" idx="117" hasCustomPrompt="1"/>
          </p:nvPr>
        </p:nvSpPr>
        <p:spPr>
          <a:xfrm>
            <a:off x="1188720" y="452628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prenom.nom@sciam.fr</a:t>
            </a:r>
            <a:endParaRPr lang="en-US" sz="2000" dirty="0"/>
          </a:p>
        </p:txBody>
      </p:sp>
      <p:sp>
        <p:nvSpPr>
          <p:cNvPr id="20" name="DocumentMeta"/>
          <p:cNvSpPr>
            <a:spLocks noGrp="1"/>
          </p:cNvSpPr>
          <p:nvPr>
            <p:ph type="body" idx="118" hasCustomPrompt="1"/>
          </p:nvPr>
        </p:nvSpPr>
        <p:spPr>
          <a:xfrm>
            <a:off x="548640" y="5943600"/>
            <a:ext cx="6400800" cy="274320"/>
          </a:xfrm>
          <a:prstGeom prst="rect">
            <a:avLst/>
          </a:prstGeom>
          <a:noFill/>
          <a:ln/>
        </p:spPr>
        <p:txBody>
          <a:bodyPr wrap="square" rtlCol="0"/>
          <a:lstStyle>
            <a:lvl1pPr marL="0" indent="0">
              <a:lnSpc>
                <a:spcPct val="143000"/>
              </a:lnSpc>
              <a:buNone/>
              <a:defRPr lang="en-US" sz="1000" i="1" spc="0" dirty="0">
                <a:solidFill>
                  <a:schemeClr val="accent6"/>
                </a:solidFill>
                <a:latin typeface="+mn-lt" pitchFamily="34" charset="0"/>
                <a:ea typeface="+mn-ea" pitchFamily="34" charset="-122"/>
                <a:cs typeface="+mn-cs" pitchFamily="34" charset="-120"/>
              </a:defRPr>
            </a:lvl1pPr>
          </a:lstStyle>
          <a:p>
            <a:pPr marL="0" indent="0">
              <a:buNone/>
            </a:pPr>
            <a:r>
              <a:rPr lang="en-US" sz="1000" i="1" dirty="0">
                <a:solidFill>
                  <a:schemeClr val="accent6"/>
                </a:solidFill>
                <a:latin typeface="+mn-lt" pitchFamily="34" charset="0"/>
                <a:ea typeface="+mn-ea" pitchFamily="34" charset="-122"/>
                <a:cs typeface="+mn-cs" pitchFamily="34" charset="-120"/>
              </a:rPr>
              <a:t>Mois Année · Type de document</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FRISE_CHRONOLOGIQU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frise</a:t>
            </a:r>
          </a:p>
        </p:txBody>
      </p:sp>
      <p:sp>
        <p:nvSpPr>
          <p:cNvPr id="8" name="TimelineLine"/>
          <p:cNvSpPr/>
          <p:nvPr/>
        </p:nvSpPr>
        <p:spPr>
          <a:xfrm>
            <a:off x="1866900" y="3571240"/>
            <a:ext cx="8458200" cy="27432"/>
          </a:xfrm>
          <a:prstGeom prst="rect">
            <a:avLst/>
          </a:prstGeom>
          <a:solidFill>
            <a:schemeClr val="accent1"/>
          </a:solidFill>
          <a:ln/>
        </p:spPr>
      </p:sp>
      <p:sp>
        <p:nvSpPr>
          <p:cNvPr id="9" name="Milestone1_Dot"/>
          <p:cNvSpPr/>
          <p:nvPr/>
        </p:nvSpPr>
        <p:spPr>
          <a:xfrm>
            <a:off x="1775460" y="3479800"/>
            <a:ext cx="182880" cy="182880"/>
          </a:xfrm>
          <a:prstGeom prst="ellipse">
            <a:avLst/>
          </a:prstGeom>
          <a:solidFill>
            <a:schemeClr val="accent1"/>
          </a:solidFill>
          <a:ln/>
        </p:spPr>
      </p:sp>
      <p:sp>
        <p:nvSpPr>
          <p:cNvPr id="10" name="Milestone1_Year"/>
          <p:cNvSpPr>
            <a:spLocks noGrp="1"/>
          </p:cNvSpPr>
          <p:nvPr>
            <p:ph type="body" idx="11" hasCustomPrompt="1"/>
          </p:nvPr>
        </p:nvSpPr>
        <p:spPr>
          <a:xfrm>
            <a:off x="5486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2024</a:t>
            </a:r>
          </a:p>
        </p:txBody>
      </p:sp>
      <p:sp>
        <p:nvSpPr>
          <p:cNvPr id="11" name="Milestone1_Description"/>
          <p:cNvSpPr>
            <a:spLocks noGrp="1"/>
          </p:cNvSpPr>
          <p:nvPr>
            <p:ph type="body" idx="12" hasCustomPrompt="1"/>
          </p:nvPr>
        </p:nvSpPr>
        <p:spPr>
          <a:xfrm>
            <a:off x="5486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2" name="Milestone2_Dot"/>
          <p:cNvSpPr/>
          <p:nvPr/>
        </p:nvSpPr>
        <p:spPr>
          <a:xfrm>
            <a:off x="4594860" y="3479800"/>
            <a:ext cx="182880" cy="182880"/>
          </a:xfrm>
          <a:prstGeom prst="ellipse">
            <a:avLst/>
          </a:prstGeom>
          <a:solidFill>
            <a:schemeClr val="accent1"/>
          </a:solidFill>
          <a:ln/>
        </p:spPr>
      </p:sp>
      <p:sp>
        <p:nvSpPr>
          <p:cNvPr id="13" name="Milestone2_Year"/>
          <p:cNvSpPr>
            <a:spLocks noGrp="1"/>
          </p:cNvSpPr>
          <p:nvPr>
            <p:ph type="body" idx="13" hasCustomPrompt="1"/>
          </p:nvPr>
        </p:nvSpPr>
        <p:spPr>
          <a:xfrm>
            <a:off x="33680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2025</a:t>
            </a:r>
          </a:p>
        </p:txBody>
      </p:sp>
      <p:sp>
        <p:nvSpPr>
          <p:cNvPr id="14" name="Milestone2_Description"/>
          <p:cNvSpPr>
            <a:spLocks noGrp="1"/>
          </p:cNvSpPr>
          <p:nvPr>
            <p:ph type="body" idx="14" hasCustomPrompt="1"/>
          </p:nvPr>
        </p:nvSpPr>
        <p:spPr>
          <a:xfrm>
            <a:off x="33680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5" name="Milestone3_Dot"/>
          <p:cNvSpPr/>
          <p:nvPr/>
        </p:nvSpPr>
        <p:spPr>
          <a:xfrm>
            <a:off x="7414260" y="3479800"/>
            <a:ext cx="182880" cy="182880"/>
          </a:xfrm>
          <a:prstGeom prst="ellipse">
            <a:avLst/>
          </a:prstGeom>
          <a:solidFill>
            <a:schemeClr val="accent1"/>
          </a:solidFill>
          <a:ln/>
        </p:spPr>
      </p:sp>
      <p:sp>
        <p:nvSpPr>
          <p:cNvPr id="16" name="Milestone3_Year"/>
          <p:cNvSpPr>
            <a:spLocks noGrp="1"/>
          </p:cNvSpPr>
          <p:nvPr>
            <p:ph type="body" idx="15" hasCustomPrompt="1"/>
          </p:nvPr>
        </p:nvSpPr>
        <p:spPr>
          <a:xfrm>
            <a:off x="61874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2026</a:t>
            </a:r>
          </a:p>
        </p:txBody>
      </p:sp>
      <p:sp>
        <p:nvSpPr>
          <p:cNvPr id="17" name="Milestone3_Description"/>
          <p:cNvSpPr>
            <a:spLocks noGrp="1"/>
          </p:cNvSpPr>
          <p:nvPr>
            <p:ph type="body" idx="16" hasCustomPrompt="1"/>
          </p:nvPr>
        </p:nvSpPr>
        <p:spPr>
          <a:xfrm>
            <a:off x="61874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8" name="Milestone4_Dot"/>
          <p:cNvSpPr/>
          <p:nvPr/>
        </p:nvSpPr>
        <p:spPr>
          <a:xfrm>
            <a:off x="10233660" y="3479800"/>
            <a:ext cx="182880" cy="182880"/>
          </a:xfrm>
          <a:prstGeom prst="ellipse">
            <a:avLst/>
          </a:prstGeom>
          <a:solidFill>
            <a:schemeClr val="accent1"/>
          </a:solidFill>
          <a:ln/>
        </p:spPr>
      </p:sp>
      <p:sp>
        <p:nvSpPr>
          <p:cNvPr id="19" name="Milestone4_Year"/>
          <p:cNvSpPr>
            <a:spLocks noGrp="1"/>
          </p:cNvSpPr>
          <p:nvPr>
            <p:ph type="body" idx="17" hasCustomPrompt="1"/>
          </p:nvPr>
        </p:nvSpPr>
        <p:spPr>
          <a:xfrm>
            <a:off x="90068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2027</a:t>
            </a:r>
          </a:p>
        </p:txBody>
      </p:sp>
      <p:sp>
        <p:nvSpPr>
          <p:cNvPr id="20" name="Milestone4_Description"/>
          <p:cNvSpPr>
            <a:spLocks noGrp="1"/>
          </p:cNvSpPr>
          <p:nvPr>
            <p:ph type="body" idx="18" hasCustomPrompt="1"/>
          </p:nvPr>
        </p:nvSpPr>
        <p:spPr>
          <a:xfrm>
            <a:off x="90068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_PROCESSUS_ETAPES">
    <p:spTree>
      <p:nvGrpSpPr>
        <p:cNvPr id="1" name=""/>
        <p:cNvGrpSpPr/>
        <p:nvPr/>
      </p:nvGrpSpPr>
      <p:grpSpPr>
        <a:xfrm>
          <a:off x="0" y="0"/>
          <a:ext cx="0" cy="0"/>
          <a:chOff x="0" y="0"/>
          <a:chExt cx="0" cy="0"/>
        </a:xfrm>
      </p:grpSpPr>
      <p:sp>
        <p:nvSpPr>
          <p:cNvPr id="42" name="Step4_Icon">
            <a:extLst>
              <a:ext uri="{FF2B5EF4-FFF2-40B4-BE49-F238E27FC236}">
                <a16:creationId xmlns:a16="http://schemas.microsoft.com/office/drawing/2014/main" id="{3BAE0160-3793-7384-B39E-71DBD87D32C4}"/>
              </a:ext>
            </a:extLst>
          </p:cNvPr>
          <p:cNvSpPr>
            <a:spLocks noGrp="1"/>
          </p:cNvSpPr>
          <p:nvPr>
            <p:ph type="pic" sz="quarter" idx="25"/>
          </p:nvPr>
        </p:nvSpPr>
        <p:spPr>
          <a:xfrm>
            <a:off x="9531255" y="1892300"/>
            <a:ext cx="487362" cy="488950"/>
          </a:xfrm>
          <a:prstGeom prst="rect">
            <a:avLst/>
          </a:prstGeom>
        </p:spPr>
        <p:txBody>
          <a:bodyPr/>
          <a:lstStyle>
            <a:lvl1pPr>
              <a:buNone/>
              <a:defRPr/>
            </a:lvl1pPr>
          </a:lstStyle>
          <a:p>
            <a:r>
              <a:rPr lang="fr-FR"/>
              <a:t>Cliquez sur l'icône pour ajouter une image</a:t>
            </a:r>
            <a:endParaRPr lang="fr-FR" dirty="0"/>
          </a:p>
        </p:txBody>
      </p:sp>
      <p:sp>
        <p:nvSpPr>
          <p:cNvPr id="21" name="Step3_Title"/>
          <p:cNvSpPr>
            <a:spLocks noGrp="1"/>
          </p:cNvSpPr>
          <p:nvPr>
            <p:ph type="body" idx="15" hasCustomPrompt="1"/>
          </p:nvPr>
        </p:nvSpPr>
        <p:spPr>
          <a:xfrm>
            <a:off x="6565392"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2" name="Step3_Description"/>
          <p:cNvSpPr>
            <a:spLocks noGrp="1"/>
          </p:cNvSpPr>
          <p:nvPr>
            <p:ph type="body" idx="16" hasCustomPrompt="1"/>
          </p:nvPr>
        </p:nvSpPr>
        <p:spPr>
          <a:xfrm>
            <a:off x="6565392"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26" name="Step4_Title"/>
          <p:cNvSpPr>
            <a:spLocks noGrp="1"/>
          </p:cNvSpPr>
          <p:nvPr userDrawn="1">
            <p:ph type="body" idx="17" hasCustomPrompt="1"/>
          </p:nvPr>
        </p:nvSpPr>
        <p:spPr>
          <a:xfrm>
            <a:off x="8811768"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7" name="Step4_Description"/>
          <p:cNvSpPr>
            <a:spLocks noGrp="1"/>
          </p:cNvSpPr>
          <p:nvPr userDrawn="1">
            <p:ph type="body" idx="18" hasCustomPrompt="1"/>
          </p:nvPr>
        </p:nvSpPr>
        <p:spPr>
          <a:xfrm>
            <a:off x="8811768"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46" name="Step3_Icon">
            <a:extLst>
              <a:ext uri="{FF2B5EF4-FFF2-40B4-BE49-F238E27FC236}">
                <a16:creationId xmlns:a16="http://schemas.microsoft.com/office/drawing/2014/main" id="{4E1C503D-B7B9-078E-510D-AC698AB2E9B5}"/>
              </a:ext>
            </a:extLst>
          </p:cNvPr>
          <p:cNvSpPr>
            <a:spLocks noGrp="1"/>
          </p:cNvSpPr>
          <p:nvPr>
            <p:ph type="pic" sz="quarter" idx="28"/>
          </p:nvPr>
        </p:nvSpPr>
        <p:spPr>
          <a:xfrm>
            <a:off x="7284879" y="1894713"/>
            <a:ext cx="487362" cy="488950"/>
          </a:xfrm>
          <a:prstGeom prst="rect">
            <a:avLst/>
          </a:prstGeom>
        </p:spPr>
        <p:txBody>
          <a:bodyPr/>
          <a:lstStyle>
            <a:lvl1pPr>
              <a:buNone/>
              <a:defRPr/>
            </a:lvl1pPr>
          </a:lstStyle>
          <a:p>
            <a:r>
              <a:rPr lang="fr-FR"/>
              <a:t>Cliquez sur l'icône pour ajouter une image</a:t>
            </a:r>
            <a:endParaRPr lang="fr-FR" dirty="0"/>
          </a:p>
        </p:txBody>
      </p:sp>
      <p:sp>
        <p:nvSpPr>
          <p:cNvPr id="36" name="Step2_Title">
            <a:extLst>
              <a:ext uri="{FF2B5EF4-FFF2-40B4-BE49-F238E27FC236}">
                <a16:creationId xmlns:a16="http://schemas.microsoft.com/office/drawing/2014/main" id="{53A0B17B-79B6-330C-1FCD-5D627038112A}"/>
              </a:ext>
            </a:extLst>
          </p:cNvPr>
          <p:cNvSpPr>
            <a:spLocks noGrp="1"/>
          </p:cNvSpPr>
          <p:nvPr>
            <p:ph type="body" idx="20" hasCustomPrompt="1"/>
          </p:nvPr>
        </p:nvSpPr>
        <p:spPr>
          <a:xfrm>
            <a:off x="4319016" y="2470277"/>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37" name="Step2_Description">
            <a:extLst>
              <a:ext uri="{FF2B5EF4-FFF2-40B4-BE49-F238E27FC236}">
                <a16:creationId xmlns:a16="http://schemas.microsoft.com/office/drawing/2014/main" id="{55353439-A9BD-6C91-28DB-F8565C0F42BB}"/>
              </a:ext>
            </a:extLst>
          </p:cNvPr>
          <p:cNvSpPr>
            <a:spLocks noGrp="1"/>
          </p:cNvSpPr>
          <p:nvPr>
            <p:ph type="body" idx="21" hasCustomPrompt="1"/>
          </p:nvPr>
        </p:nvSpPr>
        <p:spPr>
          <a:xfrm>
            <a:off x="4319016" y="3064637"/>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8" name="Step2_Icon">
            <a:extLst>
              <a:ext uri="{FF2B5EF4-FFF2-40B4-BE49-F238E27FC236}">
                <a16:creationId xmlns:a16="http://schemas.microsoft.com/office/drawing/2014/main" id="{3A74A08F-41B2-0557-057F-BCE6E3B4EA8B}"/>
              </a:ext>
            </a:extLst>
          </p:cNvPr>
          <p:cNvSpPr>
            <a:spLocks noGrp="1"/>
          </p:cNvSpPr>
          <p:nvPr>
            <p:ph type="pic" sz="quarter" idx="22"/>
          </p:nvPr>
        </p:nvSpPr>
        <p:spPr>
          <a:xfrm>
            <a:off x="5038503" y="1889887"/>
            <a:ext cx="487362" cy="48895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Notre démarche en étapes</a:t>
            </a:r>
          </a:p>
        </p:txBody>
      </p:sp>
      <p:grpSp>
        <p:nvGrpSpPr>
          <p:cNvPr id="4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1" name="Step1_Title"/>
          <p:cNvSpPr>
            <a:spLocks noGrp="1"/>
          </p:cNvSpPr>
          <p:nvPr>
            <p:ph type="body" idx="11" hasCustomPrompt="1"/>
          </p:nvPr>
        </p:nvSpPr>
        <p:spPr>
          <a:xfrm>
            <a:off x="2072640"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12" name="Step1_Description"/>
          <p:cNvSpPr>
            <a:spLocks noGrp="1"/>
          </p:cNvSpPr>
          <p:nvPr>
            <p:ph type="body" idx="12" hasCustomPrompt="1"/>
          </p:nvPr>
        </p:nvSpPr>
        <p:spPr>
          <a:xfrm>
            <a:off x="2072640"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4" name="Step1_Icon">
            <a:extLst>
              <a:ext uri="{FF2B5EF4-FFF2-40B4-BE49-F238E27FC236}">
                <a16:creationId xmlns:a16="http://schemas.microsoft.com/office/drawing/2014/main" id="{F16091C6-7065-0347-45D0-B9DBB5C332AF}"/>
              </a:ext>
            </a:extLst>
          </p:cNvPr>
          <p:cNvSpPr>
            <a:spLocks noGrp="1"/>
          </p:cNvSpPr>
          <p:nvPr>
            <p:ph type="pic" sz="quarter" idx="19"/>
          </p:nvPr>
        </p:nvSpPr>
        <p:spPr>
          <a:xfrm>
            <a:off x="2792127" y="1892300"/>
            <a:ext cx="487362" cy="488950"/>
          </a:xfrm>
          <a:prstGeom prst="rect">
            <a:avLst/>
          </a:prstGeom>
        </p:spPr>
        <p:txBody>
          <a:bodyPr/>
          <a:lstStyle>
            <a:lvl1pPr>
              <a:defRPr sz="1200"/>
            </a:lvl1pPr>
          </a:lstStyle>
          <a:p>
            <a:r>
              <a:rPr lang="fr-FR"/>
              <a:t>Cliquez sur l'icône pour ajouter une image</a:t>
            </a:r>
            <a:endParaRPr lang="fr-F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4_CHIFFRES_CLES">
    <p:spTree>
      <p:nvGrpSpPr>
        <p:cNvPr id="1" name=""/>
        <p:cNvGrpSpPr/>
        <p:nvPr/>
      </p:nvGrpSpPr>
      <p:grpSpPr>
        <a:xfrm>
          <a:off x="0" y="0"/>
          <a:ext cx="0" cy="0"/>
          <a:chOff x="0" y="0"/>
          <a:chExt cx="0" cy="0"/>
        </a:xfrm>
      </p:grpSpPr>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Chiffres clés</a:t>
            </a:r>
          </a:p>
        </p:txBody>
      </p:sp>
      <p:grpSp>
        <p:nvGrpSpPr>
          <p:cNvPr id="21" name="Kpi1_CardGroup"/>
          <p:cNvGrpSpPr/>
          <p:nvPr/>
        </p:nvGrpSpPr>
        <p:grpSpPr>
          <a:xfrm>
            <a:off x="548640" y="2767330"/>
            <a:ext cx="3576320" cy="2926080"/>
            <a:chOff x="548640" y="2697480"/>
            <a:chExt cx="3576320" cy="2926080"/>
          </a:xfrm>
        </p:grpSpPr>
        <p:sp>
          <p:nvSpPr>
            <p:cNvPr id="8" name="Kpi1_CardBackground"/>
            <p:cNvSpPr/>
            <p:nvPr/>
          </p:nvSpPr>
          <p:spPr>
            <a:xfrm>
              <a:off x="548640" y="2697480"/>
              <a:ext cx="3576320" cy="2926080"/>
            </a:xfrm>
            <a:prstGeom prst="rect">
              <a:avLst/>
            </a:prstGeom>
            <a:solidFill>
              <a:srgbClr val="ECEEF2"/>
            </a:solidFill>
            <a:ln/>
          </p:spPr>
        </p:sp>
        <p:sp>
          <p:nvSpPr>
            <p:cNvPr id="9" name="Kpi1_CardAccentTop"/>
            <p:cNvSpPr/>
            <p:nvPr/>
          </p:nvSpPr>
          <p:spPr>
            <a:xfrm>
              <a:off x="548640" y="2697480"/>
              <a:ext cx="3576320" cy="36576"/>
            </a:xfrm>
            <a:prstGeom prst="rect">
              <a:avLst/>
            </a:prstGeom>
            <a:solidFill>
              <a:schemeClr val="accent1"/>
            </a:solidFill>
            <a:ln/>
          </p:spPr>
        </p:sp>
      </p:grpSp>
      <p:sp>
        <p:nvSpPr>
          <p:cNvPr id="10" name="Kpi1_Value"/>
          <p:cNvSpPr>
            <a:spLocks noGrp="1"/>
          </p:cNvSpPr>
          <p:nvPr>
            <p:ph type="body" idx="11" hasCustomPrompt="1"/>
          </p:nvPr>
        </p:nvSpPr>
        <p:spPr>
          <a:xfrm>
            <a:off x="6400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1" name="Kpi1_Caption"/>
          <p:cNvSpPr>
            <a:spLocks noGrp="1"/>
          </p:cNvSpPr>
          <p:nvPr>
            <p:ph type="body" idx="12" hasCustomPrompt="1"/>
          </p:nvPr>
        </p:nvSpPr>
        <p:spPr>
          <a:xfrm>
            <a:off x="6400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2" name="Kpi2_CardGroup"/>
          <p:cNvGrpSpPr/>
          <p:nvPr/>
        </p:nvGrpSpPr>
        <p:grpSpPr>
          <a:xfrm>
            <a:off x="4307840" y="2767330"/>
            <a:ext cx="3576320" cy="2926080"/>
            <a:chOff x="4307840" y="2697480"/>
            <a:chExt cx="3576320" cy="2926080"/>
          </a:xfrm>
        </p:grpSpPr>
        <p:sp>
          <p:nvSpPr>
            <p:cNvPr id="12" name="Kpi2_CardBackground"/>
            <p:cNvSpPr/>
            <p:nvPr/>
          </p:nvSpPr>
          <p:spPr>
            <a:xfrm>
              <a:off x="4307840" y="2697480"/>
              <a:ext cx="3576320" cy="2926080"/>
            </a:xfrm>
            <a:prstGeom prst="rect">
              <a:avLst/>
            </a:prstGeom>
            <a:solidFill>
              <a:srgbClr val="ECEEF2"/>
            </a:solidFill>
            <a:ln/>
          </p:spPr>
        </p:sp>
        <p:sp>
          <p:nvSpPr>
            <p:cNvPr id="13" name="Kpi2_CardAccentTop"/>
            <p:cNvSpPr/>
            <p:nvPr/>
          </p:nvSpPr>
          <p:spPr>
            <a:xfrm>
              <a:off x="4307840" y="2697480"/>
              <a:ext cx="3576320" cy="36576"/>
            </a:xfrm>
            <a:prstGeom prst="rect">
              <a:avLst/>
            </a:prstGeom>
            <a:solidFill>
              <a:schemeClr val="accent1"/>
            </a:solidFill>
            <a:ln/>
          </p:spPr>
        </p:sp>
      </p:grpSp>
      <p:sp>
        <p:nvSpPr>
          <p:cNvPr id="14" name="Kpi2_Value"/>
          <p:cNvSpPr>
            <a:spLocks noGrp="1"/>
          </p:cNvSpPr>
          <p:nvPr>
            <p:ph type="body" idx="13" hasCustomPrompt="1"/>
          </p:nvPr>
        </p:nvSpPr>
        <p:spPr>
          <a:xfrm>
            <a:off x="43992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5" name="Kpi2_Caption"/>
          <p:cNvSpPr>
            <a:spLocks noGrp="1"/>
          </p:cNvSpPr>
          <p:nvPr>
            <p:ph type="body" idx="14" hasCustomPrompt="1"/>
          </p:nvPr>
        </p:nvSpPr>
        <p:spPr>
          <a:xfrm>
            <a:off x="43992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3" name="Kpi3_CardGroup"/>
          <p:cNvGrpSpPr/>
          <p:nvPr/>
        </p:nvGrpSpPr>
        <p:grpSpPr>
          <a:xfrm>
            <a:off x="8067040" y="2767330"/>
            <a:ext cx="3576320" cy="2926080"/>
            <a:chOff x="8067040" y="2697480"/>
            <a:chExt cx="3576320" cy="2926080"/>
          </a:xfrm>
        </p:grpSpPr>
        <p:sp>
          <p:nvSpPr>
            <p:cNvPr id="16" name="Kpi3_CardBackground"/>
            <p:cNvSpPr/>
            <p:nvPr/>
          </p:nvSpPr>
          <p:spPr>
            <a:xfrm>
              <a:off x="8067040" y="2697480"/>
              <a:ext cx="3576320" cy="2926080"/>
            </a:xfrm>
            <a:prstGeom prst="rect">
              <a:avLst/>
            </a:prstGeom>
            <a:solidFill>
              <a:srgbClr val="ECEEF2"/>
            </a:solidFill>
            <a:ln/>
          </p:spPr>
        </p:sp>
        <p:sp>
          <p:nvSpPr>
            <p:cNvPr id="17" name="Kpi3_CardAccentTop"/>
            <p:cNvSpPr/>
            <p:nvPr/>
          </p:nvSpPr>
          <p:spPr>
            <a:xfrm>
              <a:off x="8067040" y="2697480"/>
              <a:ext cx="3576320" cy="36576"/>
            </a:xfrm>
            <a:prstGeom prst="rect">
              <a:avLst/>
            </a:prstGeom>
            <a:solidFill>
              <a:schemeClr val="accent1"/>
            </a:solidFill>
            <a:ln/>
          </p:spPr>
        </p:sp>
      </p:grpSp>
      <p:sp>
        <p:nvSpPr>
          <p:cNvPr id="18" name="Kpi3_Value"/>
          <p:cNvSpPr>
            <a:spLocks noGrp="1"/>
          </p:cNvSpPr>
          <p:nvPr>
            <p:ph type="body" idx="15" hasCustomPrompt="1"/>
          </p:nvPr>
        </p:nvSpPr>
        <p:spPr>
          <a:xfrm>
            <a:off x="81584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9" name="Kpi3_Caption"/>
          <p:cNvSpPr>
            <a:spLocks noGrp="1"/>
          </p:cNvSpPr>
          <p:nvPr>
            <p:ph type="body" idx="16" hasCustomPrompt="1"/>
          </p:nvPr>
        </p:nvSpPr>
        <p:spPr>
          <a:xfrm>
            <a:off x="81584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5_TABLEAU_COMPARATIF">
    <p:spTree>
      <p:nvGrpSpPr>
        <p:cNvPr id="1" name=""/>
        <p:cNvGrpSpPr/>
        <p:nvPr/>
      </p:nvGrpSpPr>
      <p:grpSpPr>
        <a:xfrm>
          <a:off x="0" y="0"/>
          <a:ext cx="0" cy="0"/>
          <a:chOff x="0" y="0"/>
          <a:chExt cx="0" cy="0"/>
        </a:xfrm>
      </p:grpSpPr>
      <p:sp>
        <p:nvSpPr>
          <p:cNvPr id="35" name="ComparisonTable">
            <a:extLst>
              <a:ext uri="{FF2B5EF4-FFF2-40B4-BE49-F238E27FC236}">
                <a16:creationId xmlns:a16="http://schemas.microsoft.com/office/drawing/2014/main" id="{06E7DB0F-1CA1-07B9-AA45-03A8810C7A14}"/>
              </a:ext>
            </a:extLst>
          </p:cNvPr>
          <p:cNvSpPr>
            <a:spLocks noGrp="1"/>
          </p:cNvSpPr>
          <p:nvPr>
            <p:ph type="tbl" sz="quarter" idx="11"/>
          </p:nvPr>
        </p:nvSpPr>
        <p:spPr>
          <a:xfrm>
            <a:off x="543560" y="1655825"/>
            <a:ext cx="11094719" cy="4291585"/>
          </a:xfrm>
          <a:prstGeom prst="rect">
            <a:avLst/>
          </a:prstGeom>
        </p:spPr>
        <p:txBody>
          <a:bodyPr/>
          <a:lstStyle/>
          <a:p>
            <a:r>
              <a:rPr lang="fr-FR"/>
              <a:t>Cliquez sur l'icône pour ajouter un tableau</a:t>
            </a:r>
          </a:p>
        </p:txBody>
      </p:sp>
      <p:grpSp>
        <p:nvGrpSpPr>
          <p:cNvPr id="3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Tableau comparatif</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6_ETUDE_DE_CAS">
    <p:spTree>
      <p:nvGrpSpPr>
        <p:cNvPr id="1" name=""/>
        <p:cNvGrpSpPr/>
        <p:nvPr/>
      </p:nvGrpSpPr>
      <p:grpSpPr>
        <a:xfrm>
          <a:off x="0" y="0"/>
          <a:ext cx="0" cy="0"/>
          <a:chOff x="0" y="0"/>
          <a:chExt cx="0" cy="0"/>
        </a:xfrm>
      </p:grpSpPr>
      <p:grpSp>
        <p:nvGrpSpPr>
          <p:cNvPr id="23"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Étude de cas client</a:t>
            </a:r>
          </a:p>
        </p:txBody>
      </p:sp>
      <p:sp>
        <p:nvSpPr>
          <p:cNvPr id="9" name="ContextCardAccentTop"/>
          <p:cNvSpPr/>
          <p:nvPr/>
        </p:nvSpPr>
        <p:spPr>
          <a:xfrm>
            <a:off x="548640" y="1751330"/>
            <a:ext cx="5455920" cy="36576"/>
          </a:xfrm>
          <a:prstGeom prst="rect">
            <a:avLst/>
          </a:prstGeom>
          <a:solidFill>
            <a:schemeClr val="accent1"/>
          </a:solidFill>
          <a:ln/>
        </p:spPr>
      </p:sp>
      <p:sp>
        <p:nvSpPr>
          <p:cNvPr id="10" name="ContextTitle"/>
          <p:cNvSpPr>
            <a:spLocks noGrp="1"/>
          </p:cNvSpPr>
          <p:nvPr>
            <p:ph type="body" idx="11" hasCustomPrompt="1"/>
          </p:nvPr>
        </p:nvSpPr>
        <p:spPr>
          <a:xfrm>
            <a:off x="7086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Contexte</a:t>
            </a:r>
          </a:p>
        </p:txBody>
      </p:sp>
      <p:sp>
        <p:nvSpPr>
          <p:cNvPr id="11" name="ContextDescription"/>
          <p:cNvSpPr>
            <a:spLocks noGrp="1"/>
          </p:cNvSpPr>
          <p:nvPr>
            <p:ph type="body" idx="12" hasCustomPrompt="1"/>
          </p:nvPr>
        </p:nvSpPr>
        <p:spPr>
          <a:xfrm>
            <a:off x="7086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Situation initiale et enjeux du client.</a:t>
            </a:r>
          </a:p>
        </p:txBody>
      </p:sp>
      <p:sp>
        <p:nvSpPr>
          <p:cNvPr id="13" name="SolutionCardAccentTop"/>
          <p:cNvSpPr/>
          <p:nvPr/>
        </p:nvSpPr>
        <p:spPr>
          <a:xfrm>
            <a:off x="6187440" y="1751330"/>
            <a:ext cx="5455920" cy="36576"/>
          </a:xfrm>
          <a:prstGeom prst="rect">
            <a:avLst/>
          </a:prstGeom>
          <a:solidFill>
            <a:schemeClr val="accent1"/>
          </a:solidFill>
          <a:ln/>
        </p:spPr>
      </p:sp>
      <p:sp>
        <p:nvSpPr>
          <p:cNvPr id="14" name="SolutionTitle"/>
          <p:cNvSpPr>
            <a:spLocks noGrp="1"/>
          </p:cNvSpPr>
          <p:nvPr>
            <p:ph type="body" idx="13" hasCustomPrompt="1"/>
          </p:nvPr>
        </p:nvSpPr>
        <p:spPr>
          <a:xfrm>
            <a:off x="63474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Solution</a:t>
            </a:r>
          </a:p>
        </p:txBody>
      </p:sp>
      <p:sp>
        <p:nvSpPr>
          <p:cNvPr id="15" name="SolutionDescription"/>
          <p:cNvSpPr>
            <a:spLocks noGrp="1"/>
          </p:cNvSpPr>
          <p:nvPr>
            <p:ph type="body" idx="14" hasCustomPrompt="1"/>
          </p:nvPr>
        </p:nvSpPr>
        <p:spPr>
          <a:xfrm>
            <a:off x="63474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Dispositif mis en place par SCIAM.</a:t>
            </a:r>
          </a:p>
        </p:txBody>
      </p:sp>
      <p:sp>
        <p:nvSpPr>
          <p:cNvPr id="17" name="ResultsCardAccentTop"/>
          <p:cNvSpPr/>
          <p:nvPr/>
        </p:nvSpPr>
        <p:spPr>
          <a:xfrm>
            <a:off x="548640" y="4037330"/>
            <a:ext cx="7985760" cy="36576"/>
          </a:xfrm>
          <a:prstGeom prst="rect">
            <a:avLst/>
          </a:prstGeom>
          <a:solidFill>
            <a:schemeClr val="accent1"/>
          </a:solidFill>
          <a:ln/>
        </p:spPr>
      </p:sp>
      <p:sp>
        <p:nvSpPr>
          <p:cNvPr id="18" name="ResultsTitle"/>
          <p:cNvSpPr>
            <a:spLocks noGrp="1"/>
          </p:cNvSpPr>
          <p:nvPr>
            <p:ph type="body" idx="15" hasCustomPrompt="1"/>
          </p:nvPr>
        </p:nvSpPr>
        <p:spPr>
          <a:xfrm>
            <a:off x="708660" y="4220210"/>
            <a:ext cx="7665720" cy="45720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Résultats</a:t>
            </a:r>
          </a:p>
        </p:txBody>
      </p:sp>
      <p:sp>
        <p:nvSpPr>
          <p:cNvPr id="19" name="ResultsDescription"/>
          <p:cNvSpPr>
            <a:spLocks noGrp="1"/>
          </p:cNvSpPr>
          <p:nvPr>
            <p:ph type="body" idx="16" hasCustomPrompt="1"/>
          </p:nvPr>
        </p:nvSpPr>
        <p:spPr>
          <a:xfrm>
            <a:off x="708660" y="4723130"/>
            <a:ext cx="7665720" cy="123444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Bénéfices mesurés et gains obtenus.</a:t>
            </a:r>
          </a:p>
        </p:txBody>
      </p:sp>
      <p:sp>
        <p:nvSpPr>
          <p:cNvPr id="20" name="KpiCardBackground"/>
          <p:cNvSpPr/>
          <p:nvPr userDrawn="1"/>
        </p:nvSpPr>
        <p:spPr>
          <a:xfrm>
            <a:off x="8717280" y="4037330"/>
            <a:ext cx="2926080" cy="2011680"/>
          </a:xfrm>
          <a:prstGeom prst="rect">
            <a:avLst/>
          </a:prstGeom>
          <a:solidFill>
            <a:schemeClr val="accent1"/>
          </a:solidFill>
          <a:ln/>
        </p:spPr>
      </p:sp>
      <p:sp>
        <p:nvSpPr>
          <p:cNvPr id="21" name="KpiValue"/>
          <p:cNvSpPr>
            <a:spLocks noGrp="1"/>
          </p:cNvSpPr>
          <p:nvPr>
            <p:ph type="body" idx="17" hasCustomPrompt="1"/>
          </p:nvPr>
        </p:nvSpPr>
        <p:spPr>
          <a:xfrm>
            <a:off x="8808720" y="4220210"/>
            <a:ext cx="2743200" cy="640080"/>
          </a:xfrm>
          <a:prstGeom prst="rect">
            <a:avLst/>
          </a:prstGeom>
          <a:noFill/>
          <a:ln/>
        </p:spPr>
        <p:txBody>
          <a:bodyPr wrap="square" rtlCol="0" anchor="t">
            <a:normAutofit/>
          </a:bodyPr>
          <a:lstStyle>
            <a:lvl1pPr marL="0" indent="0" algn="ctr">
              <a:lnSpc>
                <a:spcPct val="110000"/>
              </a:lnSpc>
              <a:buNone/>
              <a:defRPr lang="fr-FR" sz="4000" b="1" spc="0" dirty="0">
                <a:solidFill>
                  <a:schemeClr val="lt2"/>
                </a:solidFill>
                <a:latin typeface="+mj-lt" pitchFamily="34" charset="0"/>
                <a:ea typeface="+mj-ea" pitchFamily="34" charset="-122"/>
                <a:cs typeface="+mj-cs" pitchFamily="34" charset="-120"/>
              </a:defRPr>
            </a:lvl1pPr>
          </a:lstStyle>
          <a:p>
            <a:pPr marL="0" indent="0" algn="ctr">
              <a:buNone/>
            </a:pPr>
            <a:r>
              <a:rPr lang="fr-FR" sz="4000" b="1" dirty="0">
                <a:solidFill>
                  <a:schemeClr val="lt2"/>
                </a:solidFill>
                <a:latin typeface="+mj-lt" pitchFamily="34" charset="0"/>
                <a:ea typeface="+mj-ea" pitchFamily="34" charset="-122"/>
                <a:cs typeface="+mj-cs" pitchFamily="34" charset="-120"/>
              </a:rPr>
              <a:t>+40%</a:t>
            </a:r>
          </a:p>
        </p:txBody>
      </p:sp>
      <p:sp>
        <p:nvSpPr>
          <p:cNvPr id="22" name="KpiLabel"/>
          <p:cNvSpPr>
            <a:spLocks noGrp="1"/>
          </p:cNvSpPr>
          <p:nvPr>
            <p:ph type="body" idx="18" hasCustomPrompt="1"/>
          </p:nvPr>
        </p:nvSpPr>
        <p:spPr>
          <a:xfrm>
            <a:off x="8808720" y="5043170"/>
            <a:ext cx="2743200" cy="640080"/>
          </a:xfrm>
          <a:prstGeom prst="rect">
            <a:avLst/>
          </a:prstGeom>
          <a:noFill/>
          <a:ln/>
        </p:spPr>
        <p:txBody>
          <a:bodyPr wrap="square" rtlCol="0" anchor="t">
            <a:normAutofit/>
          </a:bodyPr>
          <a:lstStyle>
            <a:lvl1pPr marL="0" indent="0" algn="ctr">
              <a:lnSpc>
                <a:spcPct val="110000"/>
              </a:lnSpc>
              <a:buNone/>
              <a:defRPr lang="fr-FR" sz="1200" spc="0" dirty="0">
                <a:solidFill>
                  <a:schemeClr val="lt2"/>
                </a:solidFill>
                <a:latin typeface="+mn-lt" pitchFamily="34" charset="0"/>
                <a:ea typeface="+mn-ea" pitchFamily="34" charset="-122"/>
                <a:cs typeface="+mn-cs" pitchFamily="34" charset="-120"/>
              </a:defRPr>
            </a:lvl1pPr>
          </a:lstStyle>
          <a:p>
            <a:pPr marL="0" indent="0" algn="ctr">
              <a:buNone/>
            </a:pPr>
            <a:r>
              <a:rPr lang="fr-FR" sz="1200" dirty="0">
                <a:solidFill>
                  <a:schemeClr val="lt2"/>
                </a:solidFill>
                <a:latin typeface="+mn-lt" pitchFamily="34" charset="0"/>
                <a:ea typeface="+mn-ea" pitchFamily="34" charset="-122"/>
                <a:cs typeface="+mn-cs" pitchFamily="34" charset="-120"/>
              </a:rPr>
              <a:t>KPI principal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7_EQUIPE">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L’équipe</a:t>
            </a:r>
          </a:p>
        </p:txBody>
      </p:sp>
      <p:grpSp>
        <p:nvGrpSpPr>
          <p:cNvPr id="2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8" name="Member1_Photo"/>
          <p:cNvSpPr>
            <a:spLocks noGrp="1"/>
          </p:cNvSpPr>
          <p:nvPr>
            <p:ph type="pic" idx="11" hasCustomPrompt="1"/>
          </p:nvPr>
        </p:nvSpPr>
        <p:spPr>
          <a:xfrm>
            <a:off x="17881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9" name="Member1_Name"/>
          <p:cNvSpPr>
            <a:spLocks noGrp="1"/>
          </p:cNvSpPr>
          <p:nvPr>
            <p:ph type="body" idx="12" hasCustomPrompt="1"/>
          </p:nvPr>
        </p:nvSpPr>
        <p:spPr>
          <a:xfrm>
            <a:off x="5486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0" name="Member1_Role"/>
          <p:cNvSpPr>
            <a:spLocks noGrp="1"/>
          </p:cNvSpPr>
          <p:nvPr>
            <p:ph type="body" idx="13" hasCustomPrompt="1"/>
          </p:nvPr>
        </p:nvSpPr>
        <p:spPr>
          <a:xfrm>
            <a:off x="5486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1" name="Member2_Photo"/>
          <p:cNvSpPr>
            <a:spLocks noGrp="1"/>
          </p:cNvSpPr>
          <p:nvPr>
            <p:ph type="pic" idx="14" hasCustomPrompt="1"/>
          </p:nvPr>
        </p:nvSpPr>
        <p:spPr>
          <a:xfrm>
            <a:off x="55473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2" name="Member2_Name"/>
          <p:cNvSpPr>
            <a:spLocks noGrp="1"/>
          </p:cNvSpPr>
          <p:nvPr>
            <p:ph type="body" idx="15" hasCustomPrompt="1"/>
          </p:nvPr>
        </p:nvSpPr>
        <p:spPr>
          <a:xfrm>
            <a:off x="43078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3" name="Member2_Role"/>
          <p:cNvSpPr>
            <a:spLocks noGrp="1"/>
          </p:cNvSpPr>
          <p:nvPr>
            <p:ph type="body" idx="16" hasCustomPrompt="1"/>
          </p:nvPr>
        </p:nvSpPr>
        <p:spPr>
          <a:xfrm>
            <a:off x="43078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4" name="Member3_Photo"/>
          <p:cNvSpPr>
            <a:spLocks noGrp="1"/>
          </p:cNvSpPr>
          <p:nvPr>
            <p:ph type="pic" idx="17" hasCustomPrompt="1"/>
          </p:nvPr>
        </p:nvSpPr>
        <p:spPr>
          <a:xfrm>
            <a:off x="93065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5" name="Member3_Name"/>
          <p:cNvSpPr>
            <a:spLocks noGrp="1"/>
          </p:cNvSpPr>
          <p:nvPr>
            <p:ph type="body" idx="18" hasCustomPrompt="1"/>
          </p:nvPr>
        </p:nvSpPr>
        <p:spPr>
          <a:xfrm>
            <a:off x="80670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6" name="Member3_Role"/>
          <p:cNvSpPr>
            <a:spLocks noGrp="1"/>
          </p:cNvSpPr>
          <p:nvPr>
            <p:ph type="body" idx="19" hasCustomPrompt="1"/>
          </p:nvPr>
        </p:nvSpPr>
        <p:spPr>
          <a:xfrm>
            <a:off x="80670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7" name="Member4_Photo"/>
          <p:cNvSpPr>
            <a:spLocks noGrp="1"/>
          </p:cNvSpPr>
          <p:nvPr>
            <p:ph type="pic" idx="20" hasCustomPrompt="1"/>
          </p:nvPr>
        </p:nvSpPr>
        <p:spPr>
          <a:xfrm>
            <a:off x="17881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8" name="Member4_Name"/>
          <p:cNvSpPr>
            <a:spLocks noGrp="1"/>
          </p:cNvSpPr>
          <p:nvPr>
            <p:ph type="body" idx="21" hasCustomPrompt="1"/>
          </p:nvPr>
        </p:nvSpPr>
        <p:spPr>
          <a:xfrm>
            <a:off x="5486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9" name="Member4_Role"/>
          <p:cNvSpPr>
            <a:spLocks noGrp="1"/>
          </p:cNvSpPr>
          <p:nvPr>
            <p:ph type="body" idx="22" hasCustomPrompt="1"/>
          </p:nvPr>
        </p:nvSpPr>
        <p:spPr>
          <a:xfrm>
            <a:off x="5486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0" name="Member5_Photo"/>
          <p:cNvSpPr>
            <a:spLocks noGrp="1"/>
          </p:cNvSpPr>
          <p:nvPr>
            <p:ph type="pic" idx="23" hasCustomPrompt="1"/>
          </p:nvPr>
        </p:nvSpPr>
        <p:spPr>
          <a:xfrm>
            <a:off x="55473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1" name="Member5_Name"/>
          <p:cNvSpPr>
            <a:spLocks noGrp="1"/>
          </p:cNvSpPr>
          <p:nvPr>
            <p:ph type="body" idx="24" hasCustomPrompt="1"/>
          </p:nvPr>
        </p:nvSpPr>
        <p:spPr>
          <a:xfrm>
            <a:off x="43078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2" name="Member5_Role"/>
          <p:cNvSpPr>
            <a:spLocks noGrp="1"/>
          </p:cNvSpPr>
          <p:nvPr>
            <p:ph type="body" idx="25" hasCustomPrompt="1"/>
          </p:nvPr>
        </p:nvSpPr>
        <p:spPr>
          <a:xfrm>
            <a:off x="43078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3" name="Member6_Photo"/>
          <p:cNvSpPr>
            <a:spLocks noGrp="1"/>
          </p:cNvSpPr>
          <p:nvPr>
            <p:ph type="pic" idx="26" hasCustomPrompt="1"/>
          </p:nvPr>
        </p:nvSpPr>
        <p:spPr>
          <a:xfrm>
            <a:off x="93065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4" name="Member6_Name"/>
          <p:cNvSpPr>
            <a:spLocks noGrp="1"/>
          </p:cNvSpPr>
          <p:nvPr>
            <p:ph type="body" idx="27" hasCustomPrompt="1"/>
          </p:nvPr>
        </p:nvSpPr>
        <p:spPr>
          <a:xfrm>
            <a:off x="80670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5" name="Member6_Role"/>
          <p:cNvSpPr>
            <a:spLocks noGrp="1"/>
          </p:cNvSpPr>
          <p:nvPr>
            <p:ph type="body" idx="28" hasCustomPrompt="1"/>
          </p:nvPr>
        </p:nvSpPr>
        <p:spPr>
          <a:xfrm>
            <a:off x="80670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8_GRAPHIQUE_INSIGHT">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Analyse et enseignements</a:t>
            </a:r>
          </a:p>
        </p:txBody>
      </p:sp>
      <p:sp>
        <p:nvSpPr>
          <p:cNvPr id="8" name="Chart"/>
          <p:cNvSpPr>
            <a:spLocks noGrp="1"/>
          </p:cNvSpPr>
          <p:nvPr>
            <p:ph type="chart" idx="11"/>
          </p:nvPr>
        </p:nvSpPr>
        <p:spPr>
          <a:xfrm>
            <a:off x="548640" y="2011680"/>
            <a:ext cx="6656832" cy="4297680"/>
          </a:xfrm>
          <a:prstGeom prst="rect">
            <a:avLst/>
          </a:prstGeom>
          <a:solidFill>
            <a:srgbClr val="ECEEF2"/>
          </a:solidFill>
          <a:ln w="12700">
            <a:solidFill>
              <a:srgbClr val="D2D7E0"/>
            </a:solidFill>
          </a:ln>
        </p:spPr>
        <p:txBody>
          <a:bodyPr wrap="square" rtlCol="0" anchor="ctr">
            <a:normAutofit/>
          </a:bodyPr>
          <a:lstStyle>
            <a:lvl1pPr marL="0" indent="0" algn="ctr">
              <a:lnSpc>
                <a:spcPct val="110000"/>
              </a:lnSpc>
              <a:buNone/>
              <a:defRPr lang="fr-FR" sz="1600" spc="0" dirty="0">
                <a:solidFill>
                  <a:srgbClr val="6B7280"/>
                </a:solidFill>
                <a:latin typeface="+mn-lt" pitchFamily="34" charset="0"/>
                <a:ea typeface="+mn-ea" pitchFamily="34" charset="-122"/>
                <a:cs typeface="+mn-cs" pitchFamily="34" charset="-120"/>
              </a:defRPr>
            </a:lvl1pPr>
          </a:lstStyle>
          <a:p>
            <a:pPr marL="0" indent="0" algn="ctr">
              <a:buNone/>
            </a:pPr>
            <a:r>
              <a:rPr lang="fr-FR" sz="1600">
                <a:solidFill>
                  <a:srgbClr val="6B7280"/>
                </a:solidFill>
                <a:latin typeface="+mn-lt" pitchFamily="34" charset="0"/>
                <a:ea typeface="+mn-ea" pitchFamily="34" charset="-122"/>
                <a:cs typeface="+mn-cs" pitchFamily="34" charset="-120"/>
              </a:rPr>
              <a:t>Cliquez sur l'icône pour ajouter un graphique</a:t>
            </a:r>
            <a:endParaRPr lang="fr-FR" sz="1600" dirty="0">
              <a:solidFill>
                <a:srgbClr val="6B7280"/>
              </a:solidFill>
              <a:latin typeface="+mn-lt" pitchFamily="34" charset="0"/>
              <a:ea typeface="+mn-ea" pitchFamily="34" charset="-122"/>
              <a:cs typeface="+mn-cs" pitchFamily="34" charset="-120"/>
            </a:endParaRPr>
          </a:p>
        </p:txBody>
      </p:sp>
      <p:sp>
        <p:nvSpPr>
          <p:cNvPr id="9" name="InsightAccentTop"/>
          <p:cNvSpPr/>
          <p:nvPr/>
        </p:nvSpPr>
        <p:spPr>
          <a:xfrm>
            <a:off x="7479792" y="2011680"/>
            <a:ext cx="4163568" cy="36576"/>
          </a:xfrm>
          <a:prstGeom prst="rect">
            <a:avLst/>
          </a:prstGeom>
          <a:solidFill>
            <a:schemeClr val="accent1"/>
          </a:solidFill>
          <a:ln/>
        </p:spPr>
      </p:sp>
      <p:sp>
        <p:nvSpPr>
          <p:cNvPr id="10" name="InsightTitle"/>
          <p:cNvSpPr>
            <a:spLocks noGrp="1"/>
          </p:cNvSpPr>
          <p:nvPr>
            <p:ph type="body" idx="12" hasCustomPrompt="1"/>
          </p:nvPr>
        </p:nvSpPr>
        <p:spPr>
          <a:xfrm>
            <a:off x="7479792" y="2148840"/>
            <a:ext cx="4163568"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À retenir</a:t>
            </a:r>
          </a:p>
        </p:txBody>
      </p:sp>
      <p:sp>
        <p:nvSpPr>
          <p:cNvPr id="11" name="InsightText"/>
          <p:cNvSpPr>
            <a:spLocks noGrp="1"/>
          </p:cNvSpPr>
          <p:nvPr>
            <p:ph type="body" idx="13" hasCustomPrompt="1"/>
          </p:nvPr>
        </p:nvSpPr>
        <p:spPr>
          <a:xfrm>
            <a:off x="7479792" y="2697480"/>
            <a:ext cx="4163568" cy="3611880"/>
          </a:xfrm>
          <a:prstGeom prst="rect">
            <a:avLst/>
          </a:prstGeom>
          <a:noFill/>
          <a:ln/>
        </p:spPr>
        <p:txBody>
          <a:bodyPr wrap="square" rtlCol="0" anchor="t">
            <a:normAutofit/>
          </a:bodyPr>
          <a:lstStyle>
            <a:lvl1pPr marL="0" indent="0" algn="l">
              <a:lnSpc>
                <a:spcPct val="140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Premier enseignement clé.</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9_MATRICE_2x2">
    <p:spTree>
      <p:nvGrpSpPr>
        <p:cNvPr id="1" name=""/>
        <p:cNvGrpSpPr/>
        <p:nvPr/>
      </p:nvGrpSpPr>
      <p:grpSpPr>
        <a:xfrm>
          <a:off x="0" y="0"/>
          <a:ext cx="0" cy="0"/>
          <a:chOff x="0" y="0"/>
          <a:chExt cx="0" cy="0"/>
        </a:xfrm>
      </p:grpSpPr>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Matrice de positionnement</a:t>
            </a:r>
          </a:p>
        </p:txBody>
      </p:sp>
      <p:sp>
        <p:nvSpPr>
          <p:cNvPr id="8" name="StrengthsBackground"/>
          <p:cNvSpPr/>
          <p:nvPr/>
        </p:nvSpPr>
        <p:spPr>
          <a:xfrm>
            <a:off x="548640" y="2286000"/>
            <a:ext cx="5501640" cy="1828800"/>
          </a:xfrm>
          <a:prstGeom prst="rect">
            <a:avLst/>
          </a:prstGeom>
          <a:solidFill>
            <a:srgbClr val="ECEEF2"/>
          </a:solidFill>
          <a:ln/>
        </p:spPr>
      </p:sp>
      <p:sp>
        <p:nvSpPr>
          <p:cNvPr id="9" name="StrengthsTitle"/>
          <p:cNvSpPr>
            <a:spLocks noGrp="1"/>
          </p:cNvSpPr>
          <p:nvPr>
            <p:ph type="body" idx="11" hasCustomPrompt="1"/>
          </p:nvPr>
        </p:nvSpPr>
        <p:spPr>
          <a:xfrm>
            <a:off x="66294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0" name="StrengthsItem"/>
          <p:cNvSpPr>
            <a:spLocks noGrp="1"/>
          </p:cNvSpPr>
          <p:nvPr>
            <p:ph type="body" idx="12" hasCustomPrompt="1"/>
          </p:nvPr>
        </p:nvSpPr>
        <p:spPr>
          <a:xfrm>
            <a:off x="66294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1" name="WeaknessesBackground"/>
          <p:cNvSpPr/>
          <p:nvPr/>
        </p:nvSpPr>
        <p:spPr>
          <a:xfrm>
            <a:off x="6141720" y="2286000"/>
            <a:ext cx="5501640" cy="1828800"/>
          </a:xfrm>
          <a:prstGeom prst="rect">
            <a:avLst/>
          </a:prstGeom>
          <a:solidFill>
            <a:srgbClr val="ECEEF2"/>
          </a:solidFill>
          <a:ln/>
        </p:spPr>
      </p:sp>
      <p:sp>
        <p:nvSpPr>
          <p:cNvPr id="12" name="WeaknessesTitle"/>
          <p:cNvSpPr>
            <a:spLocks noGrp="1"/>
          </p:cNvSpPr>
          <p:nvPr>
            <p:ph type="body" idx="13" hasCustomPrompt="1"/>
          </p:nvPr>
        </p:nvSpPr>
        <p:spPr>
          <a:xfrm>
            <a:off x="625602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Faiblesses</a:t>
            </a:r>
          </a:p>
        </p:txBody>
      </p:sp>
      <p:sp>
        <p:nvSpPr>
          <p:cNvPr id="13" name="WeaknessesItem"/>
          <p:cNvSpPr>
            <a:spLocks noGrp="1"/>
          </p:cNvSpPr>
          <p:nvPr>
            <p:ph type="body" idx="14" hasCustomPrompt="1"/>
          </p:nvPr>
        </p:nvSpPr>
        <p:spPr>
          <a:xfrm>
            <a:off x="625602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4" name="OpportunitiesBackground"/>
          <p:cNvSpPr/>
          <p:nvPr/>
        </p:nvSpPr>
        <p:spPr>
          <a:xfrm>
            <a:off x="548640" y="4206240"/>
            <a:ext cx="5501640" cy="1828800"/>
          </a:xfrm>
          <a:prstGeom prst="rect">
            <a:avLst/>
          </a:prstGeom>
          <a:solidFill>
            <a:srgbClr val="ECEEF2"/>
          </a:solidFill>
          <a:ln/>
        </p:spPr>
      </p:sp>
      <p:sp>
        <p:nvSpPr>
          <p:cNvPr id="15" name="OpportunitiesTitle"/>
          <p:cNvSpPr>
            <a:spLocks noGrp="1"/>
          </p:cNvSpPr>
          <p:nvPr>
            <p:ph type="body" idx="15" hasCustomPrompt="1"/>
          </p:nvPr>
        </p:nvSpPr>
        <p:spPr>
          <a:xfrm>
            <a:off x="66294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Opportunités</a:t>
            </a:r>
          </a:p>
        </p:txBody>
      </p:sp>
      <p:sp>
        <p:nvSpPr>
          <p:cNvPr id="16" name="OpportunitiesItem"/>
          <p:cNvSpPr>
            <a:spLocks noGrp="1"/>
          </p:cNvSpPr>
          <p:nvPr>
            <p:ph type="body" idx="16" hasCustomPrompt="1"/>
          </p:nvPr>
        </p:nvSpPr>
        <p:spPr>
          <a:xfrm>
            <a:off x="66294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7" name="ThreatsBackground"/>
          <p:cNvSpPr/>
          <p:nvPr/>
        </p:nvSpPr>
        <p:spPr>
          <a:xfrm>
            <a:off x="6141720" y="4206240"/>
            <a:ext cx="5501640" cy="1828800"/>
          </a:xfrm>
          <a:prstGeom prst="rect">
            <a:avLst/>
          </a:prstGeom>
          <a:solidFill>
            <a:srgbClr val="ECEEF2"/>
          </a:solidFill>
          <a:ln/>
        </p:spPr>
      </p:sp>
      <p:sp>
        <p:nvSpPr>
          <p:cNvPr id="18" name="ThreatsTitle"/>
          <p:cNvSpPr>
            <a:spLocks noGrp="1"/>
          </p:cNvSpPr>
          <p:nvPr>
            <p:ph type="body" idx="17" hasCustomPrompt="1"/>
          </p:nvPr>
        </p:nvSpPr>
        <p:spPr>
          <a:xfrm>
            <a:off x="625602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Menaces</a:t>
            </a:r>
          </a:p>
        </p:txBody>
      </p:sp>
      <p:sp>
        <p:nvSpPr>
          <p:cNvPr id="19" name="ThreatsItem"/>
          <p:cNvSpPr>
            <a:spLocks noGrp="1"/>
          </p:cNvSpPr>
          <p:nvPr>
            <p:ph type="body" idx="18" hasCustomPrompt="1"/>
          </p:nvPr>
        </p:nvSpPr>
        <p:spPr>
          <a:xfrm>
            <a:off x="625602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grpSp>
        <p:nvGrpSpPr>
          <p:cNvPr id="25" name="QuadrantDividerGroup"/>
          <p:cNvGrpSpPr/>
          <p:nvPr/>
        </p:nvGrpSpPr>
        <p:grpSpPr>
          <a:xfrm>
            <a:off x="548640" y="2286000"/>
            <a:ext cx="11094720" cy="3749040"/>
            <a:chOff x="548640" y="2286000"/>
            <a:chExt cx="11094720" cy="3749040"/>
          </a:xfrm>
        </p:grpSpPr>
        <p:sp>
          <p:nvSpPr>
            <p:cNvPr id="20" name="QuadrantDividerVertical"/>
            <p:cNvSpPr/>
            <p:nvPr/>
          </p:nvSpPr>
          <p:spPr>
            <a:xfrm>
              <a:off x="6082284" y="2286000"/>
              <a:ext cx="27432" cy="3749040"/>
            </a:xfrm>
            <a:prstGeom prst="rect">
              <a:avLst/>
            </a:prstGeom>
            <a:solidFill>
              <a:schemeClr val="accent1"/>
            </a:solidFill>
            <a:ln/>
          </p:spPr>
        </p:sp>
        <p:sp>
          <p:nvSpPr>
            <p:cNvPr id="21" name="QuadrantDividerHorizontal"/>
            <p:cNvSpPr/>
            <p:nvPr/>
          </p:nvSpPr>
          <p:spPr>
            <a:xfrm>
              <a:off x="548640" y="4146804"/>
              <a:ext cx="11094720" cy="27432"/>
            </a:xfrm>
            <a:prstGeom prst="rect">
              <a:avLst/>
            </a:prstGeom>
            <a:solidFill>
              <a:schemeClr val="accent1"/>
            </a:solidFill>
            <a:ln/>
          </p:spPr>
        </p:sp>
      </p:grpSp>
      <p:sp>
        <p:nvSpPr>
          <p:cNvPr id="22" name="AxisYLabel"/>
          <p:cNvSpPr txBox="1"/>
          <p:nvPr/>
        </p:nvSpPr>
        <p:spPr>
          <a:xfrm>
            <a:off x="5638800" y="201168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Y</a:t>
            </a:r>
          </a:p>
        </p:txBody>
      </p:sp>
      <p:sp>
        <p:nvSpPr>
          <p:cNvPr id="23" name="AxisXLabel"/>
          <p:cNvSpPr txBox="1"/>
          <p:nvPr/>
        </p:nvSpPr>
        <p:spPr>
          <a:xfrm>
            <a:off x="5638800" y="608076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X</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0_LOGOS_CLIENT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Ils nous font confiance</a:t>
            </a:r>
          </a:p>
        </p:txBody>
      </p:sp>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8" name="Logo1"/>
          <p:cNvSpPr>
            <a:spLocks noGrp="1"/>
          </p:cNvSpPr>
          <p:nvPr>
            <p:ph type="pic" idx="11" hasCustomPrompt="1"/>
          </p:nvPr>
        </p:nvSpPr>
        <p:spPr>
          <a:xfrm>
            <a:off x="5486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9" name="Logo2"/>
          <p:cNvSpPr>
            <a:spLocks noGrp="1"/>
          </p:cNvSpPr>
          <p:nvPr>
            <p:ph type="pic" idx="12" hasCustomPrompt="1"/>
          </p:nvPr>
        </p:nvSpPr>
        <p:spPr>
          <a:xfrm>
            <a:off x="33680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0" name="Logo3"/>
          <p:cNvSpPr>
            <a:spLocks noGrp="1"/>
          </p:cNvSpPr>
          <p:nvPr>
            <p:ph type="pic" idx="13" hasCustomPrompt="1"/>
          </p:nvPr>
        </p:nvSpPr>
        <p:spPr>
          <a:xfrm>
            <a:off x="61874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1" name="Logo4"/>
          <p:cNvSpPr>
            <a:spLocks noGrp="1"/>
          </p:cNvSpPr>
          <p:nvPr>
            <p:ph type="pic" idx="14" hasCustomPrompt="1"/>
          </p:nvPr>
        </p:nvSpPr>
        <p:spPr>
          <a:xfrm>
            <a:off x="90068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2" name="Logo5"/>
          <p:cNvSpPr>
            <a:spLocks noGrp="1"/>
          </p:cNvSpPr>
          <p:nvPr>
            <p:ph type="pic" idx="15" hasCustomPrompt="1"/>
          </p:nvPr>
        </p:nvSpPr>
        <p:spPr>
          <a:xfrm>
            <a:off x="5486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3" name="Logo6"/>
          <p:cNvSpPr>
            <a:spLocks noGrp="1"/>
          </p:cNvSpPr>
          <p:nvPr>
            <p:ph type="pic" idx="16" hasCustomPrompt="1"/>
          </p:nvPr>
        </p:nvSpPr>
        <p:spPr>
          <a:xfrm>
            <a:off x="33680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4" name="Logo7"/>
          <p:cNvSpPr>
            <a:spLocks noGrp="1"/>
          </p:cNvSpPr>
          <p:nvPr>
            <p:ph type="pic" idx="17" hasCustomPrompt="1"/>
          </p:nvPr>
        </p:nvSpPr>
        <p:spPr>
          <a:xfrm>
            <a:off x="61874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5" name="Logo8"/>
          <p:cNvSpPr>
            <a:spLocks noGrp="1"/>
          </p:cNvSpPr>
          <p:nvPr>
            <p:ph type="pic" idx="18" hasCustomPrompt="1"/>
          </p:nvPr>
        </p:nvSpPr>
        <p:spPr>
          <a:xfrm>
            <a:off x="90068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6" name="Logo9"/>
          <p:cNvSpPr>
            <a:spLocks noGrp="1"/>
          </p:cNvSpPr>
          <p:nvPr>
            <p:ph type="pic" idx="19" hasCustomPrompt="1"/>
          </p:nvPr>
        </p:nvSpPr>
        <p:spPr>
          <a:xfrm>
            <a:off x="5486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7" name="Logo10"/>
          <p:cNvSpPr>
            <a:spLocks noGrp="1"/>
          </p:cNvSpPr>
          <p:nvPr>
            <p:ph type="pic" idx="20" hasCustomPrompt="1"/>
          </p:nvPr>
        </p:nvSpPr>
        <p:spPr>
          <a:xfrm>
            <a:off x="33680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8" name="Logo11"/>
          <p:cNvSpPr>
            <a:spLocks noGrp="1"/>
          </p:cNvSpPr>
          <p:nvPr>
            <p:ph type="pic" idx="21" hasCustomPrompt="1"/>
          </p:nvPr>
        </p:nvSpPr>
        <p:spPr>
          <a:xfrm>
            <a:off x="61874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9" name="Logo12"/>
          <p:cNvSpPr>
            <a:spLocks noGrp="1"/>
          </p:cNvSpPr>
          <p:nvPr>
            <p:ph type="pic" idx="22" hasCustomPrompt="1"/>
          </p:nvPr>
        </p:nvSpPr>
        <p:spPr>
          <a:xfrm>
            <a:off x="90068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PILIERS">
    <p:spTree>
      <p:nvGrpSpPr>
        <p:cNvPr id="1" name=""/>
        <p:cNvGrpSpPr/>
        <p:nvPr/>
      </p:nvGrpSpPr>
      <p:grpSpPr>
        <a:xfrm>
          <a:off x="0" y="0"/>
          <a:ext cx="0" cy="0"/>
          <a:chOff x="0" y="0"/>
          <a:chExt cx="0" cy="0"/>
        </a:xfrm>
      </p:grpSpPr>
      <p:sp>
        <p:nvSpPr>
          <p:cNvPr id="24" name="Pillar3_Icon">
            <a:extLst>
              <a:ext uri="{FF2B5EF4-FFF2-40B4-BE49-F238E27FC236}">
                <a16:creationId xmlns:a16="http://schemas.microsoft.com/office/drawing/2014/main" id="{B542C7F4-C5C6-2C55-760E-42CD1C155A7C}"/>
              </a:ext>
            </a:extLst>
          </p:cNvPr>
          <p:cNvSpPr>
            <a:spLocks noGrp="1"/>
          </p:cNvSpPr>
          <p:nvPr>
            <p:ph type="pic" sz="quarter" idx="23"/>
          </p:nvPr>
        </p:nvSpPr>
        <p:spPr>
          <a:xfrm>
            <a:off x="70485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5" name="Pillar4_Icon">
            <a:extLst>
              <a:ext uri="{FF2B5EF4-FFF2-40B4-BE49-F238E27FC236}">
                <a16:creationId xmlns:a16="http://schemas.microsoft.com/office/drawing/2014/main" id="{075F228D-52BB-2E0F-81A6-56E6355BEDF9}"/>
              </a:ext>
            </a:extLst>
          </p:cNvPr>
          <p:cNvSpPr>
            <a:spLocks noGrp="1"/>
          </p:cNvSpPr>
          <p:nvPr>
            <p:ph type="pic" sz="quarter" idx="24"/>
          </p:nvPr>
        </p:nvSpPr>
        <p:spPr>
          <a:xfrm>
            <a:off x="98679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6" name="Pillar2_Icon">
            <a:extLst>
              <a:ext uri="{FF2B5EF4-FFF2-40B4-BE49-F238E27FC236}">
                <a16:creationId xmlns:a16="http://schemas.microsoft.com/office/drawing/2014/main" id="{EA5DCE3B-2DAA-5289-8E6D-CAFC04749402}"/>
              </a:ext>
            </a:extLst>
          </p:cNvPr>
          <p:cNvSpPr>
            <a:spLocks noGrp="1"/>
          </p:cNvSpPr>
          <p:nvPr>
            <p:ph type="pic" sz="quarter" idx="25"/>
          </p:nvPr>
        </p:nvSpPr>
        <p:spPr>
          <a:xfrm>
            <a:off x="4223331" y="2002536"/>
            <a:ext cx="914400" cy="914400"/>
          </a:xfrm>
          <a:prstGeom prst="rect">
            <a:avLst/>
          </a:prstGeom>
        </p:spPr>
        <p:txBody>
          <a:bodyPr/>
          <a:lstStyle>
            <a:lvl1pPr>
              <a:buNone/>
              <a:defRPr/>
            </a:lvl1pPr>
          </a:lstStyle>
          <a:p>
            <a:r>
              <a:rPr lang="fr-FR"/>
              <a:t>Cliquez sur l'icône pour ajouter une image</a:t>
            </a:r>
            <a:endParaRPr lang="fr-FR" dirty="0"/>
          </a:p>
        </p:txBody>
      </p:sp>
      <p:sp>
        <p:nvSpPr>
          <p:cNvPr id="27" name="Pillar1_Icon">
            <a:extLst>
              <a:ext uri="{FF2B5EF4-FFF2-40B4-BE49-F238E27FC236}">
                <a16:creationId xmlns:a16="http://schemas.microsoft.com/office/drawing/2014/main" id="{8027FAC8-0EAB-8AF1-6B50-A366197AB22E}"/>
              </a:ext>
            </a:extLst>
          </p:cNvPr>
          <p:cNvSpPr>
            <a:spLocks noGrp="1"/>
          </p:cNvSpPr>
          <p:nvPr>
            <p:ph type="pic" sz="quarter" idx="26"/>
          </p:nvPr>
        </p:nvSpPr>
        <p:spPr>
          <a:xfrm>
            <a:off x="1403931"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Nos piliers</a:t>
            </a:r>
          </a:p>
        </p:txBody>
      </p:sp>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0" name="Pillar1_Title"/>
          <p:cNvSpPr>
            <a:spLocks noGrp="1"/>
          </p:cNvSpPr>
          <p:nvPr>
            <p:ph type="body" idx="12" hasCustomPrompt="1"/>
          </p:nvPr>
        </p:nvSpPr>
        <p:spPr>
          <a:xfrm>
            <a:off x="5486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1" name="Pillar1_Description"/>
          <p:cNvSpPr>
            <a:spLocks noGrp="1"/>
          </p:cNvSpPr>
          <p:nvPr>
            <p:ph type="body" idx="13" hasCustomPrompt="1"/>
          </p:nvPr>
        </p:nvSpPr>
        <p:spPr>
          <a:xfrm>
            <a:off x="5486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4" name="Pillar2_Title"/>
          <p:cNvSpPr>
            <a:spLocks noGrp="1"/>
          </p:cNvSpPr>
          <p:nvPr>
            <p:ph type="body" idx="15" hasCustomPrompt="1"/>
          </p:nvPr>
        </p:nvSpPr>
        <p:spPr>
          <a:xfrm>
            <a:off x="33680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5" name="Pillar2_Description"/>
          <p:cNvSpPr>
            <a:spLocks noGrp="1"/>
          </p:cNvSpPr>
          <p:nvPr>
            <p:ph type="body" idx="16" hasCustomPrompt="1"/>
          </p:nvPr>
        </p:nvSpPr>
        <p:spPr>
          <a:xfrm>
            <a:off x="33680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8" name="Pillar3_Title"/>
          <p:cNvSpPr>
            <a:spLocks noGrp="1"/>
          </p:cNvSpPr>
          <p:nvPr>
            <p:ph type="body" idx="18" hasCustomPrompt="1"/>
          </p:nvPr>
        </p:nvSpPr>
        <p:spPr>
          <a:xfrm>
            <a:off x="61874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9" name="Pillar3_Description"/>
          <p:cNvSpPr>
            <a:spLocks noGrp="1"/>
          </p:cNvSpPr>
          <p:nvPr>
            <p:ph type="body" idx="19" hasCustomPrompt="1"/>
          </p:nvPr>
        </p:nvSpPr>
        <p:spPr>
          <a:xfrm>
            <a:off x="61874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22" name="Pillar4_Title"/>
          <p:cNvSpPr>
            <a:spLocks noGrp="1"/>
          </p:cNvSpPr>
          <p:nvPr>
            <p:ph type="body" idx="21" hasCustomPrompt="1"/>
          </p:nvPr>
        </p:nvSpPr>
        <p:spPr>
          <a:xfrm>
            <a:off x="90068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23" name="Pillar4_Description"/>
          <p:cNvSpPr>
            <a:spLocks noGrp="1"/>
          </p:cNvSpPr>
          <p:nvPr>
            <p:ph type="body" idx="22" hasCustomPrompt="1"/>
          </p:nvPr>
        </p:nvSpPr>
        <p:spPr>
          <a:xfrm>
            <a:off x="90068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2_INTRO_ENTREPRIS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Présentation de SCIAM</a:t>
            </a:r>
          </a:p>
        </p:txBody>
      </p:sp>
      <p:sp>
        <p:nvSpPr>
          <p:cNvPr id="8" name="IntroText"/>
          <p:cNvSpPr>
            <a:spLocks noGrp="1"/>
          </p:cNvSpPr>
          <p:nvPr>
            <p:ph type="body" idx="11" hasCustomPrompt="1"/>
          </p:nvPr>
        </p:nvSpPr>
        <p:spPr>
          <a:xfrm>
            <a:off x="548640" y="2011680"/>
            <a:ext cx="6656832" cy="4297680"/>
          </a:xfrm>
          <a:prstGeom prst="rect">
            <a:avLst/>
          </a:prstGeom>
          <a:noFill/>
          <a:ln/>
        </p:spPr>
        <p:txBody>
          <a:bodyPr wrap="square" rtlCol="0" anchor="t">
            <a:normAutofit/>
          </a:bodyPr>
          <a:lstStyle>
            <a:lvl1pPr marL="0" indent="0" algn="l">
              <a:lnSpc>
                <a:spcPct val="145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Présentez l’entreprise : positionnement, expertise, valeurs. Mettez en gras les mots clés.</a:t>
            </a:r>
          </a:p>
        </p:txBody>
      </p:sp>
      <p:grpSp>
        <p:nvGrpSpPr>
          <p:cNvPr id="22" name="Fact1_CardGroup"/>
          <p:cNvGrpSpPr/>
          <p:nvPr/>
        </p:nvGrpSpPr>
        <p:grpSpPr>
          <a:xfrm>
            <a:off x="7479792" y="2011680"/>
            <a:ext cx="4163568" cy="1310640"/>
            <a:chOff x="7479792" y="2011680"/>
            <a:chExt cx="4163568" cy="1310640"/>
          </a:xfrm>
        </p:grpSpPr>
        <p:sp>
          <p:nvSpPr>
            <p:cNvPr id="9" name="Fact1_CardBackground"/>
            <p:cNvSpPr/>
            <p:nvPr/>
          </p:nvSpPr>
          <p:spPr>
            <a:xfrm>
              <a:off x="7479792" y="2011680"/>
              <a:ext cx="4163568" cy="1310640"/>
            </a:xfrm>
            <a:prstGeom prst="rect">
              <a:avLst/>
            </a:prstGeom>
            <a:solidFill>
              <a:srgbClr val="ECEEF2"/>
            </a:solidFill>
            <a:ln/>
          </p:spPr>
        </p:sp>
        <p:sp>
          <p:nvSpPr>
            <p:cNvPr id="10" name="Fact1_CardAccentLeft"/>
            <p:cNvSpPr/>
            <p:nvPr/>
          </p:nvSpPr>
          <p:spPr>
            <a:xfrm>
              <a:off x="7479792" y="2011680"/>
              <a:ext cx="18288" cy="1310640"/>
            </a:xfrm>
            <a:prstGeom prst="rect">
              <a:avLst/>
            </a:prstGeom>
            <a:solidFill>
              <a:schemeClr val="accent1"/>
            </a:solidFill>
            <a:ln/>
          </p:spPr>
        </p:sp>
      </p:grpSp>
      <p:sp>
        <p:nvSpPr>
          <p:cNvPr id="11" name="Fact1_Label"/>
          <p:cNvSpPr>
            <a:spLocks noGrp="1"/>
          </p:cNvSpPr>
          <p:nvPr>
            <p:ph type="body" idx="12" hasCustomPrompt="1"/>
          </p:nvPr>
        </p:nvSpPr>
        <p:spPr>
          <a:xfrm>
            <a:off x="7616952" y="205740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2" name="Fact1_Detail"/>
          <p:cNvSpPr>
            <a:spLocks noGrp="1"/>
          </p:cNvSpPr>
          <p:nvPr>
            <p:ph type="body" idx="13" hasCustomPrompt="1"/>
          </p:nvPr>
        </p:nvSpPr>
        <p:spPr>
          <a:xfrm>
            <a:off x="7616952" y="266700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3" name="Fact2_CardGroup"/>
          <p:cNvGrpSpPr/>
          <p:nvPr/>
        </p:nvGrpSpPr>
        <p:grpSpPr>
          <a:xfrm>
            <a:off x="7479792" y="3505200"/>
            <a:ext cx="4163568" cy="1310640"/>
            <a:chOff x="7479792" y="3505200"/>
            <a:chExt cx="4163568" cy="1310640"/>
          </a:xfrm>
        </p:grpSpPr>
        <p:sp>
          <p:nvSpPr>
            <p:cNvPr id="13" name="Fact2_CardBackground"/>
            <p:cNvSpPr/>
            <p:nvPr/>
          </p:nvSpPr>
          <p:spPr>
            <a:xfrm>
              <a:off x="7479792" y="3505200"/>
              <a:ext cx="4163568" cy="1310640"/>
            </a:xfrm>
            <a:prstGeom prst="rect">
              <a:avLst/>
            </a:prstGeom>
            <a:solidFill>
              <a:srgbClr val="ECEEF2"/>
            </a:solidFill>
            <a:ln/>
          </p:spPr>
        </p:sp>
        <p:sp>
          <p:nvSpPr>
            <p:cNvPr id="14" name="Fact2_CardAccentLeft"/>
            <p:cNvSpPr/>
            <p:nvPr/>
          </p:nvSpPr>
          <p:spPr>
            <a:xfrm>
              <a:off x="7479792" y="3505200"/>
              <a:ext cx="18288" cy="1310640"/>
            </a:xfrm>
            <a:prstGeom prst="rect">
              <a:avLst/>
            </a:prstGeom>
            <a:solidFill>
              <a:schemeClr val="accent1"/>
            </a:solidFill>
            <a:ln/>
          </p:spPr>
        </p:sp>
      </p:grpSp>
      <p:sp>
        <p:nvSpPr>
          <p:cNvPr id="15" name="Fact2_Label"/>
          <p:cNvSpPr>
            <a:spLocks noGrp="1"/>
          </p:cNvSpPr>
          <p:nvPr>
            <p:ph type="body" idx="14" hasCustomPrompt="1"/>
          </p:nvPr>
        </p:nvSpPr>
        <p:spPr>
          <a:xfrm>
            <a:off x="7616952" y="355092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6" name="Fact2_Detail"/>
          <p:cNvSpPr>
            <a:spLocks noGrp="1"/>
          </p:cNvSpPr>
          <p:nvPr>
            <p:ph type="body" idx="15" hasCustomPrompt="1"/>
          </p:nvPr>
        </p:nvSpPr>
        <p:spPr>
          <a:xfrm>
            <a:off x="7616952" y="416052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4" name="Fact3_CardGroup"/>
          <p:cNvGrpSpPr/>
          <p:nvPr/>
        </p:nvGrpSpPr>
        <p:grpSpPr>
          <a:xfrm>
            <a:off x="7479792" y="4998720"/>
            <a:ext cx="4163568" cy="1310640"/>
            <a:chOff x="7479792" y="4998720"/>
            <a:chExt cx="4163568" cy="1310640"/>
          </a:xfrm>
        </p:grpSpPr>
        <p:sp>
          <p:nvSpPr>
            <p:cNvPr id="17" name="Fact3_CardBackground"/>
            <p:cNvSpPr/>
            <p:nvPr/>
          </p:nvSpPr>
          <p:spPr>
            <a:xfrm>
              <a:off x="7479792" y="4998720"/>
              <a:ext cx="4163568" cy="1310640"/>
            </a:xfrm>
            <a:prstGeom prst="rect">
              <a:avLst/>
            </a:prstGeom>
            <a:solidFill>
              <a:srgbClr val="ECEEF2"/>
            </a:solidFill>
            <a:ln/>
          </p:spPr>
        </p:sp>
        <p:sp>
          <p:nvSpPr>
            <p:cNvPr id="18" name="Fact3_CardAccentLeft"/>
            <p:cNvSpPr/>
            <p:nvPr/>
          </p:nvSpPr>
          <p:spPr>
            <a:xfrm>
              <a:off x="7479792" y="4998720"/>
              <a:ext cx="18288" cy="1310640"/>
            </a:xfrm>
            <a:prstGeom prst="rect">
              <a:avLst/>
            </a:prstGeom>
            <a:solidFill>
              <a:schemeClr val="accent1"/>
            </a:solidFill>
            <a:ln/>
          </p:spPr>
        </p:sp>
      </p:grpSp>
      <p:sp>
        <p:nvSpPr>
          <p:cNvPr id="19" name="Fact3_Label"/>
          <p:cNvSpPr>
            <a:spLocks noGrp="1"/>
          </p:cNvSpPr>
          <p:nvPr>
            <p:ph type="body" idx="16" hasCustomPrompt="1"/>
          </p:nvPr>
        </p:nvSpPr>
        <p:spPr>
          <a:xfrm>
            <a:off x="7616952" y="504444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20" name="Fact3_Detail"/>
          <p:cNvSpPr>
            <a:spLocks noGrp="1"/>
          </p:cNvSpPr>
          <p:nvPr>
            <p:ph type="body" idx="17" hasCustomPrompt="1"/>
          </p:nvPr>
        </p:nvSpPr>
        <p:spPr>
          <a:xfrm>
            <a:off x="7616952" y="565404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3_ECHELLE_MATURITE">
    <p:spTree>
      <p:nvGrpSpPr>
        <p:cNvPr id="1" name=""/>
        <p:cNvGrpSpPr/>
        <p:nvPr/>
      </p:nvGrpSpPr>
      <p:grpSpPr>
        <a:xfrm>
          <a:off x="0" y="0"/>
          <a:ext cx="0" cy="0"/>
          <a:chOff x="0" y="0"/>
          <a:chExt cx="0" cy="0"/>
        </a:xfrm>
      </p:grpSpPr>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Trajectoire de maturité</a:t>
            </a:r>
          </a:p>
        </p:txBody>
      </p:sp>
      <p:sp>
        <p:nvSpPr>
          <p:cNvPr id="9" name="Level1_CardAccentLeft"/>
          <p:cNvSpPr/>
          <p:nvPr/>
        </p:nvSpPr>
        <p:spPr>
          <a:xfrm>
            <a:off x="548640" y="3775647"/>
            <a:ext cx="36576" cy="2557296"/>
          </a:xfrm>
          <a:prstGeom prst="rect">
            <a:avLst/>
          </a:prstGeom>
          <a:solidFill>
            <a:schemeClr val="accent1"/>
          </a:solidFill>
          <a:ln/>
        </p:spPr>
      </p:sp>
      <p:sp>
        <p:nvSpPr>
          <p:cNvPr id="11" name="Level1_Title"/>
          <p:cNvSpPr>
            <a:spLocks noGrp="1"/>
          </p:cNvSpPr>
          <p:nvPr>
            <p:ph type="body" idx="11" hasCustomPrompt="1"/>
          </p:nvPr>
        </p:nvSpPr>
        <p:spPr>
          <a:xfrm>
            <a:off x="708660" y="3900831"/>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2" name="Level1_Description"/>
          <p:cNvSpPr>
            <a:spLocks noGrp="1"/>
          </p:cNvSpPr>
          <p:nvPr>
            <p:ph type="body" idx="12" hasCustomPrompt="1"/>
          </p:nvPr>
        </p:nvSpPr>
        <p:spPr>
          <a:xfrm>
            <a:off x="708660" y="4403751"/>
            <a:ext cx="2316480" cy="1768449"/>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4" name="Level2_CardAccentLeft"/>
          <p:cNvSpPr/>
          <p:nvPr/>
        </p:nvSpPr>
        <p:spPr>
          <a:xfrm>
            <a:off x="3368040" y="3422421"/>
            <a:ext cx="36576" cy="2876959"/>
          </a:xfrm>
          <a:prstGeom prst="rect">
            <a:avLst/>
          </a:prstGeom>
          <a:solidFill>
            <a:schemeClr val="accent1"/>
          </a:solidFill>
          <a:ln/>
        </p:spPr>
      </p:sp>
      <p:sp>
        <p:nvSpPr>
          <p:cNvPr id="16" name="Level2_Title"/>
          <p:cNvSpPr>
            <a:spLocks noGrp="1"/>
          </p:cNvSpPr>
          <p:nvPr>
            <p:ph type="body" idx="13" hasCustomPrompt="1"/>
          </p:nvPr>
        </p:nvSpPr>
        <p:spPr>
          <a:xfrm>
            <a:off x="3528060" y="351404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7" name="Level2_Description"/>
          <p:cNvSpPr>
            <a:spLocks noGrp="1"/>
          </p:cNvSpPr>
          <p:nvPr>
            <p:ph type="body" idx="14" hasCustomPrompt="1"/>
          </p:nvPr>
        </p:nvSpPr>
        <p:spPr>
          <a:xfrm>
            <a:off x="3528060" y="4016960"/>
            <a:ext cx="2316480" cy="215524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9" name="Level3_CardAccentLeft"/>
          <p:cNvSpPr/>
          <p:nvPr/>
        </p:nvSpPr>
        <p:spPr>
          <a:xfrm>
            <a:off x="6187440" y="3069193"/>
            <a:ext cx="36576" cy="3196622"/>
          </a:xfrm>
          <a:prstGeom prst="rect">
            <a:avLst/>
          </a:prstGeom>
          <a:solidFill>
            <a:schemeClr val="accent1"/>
          </a:solidFill>
          <a:ln/>
        </p:spPr>
      </p:sp>
      <p:sp>
        <p:nvSpPr>
          <p:cNvPr id="21" name="Level3_Title"/>
          <p:cNvSpPr>
            <a:spLocks noGrp="1"/>
          </p:cNvSpPr>
          <p:nvPr>
            <p:ph type="body" idx="15" hasCustomPrompt="1"/>
          </p:nvPr>
        </p:nvSpPr>
        <p:spPr>
          <a:xfrm>
            <a:off x="6347460" y="3127248"/>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2" name="Level3_Description"/>
          <p:cNvSpPr>
            <a:spLocks noGrp="1"/>
          </p:cNvSpPr>
          <p:nvPr>
            <p:ph type="body" idx="16" hasCustomPrompt="1"/>
          </p:nvPr>
        </p:nvSpPr>
        <p:spPr>
          <a:xfrm>
            <a:off x="6347460" y="3630168"/>
            <a:ext cx="2316480" cy="2542032"/>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24" name="Level4_CardAccentLeft"/>
          <p:cNvSpPr/>
          <p:nvPr/>
        </p:nvSpPr>
        <p:spPr>
          <a:xfrm>
            <a:off x="9006840" y="2676719"/>
            <a:ext cx="36576" cy="3551802"/>
          </a:xfrm>
          <a:prstGeom prst="rect">
            <a:avLst/>
          </a:prstGeom>
          <a:solidFill>
            <a:schemeClr val="accent1"/>
          </a:solidFill>
          <a:ln/>
        </p:spPr>
      </p:sp>
      <p:sp>
        <p:nvSpPr>
          <p:cNvPr id="26" name="Level4_Title"/>
          <p:cNvSpPr>
            <a:spLocks noGrp="1"/>
          </p:cNvSpPr>
          <p:nvPr>
            <p:ph type="body" idx="17" hasCustomPrompt="1"/>
          </p:nvPr>
        </p:nvSpPr>
        <p:spPr>
          <a:xfrm>
            <a:off x="9166860" y="269748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7" name="Level4_Description"/>
          <p:cNvSpPr>
            <a:spLocks noGrp="1"/>
          </p:cNvSpPr>
          <p:nvPr>
            <p:ph type="body" idx="18" hasCustomPrompt="1"/>
          </p:nvPr>
        </p:nvSpPr>
        <p:spPr>
          <a:xfrm>
            <a:off x="9166860" y="3200400"/>
            <a:ext cx="2316480" cy="297180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4_FICHE_ACTION">
    <p:spTree>
      <p:nvGrpSpPr>
        <p:cNvPr id="1" name=""/>
        <p:cNvGrpSpPr/>
        <p:nvPr/>
      </p:nvGrpSpPr>
      <p:grpSpPr>
        <a:xfrm>
          <a:off x="0" y="0"/>
          <a:ext cx="0" cy="0"/>
          <a:chOff x="0" y="0"/>
          <a:chExt cx="0" cy="0"/>
        </a:xfrm>
      </p:grpSpPr>
      <p:grpSp>
        <p:nvGrpSpPr>
          <p:cNvPr id="1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Phase d’audit</a:t>
            </a:r>
          </a:p>
        </p:txBody>
      </p:sp>
      <p:sp>
        <p:nvSpPr>
          <p:cNvPr id="8" name="ObjectiveBackground"/>
          <p:cNvSpPr/>
          <p:nvPr/>
        </p:nvSpPr>
        <p:spPr>
          <a:xfrm>
            <a:off x="548640" y="1586230"/>
            <a:ext cx="11094720" cy="640080"/>
          </a:xfrm>
          <a:prstGeom prst="rect">
            <a:avLst/>
          </a:prstGeom>
          <a:solidFill>
            <a:schemeClr val="accent1"/>
          </a:solidFill>
          <a:ln/>
        </p:spPr>
      </p:sp>
      <p:sp>
        <p:nvSpPr>
          <p:cNvPr id="9" name="ObjectiveText"/>
          <p:cNvSpPr>
            <a:spLocks noGrp="1"/>
          </p:cNvSpPr>
          <p:nvPr>
            <p:ph type="body" idx="11" hasCustomPrompt="1"/>
          </p:nvPr>
        </p:nvSpPr>
        <p:spPr>
          <a:xfrm>
            <a:off x="708660" y="1586230"/>
            <a:ext cx="10774680" cy="640080"/>
          </a:xfrm>
          <a:prstGeom prst="rect">
            <a:avLst/>
          </a:prstGeom>
          <a:noFill/>
          <a:ln/>
        </p:spPr>
        <p:txBody>
          <a:bodyPr wrap="square" rtlCol="0" anchor="ctr">
            <a:normAutofit/>
          </a:bodyPr>
          <a:lstStyle>
            <a:lvl1pPr marL="0" indent="0" algn="l">
              <a:lnSpc>
                <a:spcPct val="110000"/>
              </a:lnSpc>
              <a:buNone/>
              <a:defRPr lang="fr-FR" sz="1500" b="1" spc="0" dirty="0">
                <a:solidFill>
                  <a:schemeClr val="lt2"/>
                </a:solidFill>
                <a:latin typeface="+mn-lt" pitchFamily="34" charset="0"/>
                <a:ea typeface="+mn-ea" pitchFamily="34" charset="-122"/>
                <a:cs typeface="+mn-cs" pitchFamily="34" charset="-120"/>
              </a:defRPr>
            </a:lvl1pPr>
          </a:lstStyle>
          <a:p>
            <a:pPr marL="0" indent="0" algn="l">
              <a:buNone/>
            </a:pPr>
            <a:r>
              <a:rPr lang="fr-FR" sz="1500" b="1" dirty="0">
                <a:solidFill>
                  <a:schemeClr val="lt2"/>
                </a:solidFill>
                <a:latin typeface="+mn-lt" pitchFamily="34" charset="0"/>
                <a:ea typeface="+mn-ea" pitchFamily="34" charset="-122"/>
                <a:cs typeface="+mn-cs" pitchFamily="34" charset="-120"/>
              </a:rPr>
              <a:t>Objectif : décrivez l’objectif de cette phase.</a:t>
            </a:r>
          </a:p>
        </p:txBody>
      </p:sp>
      <p:sp>
        <p:nvSpPr>
          <p:cNvPr id="10" name="ActivitiesTitle"/>
          <p:cNvSpPr>
            <a:spLocks noGrp="1"/>
          </p:cNvSpPr>
          <p:nvPr>
            <p:ph type="body" idx="12" hasCustomPrompt="1"/>
          </p:nvPr>
        </p:nvSpPr>
        <p:spPr>
          <a:xfrm>
            <a:off x="548640" y="2466340"/>
            <a:ext cx="6878726"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Activités clés</a:t>
            </a:r>
          </a:p>
        </p:txBody>
      </p:sp>
      <p:sp>
        <p:nvSpPr>
          <p:cNvPr id="11" name="ActivitiesText"/>
          <p:cNvSpPr>
            <a:spLocks noGrp="1"/>
          </p:cNvSpPr>
          <p:nvPr>
            <p:ph type="body" idx="13" hasCustomPrompt="1"/>
          </p:nvPr>
        </p:nvSpPr>
        <p:spPr>
          <a:xfrm>
            <a:off x="548640" y="2969259"/>
            <a:ext cx="6878726" cy="3257187"/>
          </a:xfrm>
          <a:prstGeom prst="rect">
            <a:avLst/>
          </a:prstGeom>
          <a:noFill/>
          <a:ln/>
        </p:spPr>
        <p:txBody>
          <a:bodyPr wrap="square" rtlCol="0" anchor="t">
            <a:normAutofit/>
          </a:bodyPr>
          <a:lstStyle>
            <a:lvl1pPr marL="0" indent="0" algn="l">
              <a:lnSpc>
                <a:spcPct val="145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Listez les activités principales de la phase.</a:t>
            </a:r>
          </a:p>
        </p:txBody>
      </p:sp>
      <p:sp>
        <p:nvSpPr>
          <p:cNvPr id="13" name="ModalitiesCardAccentTop"/>
          <p:cNvSpPr/>
          <p:nvPr/>
        </p:nvSpPr>
        <p:spPr>
          <a:xfrm>
            <a:off x="7701686" y="2466340"/>
            <a:ext cx="3941674" cy="36576"/>
          </a:xfrm>
          <a:prstGeom prst="rect">
            <a:avLst/>
          </a:prstGeom>
          <a:solidFill>
            <a:schemeClr val="accent1"/>
          </a:solidFill>
          <a:ln/>
        </p:spPr>
      </p:sp>
      <p:sp>
        <p:nvSpPr>
          <p:cNvPr id="14" name="ModalitiesTitle"/>
          <p:cNvSpPr>
            <a:spLocks noGrp="1"/>
          </p:cNvSpPr>
          <p:nvPr>
            <p:ph type="body" idx="14" hasCustomPrompt="1"/>
          </p:nvPr>
        </p:nvSpPr>
        <p:spPr>
          <a:xfrm>
            <a:off x="7838846" y="2603500"/>
            <a:ext cx="3667354"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Modalités</a:t>
            </a:r>
          </a:p>
        </p:txBody>
      </p:sp>
      <p:sp>
        <p:nvSpPr>
          <p:cNvPr id="15" name="ModalitiesText"/>
          <p:cNvSpPr>
            <a:spLocks noGrp="1"/>
          </p:cNvSpPr>
          <p:nvPr>
            <p:ph type="body" idx="15" hasCustomPrompt="1"/>
          </p:nvPr>
        </p:nvSpPr>
        <p:spPr>
          <a:xfrm>
            <a:off x="7838846" y="3060700"/>
            <a:ext cx="3667354" cy="3156966"/>
          </a:xfrm>
          <a:prstGeom prst="rect">
            <a:avLst/>
          </a:prstGeom>
          <a:noFill/>
          <a:ln/>
        </p:spPr>
        <p:txBody>
          <a:bodyPr wrap="square" rtlCol="0" anchor="t">
            <a:normAutofit/>
          </a:bodyPr>
          <a:lstStyle>
            <a:lvl1pPr marL="0" indent="0" algn="l">
              <a:lnSpc>
                <a:spcPct val="13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Durée · participants · livrables.</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5_CYCLE_DE_VIE">
    <p:spTree>
      <p:nvGrpSpPr>
        <p:cNvPr id="1" name=""/>
        <p:cNvGrpSpPr/>
        <p:nvPr/>
      </p:nvGrpSpPr>
      <p:grpSpPr>
        <a:xfrm>
          <a:off x="0" y="0"/>
          <a:ext cx="0" cy="0"/>
          <a:chOff x="0" y="0"/>
          <a:chExt cx="0" cy="0"/>
        </a:xfrm>
      </p:grpSpPr>
      <p:grpSp>
        <p:nvGrpSpPr>
          <p:cNvPr id="2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Cycle de vie</a:t>
            </a:r>
          </a:p>
        </p:txBody>
      </p:sp>
      <p:sp>
        <p:nvSpPr>
          <p:cNvPr id="8" name="CycleLine"/>
          <p:cNvSpPr/>
          <p:nvPr/>
        </p:nvSpPr>
        <p:spPr>
          <a:xfrm>
            <a:off x="1427480" y="2651760"/>
            <a:ext cx="9337040" cy="27432"/>
          </a:xfrm>
          <a:prstGeom prst="rect">
            <a:avLst/>
          </a:prstGeom>
          <a:solidFill>
            <a:schemeClr val="accent1"/>
          </a:solidFill>
          <a:ln/>
        </p:spPr>
      </p:sp>
      <p:grpSp>
        <p:nvGrpSpPr>
          <p:cNvPr id="28" name="Phase1_MarkerGroup"/>
          <p:cNvGrpSpPr/>
          <p:nvPr userDrawn="1"/>
        </p:nvGrpSpPr>
        <p:grpSpPr>
          <a:xfrm>
            <a:off x="1107440" y="2331720"/>
            <a:ext cx="640080" cy="640080"/>
            <a:chOff x="1107440" y="2331720"/>
            <a:chExt cx="640080" cy="640080"/>
          </a:xfrm>
        </p:grpSpPr>
        <p:sp>
          <p:nvSpPr>
            <p:cNvPr id="9" name="Phase1_MarkerBackground"/>
            <p:cNvSpPr/>
            <p:nvPr/>
          </p:nvSpPr>
          <p:spPr>
            <a:xfrm>
              <a:off x="1107440" y="2331720"/>
              <a:ext cx="640080" cy="640080"/>
            </a:xfrm>
            <a:prstGeom prst="ellipse">
              <a:avLst/>
            </a:prstGeom>
            <a:solidFill>
              <a:srgbClr val="FBF9F6"/>
            </a:solidFill>
            <a:ln w="12700">
              <a:solidFill>
                <a:schemeClr val="accent1"/>
              </a:solidFill>
            </a:ln>
          </p:spPr>
        </p:sp>
        <p:sp>
          <p:nvSpPr>
            <p:cNvPr id="10" name="Phase1_Number"/>
            <p:cNvSpPr txBox="1"/>
            <p:nvPr userDrawn="1"/>
          </p:nvSpPr>
          <p:spPr>
            <a:xfrm>
              <a:off x="110744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1</a:t>
              </a:r>
            </a:p>
          </p:txBody>
        </p:sp>
      </p:grpSp>
      <p:sp>
        <p:nvSpPr>
          <p:cNvPr id="11" name="Phase1_Title"/>
          <p:cNvSpPr>
            <a:spLocks noGrp="1"/>
          </p:cNvSpPr>
          <p:nvPr>
            <p:ph type="body" idx="11" hasCustomPrompt="1"/>
          </p:nvPr>
        </p:nvSpPr>
        <p:spPr>
          <a:xfrm>
            <a:off x="54864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29" name="Phase2_MarkerGroup"/>
          <p:cNvGrpSpPr/>
          <p:nvPr/>
        </p:nvGrpSpPr>
        <p:grpSpPr>
          <a:xfrm>
            <a:off x="2974848" y="2331720"/>
            <a:ext cx="640080" cy="640080"/>
            <a:chOff x="2974848" y="2331720"/>
            <a:chExt cx="640080" cy="640080"/>
          </a:xfrm>
        </p:grpSpPr>
        <p:sp>
          <p:nvSpPr>
            <p:cNvPr id="12" name="Phase2_MarkerBackground"/>
            <p:cNvSpPr/>
            <p:nvPr/>
          </p:nvSpPr>
          <p:spPr>
            <a:xfrm>
              <a:off x="2974848" y="2331720"/>
              <a:ext cx="640080" cy="640080"/>
            </a:xfrm>
            <a:prstGeom prst="ellipse">
              <a:avLst/>
            </a:prstGeom>
            <a:solidFill>
              <a:srgbClr val="FBF9F6"/>
            </a:solidFill>
            <a:ln w="12700">
              <a:solidFill>
                <a:schemeClr val="accent1"/>
              </a:solidFill>
            </a:ln>
          </p:spPr>
        </p:sp>
        <p:sp>
          <p:nvSpPr>
            <p:cNvPr id="13" name="Phase2_Number"/>
            <p:cNvSpPr txBox="1"/>
            <p:nvPr/>
          </p:nvSpPr>
          <p:spPr>
            <a:xfrm>
              <a:off x="2974848"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2</a:t>
              </a:r>
            </a:p>
          </p:txBody>
        </p:sp>
      </p:grpSp>
      <p:sp>
        <p:nvSpPr>
          <p:cNvPr id="14" name="Phase2_Title"/>
          <p:cNvSpPr>
            <a:spLocks noGrp="1"/>
          </p:cNvSpPr>
          <p:nvPr>
            <p:ph type="body" idx="12" hasCustomPrompt="1"/>
          </p:nvPr>
        </p:nvSpPr>
        <p:spPr>
          <a:xfrm>
            <a:off x="2416048"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0" name="Phase3_MarkerGroup"/>
          <p:cNvGrpSpPr/>
          <p:nvPr userDrawn="1"/>
        </p:nvGrpSpPr>
        <p:grpSpPr>
          <a:xfrm>
            <a:off x="4842256" y="2331720"/>
            <a:ext cx="640080" cy="640080"/>
            <a:chOff x="4842256" y="2331720"/>
            <a:chExt cx="640080" cy="640080"/>
          </a:xfrm>
        </p:grpSpPr>
        <p:sp>
          <p:nvSpPr>
            <p:cNvPr id="15" name="Phase3_MarkerBackground"/>
            <p:cNvSpPr/>
            <p:nvPr userDrawn="1"/>
          </p:nvSpPr>
          <p:spPr>
            <a:xfrm>
              <a:off x="4842256" y="2331720"/>
              <a:ext cx="640080" cy="640080"/>
            </a:xfrm>
            <a:prstGeom prst="ellipse">
              <a:avLst/>
            </a:prstGeom>
            <a:solidFill>
              <a:srgbClr val="FBF9F6"/>
            </a:solidFill>
            <a:ln w="12700">
              <a:solidFill>
                <a:schemeClr val="accent1"/>
              </a:solidFill>
            </a:ln>
          </p:spPr>
        </p:sp>
        <p:sp>
          <p:nvSpPr>
            <p:cNvPr id="16" name="Phase3_Number"/>
            <p:cNvSpPr txBox="1"/>
            <p:nvPr/>
          </p:nvSpPr>
          <p:spPr>
            <a:xfrm>
              <a:off x="4842256"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3</a:t>
              </a:r>
            </a:p>
          </p:txBody>
        </p:sp>
      </p:grpSp>
      <p:sp>
        <p:nvSpPr>
          <p:cNvPr id="17" name="Phase3_Title"/>
          <p:cNvSpPr>
            <a:spLocks noGrp="1"/>
          </p:cNvSpPr>
          <p:nvPr>
            <p:ph type="body" idx="13" hasCustomPrompt="1"/>
          </p:nvPr>
        </p:nvSpPr>
        <p:spPr>
          <a:xfrm>
            <a:off x="4283456"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1" name="Phase4_MarkerGroup"/>
          <p:cNvGrpSpPr/>
          <p:nvPr/>
        </p:nvGrpSpPr>
        <p:grpSpPr>
          <a:xfrm>
            <a:off x="6709664" y="2331720"/>
            <a:ext cx="640080" cy="640080"/>
            <a:chOff x="6709664" y="2331720"/>
            <a:chExt cx="640080" cy="640080"/>
          </a:xfrm>
        </p:grpSpPr>
        <p:sp>
          <p:nvSpPr>
            <p:cNvPr id="18" name="Phase4_MarkerBackground"/>
            <p:cNvSpPr/>
            <p:nvPr/>
          </p:nvSpPr>
          <p:spPr>
            <a:xfrm>
              <a:off x="6709664" y="2331720"/>
              <a:ext cx="640080" cy="640080"/>
            </a:xfrm>
            <a:prstGeom prst="ellipse">
              <a:avLst/>
            </a:prstGeom>
            <a:solidFill>
              <a:srgbClr val="FBF9F6"/>
            </a:solidFill>
            <a:ln w="12700">
              <a:solidFill>
                <a:schemeClr val="accent1"/>
              </a:solidFill>
            </a:ln>
          </p:spPr>
        </p:sp>
        <p:sp>
          <p:nvSpPr>
            <p:cNvPr id="19" name="Phase4_Number"/>
            <p:cNvSpPr txBox="1"/>
            <p:nvPr/>
          </p:nvSpPr>
          <p:spPr>
            <a:xfrm>
              <a:off x="6709664"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4</a:t>
              </a:r>
            </a:p>
          </p:txBody>
        </p:sp>
      </p:grpSp>
      <p:sp>
        <p:nvSpPr>
          <p:cNvPr id="20" name="Phase4_Title"/>
          <p:cNvSpPr>
            <a:spLocks noGrp="1"/>
          </p:cNvSpPr>
          <p:nvPr>
            <p:ph type="body" idx="14" hasCustomPrompt="1"/>
          </p:nvPr>
        </p:nvSpPr>
        <p:spPr>
          <a:xfrm>
            <a:off x="6150864"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2" name="Phase5_MarkerGroup"/>
          <p:cNvGrpSpPr/>
          <p:nvPr/>
        </p:nvGrpSpPr>
        <p:grpSpPr>
          <a:xfrm>
            <a:off x="8577072" y="2331720"/>
            <a:ext cx="640080" cy="640080"/>
            <a:chOff x="8577072" y="2331720"/>
            <a:chExt cx="640080" cy="640080"/>
          </a:xfrm>
        </p:grpSpPr>
        <p:sp>
          <p:nvSpPr>
            <p:cNvPr id="21" name="Phase5_MarkerBackground"/>
            <p:cNvSpPr/>
            <p:nvPr/>
          </p:nvSpPr>
          <p:spPr>
            <a:xfrm>
              <a:off x="8577072" y="2331720"/>
              <a:ext cx="640080" cy="640080"/>
            </a:xfrm>
            <a:prstGeom prst="ellipse">
              <a:avLst/>
            </a:prstGeom>
            <a:solidFill>
              <a:srgbClr val="FBF9F6"/>
            </a:solidFill>
            <a:ln w="12700">
              <a:solidFill>
                <a:schemeClr val="accent1"/>
              </a:solidFill>
            </a:ln>
          </p:spPr>
        </p:sp>
        <p:sp>
          <p:nvSpPr>
            <p:cNvPr id="22" name="Phase5_Number"/>
            <p:cNvSpPr txBox="1"/>
            <p:nvPr/>
          </p:nvSpPr>
          <p:spPr>
            <a:xfrm>
              <a:off x="8577072"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5</a:t>
              </a:r>
            </a:p>
          </p:txBody>
        </p:sp>
      </p:grpSp>
      <p:sp>
        <p:nvSpPr>
          <p:cNvPr id="23" name="Phase5_Title"/>
          <p:cNvSpPr>
            <a:spLocks noGrp="1"/>
          </p:cNvSpPr>
          <p:nvPr>
            <p:ph type="body" idx="15" hasCustomPrompt="1"/>
          </p:nvPr>
        </p:nvSpPr>
        <p:spPr>
          <a:xfrm>
            <a:off x="8018272"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3" name="Phase6_MarkerGroup"/>
          <p:cNvGrpSpPr/>
          <p:nvPr/>
        </p:nvGrpSpPr>
        <p:grpSpPr>
          <a:xfrm>
            <a:off x="10444480" y="2331720"/>
            <a:ext cx="640080" cy="640080"/>
            <a:chOff x="10444480" y="2331720"/>
            <a:chExt cx="640080" cy="640080"/>
          </a:xfrm>
        </p:grpSpPr>
        <p:sp>
          <p:nvSpPr>
            <p:cNvPr id="24" name="Phase6_MarkerBackground"/>
            <p:cNvSpPr/>
            <p:nvPr/>
          </p:nvSpPr>
          <p:spPr>
            <a:xfrm>
              <a:off x="10444480" y="2331720"/>
              <a:ext cx="640080" cy="640080"/>
            </a:xfrm>
            <a:prstGeom prst="ellipse">
              <a:avLst/>
            </a:prstGeom>
            <a:solidFill>
              <a:srgbClr val="FBF9F6"/>
            </a:solidFill>
            <a:ln w="12700">
              <a:solidFill>
                <a:schemeClr val="accent1"/>
              </a:solidFill>
            </a:ln>
          </p:spPr>
        </p:sp>
        <p:sp>
          <p:nvSpPr>
            <p:cNvPr id="25" name="Phase6_Number"/>
            <p:cNvSpPr txBox="1"/>
            <p:nvPr/>
          </p:nvSpPr>
          <p:spPr>
            <a:xfrm>
              <a:off x="1044448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6</a:t>
              </a:r>
            </a:p>
          </p:txBody>
        </p:sp>
      </p:grpSp>
      <p:sp>
        <p:nvSpPr>
          <p:cNvPr id="26" name="Phase6_Title"/>
          <p:cNvSpPr>
            <a:spLocks noGrp="1"/>
          </p:cNvSpPr>
          <p:nvPr>
            <p:ph type="body" idx="16" hasCustomPrompt="1"/>
          </p:nvPr>
        </p:nvSpPr>
        <p:spPr>
          <a:xfrm>
            <a:off x="988568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6_DEUX_AXES_NUMERO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Deux axes de travail</a:t>
            </a:r>
          </a:p>
        </p:txBody>
      </p:sp>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5" name="Axis1_DecorGroup"/>
          <p:cNvGrpSpPr/>
          <p:nvPr/>
        </p:nvGrpSpPr>
        <p:grpSpPr>
          <a:xfrm>
            <a:off x="548640" y="2011680"/>
            <a:ext cx="5455920" cy="4206240"/>
            <a:chOff x="548640" y="2011680"/>
            <a:chExt cx="5455920" cy="4206240"/>
          </a:xfrm>
        </p:grpSpPr>
        <p:sp>
          <p:nvSpPr>
            <p:cNvPr id="8" name="Axis1_NumberMarker"/>
            <p:cNvSpPr txBox="1"/>
            <p:nvPr/>
          </p:nvSpPr>
          <p:spPr>
            <a:xfrm>
              <a:off x="5486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1</a:t>
              </a:r>
            </a:p>
          </p:txBody>
        </p:sp>
        <p:sp>
          <p:nvSpPr>
            <p:cNvPr id="10" name="Axis1_SubTheme1_Background"/>
            <p:cNvSpPr/>
            <p:nvPr/>
          </p:nvSpPr>
          <p:spPr>
            <a:xfrm>
              <a:off x="548640" y="2834640"/>
              <a:ext cx="5455920" cy="1645920"/>
            </a:xfrm>
            <a:prstGeom prst="rect">
              <a:avLst/>
            </a:prstGeom>
            <a:solidFill>
              <a:srgbClr val="ECEEF2"/>
            </a:solidFill>
            <a:ln/>
          </p:spPr>
        </p:sp>
        <p:sp>
          <p:nvSpPr>
            <p:cNvPr id="13" name="Axis1_SubTheme2_Background"/>
            <p:cNvSpPr/>
            <p:nvPr/>
          </p:nvSpPr>
          <p:spPr>
            <a:xfrm>
              <a:off x="548640" y="4572000"/>
              <a:ext cx="5455920" cy="1645920"/>
            </a:xfrm>
            <a:prstGeom prst="rect">
              <a:avLst/>
            </a:prstGeom>
            <a:solidFill>
              <a:srgbClr val="ECEEF2"/>
            </a:solidFill>
            <a:ln/>
          </p:spPr>
        </p:sp>
      </p:grpSp>
      <p:sp>
        <p:nvSpPr>
          <p:cNvPr id="9" name="Axis1_Title"/>
          <p:cNvSpPr>
            <a:spLocks noGrp="1"/>
          </p:cNvSpPr>
          <p:nvPr>
            <p:ph type="body" idx="11" hasCustomPrompt="1"/>
          </p:nvPr>
        </p:nvSpPr>
        <p:spPr>
          <a:xfrm>
            <a:off x="12344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1" name="Axis1_SubTheme1_Label"/>
          <p:cNvSpPr>
            <a:spLocks noGrp="1"/>
          </p:cNvSpPr>
          <p:nvPr>
            <p:ph type="body" idx="12" hasCustomPrompt="1"/>
          </p:nvPr>
        </p:nvSpPr>
        <p:spPr>
          <a:xfrm>
            <a:off x="6858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2" name="Axis1_SubTheme1_Detail"/>
          <p:cNvSpPr>
            <a:spLocks noGrp="1"/>
          </p:cNvSpPr>
          <p:nvPr>
            <p:ph type="body" idx="13" hasCustomPrompt="1"/>
          </p:nvPr>
        </p:nvSpPr>
        <p:spPr>
          <a:xfrm>
            <a:off x="6858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14" name="Axis1_SubTheme2_Label"/>
          <p:cNvSpPr>
            <a:spLocks noGrp="1"/>
          </p:cNvSpPr>
          <p:nvPr>
            <p:ph type="body" idx="14" hasCustomPrompt="1"/>
          </p:nvPr>
        </p:nvSpPr>
        <p:spPr>
          <a:xfrm>
            <a:off x="6858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5" name="Axis1_SubTheme2_Detail"/>
          <p:cNvSpPr>
            <a:spLocks noGrp="1"/>
          </p:cNvSpPr>
          <p:nvPr>
            <p:ph type="body" idx="15" hasCustomPrompt="1"/>
          </p:nvPr>
        </p:nvSpPr>
        <p:spPr>
          <a:xfrm>
            <a:off x="6858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grpSp>
        <p:nvGrpSpPr>
          <p:cNvPr id="26" name="Axis2_DecorGroup"/>
          <p:cNvGrpSpPr/>
          <p:nvPr/>
        </p:nvGrpSpPr>
        <p:grpSpPr>
          <a:xfrm>
            <a:off x="6187440" y="2011680"/>
            <a:ext cx="5455920" cy="4206240"/>
            <a:chOff x="6187440" y="2011680"/>
            <a:chExt cx="5455920" cy="4206240"/>
          </a:xfrm>
        </p:grpSpPr>
        <p:sp>
          <p:nvSpPr>
            <p:cNvPr id="16" name="Axis2_NumberMarker"/>
            <p:cNvSpPr txBox="1"/>
            <p:nvPr/>
          </p:nvSpPr>
          <p:spPr>
            <a:xfrm>
              <a:off x="61874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2</a:t>
              </a:r>
            </a:p>
          </p:txBody>
        </p:sp>
        <p:sp>
          <p:nvSpPr>
            <p:cNvPr id="18" name="Axis2_SubTheme1_Background"/>
            <p:cNvSpPr/>
            <p:nvPr/>
          </p:nvSpPr>
          <p:spPr>
            <a:xfrm>
              <a:off x="6187440" y="2834640"/>
              <a:ext cx="5455920" cy="1645920"/>
            </a:xfrm>
            <a:prstGeom prst="rect">
              <a:avLst/>
            </a:prstGeom>
            <a:solidFill>
              <a:srgbClr val="ECEEF2"/>
            </a:solidFill>
            <a:ln/>
          </p:spPr>
        </p:sp>
        <p:sp>
          <p:nvSpPr>
            <p:cNvPr id="21" name="Axis2_SubTheme2_Background"/>
            <p:cNvSpPr/>
            <p:nvPr/>
          </p:nvSpPr>
          <p:spPr>
            <a:xfrm>
              <a:off x="6187440" y="4572000"/>
              <a:ext cx="5455920" cy="1645920"/>
            </a:xfrm>
            <a:prstGeom prst="rect">
              <a:avLst/>
            </a:prstGeom>
            <a:solidFill>
              <a:srgbClr val="ECEEF2"/>
            </a:solidFill>
            <a:ln/>
          </p:spPr>
        </p:sp>
      </p:grpSp>
      <p:sp>
        <p:nvSpPr>
          <p:cNvPr id="17" name="Axis2_Title"/>
          <p:cNvSpPr>
            <a:spLocks noGrp="1"/>
          </p:cNvSpPr>
          <p:nvPr>
            <p:ph type="body" idx="16" hasCustomPrompt="1"/>
          </p:nvPr>
        </p:nvSpPr>
        <p:spPr>
          <a:xfrm>
            <a:off x="68732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9" name="Axis2_SubTheme1_Label"/>
          <p:cNvSpPr>
            <a:spLocks noGrp="1"/>
          </p:cNvSpPr>
          <p:nvPr>
            <p:ph type="body" idx="17" hasCustomPrompt="1"/>
          </p:nvPr>
        </p:nvSpPr>
        <p:spPr>
          <a:xfrm>
            <a:off x="63246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0" name="Axis2_SubTheme1_Detail"/>
          <p:cNvSpPr>
            <a:spLocks noGrp="1"/>
          </p:cNvSpPr>
          <p:nvPr>
            <p:ph type="body" idx="18" hasCustomPrompt="1"/>
          </p:nvPr>
        </p:nvSpPr>
        <p:spPr>
          <a:xfrm>
            <a:off x="63246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22" name="Axis2_SubTheme2_Label"/>
          <p:cNvSpPr>
            <a:spLocks noGrp="1"/>
          </p:cNvSpPr>
          <p:nvPr>
            <p:ph type="body" idx="19" hasCustomPrompt="1"/>
          </p:nvPr>
        </p:nvSpPr>
        <p:spPr>
          <a:xfrm>
            <a:off x="63246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3" name="Axis2_SubTheme2_Detail"/>
          <p:cNvSpPr>
            <a:spLocks noGrp="1"/>
          </p:cNvSpPr>
          <p:nvPr>
            <p:ph type="body" idx="20" hasCustomPrompt="1"/>
          </p:nvPr>
        </p:nvSpPr>
        <p:spPr>
          <a:xfrm>
            <a:off x="63246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7_BENEFICES_3_CAR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Bénéfices</a:t>
            </a:r>
          </a:p>
        </p:txBody>
      </p:sp>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6" name="Card1_DecorGroup"/>
          <p:cNvGrpSpPr/>
          <p:nvPr/>
        </p:nvGrpSpPr>
        <p:grpSpPr>
          <a:xfrm>
            <a:off x="548640" y="2011680"/>
            <a:ext cx="3576320" cy="3474720"/>
            <a:chOff x="548640" y="2011680"/>
            <a:chExt cx="3576320" cy="3474720"/>
          </a:xfrm>
        </p:grpSpPr>
        <p:sp>
          <p:nvSpPr>
            <p:cNvPr id="8" name="Card1_Background"/>
            <p:cNvSpPr/>
            <p:nvPr/>
          </p:nvSpPr>
          <p:spPr>
            <a:xfrm>
              <a:off x="548640" y="2011680"/>
              <a:ext cx="3576320" cy="3474720"/>
            </a:xfrm>
            <a:prstGeom prst="rect">
              <a:avLst/>
            </a:prstGeom>
            <a:solidFill>
              <a:schemeClr val="lt1"/>
            </a:solidFill>
            <a:ln w="12700">
              <a:solidFill>
                <a:srgbClr val="D2D7E0"/>
              </a:solidFill>
            </a:ln>
          </p:spPr>
        </p:sp>
        <p:sp>
          <p:nvSpPr>
            <p:cNvPr id="9" name="Card1_IconBackground"/>
            <p:cNvSpPr/>
            <p:nvPr/>
          </p:nvSpPr>
          <p:spPr>
            <a:xfrm>
              <a:off x="685800" y="2194560"/>
              <a:ext cx="640080" cy="640080"/>
            </a:xfrm>
            <a:prstGeom prst="ellipse">
              <a:avLst/>
            </a:prstGeom>
            <a:solidFill>
              <a:srgbClr val="ECEEF2"/>
            </a:solidFill>
            <a:ln/>
          </p:spPr>
        </p:sp>
      </p:grpSp>
      <p:sp>
        <p:nvSpPr>
          <p:cNvPr id="10" name="Card1_Icon"/>
          <p:cNvSpPr>
            <a:spLocks noGrp="1"/>
          </p:cNvSpPr>
          <p:nvPr>
            <p:ph type="body" idx="11" hasCustomPrompt="1"/>
          </p:nvPr>
        </p:nvSpPr>
        <p:spPr>
          <a:xfrm>
            <a:off x="6858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1" name="Card1_Title"/>
          <p:cNvSpPr>
            <a:spLocks noGrp="1"/>
          </p:cNvSpPr>
          <p:nvPr>
            <p:ph type="body" idx="12" hasCustomPrompt="1"/>
          </p:nvPr>
        </p:nvSpPr>
        <p:spPr>
          <a:xfrm>
            <a:off x="6858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2" name="Card1_Description"/>
          <p:cNvSpPr>
            <a:spLocks noGrp="1"/>
          </p:cNvSpPr>
          <p:nvPr>
            <p:ph type="body" idx="13" hasCustomPrompt="1"/>
          </p:nvPr>
        </p:nvSpPr>
        <p:spPr>
          <a:xfrm>
            <a:off x="6858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7" name="Card2_DecorGroup"/>
          <p:cNvGrpSpPr/>
          <p:nvPr/>
        </p:nvGrpSpPr>
        <p:grpSpPr>
          <a:xfrm>
            <a:off x="4307840" y="2011680"/>
            <a:ext cx="3576320" cy="3474720"/>
            <a:chOff x="4307840" y="2011680"/>
            <a:chExt cx="3576320" cy="3474720"/>
          </a:xfrm>
        </p:grpSpPr>
        <p:sp>
          <p:nvSpPr>
            <p:cNvPr id="13" name="Card2_Background"/>
            <p:cNvSpPr/>
            <p:nvPr/>
          </p:nvSpPr>
          <p:spPr>
            <a:xfrm>
              <a:off x="4307840" y="2011680"/>
              <a:ext cx="3576320" cy="3474720"/>
            </a:xfrm>
            <a:prstGeom prst="rect">
              <a:avLst/>
            </a:prstGeom>
            <a:solidFill>
              <a:schemeClr val="lt1"/>
            </a:solidFill>
            <a:ln w="12700">
              <a:solidFill>
                <a:srgbClr val="D2D7E0"/>
              </a:solidFill>
            </a:ln>
          </p:spPr>
        </p:sp>
        <p:sp>
          <p:nvSpPr>
            <p:cNvPr id="14" name="Card2_IconBackground"/>
            <p:cNvSpPr/>
            <p:nvPr/>
          </p:nvSpPr>
          <p:spPr>
            <a:xfrm>
              <a:off x="4445000" y="2194560"/>
              <a:ext cx="640080" cy="640080"/>
            </a:xfrm>
            <a:prstGeom prst="ellipse">
              <a:avLst/>
            </a:prstGeom>
            <a:solidFill>
              <a:srgbClr val="ECEEF2"/>
            </a:solidFill>
            <a:ln/>
          </p:spPr>
        </p:sp>
      </p:grpSp>
      <p:sp>
        <p:nvSpPr>
          <p:cNvPr id="15" name="Card2_Icon"/>
          <p:cNvSpPr>
            <a:spLocks noGrp="1"/>
          </p:cNvSpPr>
          <p:nvPr>
            <p:ph type="body" idx="14" hasCustomPrompt="1"/>
          </p:nvPr>
        </p:nvSpPr>
        <p:spPr>
          <a:xfrm>
            <a:off x="44450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6" name="Card2_Title"/>
          <p:cNvSpPr>
            <a:spLocks noGrp="1"/>
          </p:cNvSpPr>
          <p:nvPr>
            <p:ph type="body" idx="15" hasCustomPrompt="1"/>
          </p:nvPr>
        </p:nvSpPr>
        <p:spPr>
          <a:xfrm>
            <a:off x="44450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7" name="Card2_Description"/>
          <p:cNvSpPr>
            <a:spLocks noGrp="1"/>
          </p:cNvSpPr>
          <p:nvPr>
            <p:ph type="body" idx="16" hasCustomPrompt="1"/>
          </p:nvPr>
        </p:nvSpPr>
        <p:spPr>
          <a:xfrm>
            <a:off x="44450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8" name="Card3_DecorGroup"/>
          <p:cNvGrpSpPr/>
          <p:nvPr/>
        </p:nvGrpSpPr>
        <p:grpSpPr>
          <a:xfrm>
            <a:off x="8067040" y="2011680"/>
            <a:ext cx="3576320" cy="3474720"/>
            <a:chOff x="8067040" y="2011680"/>
            <a:chExt cx="3576320" cy="3474720"/>
          </a:xfrm>
        </p:grpSpPr>
        <p:sp>
          <p:nvSpPr>
            <p:cNvPr id="18" name="Card3_Background"/>
            <p:cNvSpPr/>
            <p:nvPr/>
          </p:nvSpPr>
          <p:spPr>
            <a:xfrm>
              <a:off x="8067040" y="2011680"/>
              <a:ext cx="3576320" cy="3474720"/>
            </a:xfrm>
            <a:prstGeom prst="rect">
              <a:avLst/>
            </a:prstGeom>
            <a:solidFill>
              <a:schemeClr val="lt1"/>
            </a:solidFill>
            <a:ln w="12700">
              <a:solidFill>
                <a:srgbClr val="D2D7E0"/>
              </a:solidFill>
            </a:ln>
          </p:spPr>
        </p:sp>
        <p:sp>
          <p:nvSpPr>
            <p:cNvPr id="19" name="Card3_IconBackground"/>
            <p:cNvSpPr/>
            <p:nvPr/>
          </p:nvSpPr>
          <p:spPr>
            <a:xfrm>
              <a:off x="8204200" y="2194560"/>
              <a:ext cx="640080" cy="640080"/>
            </a:xfrm>
            <a:prstGeom prst="ellipse">
              <a:avLst/>
            </a:prstGeom>
            <a:solidFill>
              <a:srgbClr val="ECEEF2"/>
            </a:solidFill>
            <a:ln/>
          </p:spPr>
        </p:sp>
      </p:grpSp>
      <p:sp>
        <p:nvSpPr>
          <p:cNvPr id="20" name="Card3_Icon"/>
          <p:cNvSpPr>
            <a:spLocks noGrp="1"/>
          </p:cNvSpPr>
          <p:nvPr>
            <p:ph type="body" idx="17" hasCustomPrompt="1"/>
          </p:nvPr>
        </p:nvSpPr>
        <p:spPr>
          <a:xfrm>
            <a:off x="82042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21" name="Card3_Title"/>
          <p:cNvSpPr>
            <a:spLocks noGrp="1"/>
          </p:cNvSpPr>
          <p:nvPr>
            <p:ph type="body" idx="18" hasCustomPrompt="1"/>
          </p:nvPr>
        </p:nvSpPr>
        <p:spPr>
          <a:xfrm>
            <a:off x="82042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22" name="Card3_Description"/>
          <p:cNvSpPr>
            <a:spLocks noGrp="1"/>
          </p:cNvSpPr>
          <p:nvPr>
            <p:ph type="body" idx="19" hasCustomPrompt="1"/>
          </p:nvPr>
        </p:nvSpPr>
        <p:spPr>
          <a:xfrm>
            <a:off x="82042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8_CONTEXTE_NARRATIF">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Contexte</a:t>
            </a:r>
          </a:p>
        </p:txBody>
      </p:sp>
      <p:sp>
        <p:nvSpPr>
          <p:cNvPr id="8" name="ContentAccentBar"/>
          <p:cNvSpPr/>
          <p:nvPr/>
        </p:nvSpPr>
        <p:spPr>
          <a:xfrm>
            <a:off x="548640" y="2011680"/>
            <a:ext cx="109728" cy="4023360"/>
          </a:xfrm>
          <a:prstGeom prst="rect">
            <a:avLst/>
          </a:prstGeom>
          <a:solidFill>
            <a:schemeClr val="accent1"/>
          </a:solidFill>
          <a:ln/>
        </p:spPr>
      </p:sp>
      <p:sp>
        <p:nvSpPr>
          <p:cNvPr id="9" name="BodyText"/>
          <p:cNvSpPr>
            <a:spLocks noGrp="1"/>
          </p:cNvSpPr>
          <p:nvPr>
            <p:ph type="body" idx="11" hasCustomPrompt="1"/>
          </p:nvPr>
        </p:nvSpPr>
        <p:spPr>
          <a:xfrm>
            <a:off x="868680" y="2194560"/>
            <a:ext cx="10637520" cy="3931920"/>
          </a:xfrm>
          <a:prstGeom prst="rect">
            <a:avLst/>
          </a:prstGeom>
          <a:noFill/>
          <a:ln/>
        </p:spPr>
        <p:txBody>
          <a:bodyPr wrap="square" rtlCol="0" anchor="t">
            <a:normAutofit/>
          </a:bodyPr>
          <a:lstStyle>
            <a:lvl1pPr marL="0" indent="0" algn="l">
              <a:lnSpc>
                <a:spcPct val="135000"/>
              </a:lnSpc>
              <a:buNone/>
              <a:defRPr lang="fr-FR" sz="2800" spc="0" dirty="0">
                <a:solidFill>
                  <a:schemeClr val="accent1"/>
                </a:solidFill>
                <a:latin typeface="+mj-lt" pitchFamily="34" charset="0"/>
                <a:ea typeface="+mj-ea" pitchFamily="34" charset="-122"/>
                <a:cs typeface="+mj-cs" pitchFamily="34" charset="-120"/>
              </a:defRPr>
            </a:lvl1pPr>
          </a:lstStyle>
          <a:p>
            <a:pPr marL="0" indent="0" algn="l">
              <a:buNone/>
            </a:pPr>
            <a:r>
              <a:rPr lang="fr-FR" sz="2800" dirty="0">
                <a:solidFill>
                  <a:schemeClr val="accent1"/>
                </a:solidFill>
                <a:latin typeface="+mj-lt" pitchFamily="34" charset="0"/>
                <a:ea typeface="+mj-ea" pitchFamily="34" charset="-122"/>
                <a:cs typeface="+mj-cs" pitchFamily="34" charset="-120"/>
              </a:rPr>
              <a:t>Énoncez le constat ou le problème en une idée forte, avec les mots clés en gras.</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29_EQUIPE_ROLES">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Équipe d’intervention</a:t>
            </a:r>
          </a:p>
        </p:txBody>
      </p:sp>
      <p:sp>
        <p:nvSpPr>
          <p:cNvPr id="8" name="IntroBackground"/>
          <p:cNvSpPr/>
          <p:nvPr/>
        </p:nvSpPr>
        <p:spPr>
          <a:xfrm>
            <a:off x="548640" y="2011680"/>
            <a:ext cx="11094720" cy="502920"/>
          </a:xfrm>
          <a:prstGeom prst="rect">
            <a:avLst/>
          </a:prstGeom>
          <a:solidFill>
            <a:schemeClr val="accent1"/>
          </a:solidFill>
          <a:ln/>
        </p:spPr>
      </p:sp>
      <p:sp>
        <p:nvSpPr>
          <p:cNvPr id="9" name="IntroText"/>
          <p:cNvSpPr>
            <a:spLocks noGrp="1"/>
          </p:cNvSpPr>
          <p:nvPr>
            <p:ph type="body" idx="11" hasCustomPrompt="1"/>
          </p:nvPr>
        </p:nvSpPr>
        <p:spPr>
          <a:xfrm>
            <a:off x="708660" y="2011680"/>
            <a:ext cx="10774680" cy="502920"/>
          </a:xfrm>
          <a:prstGeom prst="rect">
            <a:avLst/>
          </a:prstGeom>
          <a:noFill/>
          <a:ln/>
        </p:spPr>
        <p:txBody>
          <a:bodyPr wrap="square" rtlCol="0" anchor="ctr">
            <a:normAutofit/>
          </a:bodyPr>
          <a:lstStyle>
            <a:lvl1pPr marL="0" indent="0" algn="l">
              <a:lnSpc>
                <a:spcPct val="110000"/>
              </a:lnSpc>
              <a:buNone/>
              <a:defRPr lang="fr-FR" sz="1400" b="1" spc="0" dirty="0">
                <a:solidFill>
                  <a:schemeClr val="lt2"/>
                </a:solidFill>
                <a:latin typeface="+mn-lt" pitchFamily="34" charset="0"/>
                <a:ea typeface="+mn-ea" pitchFamily="34" charset="-122"/>
                <a:cs typeface="+mn-cs" pitchFamily="34" charset="-120"/>
              </a:defRPr>
            </a:lvl1pPr>
          </a:lstStyle>
          <a:p>
            <a:pPr marL="0" indent="0" algn="l">
              <a:buNone/>
            </a:pPr>
            <a:r>
              <a:rPr lang="fr-FR" sz="1400" b="1" dirty="0">
                <a:solidFill>
                  <a:schemeClr val="lt2"/>
                </a:solidFill>
                <a:latin typeface="+mn-lt" pitchFamily="34" charset="0"/>
                <a:ea typeface="+mn-ea" pitchFamily="34" charset="-122"/>
                <a:cs typeface="+mn-cs" pitchFamily="34" charset="-120"/>
              </a:rPr>
              <a:t>Équipe socle — périmètre du dispositif</a:t>
            </a:r>
          </a:p>
        </p:txBody>
      </p:sp>
      <p:grpSp>
        <p:nvGrpSpPr>
          <p:cNvPr id="23" name="Row1_DecorGroup"/>
          <p:cNvGrpSpPr/>
          <p:nvPr/>
        </p:nvGrpSpPr>
        <p:grpSpPr>
          <a:xfrm>
            <a:off x="548640" y="2606040"/>
            <a:ext cx="11094720" cy="1234440"/>
            <a:chOff x="548640" y="2606040"/>
            <a:chExt cx="11094720" cy="1234440"/>
          </a:xfrm>
        </p:grpSpPr>
        <p:sp>
          <p:nvSpPr>
            <p:cNvPr id="10" name="Row1_RoleBackground"/>
            <p:cNvSpPr/>
            <p:nvPr/>
          </p:nvSpPr>
          <p:spPr>
            <a:xfrm>
              <a:off x="548640" y="2606040"/>
              <a:ext cx="4215993" cy="1234440"/>
            </a:xfrm>
            <a:prstGeom prst="rect">
              <a:avLst/>
            </a:prstGeom>
            <a:solidFill>
              <a:srgbClr val="ECEEF2"/>
            </a:solidFill>
            <a:ln/>
          </p:spPr>
        </p:sp>
        <p:sp>
          <p:nvSpPr>
            <p:cNvPr id="11" name="Row1_MissionsBackground"/>
            <p:cNvSpPr/>
            <p:nvPr/>
          </p:nvSpPr>
          <p:spPr>
            <a:xfrm>
              <a:off x="4764633" y="2606040"/>
              <a:ext cx="6878727" cy="1234440"/>
            </a:xfrm>
            <a:prstGeom prst="rect">
              <a:avLst/>
            </a:prstGeom>
            <a:solidFill>
              <a:schemeClr val="accent1"/>
            </a:solidFill>
            <a:ln/>
          </p:spPr>
        </p:sp>
      </p:grpSp>
      <p:sp>
        <p:nvSpPr>
          <p:cNvPr id="12" name="Row1_Role"/>
          <p:cNvSpPr>
            <a:spLocks noGrp="1"/>
          </p:cNvSpPr>
          <p:nvPr>
            <p:ph type="body" idx="12" hasCustomPrompt="1"/>
          </p:nvPr>
        </p:nvSpPr>
        <p:spPr>
          <a:xfrm>
            <a:off x="662940" y="2606040"/>
            <a:ext cx="3987393"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Rôle</a:t>
            </a:r>
          </a:p>
        </p:txBody>
      </p:sp>
      <p:sp>
        <p:nvSpPr>
          <p:cNvPr id="13" name="Row1_Missions"/>
          <p:cNvSpPr>
            <a:spLocks noGrp="1"/>
          </p:cNvSpPr>
          <p:nvPr>
            <p:ph type="body" idx="13" hasCustomPrompt="1"/>
          </p:nvPr>
        </p:nvSpPr>
        <p:spPr>
          <a:xfrm>
            <a:off x="4878933" y="2606040"/>
            <a:ext cx="6650127"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lt2"/>
                </a:solidFill>
                <a:latin typeface="+mn-lt" pitchFamily="34" charset="0"/>
                <a:ea typeface="+mn-ea" pitchFamily="34" charset="-122"/>
                <a:cs typeface="+mn-cs" pitchFamily="34" charset="-120"/>
              </a:defRPr>
            </a:lvl1pPr>
          </a:lstStyle>
          <a:p>
            <a:pPr marL="0" indent="0" algn="l">
              <a:buNone/>
            </a:pPr>
            <a:r>
              <a:rPr lang="fr-FR" sz="1300" b="1" dirty="0">
                <a:solidFill>
                  <a:schemeClr val="lt2"/>
                </a:solidFill>
                <a:latin typeface="+mn-lt" pitchFamily="34" charset="0"/>
                <a:ea typeface="+mn-ea" pitchFamily="34" charset="-122"/>
                <a:cs typeface="+mn-cs" pitchFamily="34" charset="-120"/>
              </a:rPr>
              <a:t>Missions</a:t>
            </a:r>
          </a:p>
        </p:txBody>
      </p:sp>
      <p:grpSp>
        <p:nvGrpSpPr>
          <p:cNvPr id="24" name="Row2_DecorGroup"/>
          <p:cNvGrpSpPr/>
          <p:nvPr/>
        </p:nvGrpSpPr>
        <p:grpSpPr>
          <a:xfrm>
            <a:off x="548640" y="3840480"/>
            <a:ext cx="11094720" cy="1234440"/>
            <a:chOff x="548640" y="3840480"/>
            <a:chExt cx="11094720" cy="1234440"/>
          </a:xfrm>
        </p:grpSpPr>
        <p:sp>
          <p:nvSpPr>
            <p:cNvPr id="14" name="Row2_RoleBackground"/>
            <p:cNvSpPr/>
            <p:nvPr/>
          </p:nvSpPr>
          <p:spPr>
            <a:xfrm>
              <a:off x="548640" y="3840480"/>
              <a:ext cx="4215993" cy="1234440"/>
            </a:xfrm>
            <a:prstGeom prst="rect">
              <a:avLst/>
            </a:prstGeom>
            <a:solidFill>
              <a:schemeClr val="lt1"/>
            </a:solidFill>
            <a:ln w="12700">
              <a:solidFill>
                <a:srgbClr val="D2D7E0"/>
              </a:solidFill>
            </a:ln>
          </p:spPr>
        </p:sp>
        <p:sp>
          <p:nvSpPr>
            <p:cNvPr id="15" name="Row2_MissionsBackground"/>
            <p:cNvSpPr/>
            <p:nvPr/>
          </p:nvSpPr>
          <p:spPr>
            <a:xfrm>
              <a:off x="4764633" y="3840480"/>
              <a:ext cx="6878727" cy="1234440"/>
            </a:xfrm>
            <a:prstGeom prst="rect">
              <a:avLst/>
            </a:prstGeom>
            <a:solidFill>
              <a:schemeClr val="lt1"/>
            </a:solidFill>
            <a:ln w="12700">
              <a:solidFill>
                <a:srgbClr val="D2D7E0"/>
              </a:solidFill>
            </a:ln>
          </p:spPr>
        </p:sp>
      </p:grpSp>
      <p:sp>
        <p:nvSpPr>
          <p:cNvPr id="16" name="Row2_Role"/>
          <p:cNvSpPr>
            <a:spLocks noGrp="1"/>
          </p:cNvSpPr>
          <p:nvPr>
            <p:ph type="body" idx="14" hasCustomPrompt="1"/>
          </p:nvPr>
        </p:nvSpPr>
        <p:spPr>
          <a:xfrm>
            <a:off x="662940" y="384048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17" name="Row2_Missions"/>
          <p:cNvSpPr>
            <a:spLocks noGrp="1"/>
          </p:cNvSpPr>
          <p:nvPr>
            <p:ph type="body" idx="15" hasCustomPrompt="1"/>
          </p:nvPr>
        </p:nvSpPr>
        <p:spPr>
          <a:xfrm>
            <a:off x="4878933" y="384048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grpSp>
        <p:nvGrpSpPr>
          <p:cNvPr id="25" name="Row3_DecorGroup"/>
          <p:cNvGrpSpPr/>
          <p:nvPr/>
        </p:nvGrpSpPr>
        <p:grpSpPr>
          <a:xfrm>
            <a:off x="548640" y="5074920"/>
            <a:ext cx="11094720" cy="1234440"/>
            <a:chOff x="548640" y="5074920"/>
            <a:chExt cx="11094720" cy="1234440"/>
          </a:xfrm>
        </p:grpSpPr>
        <p:sp>
          <p:nvSpPr>
            <p:cNvPr id="18" name="Row3_RoleBackground"/>
            <p:cNvSpPr/>
            <p:nvPr/>
          </p:nvSpPr>
          <p:spPr>
            <a:xfrm>
              <a:off x="548640" y="5074920"/>
              <a:ext cx="4215993" cy="1234440"/>
            </a:xfrm>
            <a:prstGeom prst="rect">
              <a:avLst/>
            </a:prstGeom>
            <a:solidFill>
              <a:schemeClr val="lt1"/>
            </a:solidFill>
            <a:ln w="12700">
              <a:solidFill>
                <a:srgbClr val="D2D7E0"/>
              </a:solidFill>
            </a:ln>
          </p:spPr>
        </p:sp>
        <p:sp>
          <p:nvSpPr>
            <p:cNvPr id="19" name="Row3_MissionsBackground"/>
            <p:cNvSpPr/>
            <p:nvPr/>
          </p:nvSpPr>
          <p:spPr>
            <a:xfrm>
              <a:off x="4764633" y="5074920"/>
              <a:ext cx="6878727" cy="1234440"/>
            </a:xfrm>
            <a:prstGeom prst="rect">
              <a:avLst/>
            </a:prstGeom>
            <a:solidFill>
              <a:schemeClr val="lt1"/>
            </a:solidFill>
            <a:ln w="12700">
              <a:solidFill>
                <a:srgbClr val="D2D7E0"/>
              </a:solidFill>
            </a:ln>
          </p:spPr>
        </p:sp>
      </p:grpSp>
      <p:sp>
        <p:nvSpPr>
          <p:cNvPr id="20" name="Row3_Role"/>
          <p:cNvSpPr>
            <a:spLocks noGrp="1"/>
          </p:cNvSpPr>
          <p:nvPr>
            <p:ph type="body" idx="16" hasCustomPrompt="1"/>
          </p:nvPr>
        </p:nvSpPr>
        <p:spPr>
          <a:xfrm>
            <a:off x="662940" y="507492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21" name="Row3_Missions"/>
          <p:cNvSpPr>
            <a:spLocks noGrp="1"/>
          </p:cNvSpPr>
          <p:nvPr>
            <p:ph type="body" idx="17" hasCustomPrompt="1"/>
          </p:nvPr>
        </p:nvSpPr>
        <p:spPr>
          <a:xfrm>
            <a:off x="4878933" y="507492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0_FICHE_SYNTHESE_SCORE">
    <p:spTree>
      <p:nvGrpSpPr>
        <p:cNvPr id="1" name=""/>
        <p:cNvGrpSpPr/>
        <p:nvPr/>
      </p:nvGrpSpPr>
      <p:grpSpPr>
        <a:xfrm>
          <a:off x="0" y="0"/>
          <a:ext cx="0" cy="0"/>
          <a:chOff x="0" y="0"/>
          <a:chExt cx="0" cy="0"/>
        </a:xfrm>
      </p:grpSpPr>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Synthèse des scores</a:t>
            </a:r>
          </a:p>
        </p:txBody>
      </p:sp>
      <p:sp>
        <p:nvSpPr>
          <p:cNvPr id="11" name="StrengthsCardAccentTop"/>
          <p:cNvSpPr/>
          <p:nvPr/>
        </p:nvSpPr>
        <p:spPr>
          <a:xfrm>
            <a:off x="5926531" y="2011680"/>
            <a:ext cx="5716829" cy="36576"/>
          </a:xfrm>
          <a:prstGeom prst="rect">
            <a:avLst/>
          </a:prstGeom>
          <a:solidFill>
            <a:schemeClr val="accent1"/>
          </a:solidFill>
          <a:ln/>
        </p:spPr>
      </p:sp>
      <p:sp>
        <p:nvSpPr>
          <p:cNvPr id="12" name="StrengthsTitle"/>
          <p:cNvSpPr>
            <a:spLocks noGrp="1"/>
          </p:cNvSpPr>
          <p:nvPr>
            <p:ph type="body" idx="12" hasCustomPrompt="1"/>
          </p:nvPr>
        </p:nvSpPr>
        <p:spPr>
          <a:xfrm>
            <a:off x="6063691" y="214884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3" name="StrengthsText"/>
          <p:cNvSpPr>
            <a:spLocks noGrp="1"/>
          </p:cNvSpPr>
          <p:nvPr>
            <p:ph type="body" idx="13" hasCustomPrompt="1"/>
          </p:nvPr>
        </p:nvSpPr>
        <p:spPr>
          <a:xfrm>
            <a:off x="6063691" y="260604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Points forts identifiés.</a:t>
            </a:r>
          </a:p>
        </p:txBody>
      </p:sp>
      <p:sp>
        <p:nvSpPr>
          <p:cNvPr id="15" name="WeaknessesCardAccentTop"/>
          <p:cNvSpPr/>
          <p:nvPr/>
        </p:nvSpPr>
        <p:spPr>
          <a:xfrm>
            <a:off x="5926531" y="4251960"/>
            <a:ext cx="5716829" cy="36576"/>
          </a:xfrm>
          <a:prstGeom prst="rect">
            <a:avLst/>
          </a:prstGeom>
          <a:solidFill>
            <a:schemeClr val="accent1"/>
          </a:solidFill>
          <a:ln/>
        </p:spPr>
      </p:sp>
      <p:sp>
        <p:nvSpPr>
          <p:cNvPr id="16" name="WeaknessesTitle"/>
          <p:cNvSpPr>
            <a:spLocks noGrp="1"/>
          </p:cNvSpPr>
          <p:nvPr>
            <p:ph type="body" idx="14" hasCustomPrompt="1"/>
          </p:nvPr>
        </p:nvSpPr>
        <p:spPr>
          <a:xfrm>
            <a:off x="6063691" y="438912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Fragilités</a:t>
            </a:r>
          </a:p>
        </p:txBody>
      </p:sp>
      <p:sp>
        <p:nvSpPr>
          <p:cNvPr id="17" name="WeaknessesText"/>
          <p:cNvSpPr>
            <a:spLocks noGrp="1"/>
          </p:cNvSpPr>
          <p:nvPr>
            <p:ph type="body" idx="15" hasCustomPrompt="1"/>
          </p:nvPr>
        </p:nvSpPr>
        <p:spPr>
          <a:xfrm>
            <a:off x="6063691" y="484632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Zones de fragilité.</a:t>
            </a:r>
          </a:p>
        </p:txBody>
      </p:sp>
      <p:sp>
        <p:nvSpPr>
          <p:cNvPr id="24" name="Chart">
            <a:extLst>
              <a:ext uri="{FF2B5EF4-FFF2-40B4-BE49-F238E27FC236}">
                <a16:creationId xmlns:a16="http://schemas.microsoft.com/office/drawing/2014/main" id="{B207105C-3B04-BB04-C74D-7AA466CE068D}"/>
              </a:ext>
            </a:extLst>
          </p:cNvPr>
          <p:cNvSpPr>
            <a:spLocks noGrp="1"/>
          </p:cNvSpPr>
          <p:nvPr>
            <p:ph type="chart" sz="quarter" idx="16"/>
          </p:nvPr>
        </p:nvSpPr>
        <p:spPr>
          <a:xfrm>
            <a:off x="548639" y="2011679"/>
            <a:ext cx="5158423" cy="4297045"/>
          </a:xfrm>
          <a:prstGeom prst="rect">
            <a:avLst/>
          </a:prstGeom>
        </p:spPr>
        <p:txBody>
          <a:bodyPr/>
          <a:lstStyle/>
          <a:p>
            <a:r>
              <a:rPr lang="fr-FR"/>
              <a:t>Cliquez sur l'icône pour ajouter un graphique</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1_TITRE_PLEINE_PAGE">
    <p:spTree>
      <p:nvGrpSpPr>
        <p:cNvPr id="1" name=""/>
        <p:cNvGrpSpPr/>
        <p:nvPr/>
      </p:nvGrpSpPr>
      <p:grpSpPr>
        <a:xfrm>
          <a:off x="0" y="0"/>
          <a:ext cx="0" cy="0"/>
          <a:chOff x="0" y="0"/>
          <a:chExt cx="0" cy="0"/>
        </a:xfrm>
      </p:grpSpPr>
      <p:grpSp>
        <p:nvGrpSpPr>
          <p:cNvPr id="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6" name="BodyText">
            <a:extLst>
              <a:ext uri="{FF2B5EF4-FFF2-40B4-BE49-F238E27FC236}">
                <a16:creationId xmlns:a16="http://schemas.microsoft.com/office/drawing/2014/main" id="{B88CFD7A-8D5C-E0B9-450D-EC6B1572C89C}"/>
              </a:ext>
            </a:extLst>
          </p:cNvPr>
          <p:cNvSpPr>
            <a:spLocks noGrp="1"/>
          </p:cNvSpPr>
          <p:nvPr>
            <p:ph sz="quarter" idx="12"/>
          </p:nvPr>
        </p:nvSpPr>
        <p:spPr>
          <a:xfrm>
            <a:off x="549275" y="2011363"/>
            <a:ext cx="110934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2_TITRE_DEMI_IMAGE_G">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548640"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6" name="Content">
            <a:extLst>
              <a:ext uri="{FF2B5EF4-FFF2-40B4-BE49-F238E27FC236}">
                <a16:creationId xmlns:a16="http://schemas.microsoft.com/office/drawing/2014/main" id="{E5991ACB-F6AC-A6C4-9E21-F75909868731}"/>
              </a:ext>
            </a:extLst>
          </p:cNvPr>
          <p:cNvSpPr>
            <a:spLocks noGrp="1"/>
          </p:cNvSpPr>
          <p:nvPr>
            <p:ph sz="quarter" idx="13"/>
          </p:nvPr>
        </p:nvSpPr>
        <p:spPr>
          <a:xfrm>
            <a:off x="5972175" y="2011363"/>
            <a:ext cx="56705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3_TITRE_DEMI_IMAGE_D">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6539789"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9" name="Content"/>
          <p:cNvSpPr>
            <a:spLocks noGrp="1"/>
          </p:cNvSpPr>
          <p:nvPr>
            <p:ph type="body" idx="12" hasCustomPrompt="1"/>
          </p:nvPr>
        </p:nvSpPr>
        <p:spPr>
          <a:xfrm>
            <a:off x="548640" y="2011680"/>
            <a:ext cx="5671109" cy="4297680"/>
          </a:xfrm>
          <a:prstGeom prst="rect">
            <a:avLst/>
          </a:prstGeom>
          <a:noFill/>
          <a:ln/>
        </p:spPr>
        <p:txBody>
          <a:bodyPr wrap="square" rtlCol="0" anchor="t">
            <a:normAutofit/>
          </a:bodyPr>
          <a:lstStyle>
            <a:lvl1pPr marL="0" indent="0" algn="l">
              <a:lnSpc>
                <a:spcPct val="140000"/>
              </a:lnSpc>
              <a:buNone/>
              <a:defRPr lang="fr-FR" sz="1700" spc="0" dirty="0">
                <a:solidFill>
                  <a:schemeClr val="accent1"/>
                </a:solidFill>
                <a:latin typeface="+mn-lt" pitchFamily="34" charset="0"/>
                <a:ea typeface="+mn-ea" pitchFamily="34" charset="-122"/>
                <a:cs typeface="+mn-cs" pitchFamily="34" charset="-120"/>
              </a:defRPr>
            </a:lvl1pPr>
          </a:lstStyle>
          <a:p>
            <a:pPr marL="0" indent="0" algn="l">
              <a:buNone/>
            </a:pPr>
            <a:r>
              <a:rPr lang="fr-FR" sz="1700" dirty="0">
                <a:solidFill>
                  <a:schemeClr val="accent1"/>
                </a:solidFill>
                <a:latin typeface="+mn-lt" pitchFamily="34" charset="0"/>
                <a:ea typeface="+mn-ea" pitchFamily="34" charset="-122"/>
                <a:cs typeface="+mn-cs" pitchFamily="34" charset="-120"/>
              </a:rPr>
              <a:t>Contenu à gauche de l’image.</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4_TITRE_BANDEAU_IMAGE">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BannerImage"/>
          <p:cNvSpPr>
            <a:spLocks noGrp="1"/>
          </p:cNvSpPr>
          <p:nvPr>
            <p:ph type="pic" idx="11" hasCustomPrompt="1"/>
          </p:nvPr>
        </p:nvSpPr>
        <p:spPr>
          <a:xfrm>
            <a:off x="548640" y="2011680"/>
            <a:ext cx="11094720" cy="210312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 (bandeau)</a:t>
            </a:r>
          </a:p>
        </p:txBody>
      </p:sp>
      <p:sp>
        <p:nvSpPr>
          <p:cNvPr id="9" name="Content"/>
          <p:cNvSpPr>
            <a:spLocks noGrp="1"/>
          </p:cNvSpPr>
          <p:nvPr>
            <p:ph type="body" idx="12" hasCustomPrompt="1"/>
          </p:nvPr>
        </p:nvSpPr>
        <p:spPr>
          <a:xfrm>
            <a:off x="548640" y="4297680"/>
            <a:ext cx="11094720" cy="2011680"/>
          </a:xfrm>
          <a:prstGeom prst="rect">
            <a:avLst/>
          </a:prstGeom>
          <a:noFill/>
          <a:ln/>
        </p:spPr>
        <p:txBody>
          <a:bodyPr wrap="square" rtlCol="0" anchor="t">
            <a:normAutofit/>
          </a:bodyPr>
          <a:lstStyle>
            <a:lvl1pPr marL="0" indent="0" algn="l">
              <a:lnSpc>
                <a:spcPct val="140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Contenu sous le bandeau.</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7_APPEL_A_ACTION">
    <p:bg>
      <p:bgPr>
        <a:solidFill>
          <a:schemeClr val="bg1"/>
        </a:solidFill>
        <a:effectLst/>
      </p:bgPr>
    </p:bg>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Prochaines étapes</a:t>
            </a:r>
          </a:p>
        </p:txBody>
      </p:sp>
      <p:sp>
        <p:nvSpPr>
          <p:cNvPr id="9" name="CtaBackground"/>
          <p:cNvSpPr/>
          <p:nvPr/>
        </p:nvSpPr>
        <p:spPr>
          <a:xfrm>
            <a:off x="7257897" y="2011680"/>
            <a:ext cx="4385463" cy="4297680"/>
          </a:xfrm>
          <a:prstGeom prst="rect">
            <a:avLst/>
          </a:prstGeom>
          <a:solidFill>
            <a:schemeClr val="accent1"/>
          </a:solidFill>
          <a:ln/>
        </p:spPr>
      </p:sp>
      <p:sp>
        <p:nvSpPr>
          <p:cNvPr id="10" name="CtaTitle"/>
          <p:cNvSpPr>
            <a:spLocks noGrp="1"/>
          </p:cNvSpPr>
          <p:nvPr>
            <p:ph type="body" idx="12" hasCustomPrompt="1"/>
          </p:nvPr>
        </p:nvSpPr>
        <p:spPr>
          <a:xfrm>
            <a:off x="7440777" y="2286000"/>
            <a:ext cx="4019703" cy="457200"/>
          </a:xfrm>
          <a:prstGeom prst="rect">
            <a:avLst/>
          </a:prstGeom>
          <a:noFill/>
          <a:ln/>
        </p:spPr>
        <p:txBody>
          <a:bodyPr wrap="square" rtlCol="0" anchor="t">
            <a:normAutofit/>
          </a:bodyPr>
          <a:lstStyle>
            <a:lvl1pPr marL="0" indent="0" algn="l">
              <a:lnSpc>
                <a:spcPct val="110000"/>
              </a:lnSpc>
              <a:buNone/>
              <a:defRPr lang="fr-FR" sz="1600" b="1" spc="0" dirty="0">
                <a:solidFill>
                  <a:schemeClr val="lt2"/>
                </a:solidFill>
                <a:latin typeface="+mn-lt" pitchFamily="34" charset="0"/>
                <a:ea typeface="+mn-ea" pitchFamily="34" charset="-122"/>
                <a:cs typeface="+mn-cs" pitchFamily="34" charset="-120"/>
              </a:defRPr>
            </a:lvl1pPr>
          </a:lstStyle>
          <a:p>
            <a:pPr marL="0" indent="0" algn="l">
              <a:buNone/>
            </a:pPr>
            <a:r>
              <a:rPr lang="fr-FR" sz="1600" b="1" dirty="0">
                <a:solidFill>
                  <a:schemeClr val="lt2"/>
                </a:solidFill>
                <a:latin typeface="+mn-lt" pitchFamily="34" charset="0"/>
                <a:ea typeface="+mn-ea" pitchFamily="34" charset="-122"/>
                <a:cs typeface="+mn-cs" pitchFamily="34" charset="-120"/>
              </a:rPr>
              <a:t>Passons à l’action</a:t>
            </a:r>
          </a:p>
        </p:txBody>
      </p:sp>
      <p:sp>
        <p:nvSpPr>
          <p:cNvPr id="11" name="CtaText"/>
          <p:cNvSpPr>
            <a:spLocks noGrp="1"/>
          </p:cNvSpPr>
          <p:nvPr>
            <p:ph type="body" idx="13" hasCustomPrompt="1"/>
          </p:nvPr>
        </p:nvSpPr>
        <p:spPr>
          <a:xfrm>
            <a:off x="7440777" y="2834640"/>
            <a:ext cx="4019703" cy="3200400"/>
          </a:xfrm>
          <a:prstGeom prst="rect">
            <a:avLst/>
          </a:prstGeom>
          <a:noFill/>
          <a:ln/>
        </p:spPr>
        <p:txBody>
          <a:bodyPr wrap="square" rtlCol="0" anchor="t">
            <a:normAutofit/>
          </a:bodyPr>
          <a:lstStyle>
            <a:lvl1pPr marL="0" indent="0" algn="l">
              <a:lnSpc>
                <a:spcPct val="140000"/>
              </a:lnSpc>
              <a:buNone/>
              <a:defRPr lang="fr-FR" sz="1400" spc="0" dirty="0">
                <a:solidFill>
                  <a:schemeClr val="lt2"/>
                </a:solidFill>
                <a:latin typeface="+mn-lt" pitchFamily="34" charset="0"/>
                <a:ea typeface="+mn-ea" pitchFamily="34" charset="-122"/>
                <a:cs typeface="+mn-cs" pitchFamily="34" charset="-120"/>
              </a:defRPr>
            </a:lvl1pPr>
          </a:lstStyle>
          <a:p>
            <a:pPr marL="0" indent="0" algn="l">
              <a:buNone/>
            </a:pPr>
            <a:r>
              <a:rPr lang="fr-FR" sz="1400" dirty="0">
                <a:solidFill>
                  <a:schemeClr val="lt2"/>
                </a:solidFill>
                <a:latin typeface="+mn-lt" pitchFamily="34" charset="0"/>
                <a:ea typeface="+mn-ea" pitchFamily="34" charset="-122"/>
                <a:cs typeface="+mn-cs" pitchFamily="34" charset="-120"/>
              </a:rPr>
              <a:t>Contactez-nous pour démarrer.</a:t>
            </a:r>
          </a:p>
        </p:txBody>
      </p:sp>
      <p:sp>
        <p:nvSpPr>
          <p:cNvPr id="6" name="Espace réservé du texte 5">
            <a:extLst>
              <a:ext uri="{FF2B5EF4-FFF2-40B4-BE49-F238E27FC236}">
                <a16:creationId xmlns:a16="http://schemas.microsoft.com/office/drawing/2014/main" id="{F2ED6600-9314-469E-06A7-D4E9274EBE33}"/>
              </a:ext>
            </a:extLst>
          </p:cNvPr>
          <p:cNvSpPr>
            <a:spLocks noGrp="1"/>
          </p:cNvSpPr>
          <p:nvPr>
            <p:ph type="body" sz="quarter" idx="14"/>
          </p:nvPr>
        </p:nvSpPr>
        <p:spPr>
          <a:xfrm>
            <a:off x="549275" y="2011363"/>
            <a:ext cx="6434138" cy="4297362"/>
          </a:xfrm>
          <a:prstGeom prst="rect">
            <a:avLst/>
          </a:prstGeo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theme" Target="../theme/theme1.xml"/><Relationship Id="rId37" Type="http://schemas.openxmlformats.org/officeDocument/2006/relationships/image" Target="../media/image1.png"/><Relationship Id="rId38"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67DD10B5-4186-2EAB-67B4-AD88512E24D5}"/>
              </a:ext>
            </a:extLst>
          </p:cNvPr>
          <p:cNvPicPr>
            <a:picLocks noChangeAspect="1"/>
          </p:cNvPicPr>
          <p:nvPr userDrawn="1"/>
        </p:nvPicPr>
        <p:blipFill>
          <a:blip r:embed="rId37">
            <a:alphaModFix amt="50000"/>
            <a:extLst>
              <a:ext uri="{BEBA8EAE-BF5A-486C-A8C5-ECC9F3942E4B}">
                <a14:imgProps xmlns:a14="http://schemas.microsoft.com/office/drawing/2010/main">
                  <a14:imgLayer r:embed="rId38">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7" name="Espace réservé du pied de page 6">
            <a:extLst>
              <a:ext uri="{FF2B5EF4-FFF2-40B4-BE49-F238E27FC236}">
                <a16:creationId xmlns:a16="http://schemas.microsoft.com/office/drawing/2014/main" id="{A8613DE9-B4CE-B274-8859-8AE4EA1061EB}"/>
              </a:ext>
            </a:extLst>
          </p:cNvPr>
          <p:cNvSpPr>
            <a:spLocks noGrp="1"/>
          </p:cNvSpPr>
          <p:nvPr>
            <p:ph type="ftr" sz="quarter" idx="3"/>
          </p:nvPr>
        </p:nvSpPr>
        <p:spPr>
          <a:xfrm>
            <a:off x="10607040" y="6356350"/>
            <a:ext cx="1371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 id="2147483652" r:id="rId5"/>
    <p:sldLayoutId id="2147483653" r:id="rId6"/>
    <p:sldLayoutId id="2147483654"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7" r:id="rId35"/>
  </p:sldLayoutIdLst>
  <p:hf sldNum="0" hdr="0" ftr="0" dt="0"/>
  <p:txStyles>
    <p:titleStyle>
      <a:lvl1pPr algn="ctr" defTabSz="914400" rtl="0" eaLnBrk="1" latinLnBrk="0" hangingPunct="1">
        <a:lnSpc>
          <a:spcPct val="100000"/>
        </a:lnSpc>
        <a:spcBef>
          <a:spcPct val="0"/>
        </a:spcBef>
        <a:buNone/>
        <a:defRPr sz="4400" kern="1200" spc="-264">
          <a:solidFill>
            <a:schemeClr val="tx1"/>
          </a:solidFill>
          <a:latin typeface="+mj-lt"/>
          <a:ea typeface="+mj-ea"/>
          <a:cs typeface="+mj-cs"/>
        </a:defRPr>
      </a:lvl1pPr>
    </p:titleStyle>
    <p:bodyStyle>
      <a:lvl1pPr marL="342900" indent="-342900" algn="l" defTabSz="914400" rtl="0" eaLnBrk="1" latinLnBrk="0" hangingPunct="1">
        <a:lnSpc>
          <a:spcPct val="105000"/>
        </a:lnSpc>
        <a:spcBef>
          <a:spcPct val="20000"/>
        </a:spcBef>
        <a:buFont typeface="+mn-lt" pitchFamily="34" charset="0"/>
        <a:buChar char="•"/>
        <a:defRPr sz="3200" kern="1200" spc="-128">
          <a:solidFill>
            <a:schemeClr val="tx1"/>
          </a:solidFill>
          <a:latin typeface="+mn-lt"/>
          <a:ea typeface="+mn-ea"/>
          <a:cs typeface="+mn-cs"/>
        </a:defRPr>
      </a:lvl1pPr>
      <a:lvl2pPr marL="742950" indent="-285750" algn="l" defTabSz="914400" rtl="0" eaLnBrk="1" latinLnBrk="0" hangingPunct="1">
        <a:lnSpc>
          <a:spcPct val="120000"/>
        </a:lnSpc>
        <a:spcBef>
          <a:spcPct val="20000"/>
        </a:spcBef>
        <a:buFont typeface="+mn-lt" pitchFamily="34" charset="0"/>
        <a:buChar char="–"/>
        <a:defRPr sz="2800" kern="1200" spc="-56">
          <a:solidFill>
            <a:schemeClr val="tx1"/>
          </a:solidFill>
          <a:latin typeface="+mn-lt"/>
          <a:ea typeface="+mn-ea"/>
          <a:cs typeface="+mn-cs"/>
        </a:defRPr>
      </a:lvl2pPr>
      <a:lvl3pPr marL="1143000" indent="-228600" algn="l" defTabSz="914400" rtl="0" eaLnBrk="1" latinLnBrk="0" hangingPunct="1">
        <a:lnSpc>
          <a:spcPct val="135000"/>
        </a:lnSpc>
        <a:spcBef>
          <a:spcPct val="20000"/>
        </a:spcBef>
        <a:buFont typeface="+mn-lt" pitchFamily="34" charset="0"/>
        <a:buChar char="•"/>
        <a:defRPr sz="2400" kern="1200" spc="-48">
          <a:solidFill>
            <a:schemeClr val="tx1"/>
          </a:solidFill>
          <a:latin typeface="+mn-lt"/>
          <a:ea typeface="+mn-ea"/>
          <a:cs typeface="+mn-cs"/>
        </a:defRPr>
      </a:lvl3pPr>
      <a:lvl4pPr marL="1600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4pPr>
      <a:lvl5pPr marL="20574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5pPr>
      <a:lvl6pPr marL="25146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6pPr>
      <a:lvl7pPr marL="29718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7pPr>
      <a:lvl8pPr marL="34290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8pPr>
      <a:lvl9pPr marL="3886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9pPr>
    </p:bodyStyle>
    <p:otherStyle>
      <a:defPPr>
        <a:defRPr lang="en-US">
          <a:latin typeface="+mn-lt"/>
        </a:defRPr>
      </a:defPPr>
      <a:lvl1pPr marL="0" algn="l" defTabSz="914400" rtl="0" eaLnBrk="1" latinLnBrk="0" hangingPunct="1">
        <a:lnSpc>
          <a:spcPct val="150000"/>
        </a:lnSpc>
        <a:defRPr sz="1800" kern="1200" spc="0">
          <a:solidFill>
            <a:schemeClr val="tx1"/>
          </a:solidFill>
          <a:latin typeface="+mn-lt"/>
          <a:ea typeface="+mn-ea"/>
          <a:cs typeface="+mn-cs"/>
        </a:defRPr>
      </a:lvl1pPr>
      <a:lvl2pPr marL="457200" algn="l" defTabSz="914400" rtl="0" eaLnBrk="1" latinLnBrk="0" hangingPunct="1">
        <a:lnSpc>
          <a:spcPct val="150000"/>
        </a:lnSpc>
        <a:defRPr sz="1800" kern="1200" spc="0">
          <a:solidFill>
            <a:schemeClr val="tx1"/>
          </a:solidFill>
          <a:latin typeface="+mn-lt"/>
          <a:ea typeface="+mn-ea"/>
          <a:cs typeface="+mn-cs"/>
        </a:defRPr>
      </a:lvl2pPr>
      <a:lvl3pPr marL="914400" algn="l" defTabSz="914400" rtl="0" eaLnBrk="1" latinLnBrk="0" hangingPunct="1">
        <a:lnSpc>
          <a:spcPct val="150000"/>
        </a:lnSpc>
        <a:defRPr sz="1800" kern="1200" spc="0">
          <a:solidFill>
            <a:schemeClr val="tx1"/>
          </a:solidFill>
          <a:latin typeface="+mn-lt"/>
          <a:ea typeface="+mn-ea"/>
          <a:cs typeface="+mn-cs"/>
        </a:defRPr>
      </a:lvl3pPr>
      <a:lvl4pPr marL="1371600" algn="l" defTabSz="914400" rtl="0" eaLnBrk="1" latinLnBrk="0" hangingPunct="1">
        <a:lnSpc>
          <a:spcPct val="150000"/>
        </a:lnSpc>
        <a:defRPr sz="1800" kern="1200" spc="0">
          <a:solidFill>
            <a:schemeClr val="tx1"/>
          </a:solidFill>
          <a:latin typeface="+mn-lt"/>
          <a:ea typeface="+mn-ea"/>
          <a:cs typeface="+mn-cs"/>
        </a:defRPr>
      </a:lvl4pPr>
      <a:lvl5pPr marL="1828800" algn="l" defTabSz="914400" rtl="0" eaLnBrk="1" latinLnBrk="0" hangingPunct="1">
        <a:lnSpc>
          <a:spcPct val="150000"/>
        </a:lnSpc>
        <a:defRPr sz="1800" kern="1200" spc="0">
          <a:solidFill>
            <a:schemeClr val="tx1"/>
          </a:solidFill>
          <a:latin typeface="+mn-lt"/>
          <a:ea typeface="+mn-ea"/>
          <a:cs typeface="+mn-cs"/>
        </a:defRPr>
      </a:lvl5pPr>
      <a:lvl6pPr marL="2286000" algn="l" defTabSz="914400" rtl="0" eaLnBrk="1" latinLnBrk="0" hangingPunct="1">
        <a:lnSpc>
          <a:spcPct val="150000"/>
        </a:lnSpc>
        <a:defRPr sz="1800" kern="1200" spc="0">
          <a:solidFill>
            <a:schemeClr val="tx1"/>
          </a:solidFill>
          <a:latin typeface="+mn-lt"/>
          <a:ea typeface="+mn-ea"/>
          <a:cs typeface="+mn-cs"/>
        </a:defRPr>
      </a:lvl6pPr>
      <a:lvl7pPr marL="2743200" algn="l" defTabSz="914400" rtl="0" eaLnBrk="1" latinLnBrk="0" hangingPunct="1">
        <a:lnSpc>
          <a:spcPct val="150000"/>
        </a:lnSpc>
        <a:defRPr sz="1800" kern="1200" spc="0">
          <a:solidFill>
            <a:schemeClr val="tx1"/>
          </a:solidFill>
          <a:latin typeface="+mn-lt"/>
          <a:ea typeface="+mn-ea"/>
          <a:cs typeface="+mn-cs"/>
        </a:defRPr>
      </a:lvl7pPr>
      <a:lvl8pPr marL="3200400" algn="l" defTabSz="914400" rtl="0" eaLnBrk="1" latinLnBrk="0" hangingPunct="1">
        <a:lnSpc>
          <a:spcPct val="150000"/>
        </a:lnSpc>
        <a:defRPr sz="1800" kern="1200" spc="0">
          <a:solidFill>
            <a:schemeClr val="tx1"/>
          </a:solidFill>
          <a:latin typeface="+mn-lt"/>
          <a:ea typeface="+mn-ea"/>
          <a:cs typeface="+mn-cs"/>
        </a:defRPr>
      </a:lvl8pPr>
      <a:lvl9pPr marL="3657600" algn="l" defTabSz="914400" rtl="0" eaLnBrk="1" latinLnBrk="0" hangingPunct="1">
        <a:lnSpc>
          <a:spcPct val="150000"/>
        </a:lnSpc>
        <a:defRPr sz="1800" kern="1200" spc="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7"/>
          </p:nvPr>
        </p:nvSpPr>
        <p:spPr/>
        <p:txBody>
          <a:bodyPr/>
          <a:lstStyle/>
          <a:p>
            <a:r>
              <a:t>SUPPORT DE FORMATION</a:t>
            </a:r>
          </a:p>
        </p:txBody>
      </p:sp>
      <p:sp>
        <p:nvSpPr>
          <p:cNvPr id="3" name="Text Placeholder 2"/>
          <p:cNvSpPr>
            <a:spLocks noGrp="1"/>
          </p:cNvSpPr>
          <p:nvPr>
            <p:ph type="body" idx="108"/>
          </p:nvPr>
        </p:nvSpPr>
        <p:spPr/>
        <p:txBody>
          <a:bodyPr/>
          <a:lstStyle/>
          <a:p>
            <a:r>
              <a:t>2 jours · 14 heures</a:t>
            </a:r>
          </a:p>
        </p:txBody>
      </p:sp>
      <p:sp>
        <p:nvSpPr>
          <p:cNvPr id="4" name="Title 3"/>
          <p:cNvSpPr>
            <a:spLocks noGrp="1"/>
          </p:cNvSpPr>
          <p:nvPr>
            <p:ph type="title" idx="109"/>
          </p:nvPr>
        </p:nvSpPr>
        <p:spPr/>
        <p:txBody>
          <a:bodyPr/>
          <a:lstStyle/>
          <a:p>
            <a:r>
              <a:t>Industrialiser et gouverner l’IA générative</a:t>
            </a:r>
          </a:p>
        </p:txBody>
      </p:sp>
      <p:sp>
        <p:nvSpPr>
          <p:cNvPr id="5" name="Text Placeholder 4"/>
          <p:cNvSpPr>
            <a:spLocks noGrp="1"/>
          </p:cNvSpPr>
          <p:nvPr>
            <p:ph type="body" idx="110"/>
          </p:nvPr>
        </p:nvSpPr>
        <p:spPr/>
        <p:txBody>
          <a:bodyPr/>
          <a:lstStyle/>
          <a:p>
            <a:r>
              <a:t>Du protocole MCP à l’usine logicielle IA</a:t>
            </a:r>
          </a:p>
        </p:txBody>
      </p:sp>
      <p:sp>
        <p:nvSpPr>
          <p:cNvPr id="6" name="Text Placeholder 5"/>
          <p:cNvSpPr>
            <a:spLocks noGrp="1"/>
          </p:cNvSpPr>
          <p:nvPr>
            <p:ph type="body" idx="111"/>
          </p:nvPr>
        </p:nvSpPr>
        <p:spPr/>
        <p:txBody>
          <a:bodyPr/>
          <a:lstStyle/>
          <a:p>
            <a:r>
              <a:t>Platform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Programme</a:t>
            </a:r>
          </a:p>
        </p:txBody>
      </p:sp>
      <p:sp>
        <p:nvSpPr>
          <p:cNvPr id="3" name="Text Placeholder 2"/>
          <p:cNvSpPr>
            <a:spLocks noGrp="1"/>
          </p:cNvSpPr>
          <p:nvPr>
            <p:ph type="body" idx="105"/>
          </p:nvPr>
        </p:nvSpPr>
        <p:spPr/>
        <p:txBody>
          <a:bodyPr/>
          <a:lstStyle/>
          <a:p>
            <a:r>
              <a:t>Deux jours, un produit fil rouge</a:t>
            </a:r>
          </a:p>
        </p:txBody>
      </p:sp>
      <p:sp>
        <p:nvSpPr>
          <p:cNvPr id="4" name="Text Placeholder 3"/>
          <p:cNvSpPr>
            <a:spLocks noGrp="1"/>
          </p:cNvSpPr>
          <p:nvPr>
            <p:ph type="body" idx="107"/>
          </p:nvPr>
        </p:nvSpPr>
        <p:spPr/>
        <p:txBody>
          <a:bodyPr/>
          <a:lstStyle/>
          <a:p>
            <a:r>
              <a:t>01</a:t>
            </a:r>
          </a:p>
        </p:txBody>
      </p:sp>
      <p:sp>
        <p:nvSpPr>
          <p:cNvPr id="5" name="Text Placeholder 4"/>
          <p:cNvSpPr>
            <a:spLocks noGrp="1"/>
          </p:cNvSpPr>
          <p:nvPr>
            <p:ph type="body" idx="108"/>
          </p:nvPr>
        </p:nvSpPr>
        <p:spPr/>
        <p:txBody>
          <a:bodyPr/>
          <a:lstStyle/>
          <a:p>
            <a:r>
              <a:t>La ligne de flottaison &amp; fondations</a:t>
            </a:r>
          </a:p>
        </p:txBody>
      </p:sp>
      <p:sp>
        <p:nvSpPr>
          <p:cNvPr id="6" name="Text Placeholder 5"/>
          <p:cNvSpPr>
            <a:spLocks noGrp="1"/>
          </p:cNvSpPr>
          <p:nvPr>
            <p:ph type="body" idx="109"/>
          </p:nvPr>
        </p:nvSpPr>
        <p:spPr/>
        <p:txBody>
          <a:bodyPr/>
          <a:lstStyle/>
          <a:p>
            <a:r>
              <a:t>Jour 1 · matin — M0–M1</a:t>
            </a:r>
          </a:p>
        </p:txBody>
      </p:sp>
      <p:sp>
        <p:nvSpPr>
          <p:cNvPr id="7" name="Text Placeholder 6"/>
          <p:cNvSpPr>
            <a:spLocks noGrp="1"/>
          </p:cNvSpPr>
          <p:nvPr>
            <p:ph type="body" idx="111"/>
          </p:nvPr>
        </p:nvSpPr>
        <p:spPr/>
        <p:txBody>
          <a:bodyPr/>
          <a:lstStyle/>
          <a:p>
            <a:r>
              <a:t>02</a:t>
            </a:r>
          </a:p>
        </p:txBody>
      </p:sp>
      <p:sp>
        <p:nvSpPr>
          <p:cNvPr id="8" name="Text Placeholder 7"/>
          <p:cNvSpPr>
            <a:spLocks noGrp="1"/>
          </p:cNvSpPr>
          <p:nvPr>
            <p:ph type="body" idx="112"/>
          </p:nvPr>
        </p:nvSpPr>
        <p:spPr/>
        <p:txBody>
          <a:bodyPr/>
          <a:lstStyle/>
          <a:p>
            <a:r>
              <a:t>MCP : de l’architecture à l’implémentation</a:t>
            </a:r>
          </a:p>
        </p:txBody>
      </p:sp>
      <p:sp>
        <p:nvSpPr>
          <p:cNvPr id="9" name="Text Placeholder 8"/>
          <p:cNvSpPr>
            <a:spLocks noGrp="1"/>
          </p:cNvSpPr>
          <p:nvPr>
            <p:ph type="body" idx="113"/>
          </p:nvPr>
        </p:nvSpPr>
        <p:spPr/>
        <p:txBody>
          <a:bodyPr/>
          <a:lstStyle/>
          <a:p>
            <a:r>
              <a:t>Jour 1 · matin/après-midi — M2, TP1</a:t>
            </a:r>
          </a:p>
        </p:txBody>
      </p:sp>
      <p:sp>
        <p:nvSpPr>
          <p:cNvPr id="10" name="Text Placeholder 9"/>
          <p:cNvSpPr>
            <a:spLocks noGrp="1"/>
          </p:cNvSpPr>
          <p:nvPr>
            <p:ph type="body" idx="115"/>
          </p:nvPr>
        </p:nvSpPr>
        <p:spPr/>
        <p:txBody>
          <a:bodyPr/>
          <a:lstStyle/>
          <a:p>
            <a:r>
              <a:t>03</a:t>
            </a:r>
          </a:p>
        </p:txBody>
      </p:sp>
      <p:sp>
        <p:nvSpPr>
          <p:cNvPr id="11" name="Text Placeholder 10"/>
          <p:cNvSpPr>
            <a:spLocks noGrp="1"/>
          </p:cNvSpPr>
          <p:nvPr>
            <p:ph type="body" idx="116"/>
          </p:nvPr>
        </p:nvSpPr>
        <p:spPr/>
        <p:txBody>
          <a:bodyPr/>
          <a:lstStyle/>
          <a:p>
            <a:r>
              <a:t>Le contexte partagé &amp; les Skills</a:t>
            </a:r>
          </a:p>
        </p:txBody>
      </p:sp>
      <p:sp>
        <p:nvSpPr>
          <p:cNvPr id="12" name="Text Placeholder 11"/>
          <p:cNvSpPr>
            <a:spLocks noGrp="1"/>
          </p:cNvSpPr>
          <p:nvPr>
            <p:ph type="body" idx="117"/>
          </p:nvPr>
        </p:nvSpPr>
        <p:spPr/>
        <p:txBody>
          <a:bodyPr/>
          <a:lstStyle/>
          <a:p>
            <a:r>
              <a:t>Jour 1 · après-midi — M3, TP2</a:t>
            </a:r>
          </a:p>
        </p:txBody>
      </p:sp>
      <p:sp>
        <p:nvSpPr>
          <p:cNvPr id="13" name="Text Placeholder 12"/>
          <p:cNvSpPr>
            <a:spLocks noGrp="1"/>
          </p:cNvSpPr>
          <p:nvPr>
            <p:ph type="body" idx="119"/>
          </p:nvPr>
        </p:nvSpPr>
        <p:spPr/>
        <p:txBody>
          <a:bodyPr/>
          <a:lstStyle/>
          <a:p>
            <a:r>
              <a:t>04</a:t>
            </a:r>
          </a:p>
        </p:txBody>
      </p:sp>
      <p:sp>
        <p:nvSpPr>
          <p:cNvPr id="14" name="Text Placeholder 13"/>
          <p:cNvSpPr>
            <a:spLocks noGrp="1"/>
          </p:cNvSpPr>
          <p:nvPr>
            <p:ph type="body" idx="120"/>
          </p:nvPr>
        </p:nvSpPr>
        <p:spPr/>
        <p:txBody>
          <a:bodyPr/>
          <a:lstStyle/>
          <a:p>
            <a:r>
              <a:t>Évaluer &amp; sécuriser les produits IA</a:t>
            </a:r>
          </a:p>
        </p:txBody>
      </p:sp>
      <p:sp>
        <p:nvSpPr>
          <p:cNvPr id="15" name="Text Placeholder 14"/>
          <p:cNvSpPr>
            <a:spLocks noGrp="1"/>
          </p:cNvSpPr>
          <p:nvPr>
            <p:ph type="body" idx="121"/>
          </p:nvPr>
        </p:nvSpPr>
        <p:spPr/>
        <p:txBody>
          <a:bodyPr/>
          <a:lstStyle/>
          <a:p>
            <a:r>
              <a:t>Jour 2 · matin — M4, TP3, M5</a:t>
            </a:r>
          </a:p>
        </p:txBody>
      </p:sp>
      <p:sp>
        <p:nvSpPr>
          <p:cNvPr id="16" name="Text Placeholder 15"/>
          <p:cNvSpPr>
            <a:spLocks noGrp="1"/>
          </p:cNvSpPr>
          <p:nvPr>
            <p:ph type="body" idx="123"/>
          </p:nvPr>
        </p:nvSpPr>
        <p:spPr/>
        <p:txBody>
          <a:bodyPr/>
          <a:lstStyle/>
          <a:p>
            <a:r>
              <a:t>05</a:t>
            </a:r>
          </a:p>
        </p:txBody>
      </p:sp>
      <p:sp>
        <p:nvSpPr>
          <p:cNvPr id="17" name="Text Placeholder 16"/>
          <p:cNvSpPr>
            <a:spLocks noGrp="1"/>
          </p:cNvSpPr>
          <p:nvPr>
            <p:ph type="body" idx="124"/>
          </p:nvPr>
        </p:nvSpPr>
        <p:spPr/>
        <p:txBody>
          <a:bodyPr/>
          <a:lstStyle/>
          <a:p>
            <a:r>
              <a:t>Gouverner &amp; industrialiser l’usine IA</a:t>
            </a:r>
          </a:p>
        </p:txBody>
      </p:sp>
      <p:sp>
        <p:nvSpPr>
          <p:cNvPr id="18" name="Text Placeholder 17"/>
          <p:cNvSpPr>
            <a:spLocks noGrp="1"/>
          </p:cNvSpPr>
          <p:nvPr>
            <p:ph type="body" idx="125"/>
          </p:nvPr>
        </p:nvSpPr>
        <p:spPr/>
        <p:txBody>
          <a:bodyPr/>
          <a:lstStyle/>
          <a:p>
            <a:r>
              <a:t>Jour 2 · après-midi — M6, TP4, M7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1 — Construire et partager</a:t>
            </a:r>
          </a:p>
        </p:txBody>
      </p:sp>
      <p:sp>
        <p:nvSpPr>
          <p:cNvPr id="3" name="Content Placeholder 2"/>
          <p:cNvSpPr>
            <a:spLocks noGrp="1"/>
          </p:cNvSpPr>
          <p:nvPr>
            <p:ph idx="12" sz="quarter"/>
          </p:nvPr>
        </p:nvSpPr>
        <p:spPr/>
        <p:txBody>
          <a:bodyPr/>
          <a:lstStyle/>
          <a:p>
            <a:r>
              <a:t>Construire un serveur MCP, puis partager son contexte.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M0 — La ligne de flottaison</a:t>
            </a:r>
          </a:p>
        </p:txBody>
      </p:sp>
      <p:sp>
        <p:nvSpPr>
          <p:cNvPr id="3" name="Content Placeholder 2"/>
          <p:cNvSpPr>
            <a:spLocks noGrp="1"/>
          </p:cNvSpPr>
          <p:nvPr>
            <p:ph idx="12" sz="quarter"/>
          </p:nvPr>
        </p:nvSpPr>
        <p:spPr/>
        <p:txBody>
          <a:bodyPr/>
          <a:lstStyle/>
          <a:p/>
        </p:txBody>
      </p:sp>
      <p:pic>
        <p:nvPicPr>
          <p:cNvPr id="4" name="Picture 3" descr="hohpe_sinkfloat.png"/>
          <p:cNvPicPr>
            <a:picLocks noChangeAspect="1"/>
          </p:cNvPicPr>
          <p:nvPr/>
        </p:nvPicPr>
        <p:blipFill>
          <a:blip r:embed="rId2"/>
          <a:stretch>
            <a:fillRect/>
          </a:stretch>
        </p:blipFill>
        <p:spPr>
          <a:xfrm>
            <a:off x="2489200" y="2184400"/>
            <a:ext cx="7200900" cy="4191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L’histoire de ValidatingAdmissionPolicy</a:t>
            </a:r>
          </a:p>
        </p:txBody>
      </p:sp>
      <p:sp>
        <p:nvSpPr>
          <p:cNvPr id="3" name="Text Placeholder 2"/>
          <p:cNvSpPr>
            <a:spLocks noGrp="1"/>
          </p:cNvSpPr>
          <p:nvPr>
            <p:ph type="body" idx="11"/>
          </p:nvPr>
        </p:nvSpPr>
        <p:spPr/>
        <p:txBody>
          <a:bodyPr/>
          <a:lstStyle/>
          <a:p>
            <a:r>
              <a:t>Hier — un opérateur maison (Gatekeeper, Kyverno), ses CRDs et un webhook dans le chemin critique.</a:t>
            </a:r>
          </a:p>
          <a:p>
            <a:r>
              <a:t>Aujourd’hui — depuis Kubernetes 1.30, CEL évalue les politiques nativement.</a:t>
            </a:r>
          </a:p>
          <a:p>
            <a:r>
              <a:t>La leçon — le socle a rattrapé un outillage qu’on maintenait à la main. À nous de suivre la montée des eaux et de retirer ce qui est désormais fourni.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modèle mental : couler ou flotter</a:t>
            </a:r>
          </a:p>
        </p:txBody>
      </p:sp>
      <p:sp>
        <p:nvSpPr>
          <p:cNvPr id="3" name="Text Placeholder 2"/>
          <p:cNvSpPr>
            <a:spLocks noGrp="1"/>
          </p:cNvSpPr>
          <p:nvPr>
            <p:ph type="body" idx="109"/>
          </p:nvPr>
        </p:nvSpPr>
        <p:spPr/>
        <p:txBody>
          <a:bodyPr/>
          <a:lstStyle/>
          <a:p>
            <a:r>
              <a:t>Gregor Hohpe — « is your platform sinking or floating? »</a:t>
            </a:r>
          </a:p>
        </p:txBody>
      </p:sp>
      <p:sp>
        <p:nvSpPr>
          <p:cNvPr id="4" name="Text Placeholder 3"/>
          <p:cNvSpPr>
            <a:spLocks noGrp="1"/>
          </p:cNvSpPr>
          <p:nvPr>
            <p:ph type="body" idx="111"/>
          </p:nvPr>
        </p:nvSpPr>
        <p:spPr/>
        <p:txBody>
          <a:bodyPr/>
          <a:lstStyle/>
          <a:p>
            <a:r>
              <a:t>LA PLATEFORME QUI COULE</a:t>
            </a:r>
          </a:p>
        </p:txBody>
      </p:sp>
      <p:sp>
        <p:nvSpPr>
          <p:cNvPr id="5" name="Text Placeholder 4"/>
          <p:cNvSpPr>
            <a:spLocks noGrp="1"/>
          </p:cNvSpPr>
          <p:nvPr>
            <p:ph type="body" idx="112"/>
          </p:nvPr>
        </p:nvSpPr>
        <p:spPr/>
        <p:txBody>
          <a:bodyPr/>
          <a:lstStyle/>
          <a:p>
            <a:r>
              <a:t>Dupliquer le socle</a:t>
            </a:r>
          </a:p>
        </p:txBody>
      </p:sp>
      <p:sp>
        <p:nvSpPr>
          <p:cNvPr id="6" name="Text Placeholder 5"/>
          <p:cNvSpPr>
            <a:spLocks noGrp="1"/>
          </p:cNvSpPr>
          <p:nvPr>
            <p:ph type="body" idx="113"/>
          </p:nvPr>
        </p:nvSpPr>
        <p:spPr/>
        <p:txBody>
          <a:bodyPr/>
          <a:lstStyle/>
          <a:p>
            <a:r>
              <a:t>On maintient des capacités maison que le socle fournit désormais. Le code se duplique, la dette s’accumule, l’effort part dans l’entretien.</a:t>
            </a:r>
          </a:p>
        </p:txBody>
      </p:sp>
      <p:sp>
        <p:nvSpPr>
          <p:cNvPr id="7" name="Text Placeholder 6"/>
          <p:cNvSpPr>
            <a:spLocks noGrp="1"/>
          </p:cNvSpPr>
          <p:nvPr>
            <p:ph type="body" idx="114"/>
          </p:nvPr>
        </p:nvSpPr>
        <p:spPr/>
        <p:txBody>
          <a:bodyPr/>
          <a:lstStyle/>
          <a:p>
            <a:r>
              <a:t>LA PLATEFORME QUI FLOTTE</a:t>
            </a:r>
          </a:p>
        </p:txBody>
      </p:sp>
      <p:sp>
        <p:nvSpPr>
          <p:cNvPr id="8" name="Text Placeholder 7"/>
          <p:cNvSpPr>
            <a:spLocks noGrp="1"/>
          </p:cNvSpPr>
          <p:nvPr>
            <p:ph type="body" idx="115"/>
          </p:nvPr>
        </p:nvSpPr>
        <p:spPr/>
        <p:txBody>
          <a:bodyPr/>
          <a:lstStyle/>
          <a:p>
            <a:r>
              <a:t>Réinvestir plus haut</a:t>
            </a:r>
          </a:p>
        </p:txBody>
      </p:sp>
      <p:sp>
        <p:nvSpPr>
          <p:cNvPr id="9" name="Text Placeholder 8"/>
          <p:cNvSpPr>
            <a:spLocks noGrp="1"/>
          </p:cNvSpPr>
          <p:nvPr>
            <p:ph type="body" idx="116"/>
          </p:nvPr>
        </p:nvSpPr>
        <p:spPr/>
        <p:txBody>
          <a:bodyPr/>
          <a:lstStyle/>
          <a:p>
            <a:r>
              <a:t>On retire les capacités absorbées au fil de l’eau et on réinvestit l’effort là où on crée de la valeur. Contrat social : les équipes savent d’avance ce qui sera retiré.</a:t>
            </a:r>
          </a:p>
        </p:txBody>
      </p:sp>
      <p:sp>
        <p:nvSpPr>
          <p:cNvPr id="10" name="Picture Placeholder 9"/>
          <p:cNvSpPr>
            <a:spLocks noGrp="1"/>
          </p:cNvSpPr>
          <p:nvPr>
            <p:ph type="pic" idx="117" sz="quarter"/>
          </p:nvPr>
        </p:nvSpPr>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Kubernetes</a:t>
            </a:r>
          </a:p>
        </p:txBody>
      </p:sp>
      <p:sp>
        <p:nvSpPr>
          <p:cNvPr id="3" name="Text Placeholder 2"/>
          <p:cNvSpPr>
            <a:spLocks noGrp="1"/>
          </p:cNvSpPr>
          <p:nvPr>
            <p:ph type="body" idx="105"/>
          </p:nvPr>
        </p:nvSpPr>
        <p:spPr/>
        <p:txBody>
          <a:bodyPr/>
          <a:lstStyle/>
          <a:p>
            <a:r>
              <a:t>Ce qu’on écrivait, ce que le socle a absorbé</a:t>
            </a:r>
          </a:p>
        </p:txBody>
      </p:sp>
      <p:sp>
        <p:nvSpPr>
          <p:cNvPr id="4" name="Text Placeholder 3"/>
          <p:cNvSpPr>
            <a:spLocks noGrp="1"/>
          </p:cNvSpPr>
          <p:nvPr>
            <p:ph type="body" idx="110"/>
          </p:nvPr>
        </p:nvSpPr>
        <p:spPr/>
        <p:txBody>
          <a:bodyPr/>
          <a:lstStyle/>
          <a:p>
            <a:r>
              <a:t>Admission policy</a:t>
            </a:r>
          </a:p>
        </p:txBody>
      </p:sp>
      <p:sp>
        <p:nvSpPr>
          <p:cNvPr id="5" name="Text Placeholder 4"/>
          <p:cNvSpPr>
            <a:spLocks noGrp="1"/>
          </p:cNvSpPr>
          <p:nvPr>
            <p:ph type="body" idx="111"/>
          </p:nvPr>
        </p:nvSpPr>
        <p:spPr/>
        <p:txBody>
          <a:bodyPr/>
          <a:lstStyle/>
          <a:p>
            <a:r>
              <a:t>Opérateur + webhook → CEL natif dans l’API server (VAP, 1.30).</a:t>
            </a:r>
          </a:p>
        </p:txBody>
      </p:sp>
      <p:sp>
        <p:nvSpPr>
          <p:cNvPr id="6" name="Text Placeholder 5"/>
          <p:cNvSpPr>
            <a:spLocks noGrp="1"/>
          </p:cNvSpPr>
          <p:nvPr>
            <p:ph type="body" idx="115"/>
          </p:nvPr>
        </p:nvSpPr>
        <p:spPr/>
        <p:txBody>
          <a:bodyPr/>
          <a:lstStyle/>
          <a:p>
            <a:r>
              <a:t>Sidecars</a:t>
            </a:r>
          </a:p>
        </p:txBody>
      </p:sp>
      <p:sp>
        <p:nvSpPr>
          <p:cNvPr id="7" name="Text Placeholder 6"/>
          <p:cNvSpPr>
            <a:spLocks noGrp="1"/>
          </p:cNvSpPr>
          <p:nvPr>
            <p:ph type="body" idx="116"/>
          </p:nvPr>
        </p:nvSpPr>
        <p:spPr/>
        <p:txBody>
          <a:bodyPr/>
          <a:lstStyle/>
          <a:p>
            <a:r>
              <a:t>Injection maison → sidecars natifs gérés par le kubelet.</a:t>
            </a:r>
          </a:p>
        </p:txBody>
      </p:sp>
      <p:sp>
        <p:nvSpPr>
          <p:cNvPr id="8" name="Text Placeholder 7"/>
          <p:cNvSpPr>
            <a:spLocks noGrp="1"/>
          </p:cNvSpPr>
          <p:nvPr>
            <p:ph type="body" idx="120"/>
          </p:nvPr>
        </p:nvSpPr>
        <p:spPr/>
        <p:txBody>
          <a:bodyPr/>
          <a:lstStyle/>
          <a:p>
            <a:r>
              <a:t>Ordonnancement</a:t>
            </a:r>
          </a:p>
        </p:txBody>
      </p:sp>
      <p:sp>
        <p:nvSpPr>
          <p:cNvPr id="9" name="Text Placeholder 8"/>
          <p:cNvSpPr>
            <a:spLocks noGrp="1"/>
          </p:cNvSpPr>
          <p:nvPr>
            <p:ph type="body" idx="121"/>
          </p:nvPr>
        </p:nvSpPr>
        <p:spPr/>
        <p:txBody>
          <a:bodyPr/>
          <a:lstStyle/>
          <a:p>
            <a:r>
              <a:t>Hacks d’ordonnancement → scheduling gates natifs.</a:t>
            </a:r>
          </a:p>
        </p:txBody>
      </p:sp>
      <p:sp>
        <p:nvSpPr>
          <p:cNvPr id="10" name="Text Placeholder 9"/>
          <p:cNvSpPr>
            <a:spLocks noGrp="1"/>
          </p:cNvSpPr>
          <p:nvPr>
            <p:ph type="body" idx="125"/>
          </p:nvPr>
        </p:nvSpPr>
        <p:spPr/>
        <p:txBody>
          <a:bodyPr/>
          <a:lstStyle/>
          <a:p>
            <a:r>
              <a:t>Ressources</a:t>
            </a:r>
          </a:p>
        </p:txBody>
      </p:sp>
      <p:sp>
        <p:nvSpPr>
          <p:cNvPr id="11" name="Text Placeholder 10"/>
          <p:cNvSpPr>
            <a:spLocks noGrp="1"/>
          </p:cNvSpPr>
          <p:nvPr>
            <p:ph type="body" idx="126"/>
          </p:nvPr>
        </p:nvSpPr>
        <p:spPr/>
        <p:txBody>
          <a:bodyPr/>
          <a:lstStyle/>
          <a:p>
            <a:r>
              <a:t>Redémarrage pour redimensionner → in-place resize.</a:t>
            </a:r>
          </a:p>
        </p:txBody>
      </p:sp>
      <p:sp>
        <p:nvSpPr>
          <p:cNvPr id="12" name="Picture Placeholder 11"/>
          <p:cNvSpPr>
            <a:spLocks noGrp="1"/>
          </p:cNvSpPr>
          <p:nvPr>
            <p:ph type="pic" idx="127" sz="quarter"/>
          </p:nvPr>
        </p:nvSpPr>
        <p:spPr/>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pivot : changer de socle, garder le modèle</a:t>
            </a:r>
          </a:p>
        </p:txBody>
      </p:sp>
      <p:sp>
        <p:nvSpPr>
          <p:cNvPr id="3" name="Text Placeholder 2"/>
          <p:cNvSpPr>
            <a:spLocks noGrp="1"/>
          </p:cNvSpPr>
          <p:nvPr>
            <p:ph type="body" idx="109"/>
          </p:nvPr>
        </p:nvSpPr>
        <p:spPr/>
        <p:txBody>
          <a:bodyPr/>
          <a:lstStyle/>
          <a:p>
            <a:r>
              <a:t>Les mêmes rôles, transposés — et la montée des eaux va plus vite : 18 mois, pas 5 ans</a:t>
            </a:r>
          </a:p>
        </p:txBody>
      </p:sp>
      <p:sp>
        <p:nvSpPr>
          <p:cNvPr id="4" name="Text Placeholder 3"/>
          <p:cNvSpPr>
            <a:spLocks noGrp="1"/>
          </p:cNvSpPr>
          <p:nvPr>
            <p:ph type="body" idx="111"/>
          </p:nvPr>
        </p:nvSpPr>
        <p:spPr/>
        <p:txBody>
          <a:bodyPr/>
          <a:lstStyle/>
          <a:p>
            <a:r>
              <a:t>KUBERNETES (HIER)</a:t>
            </a:r>
          </a:p>
        </p:txBody>
      </p:sp>
      <p:sp>
        <p:nvSpPr>
          <p:cNvPr id="5" name="Text Placeholder 4"/>
          <p:cNvSpPr>
            <a:spLocks noGrp="1"/>
          </p:cNvSpPr>
          <p:nvPr>
            <p:ph type="body" idx="112"/>
          </p:nvPr>
        </p:nvSpPr>
        <p:spPr/>
        <p:txBody>
          <a:bodyPr/>
          <a:lstStyle/>
          <a:p>
            <a:r>
              <a:t>Quatre rôles</a:t>
            </a:r>
          </a:p>
        </p:txBody>
      </p:sp>
      <p:sp>
        <p:nvSpPr>
          <p:cNvPr id="6" name="Text Placeholder 5"/>
          <p:cNvSpPr>
            <a:spLocks noGrp="1"/>
          </p:cNvSpPr>
          <p:nvPr>
            <p:ph type="body" idx="113"/>
          </p:nvPr>
        </p:nvSpPr>
        <p:spPr/>
        <p:txBody>
          <a:bodyPr/>
          <a:lstStyle/>
          <a:p>
            <a:r>
              <a:t>Socle : l’API server</a:t>
            </a:r>
          </a:p>
          <a:p>
            <a:r>
              <a:t>Plateforme maison : l’opérateur / webhook</a:t>
            </a:r>
          </a:p>
          <a:p>
            <a:r>
              <a:t>Format maison : le CRD</a:t>
            </a:r>
          </a:p>
          <a:p>
            <a:r>
              <a:t>Capacité absorbée : la feature native (VAP)</a:t>
            </a:r>
          </a:p>
        </p:txBody>
      </p:sp>
      <p:sp>
        <p:nvSpPr>
          <p:cNvPr id="7" name="Text Placeholder 6"/>
          <p:cNvSpPr>
            <a:spLocks noGrp="1"/>
          </p:cNvSpPr>
          <p:nvPr>
            <p:ph type="body" idx="114"/>
          </p:nvPr>
        </p:nvSpPr>
        <p:spPr/>
        <p:txBody>
          <a:bodyPr/>
          <a:lstStyle/>
          <a:p>
            <a:r>
              <a:t>IA (AUJOURD’HUI)</a:t>
            </a:r>
          </a:p>
        </p:txBody>
      </p:sp>
      <p:sp>
        <p:nvSpPr>
          <p:cNvPr id="8" name="Text Placeholder 7"/>
          <p:cNvSpPr>
            <a:spLocks noGrp="1"/>
          </p:cNvSpPr>
          <p:nvPr>
            <p:ph type="body" idx="115"/>
          </p:nvPr>
        </p:nvSpPr>
        <p:spPr/>
        <p:txBody>
          <a:bodyPr/>
          <a:lstStyle/>
          <a:p>
            <a:r>
              <a:t>Les mêmes rôles</a:t>
            </a:r>
          </a:p>
        </p:txBody>
      </p:sp>
      <p:sp>
        <p:nvSpPr>
          <p:cNvPr id="9" name="Text Placeholder 8"/>
          <p:cNvSpPr>
            <a:spLocks noGrp="1"/>
          </p:cNvSpPr>
          <p:nvPr>
            <p:ph type="body" idx="116"/>
          </p:nvPr>
        </p:nvSpPr>
        <p:spPr/>
        <p:txBody>
          <a:bodyPr/>
          <a:lstStyle/>
          <a:p>
            <a:r>
              <a:t>Socle : le modèle</a:t>
            </a:r>
          </a:p>
          <a:p>
            <a:r>
              <a:t>Plateforme maison : le harnais</a:t>
            </a:r>
          </a:p>
          <a:p>
            <a:r>
              <a:t>Format maison : le schéma d’outil propriétaire</a:t>
            </a:r>
          </a:p>
          <a:p>
            <a:r>
              <a:t>Capacité absorbée : le function calling natif</a:t>
            </a:r>
          </a:p>
        </p:txBody>
      </p:sp>
      <p:sp>
        <p:nvSpPr>
          <p:cNvPr id="10" name="Picture Placeholder 9"/>
          <p:cNvSpPr>
            <a:spLocks noGrp="1"/>
          </p:cNvSpPr>
          <p:nvPr>
            <p:ph type="pic" idx="117" sz="quarter"/>
          </p:nvPr>
        </p:nvSpPr>
        <p:spPr/>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IA</a:t>
            </a:r>
          </a:p>
        </p:txBody>
      </p:sp>
      <p:sp>
        <p:nvSpPr>
          <p:cNvPr id="3" name="Text Placeholder 2"/>
          <p:cNvSpPr>
            <a:spLocks noGrp="1"/>
          </p:cNvSpPr>
          <p:nvPr>
            <p:ph type="body" idx="105"/>
          </p:nvPr>
        </p:nvSpPr>
        <p:spPr/>
        <p:txBody>
          <a:bodyPr/>
          <a:lstStyle/>
          <a:p>
            <a:r>
              <a:t>Des harnais d’hier, déjà absorbés par les modèles</a:t>
            </a:r>
          </a:p>
        </p:txBody>
      </p:sp>
      <p:sp>
        <p:nvSpPr>
          <p:cNvPr id="4" name="Text Placeholder 3"/>
          <p:cNvSpPr>
            <a:spLocks noGrp="1"/>
          </p:cNvSpPr>
          <p:nvPr>
            <p:ph type="body" idx="110"/>
          </p:nvPr>
        </p:nvSpPr>
        <p:spPr/>
        <p:txBody>
          <a:bodyPr/>
          <a:lstStyle/>
          <a:p>
            <a:r>
              <a:t>Appel d’outils</a:t>
            </a:r>
          </a:p>
        </p:txBody>
      </p:sp>
      <p:sp>
        <p:nvSpPr>
          <p:cNvPr id="5" name="Text Placeholder 4"/>
          <p:cNvSpPr>
            <a:spLocks noGrp="1"/>
          </p:cNvSpPr>
          <p:nvPr>
            <p:ph type="body" idx="111"/>
          </p:nvPr>
        </p:nvSpPr>
        <p:spPr/>
        <p:txBody>
          <a:bodyPr/>
          <a:lstStyle/>
          <a:p>
            <a:r>
              <a:t>Parsing maison (ReAct, regex) → function calling natif.</a:t>
            </a:r>
          </a:p>
        </p:txBody>
      </p:sp>
      <p:sp>
        <p:nvSpPr>
          <p:cNvPr id="6" name="Text Placeholder 5"/>
          <p:cNvSpPr>
            <a:spLocks noGrp="1"/>
          </p:cNvSpPr>
          <p:nvPr>
            <p:ph type="body" idx="115"/>
          </p:nvPr>
        </p:nvSpPr>
        <p:spPr/>
        <p:txBody>
          <a:bodyPr/>
          <a:lstStyle/>
          <a:p>
            <a:r>
              <a:t>Raisonnement</a:t>
            </a:r>
          </a:p>
        </p:txBody>
      </p:sp>
      <p:sp>
        <p:nvSpPr>
          <p:cNvPr id="7" name="Text Placeholder 6"/>
          <p:cNvSpPr>
            <a:spLocks noGrp="1"/>
          </p:cNvSpPr>
          <p:nvPr>
            <p:ph type="body" idx="116"/>
          </p:nvPr>
        </p:nvSpPr>
        <p:spPr/>
        <p:txBody>
          <a:bodyPr/>
          <a:lstStyle/>
          <a:p>
            <a:r>
              <a:t>CoT forcé par prompt → modèles de raisonnement natifs.</a:t>
            </a:r>
          </a:p>
        </p:txBody>
      </p:sp>
      <p:sp>
        <p:nvSpPr>
          <p:cNvPr id="8" name="Text Placeholder 7"/>
          <p:cNvSpPr>
            <a:spLocks noGrp="1"/>
          </p:cNvSpPr>
          <p:nvPr>
            <p:ph type="body" idx="120"/>
          </p:nvPr>
        </p:nvSpPr>
        <p:spPr/>
        <p:txBody>
          <a:bodyPr/>
          <a:lstStyle/>
          <a:p>
            <a:r>
              <a:t>Sorties</a:t>
            </a:r>
          </a:p>
        </p:txBody>
      </p:sp>
      <p:sp>
        <p:nvSpPr>
          <p:cNvPr id="9" name="Text Placeholder 8"/>
          <p:cNvSpPr>
            <a:spLocks noGrp="1"/>
          </p:cNvSpPr>
          <p:nvPr>
            <p:ph type="body" idx="121"/>
          </p:nvPr>
        </p:nvSpPr>
        <p:spPr/>
        <p:txBody>
          <a:bodyPr/>
          <a:lstStyle/>
          <a:p>
            <a:r>
              <a:t>Validation JSON par retry → sorties structurées garanties.</a:t>
            </a:r>
          </a:p>
        </p:txBody>
      </p:sp>
      <p:sp>
        <p:nvSpPr>
          <p:cNvPr id="10" name="Text Placeholder 9"/>
          <p:cNvSpPr>
            <a:spLocks noGrp="1"/>
          </p:cNvSpPr>
          <p:nvPr>
            <p:ph type="body" idx="125"/>
          </p:nvPr>
        </p:nvSpPr>
        <p:spPr/>
        <p:txBody>
          <a:bodyPr/>
          <a:lstStyle/>
          <a:p>
            <a:r>
              <a:t>Contexte</a:t>
            </a:r>
          </a:p>
        </p:txBody>
      </p:sp>
      <p:sp>
        <p:nvSpPr>
          <p:cNvPr id="11" name="Text Placeholder 10"/>
          <p:cNvSpPr>
            <a:spLocks noGrp="1"/>
          </p:cNvSpPr>
          <p:nvPr>
            <p:ph type="body" idx="126"/>
          </p:nvPr>
        </p:nvSpPr>
        <p:spPr/>
        <p:txBody>
          <a:bodyPr/>
          <a:lstStyle/>
          <a:p>
            <a:r>
              <a:t>Chunking pour tenir en 4k → contexte long + cache.</a:t>
            </a:r>
          </a:p>
        </p:txBody>
      </p:sp>
      <p:sp>
        <p:nvSpPr>
          <p:cNvPr id="12" name="Picture Placeholder 11"/>
          <p:cNvSpPr>
            <a:spLocks noGrp="1"/>
          </p:cNvSpPr>
          <p:nvPr>
            <p:ph type="pic" idx="127" sz="quarter"/>
          </p:nvPr>
        </p:nvSpPr>
        <p:spPr/>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Un socle, ou plusieurs ?</a:t>
            </a:r>
          </a:p>
        </p:txBody>
      </p:sp>
      <p:sp>
        <p:nvSpPr>
          <p:cNvPr id="3" name="Text Placeholder 2"/>
          <p:cNvSpPr>
            <a:spLocks noGrp="1"/>
          </p:cNvSpPr>
          <p:nvPr>
            <p:ph type="body" idx="105"/>
          </p:nvPr>
        </p:nvSpPr>
        <p:spPr/>
        <p:txBody>
          <a:bodyPr/>
          <a:lstStyle/>
          <a:p>
            <a:r>
              <a:t>Les LLM sont pluriels et concurrents — trois issues possibles, pas deux</a:t>
            </a:r>
          </a:p>
        </p:txBody>
      </p:sp>
      <p:sp>
        <p:nvSpPr>
          <p:cNvPr id="4" name="Text Placeholder 3"/>
          <p:cNvSpPr>
            <a:spLocks noGrp="1"/>
          </p:cNvSpPr>
          <p:nvPr>
            <p:ph type="body" idx="109"/>
          </p:nvPr>
        </p:nvSpPr>
        <p:spPr/>
        <p:txBody>
          <a:bodyPr/>
          <a:lstStyle/>
          <a:p>
            <a:r>
              <a:t>Absorption</a:t>
            </a:r>
          </a:p>
        </p:txBody>
      </p:sp>
      <p:sp>
        <p:nvSpPr>
          <p:cNvPr id="5" name="Text Placeholder 4"/>
          <p:cNvSpPr>
            <a:spLocks noGrp="1"/>
          </p:cNvSpPr>
          <p:nvPr>
            <p:ph type="body" idx="110"/>
          </p:nvPr>
        </p:nvSpPr>
        <p:spPr/>
        <p:txBody>
          <a:bodyPr/>
          <a:lstStyle/>
          <a:p>
            <a:r>
              <a:t>Le socle avale la capacité ; le code maison est supprimé. Ex. VAP, function calling.</a:t>
            </a:r>
          </a:p>
        </p:txBody>
      </p:sp>
      <p:sp>
        <p:nvSpPr>
          <p:cNvPr id="6" name="Text Placeholder 5"/>
          <p:cNvSpPr>
            <a:spLocks noGrp="1"/>
          </p:cNvSpPr>
          <p:nvPr>
            <p:ph type="body" idx="112"/>
          </p:nvPr>
        </p:nvSpPr>
        <p:spPr/>
        <p:txBody>
          <a:bodyPr/>
          <a:lstStyle/>
          <a:p>
            <a:r>
              <a:t>Normalisation</a:t>
            </a:r>
          </a:p>
        </p:txBody>
      </p:sp>
      <p:sp>
        <p:nvSpPr>
          <p:cNvPr id="7" name="Text Placeholder 6"/>
          <p:cNvSpPr>
            <a:spLocks noGrp="1"/>
          </p:cNvSpPr>
          <p:nvPr>
            <p:ph type="body" idx="113"/>
          </p:nvPr>
        </p:nvSpPr>
        <p:spPr/>
        <p:txBody>
          <a:bodyPr/>
          <a:lstStyle/>
          <a:p>
            <a:r>
              <a:t>L’interface se fige ; le code maison est réduit à un adaptateur. Ex. CRI/CNI/CSI, OpenAI-compat.</a:t>
            </a:r>
          </a:p>
        </p:txBody>
      </p:sp>
      <p:sp>
        <p:nvSpPr>
          <p:cNvPr id="8" name="Text Placeholder 7"/>
          <p:cNvSpPr>
            <a:spLocks noGrp="1"/>
          </p:cNvSpPr>
          <p:nvPr>
            <p:ph type="body" idx="115"/>
          </p:nvPr>
        </p:nvSpPr>
        <p:spPr/>
        <p:txBody>
          <a:bodyPr/>
          <a:lstStyle/>
          <a:p>
            <a:r>
              <a:t>Divergence durable</a:t>
            </a:r>
          </a:p>
        </p:txBody>
      </p:sp>
      <p:sp>
        <p:nvSpPr>
          <p:cNvPr id="9" name="Text Placeholder 8"/>
          <p:cNvSpPr>
            <a:spLocks noGrp="1"/>
          </p:cNvSpPr>
          <p:nvPr>
            <p:ph type="body" idx="116"/>
          </p:nvPr>
        </p:nvSpPr>
        <p:spPr/>
        <p:txBody>
          <a:bodyPr/>
          <a:lstStyle/>
          <a:p>
            <a:r>
              <a:t>Rien ne converge ; la capacité maison est maintenue — un coût assumé.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 la normalisation par le haut</a:t>
            </a:r>
          </a:p>
        </p:txBody>
      </p:sp>
      <p:sp>
        <p:nvSpPr>
          <p:cNvPr id="3" name="Text Placeholder 2"/>
          <p:cNvSpPr>
            <a:spLocks noGrp="1"/>
          </p:cNvSpPr>
          <p:nvPr>
            <p:ph type="body" idx="109"/>
          </p:nvPr>
        </p:nvSpPr>
        <p:spPr/>
        <p:txBody>
          <a:bodyPr/>
          <a:lstStyle/>
          <a:p>
            <a:r>
              <a:t>Quand la convergence vient d’en haut plutôt que d’en bas</a:t>
            </a:r>
          </a:p>
        </p:txBody>
      </p:sp>
      <p:sp>
        <p:nvSpPr>
          <p:cNvPr id="4" name="Text Placeholder 3"/>
          <p:cNvSpPr>
            <a:spLocks noGrp="1"/>
          </p:cNvSpPr>
          <p:nvPr>
            <p:ph type="body" idx="111"/>
          </p:nvPr>
        </p:nvSpPr>
        <p:spPr/>
        <p:txBody>
          <a:bodyPr/>
          <a:lstStyle/>
          <a:p>
            <a:r>
              <a:t>LE MÉCANISME</a:t>
            </a:r>
          </a:p>
        </p:txBody>
      </p:sp>
      <p:sp>
        <p:nvSpPr>
          <p:cNvPr id="5" name="Text Placeholder 4"/>
          <p:cNvSpPr>
            <a:spLocks noGrp="1"/>
          </p:cNvSpPr>
          <p:nvPr>
            <p:ph type="body" idx="112"/>
          </p:nvPr>
        </p:nvSpPr>
        <p:spPr/>
        <p:txBody>
          <a:bodyPr/>
          <a:lstStyle/>
          <a:p>
            <a:r>
              <a:t>Un protocole ouvert</a:t>
            </a:r>
          </a:p>
        </p:txBody>
      </p:sp>
      <p:sp>
        <p:nvSpPr>
          <p:cNvPr id="6" name="Text Placeholder 5"/>
          <p:cNvSpPr>
            <a:spLocks noGrp="1"/>
          </p:cNvSpPr>
          <p:nvPr>
            <p:ph type="body" idx="113"/>
          </p:nvPr>
        </p:nvSpPr>
        <p:spPr/>
        <p:txBody>
          <a:bodyPr/>
          <a:lstStyle/>
          <a:p>
            <a:r>
              <a:t>Un lab frontière publie un protocole ouvert ; les concurrents l’adoptent, parce que faire grossir l’écosystème vaut mieux que le verrouiller. MCP en est l’exemple.</a:t>
            </a:r>
          </a:p>
        </p:txBody>
      </p:sp>
      <p:sp>
        <p:nvSpPr>
          <p:cNvPr id="7" name="Text Placeholder 6"/>
          <p:cNvSpPr>
            <a:spLocks noGrp="1"/>
          </p:cNvSpPr>
          <p:nvPr>
            <p:ph type="body" idx="114"/>
          </p:nvPr>
        </p:nvSpPr>
        <p:spPr/>
        <p:txBody>
          <a:bodyPr/>
          <a:lstStyle/>
          <a:p>
            <a:r>
              <a:t>LE RÉSULTAT</a:t>
            </a:r>
          </a:p>
        </p:txBody>
      </p:sp>
      <p:sp>
        <p:nvSpPr>
          <p:cNvPr id="8" name="Text Placeholder 7"/>
          <p:cNvSpPr>
            <a:spLocks noGrp="1"/>
          </p:cNvSpPr>
          <p:nvPr>
            <p:ph type="body" idx="115"/>
          </p:nvPr>
        </p:nvSpPr>
        <p:spPr/>
        <p:txBody>
          <a:bodyPr/>
          <a:lstStyle/>
          <a:p>
            <a:r>
              <a:t>Le col du sablier</a:t>
            </a:r>
          </a:p>
        </p:txBody>
      </p:sp>
      <p:sp>
        <p:nvSpPr>
          <p:cNvPr id="9" name="Text Placeholder 8"/>
          <p:cNvSpPr>
            <a:spLocks noGrp="1"/>
          </p:cNvSpPr>
          <p:nvPr>
            <p:ph type="body" idx="116"/>
          </p:nvPr>
        </p:nvSpPr>
        <p:spPr/>
        <p:txBody>
          <a:bodyPr/>
          <a:lstStyle/>
          <a:p>
            <a:r>
              <a:t>Le point d’intégration devient une interface fine et stable, sur laquelle tout le monde s’aligne — comme CRI, CNI et CSI côté Kubernetes. C’est là qu’on va construire.</a:t>
            </a:r>
          </a:p>
        </p:txBody>
      </p:sp>
      <p:sp>
        <p:nvSpPr>
          <p:cNvPr id="10" name="Picture Placeholder 9"/>
          <p:cNvSpPr>
            <a:spLocks noGrp="1"/>
          </p:cNvSpPr>
          <p:nvPr>
            <p:ph type="pic" idx="117" sz="quarter"/>
          </p:nvPr>
        </p:nvSpPr>
        <p:spPr/>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Ce qui ne sera jamais absorbé</a:t>
            </a:r>
          </a:p>
        </p:txBody>
      </p:sp>
      <p:sp>
        <p:nvSpPr>
          <p:cNvPr id="3" name="Text Placeholder 2"/>
          <p:cNvSpPr>
            <a:spLocks noGrp="1"/>
          </p:cNvSpPr>
          <p:nvPr>
            <p:ph type="body" idx="105"/>
          </p:nvPr>
        </p:nvSpPr>
        <p:spPr/>
        <p:txBody>
          <a:bodyPr/>
          <a:lstStyle/>
          <a:p>
            <a:r>
              <a:t>Le périmètre durable de gouvernance — la vraie ligne de flottaison</a:t>
            </a:r>
          </a:p>
        </p:txBody>
      </p:sp>
      <p:sp>
        <p:nvSpPr>
          <p:cNvPr id="4" name="Text Placeholder 3"/>
          <p:cNvSpPr>
            <a:spLocks noGrp="1"/>
          </p:cNvSpPr>
          <p:nvPr>
            <p:ph type="body" idx="111"/>
          </p:nvPr>
        </p:nvSpPr>
        <p:spPr/>
        <p:txBody>
          <a:bodyPr/>
          <a:lstStyle/>
          <a:p>
            <a:r>
              <a:t>Identité &amp; accès</a:t>
            </a:r>
          </a:p>
        </p:txBody>
      </p:sp>
      <p:sp>
        <p:nvSpPr>
          <p:cNvPr id="5" name="Text Placeholder 4"/>
          <p:cNvSpPr>
            <a:spLocks noGrp="1"/>
          </p:cNvSpPr>
          <p:nvPr>
            <p:ph type="body" idx="112"/>
          </p:nvPr>
        </p:nvSpPr>
        <p:spPr/>
        <p:txBody>
          <a:bodyPr/>
          <a:lstStyle/>
          <a:p>
            <a:r>
              <a:t>Qui a le droit de faire quoi. Secrets. Le modèle ne le saura jamais.</a:t>
            </a:r>
          </a:p>
        </p:txBody>
      </p:sp>
      <p:sp>
        <p:nvSpPr>
          <p:cNvPr id="6" name="Text Placeholder 5"/>
          <p:cNvSpPr>
            <a:spLocks noGrp="1"/>
          </p:cNvSpPr>
          <p:nvPr>
            <p:ph type="body" idx="115"/>
          </p:nvPr>
        </p:nvSpPr>
        <p:spPr/>
        <p:txBody>
          <a:bodyPr/>
          <a:lstStyle/>
          <a:p>
            <a:r>
              <a:t>Audit &amp; traçabilité</a:t>
            </a:r>
          </a:p>
        </p:txBody>
      </p:sp>
      <p:sp>
        <p:nvSpPr>
          <p:cNvPr id="7" name="Text Placeholder 6"/>
          <p:cNvSpPr>
            <a:spLocks noGrp="1"/>
          </p:cNvSpPr>
          <p:nvPr>
            <p:ph type="body" idx="116"/>
          </p:nvPr>
        </p:nvSpPr>
        <p:spPr/>
        <p:txBody>
          <a:bodyPr/>
          <a:lstStyle/>
          <a:p>
            <a:r>
              <a:t>Journalisation, rétention, conformité.</a:t>
            </a:r>
          </a:p>
        </p:txBody>
      </p:sp>
      <p:sp>
        <p:nvSpPr>
          <p:cNvPr id="8" name="Text Placeholder 7"/>
          <p:cNvSpPr>
            <a:spLocks noGrp="1"/>
          </p:cNvSpPr>
          <p:nvPr>
            <p:ph type="body" idx="119"/>
          </p:nvPr>
        </p:nvSpPr>
        <p:spPr/>
        <p:txBody>
          <a:bodyPr/>
          <a:lstStyle/>
          <a:p>
            <a:r>
              <a:t>Coût &amp; routing</a:t>
            </a:r>
          </a:p>
        </p:txBody>
      </p:sp>
      <p:sp>
        <p:nvSpPr>
          <p:cNvPr id="9" name="Text Placeholder 8"/>
          <p:cNvSpPr>
            <a:spLocks noGrp="1"/>
          </p:cNvSpPr>
          <p:nvPr>
            <p:ph type="body" idx="120"/>
          </p:nvPr>
        </p:nvSpPr>
        <p:spPr/>
        <p:txBody>
          <a:bodyPr/>
          <a:lstStyle/>
          <a:p>
            <a:r>
              <a:t>Quotas, budgets, routage multi-modèle.</a:t>
            </a:r>
          </a:p>
        </p:txBody>
      </p:sp>
      <p:sp>
        <p:nvSpPr>
          <p:cNvPr id="10" name="Text Placeholder 9"/>
          <p:cNvSpPr>
            <a:spLocks noGrp="1"/>
          </p:cNvSpPr>
          <p:nvPr>
            <p:ph type="body" idx="123"/>
          </p:nvPr>
        </p:nvSpPr>
        <p:spPr/>
        <p:txBody>
          <a:bodyPr/>
          <a:lstStyle/>
          <a:p>
            <a:r>
              <a:t>Règles métier</a:t>
            </a:r>
          </a:p>
        </p:txBody>
      </p:sp>
      <p:sp>
        <p:nvSpPr>
          <p:cNvPr id="11" name="Text Placeholder 10"/>
          <p:cNvSpPr>
            <a:spLocks noGrp="1"/>
          </p:cNvSpPr>
          <p:nvPr>
            <p:ph type="body" idx="124"/>
          </p:nvPr>
        </p:nvSpPr>
        <p:spPr/>
        <p:txBody>
          <a:bodyPr/>
          <a:lstStyle/>
          <a:p>
            <a:r>
              <a:t>Contraintes propres à l’organisation et au réglementaire.</a:t>
            </a:r>
          </a:p>
        </p:txBody>
      </p:sp>
      <p:sp>
        <p:nvSpPr>
          <p:cNvPr id="12" name="Text Placeholder 11"/>
          <p:cNvSpPr>
            <a:spLocks noGrp="1"/>
          </p:cNvSpPr>
          <p:nvPr>
            <p:ph type="body" idx="127"/>
          </p:nvPr>
        </p:nvSpPr>
        <p:spPr/>
        <p:txBody>
          <a:bodyPr/>
          <a:lstStyle/>
          <a:p>
            <a:r>
              <a:t>Évaluation</a:t>
            </a:r>
          </a:p>
        </p:txBody>
      </p:sp>
      <p:sp>
        <p:nvSpPr>
          <p:cNvPr id="13" name="Text Placeholder 12"/>
          <p:cNvSpPr>
            <a:spLocks noGrp="1"/>
          </p:cNvSpPr>
          <p:nvPr>
            <p:ph type="body" idx="128"/>
          </p:nvPr>
        </p:nvSpPr>
        <p:spPr/>
        <p:txBody>
          <a:bodyPr/>
          <a:lstStyle/>
          <a:p>
            <a:r>
              <a:t>Qualité et non-régression dans le temps.</a:t>
            </a:r>
          </a:p>
        </p:txBody>
      </p:sp>
      <p:sp>
        <p:nvSpPr>
          <p:cNvPr id="14" name="Text Placeholder 13"/>
          <p:cNvSpPr>
            <a:spLocks noGrp="1"/>
          </p:cNvSpPr>
          <p:nvPr>
            <p:ph type="body" idx="131"/>
          </p:nvPr>
        </p:nvSpPr>
        <p:spPr/>
        <p:txBody>
          <a:bodyPr/>
          <a:lstStyle/>
          <a:p>
            <a:r>
              <a:t>→ Le programme</a:t>
            </a:r>
          </a:p>
        </p:txBody>
      </p:sp>
      <p:sp>
        <p:nvSpPr>
          <p:cNvPr id="15" name="Text Placeholder 14"/>
          <p:cNvSpPr>
            <a:spLocks noGrp="1"/>
          </p:cNvSpPr>
          <p:nvPr>
            <p:ph type="body" idx="132"/>
          </p:nvPr>
        </p:nvSpPr>
        <p:spPr/>
        <p:txBody>
          <a:bodyPr/>
          <a:lstStyle/>
          <a:p>
            <a:r>
              <a:t>Ces cinq zones structurent les deux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M1 — Fondations agentiques &amp; panorama des protocoles</a:t>
            </a:r>
          </a:p>
        </p:txBody>
      </p:sp>
      <p:sp>
        <p:nvSpPr>
          <p:cNvPr id="3" name="Content Placeholder 2"/>
          <p:cNvSpPr>
            <a:spLocks noGrp="1"/>
          </p:cNvSpPr>
          <p:nvPr>
            <p:ph idx="12" sz="quarter"/>
          </p:nvPr>
        </p:nvSpPr>
        <p:spPr/>
        <p:txBody>
          <a:bodyPr/>
          <a:lstStyle/>
          <a:p>
            <a:r>
              <a:t>1h15 · rappel express du paysage LLM, anatomie d’un agent, les briques (tools, skills, mémoire), multi-agents et supervision, puis le panorama des protocoles agentiques.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familles &amp; taille</a:t>
            </a:r>
          </a:p>
        </p:txBody>
      </p:sp>
      <p:sp>
        <p:nvSpPr>
          <p:cNvPr id="3" name="Text Placeholder 2"/>
          <p:cNvSpPr>
            <a:spLocks noGrp="1"/>
          </p:cNvSpPr>
          <p:nvPr>
            <p:ph type="body" idx="109"/>
          </p:nvPr>
        </p:nvSpPr>
        <p:spPr/>
        <p:txBody>
          <a:bodyPr/>
          <a:lstStyle/>
          <a:p>
            <a:r>
              <a:t>Rappel express (1/3) — le vocabulaire commun, en surface</a:t>
            </a:r>
          </a:p>
        </p:txBody>
      </p:sp>
      <p:sp>
        <p:nvSpPr>
          <p:cNvPr id="4" name="Text Placeholder 3"/>
          <p:cNvSpPr>
            <a:spLocks noGrp="1"/>
          </p:cNvSpPr>
          <p:nvPr>
            <p:ph type="body" idx="111"/>
          </p:nvPr>
        </p:nvSpPr>
        <p:spPr/>
        <p:txBody>
          <a:bodyPr/>
          <a:lstStyle/>
          <a:p>
            <a:r>
              <a:t>FAMILLES</a:t>
            </a:r>
          </a:p>
        </p:txBody>
      </p:sp>
      <p:sp>
        <p:nvSpPr>
          <p:cNvPr id="5" name="Text Placeholder 4"/>
          <p:cNvSpPr>
            <a:spLocks noGrp="1"/>
          </p:cNvSpPr>
          <p:nvPr>
            <p:ph type="body" idx="112"/>
          </p:nvPr>
        </p:nvSpPr>
        <p:spPr/>
        <p:txBody>
          <a:bodyPr/>
          <a:lstStyle/>
          <a:p>
            <a:r>
              <a:t>Frontier vs open-weight</a:t>
            </a:r>
          </a:p>
        </p:txBody>
      </p:sp>
      <p:sp>
        <p:nvSpPr>
          <p:cNvPr id="6" name="Text Placeholder 5"/>
          <p:cNvSpPr>
            <a:spLocks noGrp="1"/>
          </p:cNvSpPr>
          <p:nvPr>
            <p:ph type="body" idx="113"/>
          </p:nvPr>
        </p:nvSpPr>
        <p:spPr/>
        <p:txBody>
          <a:bodyPr/>
          <a:lstStyle/>
          <a:p>
            <a:r>
              <a:t>Frontier : propriétaires, accessibles par API, poids non publiés. Open-weight : poids téléchargeables et auto-hébergeables. Nuance clé — open weights ≠ open source : données et code d’entraînement restent souvent fermés.</a:t>
            </a:r>
          </a:p>
        </p:txBody>
      </p:sp>
      <p:sp>
        <p:nvSpPr>
          <p:cNvPr id="7" name="Text Placeholder 6"/>
          <p:cNvSpPr>
            <a:spLocks noGrp="1"/>
          </p:cNvSpPr>
          <p:nvPr>
            <p:ph type="body" idx="114"/>
          </p:nvPr>
        </p:nvSpPr>
        <p:spPr/>
        <p:txBody>
          <a:bodyPr/>
          <a:lstStyle/>
          <a:p>
            <a:r>
              <a:t>TAILLE</a:t>
            </a:r>
          </a:p>
        </p:txBody>
      </p:sp>
      <p:sp>
        <p:nvSpPr>
          <p:cNvPr id="8" name="Text Placeholder 7"/>
          <p:cNvSpPr>
            <a:spLocks noGrp="1"/>
          </p:cNvSpPr>
          <p:nvPr>
            <p:ph type="body" idx="115"/>
          </p:nvPr>
        </p:nvSpPr>
        <p:spPr/>
        <p:txBody>
          <a:bodyPr/>
          <a:lstStyle/>
          <a:p>
            <a:r>
              <a:t>Nombre de paramètres</a:t>
            </a:r>
          </a:p>
        </p:txBody>
      </p:sp>
      <p:sp>
        <p:nvSpPr>
          <p:cNvPr id="9" name="Text Placeholder 8"/>
          <p:cNvSpPr>
            <a:spLocks noGrp="1"/>
          </p:cNvSpPr>
          <p:nvPr>
            <p:ph type="body" idx="116"/>
          </p:nvPr>
        </p:nvSpPr>
        <p:spPr/>
        <p:txBody>
          <a:bodyPr/>
          <a:lstStyle/>
          <a:p>
            <a:r>
              <a:t>Ordres de grandeur : petits ~1–8B, moyens ~8–70B, grands 100B+. C’est un proxy de capacité, pas une garantie : données, post-training et architecture pèsent autant.</a:t>
            </a:r>
          </a:p>
        </p:txBody>
      </p:sp>
      <p:sp>
        <p:nvSpPr>
          <p:cNvPr id="10" name="Picture Placeholder 9"/>
          <p:cNvSpPr>
            <a:spLocks noGrp="1"/>
          </p:cNvSpPr>
          <p:nvPr>
            <p:ph type="pic" idx="117" sz="quarter"/>
          </p:nvPr>
        </p:nvSpPr>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architecture &amp; variantes</a:t>
            </a:r>
          </a:p>
        </p:txBody>
      </p:sp>
      <p:sp>
        <p:nvSpPr>
          <p:cNvPr id="3" name="Text Placeholder 2"/>
          <p:cNvSpPr>
            <a:spLocks noGrp="1"/>
          </p:cNvSpPr>
          <p:nvPr>
            <p:ph type="body" idx="109"/>
          </p:nvPr>
        </p:nvSpPr>
        <p:spPr/>
        <p:txBody>
          <a:bodyPr/>
          <a:lstStyle/>
          <a:p>
            <a:r>
              <a:t>Rappel express (2/3)</a:t>
            </a:r>
          </a:p>
        </p:txBody>
      </p:sp>
      <p:sp>
        <p:nvSpPr>
          <p:cNvPr id="4" name="Text Placeholder 3"/>
          <p:cNvSpPr>
            <a:spLocks noGrp="1"/>
          </p:cNvSpPr>
          <p:nvPr>
            <p:ph type="body" idx="111"/>
          </p:nvPr>
        </p:nvSpPr>
        <p:spPr/>
        <p:txBody>
          <a:bodyPr/>
          <a:lstStyle/>
          <a:p>
            <a:r>
              <a:t>ARCHITECTURE</a:t>
            </a:r>
          </a:p>
        </p:txBody>
      </p:sp>
      <p:sp>
        <p:nvSpPr>
          <p:cNvPr id="5" name="Text Placeholder 4"/>
          <p:cNvSpPr>
            <a:spLocks noGrp="1"/>
          </p:cNvSpPr>
          <p:nvPr>
            <p:ph type="body" idx="112"/>
          </p:nvPr>
        </p:nvSpPr>
        <p:spPr/>
        <p:txBody>
          <a:bodyPr/>
          <a:lstStyle/>
          <a:p>
            <a:r>
              <a:t>Dense vs MoE</a:t>
            </a:r>
          </a:p>
        </p:txBody>
      </p:sp>
      <p:sp>
        <p:nvSpPr>
          <p:cNvPr id="6" name="Text Placeholder 5"/>
          <p:cNvSpPr>
            <a:spLocks noGrp="1"/>
          </p:cNvSpPr>
          <p:nvPr>
            <p:ph type="body" idx="113"/>
          </p:nvPr>
        </p:nvSpPr>
        <p:spPr/>
        <p:txBody>
          <a:bodyPr/>
          <a:lstStyle/>
          <a:p>
            <a:r>
              <a:t>Dense : tous les paramètres actifs à chaque token. MoE (Mixture of Experts) : seuls quelques experts s’activent. D’où la distinction paramètres totaux vs actifs — un gros MoE coûte, à l’inférence, le prix de sa fraction active.</a:t>
            </a:r>
          </a:p>
        </p:txBody>
      </p:sp>
      <p:sp>
        <p:nvSpPr>
          <p:cNvPr id="7" name="Text Placeholder 6"/>
          <p:cNvSpPr>
            <a:spLocks noGrp="1"/>
          </p:cNvSpPr>
          <p:nvPr>
            <p:ph type="body" idx="114"/>
          </p:nvPr>
        </p:nvSpPr>
        <p:spPr/>
        <p:txBody>
          <a:bodyPr/>
          <a:lstStyle/>
          <a:p>
            <a:r>
              <a:t>VARIANTES</a:t>
            </a:r>
          </a:p>
        </p:txBody>
      </p:sp>
      <p:sp>
        <p:nvSpPr>
          <p:cNvPr id="8" name="Text Placeholder 7"/>
          <p:cNvSpPr>
            <a:spLocks noGrp="1"/>
          </p:cNvSpPr>
          <p:nvPr>
            <p:ph type="body" idx="115"/>
          </p:nvPr>
        </p:nvSpPr>
        <p:spPr/>
        <p:txBody>
          <a:bodyPr/>
          <a:lstStyle/>
          <a:p>
            <a:r>
              <a:t>Base, instruct, reasoning…</a:t>
            </a:r>
          </a:p>
        </p:txBody>
      </p:sp>
      <p:sp>
        <p:nvSpPr>
          <p:cNvPr id="9" name="Text Placeholder 8"/>
          <p:cNvSpPr>
            <a:spLocks noGrp="1"/>
          </p:cNvSpPr>
          <p:nvPr>
            <p:ph type="body" idx="116"/>
          </p:nvPr>
        </p:nvSpPr>
        <p:spPr/>
        <p:txBody>
          <a:bodyPr/>
          <a:lstStyle/>
          <a:p>
            <a:r>
              <a:t>Base (pré-entraîné brut), instruct/chat (conversationnel), reasoning (entraîné à raisonner par étapes avant de répondre), distilled (petit modèle entraîné sur les sorties d’un gros).</a:t>
            </a:r>
          </a:p>
        </p:txBody>
      </p:sp>
      <p:sp>
        <p:nvSpPr>
          <p:cNvPr id="10" name="Picture Placeholder 9"/>
          <p:cNvSpPr>
            <a:spLocks noGrp="1"/>
          </p:cNvSpPr>
          <p:nvPr>
            <p:ph type="pic" idx="117" sz="quarter"/>
          </p:nvPr>
        </p:nvSpPr>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formats &amp; quantization</a:t>
            </a:r>
          </a:p>
        </p:txBody>
      </p:sp>
      <p:sp>
        <p:nvSpPr>
          <p:cNvPr id="3" name="Text Placeholder 2"/>
          <p:cNvSpPr>
            <a:spLocks noGrp="1"/>
          </p:cNvSpPr>
          <p:nvPr>
            <p:ph type="body" idx="109"/>
          </p:nvPr>
        </p:nvSpPr>
        <p:spPr/>
        <p:txBody>
          <a:bodyPr/>
          <a:lstStyle/>
          <a:p>
            <a:r>
              <a:t>Rappel express (3/3)</a:t>
            </a:r>
          </a:p>
        </p:txBody>
      </p:sp>
      <p:sp>
        <p:nvSpPr>
          <p:cNvPr id="4" name="Text Placeholder 3"/>
          <p:cNvSpPr>
            <a:spLocks noGrp="1"/>
          </p:cNvSpPr>
          <p:nvPr>
            <p:ph type="body" idx="111"/>
          </p:nvPr>
        </p:nvSpPr>
        <p:spPr/>
        <p:txBody>
          <a:bodyPr/>
          <a:lstStyle/>
          <a:p>
            <a:r>
              <a:t>FORMATS</a:t>
            </a:r>
          </a:p>
        </p:txBody>
      </p:sp>
      <p:sp>
        <p:nvSpPr>
          <p:cNvPr id="5" name="Text Placeholder 4"/>
          <p:cNvSpPr>
            <a:spLocks noGrp="1"/>
          </p:cNvSpPr>
          <p:nvPr>
            <p:ph type="body" idx="112"/>
          </p:nvPr>
        </p:nvSpPr>
        <p:spPr/>
        <p:txBody>
          <a:bodyPr/>
          <a:lstStyle/>
          <a:p>
            <a:r>
              <a:t>safetensors &amp; GGUF</a:t>
            </a:r>
          </a:p>
        </p:txBody>
      </p:sp>
      <p:sp>
        <p:nvSpPr>
          <p:cNvPr id="6" name="Text Placeholder 5"/>
          <p:cNvSpPr>
            <a:spLocks noGrp="1"/>
          </p:cNvSpPr>
          <p:nvPr>
            <p:ph type="body" idx="113"/>
          </p:nvPr>
        </p:nvSpPr>
        <p:spPr/>
        <p:txBody>
          <a:bodyPr/>
          <a:lstStyle/>
          <a:p>
            <a:r>
              <a:t>safetensors : le format standard de stockage des poids (côté Hugging Face). GGUF : le format des runtimes locaux (llama.cpp), qui embarque poids + métadonnées et porte la quantization.</a:t>
            </a:r>
          </a:p>
        </p:txBody>
      </p:sp>
      <p:sp>
        <p:nvSpPr>
          <p:cNvPr id="7" name="Text Placeholder 6"/>
          <p:cNvSpPr>
            <a:spLocks noGrp="1"/>
          </p:cNvSpPr>
          <p:nvPr>
            <p:ph type="body" idx="114"/>
          </p:nvPr>
        </p:nvSpPr>
        <p:spPr/>
        <p:txBody>
          <a:bodyPr/>
          <a:lstStyle/>
          <a:p>
            <a:r>
              <a:t>QUANTIZATION</a:t>
            </a:r>
          </a:p>
        </p:txBody>
      </p:sp>
      <p:sp>
        <p:nvSpPr>
          <p:cNvPr id="8" name="Text Placeholder 7"/>
          <p:cNvSpPr>
            <a:spLocks noGrp="1"/>
          </p:cNvSpPr>
          <p:nvPr>
            <p:ph type="body" idx="115"/>
          </p:nvPr>
        </p:nvSpPr>
        <p:spPr/>
        <p:txBody>
          <a:bodyPr/>
          <a:lstStyle/>
          <a:p>
            <a:r>
              <a:t>Réduire la précision</a:t>
            </a:r>
          </a:p>
        </p:txBody>
      </p:sp>
      <p:sp>
        <p:nvSpPr>
          <p:cNvPr id="9" name="Text Placeholder 8"/>
          <p:cNvSpPr>
            <a:spLocks noGrp="1"/>
          </p:cNvSpPr>
          <p:nvPr>
            <p:ph type="body" idx="116"/>
          </p:nvPr>
        </p:nvSpPr>
        <p:spPr/>
        <p:txBody>
          <a:bodyPr/>
          <a:lstStyle/>
          <a:p>
            <a:r>
              <a:t>FP16 → int8 → int4… : réduire la précision des poids pour tenir en mémoire et accélérer, au prix d’un peu de qualité. C’est ce qui rend un modèle open-weight exécutable en on-prem ou sur matériel modeste.</a:t>
            </a:r>
          </a:p>
        </p:txBody>
      </p:sp>
      <p:sp>
        <p:nvSpPr>
          <p:cNvPr id="10" name="Picture Placeholder 9"/>
          <p:cNvSpPr>
            <a:spLocks noGrp="1"/>
          </p:cNvSpPr>
          <p:nvPr>
            <p:ph type="pic" idx="117" sz="quarter"/>
          </p:nvPr>
        </p:nvSpPr>
        <p:spPr/>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Qu’est-ce qu’un agent ?</a:t>
            </a:r>
          </a:p>
        </p:txBody>
      </p:sp>
      <p:sp>
        <p:nvSpPr>
          <p:cNvPr id="3" name="Text Placeholder 2"/>
          <p:cNvSpPr>
            <a:spLocks noGrp="1"/>
          </p:cNvSpPr>
          <p:nvPr>
            <p:ph type="body" idx="109"/>
          </p:nvPr>
        </p:nvSpPr>
        <p:spPr/>
        <p:txBody>
          <a:bodyPr/>
          <a:lstStyle/>
          <a:p>
            <a:r>
              <a:t>Un LLM dans une boucle, capable d’agir sur son environnement</a:t>
            </a:r>
          </a:p>
        </p:txBody>
      </p:sp>
      <p:sp>
        <p:nvSpPr>
          <p:cNvPr id="4" name="Text Placeholder 3"/>
          <p:cNvSpPr>
            <a:spLocks noGrp="1"/>
          </p:cNvSpPr>
          <p:nvPr>
            <p:ph type="body" idx="111"/>
          </p:nvPr>
        </p:nvSpPr>
        <p:spPr/>
        <p:txBody>
          <a:bodyPr/>
          <a:lstStyle/>
          <a:p>
            <a:r>
              <a:t>ANATOMIE</a:t>
            </a:r>
          </a:p>
        </p:txBody>
      </p:sp>
      <p:sp>
        <p:nvSpPr>
          <p:cNvPr id="5" name="Text Placeholder 4"/>
          <p:cNvSpPr>
            <a:spLocks noGrp="1"/>
          </p:cNvSpPr>
          <p:nvPr>
            <p:ph type="body" idx="112"/>
          </p:nvPr>
        </p:nvSpPr>
        <p:spPr/>
        <p:txBody>
          <a:bodyPr/>
          <a:lstStyle/>
          <a:p>
            <a:r>
              <a:t>La boucle agentique</a:t>
            </a:r>
          </a:p>
        </p:txBody>
      </p:sp>
      <p:sp>
        <p:nvSpPr>
          <p:cNvPr id="6" name="Text Placeholder 5"/>
          <p:cNvSpPr>
            <a:spLocks noGrp="1"/>
          </p:cNvSpPr>
          <p:nvPr>
            <p:ph type="body" idx="113"/>
          </p:nvPr>
        </p:nvSpPr>
        <p:spPr/>
        <p:txBody>
          <a:bodyPr/>
          <a:lstStyle/>
          <a:p>
            <a:r>
              <a:t>Percevoir → décider → agir → observer, en itérant. Le modèle raisonne, appelle des outils, lit les résultats, recommence jusqu’à l’objectif.</a:t>
            </a:r>
          </a:p>
        </p:txBody>
      </p:sp>
      <p:sp>
        <p:nvSpPr>
          <p:cNvPr id="7" name="Text Placeholder 6"/>
          <p:cNvSpPr>
            <a:spLocks noGrp="1"/>
          </p:cNvSpPr>
          <p:nvPr>
            <p:ph type="body" idx="114"/>
          </p:nvPr>
        </p:nvSpPr>
        <p:spPr/>
        <p:txBody>
          <a:bodyPr/>
          <a:lstStyle/>
          <a:p>
            <a:r>
              <a:t>PATTERNS</a:t>
            </a:r>
          </a:p>
        </p:txBody>
      </p:sp>
      <p:sp>
        <p:nvSpPr>
          <p:cNvPr id="8" name="Text Placeholder 7"/>
          <p:cNvSpPr>
            <a:spLocks noGrp="1"/>
          </p:cNvSpPr>
          <p:nvPr>
            <p:ph type="body" idx="115"/>
          </p:nvPr>
        </p:nvSpPr>
        <p:spPr/>
        <p:txBody>
          <a:bodyPr/>
          <a:lstStyle/>
          <a:p>
            <a:r>
              <a:t>Modes de raisonnement</a:t>
            </a:r>
          </a:p>
        </p:txBody>
      </p:sp>
      <p:sp>
        <p:nvSpPr>
          <p:cNvPr id="9" name="Text Placeholder 8"/>
          <p:cNvSpPr>
            <a:spLocks noGrp="1"/>
          </p:cNvSpPr>
          <p:nvPr>
            <p:ph type="body" idx="116"/>
          </p:nvPr>
        </p:nvSpPr>
        <p:spPr/>
        <p:txBody>
          <a:bodyPr/>
          <a:lstStyle/>
          <a:p>
            <a:r>
              <a:t>ReAct (raisonner puis agir), planification, réflexion et critique, décomposition en sous-tâches.</a:t>
            </a:r>
          </a:p>
        </p:txBody>
      </p:sp>
      <p:sp>
        <p:nvSpPr>
          <p:cNvPr id="10" name="Picture Placeholder 9"/>
          <p:cNvSpPr>
            <a:spLocks noGrp="1"/>
          </p:cNvSpPr>
          <p:nvPr>
            <p:ph type="pic" idx="117" sz="quarter"/>
          </p:nvPr>
        </p:nvSpPr>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briques d’un agent</a:t>
            </a:r>
          </a:p>
        </p:txBody>
      </p:sp>
      <p:sp>
        <p:nvSpPr>
          <p:cNvPr id="3" name="Text Placeholder 2"/>
          <p:cNvSpPr>
            <a:spLocks noGrp="1"/>
          </p:cNvSpPr>
          <p:nvPr>
            <p:ph type="body" idx="105"/>
          </p:nvPr>
        </p:nvSpPr>
        <p:spPr/>
        <p:txBody>
          <a:bodyPr/>
          <a:lstStyle/>
          <a:p>
            <a:r>
              <a:t>Ce que la platform team devra outiller et exposer</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Les actions : appels de fonctions, accès au SI. C’est ce que MCP standardise.</a:t>
            </a:r>
          </a:p>
        </p:txBody>
      </p:sp>
      <p:sp>
        <p:nvSpPr>
          <p:cNvPr id="6" name="Text Placeholder 5"/>
          <p:cNvSpPr>
            <a:spLocks noGrp="1"/>
          </p:cNvSpPr>
          <p:nvPr>
            <p:ph type="body" idx="112"/>
          </p:nvPr>
        </p:nvSpPr>
        <p:spPr/>
        <p:txBody>
          <a:bodyPr/>
          <a:lstStyle/>
          <a:p>
            <a:r>
              <a:t>Skills</a:t>
            </a:r>
          </a:p>
        </p:txBody>
      </p:sp>
      <p:sp>
        <p:nvSpPr>
          <p:cNvPr id="7" name="Text Placeholder 6"/>
          <p:cNvSpPr>
            <a:spLocks noGrp="1"/>
          </p:cNvSpPr>
          <p:nvPr>
            <p:ph type="body" idx="113"/>
          </p:nvPr>
        </p:nvSpPr>
        <p:spPr/>
        <p:txBody>
          <a:bodyPr/>
          <a:lstStyle/>
          <a:p>
            <a:r>
              <a:t>Le savoir-faire : des instructions réutilisables que l’agent charge à la demande.</a:t>
            </a:r>
          </a:p>
        </p:txBody>
      </p:sp>
      <p:sp>
        <p:nvSpPr>
          <p:cNvPr id="8" name="Text Placeholder 7"/>
          <p:cNvSpPr>
            <a:spLocks noGrp="1"/>
          </p:cNvSpPr>
          <p:nvPr>
            <p:ph type="body" idx="115"/>
          </p:nvPr>
        </p:nvSpPr>
        <p:spPr/>
        <p:txBody>
          <a:bodyPr/>
          <a:lstStyle/>
          <a:p>
            <a:r>
              <a:t>Mémoire</a:t>
            </a:r>
          </a:p>
        </p:txBody>
      </p:sp>
      <p:sp>
        <p:nvSpPr>
          <p:cNvPr id="9" name="Text Placeholder 8"/>
          <p:cNvSpPr>
            <a:spLocks noGrp="1"/>
          </p:cNvSpPr>
          <p:nvPr>
            <p:ph type="body" idx="116"/>
          </p:nvPr>
        </p:nvSpPr>
        <p:spPr/>
        <p:txBody>
          <a:bodyPr/>
          <a:lstStyle/>
          <a:p>
            <a:r>
              <a:t>Le contexte qui persiste : historique, préférences, connaissances partagées.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Multi-agents &amp; supervision humaine</a:t>
            </a:r>
          </a:p>
        </p:txBody>
      </p:sp>
      <p:sp>
        <p:nvSpPr>
          <p:cNvPr id="3" name="Text Placeholder 2"/>
          <p:cNvSpPr>
            <a:spLocks noGrp="1"/>
          </p:cNvSpPr>
          <p:nvPr>
            <p:ph type="body" idx="109"/>
          </p:nvPr>
        </p:nvSpPr>
        <p:spPr/>
        <p:txBody>
          <a:bodyPr/>
          <a:lstStyle/>
          <a:p>
            <a:r>
              <a:t>Composer des agents, garder l’humain dans la boucle</a:t>
            </a:r>
          </a:p>
        </p:txBody>
      </p:sp>
      <p:sp>
        <p:nvSpPr>
          <p:cNvPr id="4" name="Text Placeholder 3"/>
          <p:cNvSpPr>
            <a:spLocks noGrp="1"/>
          </p:cNvSpPr>
          <p:nvPr>
            <p:ph type="body" idx="111"/>
          </p:nvPr>
        </p:nvSpPr>
        <p:spPr/>
        <p:txBody>
          <a:bodyPr/>
          <a:lstStyle/>
          <a:p>
            <a:r>
              <a:t>COMPOSITION</a:t>
            </a:r>
          </a:p>
        </p:txBody>
      </p:sp>
      <p:sp>
        <p:nvSpPr>
          <p:cNvPr id="5" name="Text Placeholder 4"/>
          <p:cNvSpPr>
            <a:spLocks noGrp="1"/>
          </p:cNvSpPr>
          <p:nvPr>
            <p:ph type="body" idx="112"/>
          </p:nvPr>
        </p:nvSpPr>
        <p:spPr/>
        <p:txBody>
          <a:bodyPr/>
          <a:lstStyle/>
          <a:p>
            <a:r>
              <a:t>Plusieurs agents</a:t>
            </a:r>
          </a:p>
        </p:txBody>
      </p:sp>
      <p:sp>
        <p:nvSpPr>
          <p:cNvPr id="6" name="Text Placeholder 5"/>
          <p:cNvSpPr>
            <a:spLocks noGrp="1"/>
          </p:cNvSpPr>
          <p:nvPr>
            <p:ph type="body" idx="113"/>
          </p:nvPr>
        </p:nvSpPr>
        <p:spPr/>
        <p:txBody>
          <a:bodyPr/>
          <a:lstStyle/>
          <a:p>
            <a:r>
              <a:t>Un orchestrateur délègue à des sous-agents spécialisés. Plus de modularité, mais plus de coordination et de coût à maîtriser.</a:t>
            </a:r>
          </a:p>
        </p:txBody>
      </p:sp>
      <p:sp>
        <p:nvSpPr>
          <p:cNvPr id="7" name="Text Placeholder 6"/>
          <p:cNvSpPr>
            <a:spLocks noGrp="1"/>
          </p:cNvSpPr>
          <p:nvPr>
            <p:ph type="body" idx="114"/>
          </p:nvPr>
        </p:nvSpPr>
        <p:spPr/>
        <p:txBody>
          <a:bodyPr/>
          <a:lstStyle/>
          <a:p>
            <a:r>
              <a:t>CONTRÔLE</a:t>
            </a:r>
          </a:p>
        </p:txBody>
      </p:sp>
      <p:sp>
        <p:nvSpPr>
          <p:cNvPr id="8" name="Text Placeholder 7"/>
          <p:cNvSpPr>
            <a:spLocks noGrp="1"/>
          </p:cNvSpPr>
          <p:nvPr>
            <p:ph type="body" idx="115"/>
          </p:nvPr>
        </p:nvSpPr>
        <p:spPr/>
        <p:txBody>
          <a:bodyPr/>
          <a:lstStyle/>
          <a:p>
            <a:r>
              <a:t>Human-in-the-loop</a:t>
            </a:r>
          </a:p>
        </p:txBody>
      </p:sp>
      <p:sp>
        <p:nvSpPr>
          <p:cNvPr id="9" name="Text Placeholder 8"/>
          <p:cNvSpPr>
            <a:spLocks noGrp="1"/>
          </p:cNvSpPr>
          <p:nvPr>
            <p:ph type="body" idx="116"/>
          </p:nvPr>
        </p:nvSpPr>
        <p:spPr/>
        <p:txBody>
          <a:bodyPr/>
          <a:lstStyle/>
          <a:p>
            <a:r>
              <a:t>Points de validation, garde-fous, approbations sur les actions sensibles. La supervision est un choix d’architecture, pas une option.</a:t>
            </a:r>
          </a:p>
        </p:txBody>
      </p:sp>
      <p:sp>
        <p:nvSpPr>
          <p:cNvPr id="10" name="Picture Placeholder 9"/>
          <p:cNvSpPr>
            <a:spLocks noGrp="1"/>
          </p:cNvSpPr>
          <p:nvPr>
            <p:ph type="pic" idx="117" sz="quarter"/>
          </p:nvPr>
        </p:nvSpPr>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Panorama des protocoles agentiques</a:t>
            </a:r>
          </a:p>
        </p:txBody>
      </p:sp>
      <p:sp>
        <p:nvSpPr>
          <p:cNvPr id="3" name="Text Placeholder 2"/>
          <p:cNvSpPr>
            <a:spLocks noGrp="1"/>
          </p:cNvSpPr>
          <p:nvPr>
            <p:ph type="body" idx="105"/>
          </p:nvPr>
        </p:nvSpPr>
        <p:spPr/>
        <p:txBody>
          <a:bodyPr/>
          <a:lstStyle/>
          <a:p>
            <a:r>
              <a:t>Des standards émergents ; MCP est le socle d’intégration</a:t>
            </a:r>
          </a:p>
        </p:txBody>
      </p:sp>
      <p:sp>
        <p:nvSpPr>
          <p:cNvPr id="4" name="Text Placeholder 3"/>
          <p:cNvSpPr>
            <a:spLocks noGrp="1"/>
          </p:cNvSpPr>
          <p:nvPr>
            <p:ph type="body" idx="110"/>
          </p:nvPr>
        </p:nvSpPr>
        <p:spPr/>
        <p:txBody>
          <a:bodyPr/>
          <a:lstStyle/>
          <a:p>
            <a:r>
              <a:t>MCP</a:t>
            </a:r>
          </a:p>
        </p:txBody>
      </p:sp>
      <p:sp>
        <p:nvSpPr>
          <p:cNvPr id="5" name="Text Placeholder 4"/>
          <p:cNvSpPr>
            <a:spLocks noGrp="1"/>
          </p:cNvSpPr>
          <p:nvPr>
            <p:ph type="body" idx="111"/>
          </p:nvPr>
        </p:nvSpPr>
        <p:spPr/>
        <p:txBody>
          <a:bodyPr/>
          <a:lstStyle/>
          <a:p>
            <a:r>
              <a:t>Model Context Protocol — relie un agent aux outils, ressources et prompts du SI.</a:t>
            </a:r>
          </a:p>
        </p:txBody>
      </p:sp>
      <p:sp>
        <p:nvSpPr>
          <p:cNvPr id="6" name="Text Placeholder 5"/>
          <p:cNvSpPr>
            <a:spLocks noGrp="1"/>
          </p:cNvSpPr>
          <p:nvPr>
            <p:ph type="body" idx="115"/>
          </p:nvPr>
        </p:nvSpPr>
        <p:spPr/>
        <p:txBody>
          <a:bodyPr/>
          <a:lstStyle/>
          <a:p>
            <a:r>
              <a:t>A2A</a:t>
            </a:r>
          </a:p>
        </p:txBody>
      </p:sp>
      <p:sp>
        <p:nvSpPr>
          <p:cNvPr id="7" name="Text Placeholder 6"/>
          <p:cNvSpPr>
            <a:spLocks noGrp="1"/>
          </p:cNvSpPr>
          <p:nvPr>
            <p:ph type="body" idx="116"/>
          </p:nvPr>
        </p:nvSpPr>
        <p:spPr/>
        <p:txBody>
          <a:bodyPr/>
          <a:lstStyle/>
          <a:p>
            <a:r>
              <a:t>Agent-to-Agent — communication et délégation entre agents.</a:t>
            </a:r>
          </a:p>
        </p:txBody>
      </p:sp>
      <p:sp>
        <p:nvSpPr>
          <p:cNvPr id="8" name="Text Placeholder 7"/>
          <p:cNvSpPr>
            <a:spLocks noGrp="1"/>
          </p:cNvSpPr>
          <p:nvPr>
            <p:ph type="body" idx="120"/>
          </p:nvPr>
        </p:nvSpPr>
        <p:spPr/>
        <p:txBody>
          <a:bodyPr/>
          <a:lstStyle/>
          <a:p>
            <a:r>
              <a:t>A2UI</a:t>
            </a:r>
          </a:p>
        </p:txBody>
      </p:sp>
      <p:sp>
        <p:nvSpPr>
          <p:cNvPr id="9" name="Text Placeholder 8"/>
          <p:cNvSpPr>
            <a:spLocks noGrp="1"/>
          </p:cNvSpPr>
          <p:nvPr>
            <p:ph type="body" idx="121"/>
          </p:nvPr>
        </p:nvSpPr>
        <p:spPr/>
        <p:txBody>
          <a:bodyPr/>
          <a:lstStyle/>
          <a:p>
            <a:r>
              <a:t>Agent-to-UI — l’agent rend et pilote des interfaces.</a:t>
            </a:r>
          </a:p>
        </p:txBody>
      </p:sp>
      <p:sp>
        <p:nvSpPr>
          <p:cNvPr id="10" name="Text Placeholder 9"/>
          <p:cNvSpPr>
            <a:spLocks noGrp="1"/>
          </p:cNvSpPr>
          <p:nvPr>
            <p:ph type="body" idx="125"/>
          </p:nvPr>
        </p:nvSpPr>
        <p:spPr/>
        <p:txBody>
          <a:bodyPr/>
          <a:lstStyle/>
          <a:p>
            <a:r>
              <a:t>ACP / AP2</a:t>
            </a:r>
          </a:p>
        </p:txBody>
      </p:sp>
      <p:sp>
        <p:nvSpPr>
          <p:cNvPr id="11" name="Text Placeholder 10"/>
          <p:cNvSpPr>
            <a:spLocks noGrp="1"/>
          </p:cNvSpPr>
          <p:nvPr>
            <p:ph type="body" idx="126"/>
          </p:nvPr>
        </p:nvSpPr>
        <p:spPr/>
        <p:txBody>
          <a:bodyPr/>
          <a:lstStyle/>
          <a:p>
            <a:r>
              <a:t>Agent Payments — mandats et paiements agentiques.</a:t>
            </a:r>
          </a:p>
        </p:txBody>
      </p:sp>
      <p:sp>
        <p:nvSpPr>
          <p:cNvPr id="12" name="Picture Placeholder 11"/>
          <p:cNvSpPr>
            <a:spLocks noGrp="1"/>
          </p:cNvSpPr>
          <p:nvPr>
            <p:ph type="pic" idx="127" sz="quarter"/>
          </p:nvPr>
        </p:nvSpPr>
        <p:spPr/>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M2 — Architecture MCP</a:t>
            </a:r>
          </a:p>
        </p:txBody>
      </p:sp>
      <p:sp>
        <p:nvSpPr>
          <p:cNvPr id="3" name="Content Placeholder 2"/>
          <p:cNvSpPr>
            <a:spLocks noGrp="1"/>
          </p:cNvSpPr>
          <p:nvPr>
            <p:ph idx="12" sz="quarter"/>
          </p:nvPr>
        </p:nvSpPr>
        <p:spPr/>
        <p:txBody>
          <a:bodyPr/>
          <a:lstStyle/>
          <a:p>
            <a:r>
              <a:t>Le socle d’intégration : rôles, primitives, transports, choix Java.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Hôte, client, serveur — l’architecture en trois rôles</a:t>
            </a:r>
          </a:p>
        </p:txBody>
      </p:sp>
      <p:sp>
        <p:nvSpPr>
          <p:cNvPr id="3" name="Content Placeholder 2"/>
          <p:cNvSpPr>
            <a:spLocks noGrp="1"/>
          </p:cNvSpPr>
          <p:nvPr>
            <p:ph idx="12" sz="quarter"/>
          </p:nvPr>
        </p:nvSpPr>
        <p:spPr/>
        <p:txBody>
          <a:bodyPr/>
          <a:lstStyle/>
          <a:p/>
        </p:txBody>
      </p:sp>
      <p:pic>
        <p:nvPicPr>
          <p:cNvPr id="4" name="Picture 3" descr="mcp_archi.png"/>
          <p:cNvPicPr>
            <a:picLocks noChangeAspect="1"/>
          </p:cNvPicPr>
          <p:nvPr/>
        </p:nvPicPr>
        <p:blipFill>
          <a:blip r:embed="rId2"/>
          <a:stretch>
            <a:fillRect/>
          </a:stretch>
        </p:blipFill>
        <p:spPr>
          <a:xfrm>
            <a:off x="546100" y="2006600"/>
            <a:ext cx="11099800" cy="42799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trois primitives — et qui les contrôle</a:t>
            </a:r>
          </a:p>
        </p:txBody>
      </p:sp>
      <p:sp>
        <p:nvSpPr>
          <p:cNvPr id="3" name="Text Placeholder 2"/>
          <p:cNvSpPr>
            <a:spLocks noGrp="1"/>
          </p:cNvSpPr>
          <p:nvPr>
            <p:ph type="body" idx="105"/>
          </p:nvPr>
        </p:nvSpPr>
        <p:spPr/>
        <p:txBody>
          <a:bodyPr/>
          <a:lstStyle/>
          <a:p>
            <a:r>
              <a:t>Trois primitives cœur — au-delà : sampling, roots, elicitation</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Des actions invocables (effets de bord sur le SI). Contrôlées par le modèle.</a:t>
            </a:r>
          </a:p>
        </p:txBody>
      </p:sp>
      <p:sp>
        <p:nvSpPr>
          <p:cNvPr id="6" name="Text Placeholder 5"/>
          <p:cNvSpPr>
            <a:spLocks noGrp="1"/>
          </p:cNvSpPr>
          <p:nvPr>
            <p:ph type="body" idx="112"/>
          </p:nvPr>
        </p:nvSpPr>
        <p:spPr/>
        <p:txBody>
          <a:bodyPr/>
          <a:lstStyle/>
          <a:p>
            <a:r>
              <a:t>Resources</a:t>
            </a:r>
          </a:p>
        </p:txBody>
      </p:sp>
      <p:sp>
        <p:nvSpPr>
          <p:cNvPr id="7" name="Text Placeholder 6"/>
          <p:cNvSpPr>
            <a:spLocks noGrp="1"/>
          </p:cNvSpPr>
          <p:nvPr>
            <p:ph type="body" idx="113"/>
          </p:nvPr>
        </p:nvSpPr>
        <p:spPr/>
        <p:txBody>
          <a:bodyPr/>
          <a:lstStyle/>
          <a:p>
            <a:r>
              <a:t>Des données lues via URI (fichiers, enregistrements). Contrôlées par l’application.</a:t>
            </a:r>
          </a:p>
        </p:txBody>
      </p:sp>
      <p:sp>
        <p:nvSpPr>
          <p:cNvPr id="8" name="Text Placeholder 7"/>
          <p:cNvSpPr>
            <a:spLocks noGrp="1"/>
          </p:cNvSpPr>
          <p:nvPr>
            <p:ph type="body" idx="115"/>
          </p:nvPr>
        </p:nvSpPr>
        <p:spPr/>
        <p:txBody>
          <a:bodyPr/>
          <a:lstStyle/>
          <a:p>
            <a:r>
              <a:t>Prompts</a:t>
            </a:r>
          </a:p>
        </p:txBody>
      </p:sp>
      <p:sp>
        <p:nvSpPr>
          <p:cNvPr id="9" name="Text Placeholder 8"/>
          <p:cNvSpPr>
            <a:spLocks noGrp="1"/>
          </p:cNvSpPr>
          <p:nvPr>
            <p:ph type="body" idx="116"/>
          </p:nvPr>
        </p:nvSpPr>
        <p:spPr/>
        <p:txBody>
          <a:bodyPr/>
          <a:lstStyle/>
          <a:p>
            <a:r>
              <a:t>Des templates réutilisables (type slash-commands). Contrôlés par l’utilisateur.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Session &amp; transports</a:t>
            </a:r>
          </a:p>
        </p:txBody>
      </p:sp>
      <p:sp>
        <p:nvSpPr>
          <p:cNvPr id="3" name="Text Placeholder 2"/>
          <p:cNvSpPr>
            <a:spLocks noGrp="1"/>
          </p:cNvSpPr>
          <p:nvPr>
            <p:ph type="body" idx="109"/>
          </p:nvPr>
        </p:nvSpPr>
        <p:spPr/>
        <p:txBody>
          <a:bodyPr/>
          <a:lstStyle/>
          <a:p>
            <a:r>
              <a:t>Une négociation de capacités, puis un canal adapté au déploiement</a:t>
            </a:r>
          </a:p>
        </p:txBody>
      </p:sp>
      <p:sp>
        <p:nvSpPr>
          <p:cNvPr id="4" name="Text Placeholder 3"/>
          <p:cNvSpPr>
            <a:spLocks noGrp="1"/>
          </p:cNvSpPr>
          <p:nvPr>
            <p:ph type="body" idx="111"/>
          </p:nvPr>
        </p:nvSpPr>
        <p:spPr/>
        <p:txBody>
          <a:bodyPr/>
          <a:lstStyle/>
          <a:p>
            <a:r>
              <a:t>CYCLE DE VIE</a:t>
            </a:r>
          </a:p>
        </p:txBody>
      </p:sp>
      <p:sp>
        <p:nvSpPr>
          <p:cNvPr id="5" name="Text Placeholder 4"/>
          <p:cNvSpPr>
            <a:spLocks noGrp="1"/>
          </p:cNvSpPr>
          <p:nvPr>
            <p:ph type="body" idx="112"/>
          </p:nvPr>
        </p:nvSpPr>
        <p:spPr/>
        <p:txBody>
          <a:bodyPr/>
          <a:lstStyle/>
          <a:p>
            <a:r>
              <a:t>Initialize → échanges → arrêt</a:t>
            </a:r>
          </a:p>
        </p:txBody>
      </p:sp>
      <p:sp>
        <p:nvSpPr>
          <p:cNvPr id="6" name="Text Placeholder 5"/>
          <p:cNvSpPr>
            <a:spLocks noGrp="1"/>
          </p:cNvSpPr>
          <p:nvPr>
            <p:ph type="body" idx="113"/>
          </p:nvPr>
        </p:nvSpPr>
        <p:spPr/>
        <p:txBody>
          <a:bodyPr/>
          <a:lstStyle/>
          <a:p>
            <a:r>
              <a:t>À la connexion, client et serveur négocient leurs capacités (initialize). Suivent les échanges — appels de tools, lectures de resources — jusqu’à l’arrêt propre de la session.</a:t>
            </a:r>
          </a:p>
        </p:txBody>
      </p:sp>
      <p:sp>
        <p:nvSpPr>
          <p:cNvPr id="7" name="Text Placeholder 6"/>
          <p:cNvSpPr>
            <a:spLocks noGrp="1"/>
          </p:cNvSpPr>
          <p:nvPr>
            <p:ph type="body" idx="114"/>
          </p:nvPr>
        </p:nvSpPr>
        <p:spPr/>
        <p:txBody>
          <a:bodyPr/>
          <a:lstStyle/>
          <a:p>
            <a:r>
              <a:t>TRANSPORTS</a:t>
            </a:r>
          </a:p>
        </p:txBody>
      </p:sp>
      <p:sp>
        <p:nvSpPr>
          <p:cNvPr id="8" name="Text Placeholder 7"/>
          <p:cNvSpPr>
            <a:spLocks noGrp="1"/>
          </p:cNvSpPr>
          <p:nvPr>
            <p:ph type="body" idx="115"/>
          </p:nvPr>
        </p:nvSpPr>
        <p:spPr/>
        <p:txBody>
          <a:bodyPr/>
          <a:lstStyle/>
          <a:p>
            <a:r>
              <a:t>stdio &amp; Streamable HTTP</a:t>
            </a:r>
          </a:p>
        </p:txBody>
      </p:sp>
      <p:sp>
        <p:nvSpPr>
          <p:cNvPr id="9" name="Text Placeholder 8"/>
          <p:cNvSpPr>
            <a:spLocks noGrp="1"/>
          </p:cNvSpPr>
          <p:nvPr>
            <p:ph type="body" idx="116"/>
          </p:nvPr>
        </p:nvSpPr>
        <p:spPr/>
        <p:txBody>
          <a:bodyPr/>
          <a:lstStyle/>
          <a:p>
            <a:r>
              <a:t>stdio : local, même machine — idéal en dev. Streamable HTTP : distant, production (l’ancien HTTP+SSE est en voie de sunset). Le transport, c’est la topologie de déploiement.</a:t>
            </a:r>
          </a:p>
        </p:txBody>
      </p:sp>
      <p:sp>
        <p:nvSpPr>
          <p:cNvPr id="10" name="Picture Placeholder 9"/>
          <p:cNvSpPr>
            <a:spLocks noGrp="1"/>
          </p:cNvSpPr>
          <p:nvPr>
            <p:ph type="pic" idx="117" sz="quarter"/>
          </p:nvPr>
        </p:nvSpPr>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Implémenter en Java : Quarkus</a:t>
            </a:r>
          </a:p>
        </p:txBody>
      </p:sp>
      <p:sp>
        <p:nvSpPr>
          <p:cNvPr id="3" name="Text Placeholder 2"/>
          <p:cNvSpPr>
            <a:spLocks noGrp="1"/>
          </p:cNvSpPr>
          <p:nvPr>
            <p:ph type="body" idx="11"/>
          </p:nvPr>
        </p:nvSpPr>
        <p:spPr/>
        <p:txBody>
          <a:bodyPr/>
          <a:lstStyle/>
          <a:p>
            <a:r>
              <a:t>Notre choix pour les TP : Quarkus, avec l’extension quarkus-mcp-server.</a:t>
            </a:r>
          </a:p>
        </p:txBody>
      </p:sp>
      <p:sp>
        <p:nvSpPr>
          <p:cNvPr id="4" name="Text Placeholder 3"/>
          <p:cNvSpPr>
            <a:spLocks noGrp="1"/>
          </p:cNvSpPr>
          <p:nvPr>
            <p:ph type="body" idx="12"/>
          </p:nvPr>
        </p:nvSpPr>
        <p:spPr/>
        <p:txBody>
          <a:bodyPr/>
          <a:lstStyle/>
          <a:p>
            <a:r>
              <a:t>Pourquoi Quarkus</a:t>
            </a:r>
          </a:p>
        </p:txBody>
      </p:sp>
      <p:sp>
        <p:nvSpPr>
          <p:cNvPr id="5" name="Text Placeholder 4"/>
          <p:cNvSpPr>
            <a:spLocks noGrp="1"/>
          </p:cNvSpPr>
          <p:nvPr>
            <p:ph type="body" idx="13"/>
          </p:nvPr>
        </p:nvSpPr>
        <p:spPr/>
        <p:txBody>
          <a:bodyPr/>
          <a:lstStyle/>
          <a:p>
            <a:r>
              <a:t>Découverte et validation des primitives au build (les erreurs explosent à la compilation).  Démarrage instantané, image native, bonne observabilité.  Annotations @Tool / @Resource / @Prompt idiomatiques.  Le transport (stdio ou HTTP) est un simple choix de dépendance.</a:t>
            </a:r>
          </a:p>
        </p:txBody>
      </p:sp>
      <p:sp>
        <p:nvSpPr>
          <p:cNvPr id="6" name="Text Placeholder 5"/>
          <p:cNvSpPr>
            <a:spLocks noGrp="1"/>
          </p:cNvSpPr>
          <p:nvPr>
            <p:ph type="body" idx="14"/>
          </p:nvPr>
        </p:nvSpPr>
        <p:spPr/>
        <p:txBody>
          <a:bodyPr/>
          <a:lstStyle/>
          <a:p>
            <a:r>
              <a:t>En note — Spring AI</a:t>
            </a:r>
          </a:p>
        </p:txBody>
      </p:sp>
      <p:sp>
        <p:nvSpPr>
          <p:cNvPr id="7" name="Text Placeholder 6"/>
          <p:cNvSpPr>
            <a:spLocks noGrp="1"/>
          </p:cNvSpPr>
          <p:nvPr>
            <p:ph type="body" idx="15"/>
          </p:nvPr>
        </p:nvSpPr>
        <p:spPr/>
        <p:txBody>
          <a:bodyPr/>
          <a:lstStyle/>
          <a:p>
            <a:r>
              <a:t>Alternative tout aussi valable : DX Spring Boot familière, API à annotations. À privilégier si le client est déjà fortement outillé Spring.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TP1 — Bâtir un serveur MCP Quarkus avec OpenCode</a:t>
            </a:r>
          </a:p>
        </p:txBody>
      </p:sp>
      <p:sp>
        <p:nvSpPr>
          <p:cNvPr id="3" name="Text Placeholder 2"/>
          <p:cNvSpPr>
            <a:spLocks noGrp="1"/>
          </p:cNvSpPr>
          <p:nvPr>
            <p:ph type="body" idx="11"/>
          </p:nvPr>
        </p:nvSpPr>
        <p:spPr/>
        <p:txBody>
          <a:bodyPr/>
          <a:lstStyle/>
          <a:p>
            <a:r>
              <a:t>Piloter OpenCode pour produire un serveur MCP en Quarkus — sans écrire de Java à la main : on prompte, on relit, on valide.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Prendre en main OpenCode et le modèle câblé.  Prompter la construction d’un serveur MCP Quarkus exposant un tool, une resource et un prompt (sans Skill : OpenCode s’appuie sur le modèle de base et vos prompts).  Relire la sortie, itérer, vérifier que le serveur démarre et que les primitives s’enregistrent au build.  Comparer les résultats entre participants.</a:t>
            </a:r>
          </a:p>
        </p:txBody>
      </p:sp>
      <p:sp>
        <p:nvSpPr>
          <p:cNvPr id="6" name="Text Placeholder 5"/>
          <p:cNvSpPr>
            <a:spLocks noGrp="1"/>
          </p:cNvSpPr>
          <p:nvPr>
            <p:ph type="body" idx="14"/>
          </p:nvPr>
        </p:nvSpPr>
        <p:spPr/>
        <p:txBody>
          <a:bodyPr/>
          <a:lstStyle/>
          <a:p>
            <a:r>
              <a:t>Le constat</a:t>
            </a:r>
          </a:p>
        </p:txBody>
      </p:sp>
      <p:sp>
        <p:nvSpPr>
          <p:cNvPr id="7" name="Text Placeholder 6"/>
          <p:cNvSpPr>
            <a:spLocks noGrp="1"/>
          </p:cNvSpPr>
          <p:nvPr>
            <p:ph type="body" idx="15"/>
          </p:nvPr>
        </p:nvSpPr>
        <p:spPr/>
        <p:txBody>
          <a:bodyPr/>
          <a:lstStyle/>
          <a:p>
            <a:r>
              <a:t>Ça marche — mais chacun obtient un résultat différent, non conforme aux conventions maison (structure, transport, annotations). Le modèle donne de la capacité, pas de la conformité. → Le déclencheur de TP2.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M3 — Le contexte LLM comme actif partagé</a:t>
            </a:r>
          </a:p>
        </p:txBody>
      </p:sp>
      <p:sp>
        <p:nvSpPr>
          <p:cNvPr id="3" name="Content Placeholder 2"/>
          <p:cNvSpPr>
            <a:spLocks noGrp="1"/>
          </p:cNvSpPr>
          <p:nvPr>
            <p:ph idx="12" sz="quarter"/>
          </p:nvPr>
        </p:nvSpPr>
        <p:spPr/>
        <p:txBody>
          <a:bodyPr/>
          <a:lstStyle/>
          <a:p>
            <a:r>
              <a:t>Le contexte comme actif : MCP vs Skills, et OpenCode pour le consommer.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Qu’est-ce que « le contexte » ?</a:t>
            </a:r>
          </a:p>
        </p:txBody>
      </p:sp>
      <p:sp>
        <p:nvSpPr>
          <p:cNvPr id="3" name="Text Placeholder 2"/>
          <p:cNvSpPr>
            <a:spLocks noGrp="1"/>
          </p:cNvSpPr>
          <p:nvPr>
            <p:ph type="body" idx="105"/>
          </p:nvPr>
        </p:nvSpPr>
        <p:spPr/>
        <p:txBody>
          <a:bodyPr/>
          <a:lstStyle/>
          <a:p>
            <a:r>
              <a:t>Bien plus que le prompt : tout ce qui entre dans la fenêtre du modèle</a:t>
            </a:r>
          </a:p>
        </p:txBody>
      </p:sp>
      <p:sp>
        <p:nvSpPr>
          <p:cNvPr id="4" name="Text Placeholder 3"/>
          <p:cNvSpPr>
            <a:spLocks noGrp="1"/>
          </p:cNvSpPr>
          <p:nvPr>
            <p:ph type="body" idx="111"/>
          </p:nvPr>
        </p:nvSpPr>
        <p:spPr/>
        <p:txBody>
          <a:bodyPr/>
          <a:lstStyle/>
          <a:p>
            <a:r>
              <a:t>System prompt</a:t>
            </a:r>
          </a:p>
        </p:txBody>
      </p:sp>
      <p:sp>
        <p:nvSpPr>
          <p:cNvPr id="5" name="Text Placeholder 4"/>
          <p:cNvSpPr>
            <a:spLocks noGrp="1"/>
          </p:cNvSpPr>
          <p:nvPr>
            <p:ph type="body" idx="112"/>
          </p:nvPr>
        </p:nvSpPr>
        <p:spPr/>
        <p:txBody>
          <a:bodyPr/>
          <a:lstStyle/>
          <a:p>
            <a:r>
              <a:t>Le cadrage de base : rôle, ton, garde-fous.</a:t>
            </a:r>
          </a:p>
        </p:txBody>
      </p:sp>
      <p:sp>
        <p:nvSpPr>
          <p:cNvPr id="6" name="Text Placeholder 5"/>
          <p:cNvSpPr>
            <a:spLocks noGrp="1"/>
          </p:cNvSpPr>
          <p:nvPr>
            <p:ph type="body" idx="115"/>
          </p:nvPr>
        </p:nvSpPr>
        <p:spPr/>
        <p:txBody>
          <a:bodyPr/>
          <a:lstStyle/>
          <a:p>
            <a:r>
              <a:t>Instructions &amp; règles</a:t>
            </a:r>
          </a:p>
        </p:txBody>
      </p:sp>
      <p:sp>
        <p:nvSpPr>
          <p:cNvPr id="7" name="Text Placeholder 6"/>
          <p:cNvSpPr>
            <a:spLocks noGrp="1"/>
          </p:cNvSpPr>
          <p:nvPr>
            <p:ph type="body" idx="116"/>
          </p:nvPr>
        </p:nvSpPr>
        <p:spPr/>
        <p:txBody>
          <a:bodyPr/>
          <a:lstStyle/>
          <a:p>
            <a:r>
              <a:t>Consignes projet, conventions, contraintes.</a:t>
            </a:r>
          </a:p>
        </p:txBody>
      </p:sp>
      <p:sp>
        <p:nvSpPr>
          <p:cNvPr id="8" name="Text Placeholder 7"/>
          <p:cNvSpPr>
            <a:spLocks noGrp="1"/>
          </p:cNvSpPr>
          <p:nvPr>
            <p:ph type="body" idx="119"/>
          </p:nvPr>
        </p:nvSpPr>
        <p:spPr/>
        <p:txBody>
          <a:bodyPr/>
          <a:lstStyle/>
          <a:p>
            <a:r>
              <a:t>Skills</a:t>
            </a:r>
          </a:p>
        </p:txBody>
      </p:sp>
      <p:sp>
        <p:nvSpPr>
          <p:cNvPr id="9" name="Text Placeholder 8"/>
          <p:cNvSpPr>
            <a:spLocks noGrp="1"/>
          </p:cNvSpPr>
          <p:nvPr>
            <p:ph type="body" idx="120"/>
          </p:nvPr>
        </p:nvSpPr>
        <p:spPr/>
        <p:txBody>
          <a:bodyPr/>
          <a:lstStyle/>
          <a:p>
            <a:r>
              <a:t>Du savoir-faire chargé à la demande.</a:t>
            </a:r>
          </a:p>
        </p:txBody>
      </p:sp>
      <p:sp>
        <p:nvSpPr>
          <p:cNvPr id="10" name="Text Placeholder 9"/>
          <p:cNvSpPr>
            <a:spLocks noGrp="1"/>
          </p:cNvSpPr>
          <p:nvPr>
            <p:ph type="body" idx="123"/>
          </p:nvPr>
        </p:nvSpPr>
        <p:spPr/>
        <p:txBody>
          <a:bodyPr/>
          <a:lstStyle/>
          <a:p>
            <a:r>
              <a:t>Resources MCP</a:t>
            </a:r>
          </a:p>
        </p:txBody>
      </p:sp>
      <p:sp>
        <p:nvSpPr>
          <p:cNvPr id="11" name="Text Placeholder 10"/>
          <p:cNvSpPr>
            <a:spLocks noGrp="1"/>
          </p:cNvSpPr>
          <p:nvPr>
            <p:ph type="body" idx="124"/>
          </p:nvPr>
        </p:nvSpPr>
        <p:spPr/>
        <p:txBody>
          <a:bodyPr/>
          <a:lstStyle/>
          <a:p>
            <a:r>
              <a:t>Des données du SI lues via URI.</a:t>
            </a:r>
          </a:p>
        </p:txBody>
      </p:sp>
      <p:sp>
        <p:nvSpPr>
          <p:cNvPr id="12" name="Text Placeholder 11"/>
          <p:cNvSpPr>
            <a:spLocks noGrp="1"/>
          </p:cNvSpPr>
          <p:nvPr>
            <p:ph type="body" idx="127"/>
          </p:nvPr>
        </p:nvSpPr>
        <p:spPr/>
        <p:txBody>
          <a:bodyPr/>
          <a:lstStyle/>
          <a:p>
            <a:r>
              <a:t>Mémoire</a:t>
            </a:r>
          </a:p>
        </p:txBody>
      </p:sp>
      <p:sp>
        <p:nvSpPr>
          <p:cNvPr id="13" name="Text Placeholder 12"/>
          <p:cNvSpPr>
            <a:spLocks noGrp="1"/>
          </p:cNvSpPr>
          <p:nvPr>
            <p:ph type="body" idx="128"/>
          </p:nvPr>
        </p:nvSpPr>
        <p:spPr/>
        <p:txBody>
          <a:bodyPr/>
          <a:lstStyle/>
          <a:p>
            <a:r>
              <a:t>Historique, préférences, décisions passées.</a:t>
            </a:r>
          </a:p>
        </p:txBody>
      </p:sp>
      <p:sp>
        <p:nvSpPr>
          <p:cNvPr id="14" name="Text Placeholder 13"/>
          <p:cNvSpPr>
            <a:spLocks noGrp="1"/>
          </p:cNvSpPr>
          <p:nvPr>
            <p:ph type="body" idx="131"/>
          </p:nvPr>
        </p:nvSpPr>
        <p:spPr/>
        <p:txBody>
          <a:bodyPr/>
          <a:lstStyle/>
          <a:p>
            <a:r>
              <a:t>Bases de connaissances</a:t>
            </a:r>
          </a:p>
        </p:txBody>
      </p:sp>
      <p:sp>
        <p:nvSpPr>
          <p:cNvPr id="15" name="Text Placeholder 14"/>
          <p:cNvSpPr>
            <a:spLocks noGrp="1"/>
          </p:cNvSpPr>
          <p:nvPr>
            <p:ph type="body" idx="132"/>
          </p:nvPr>
        </p:nvSpPr>
        <p:spPr/>
        <p:txBody>
          <a:bodyPr/>
          <a:lstStyle/>
          <a:p>
            <a:r>
              <a:t>Documentation et corpus récupérés (RAG).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Context engineering</a:t>
            </a:r>
          </a:p>
        </p:txBody>
      </p:sp>
      <p:sp>
        <p:nvSpPr>
          <p:cNvPr id="3" name="Text Placeholder 2"/>
          <p:cNvSpPr>
            <a:spLocks noGrp="1"/>
          </p:cNvSpPr>
          <p:nvPr>
            <p:ph type="body" idx="109"/>
          </p:nvPr>
        </p:nvSpPr>
        <p:spPr/>
        <p:txBody>
          <a:bodyPr/>
          <a:lstStyle/>
          <a:p>
            <a:r>
              <a:t>La fenêtre est un budget : ce qu’on y met arbitre coût, latence et qualité</a:t>
            </a:r>
          </a:p>
        </p:txBody>
      </p:sp>
      <p:sp>
        <p:nvSpPr>
          <p:cNvPr id="4" name="Text Placeholder 3"/>
          <p:cNvSpPr>
            <a:spLocks noGrp="1"/>
          </p:cNvSpPr>
          <p:nvPr>
            <p:ph type="body" idx="111"/>
          </p:nvPr>
        </p:nvSpPr>
        <p:spPr/>
        <p:txBody>
          <a:bodyPr/>
          <a:lstStyle/>
          <a:p>
            <a:r>
              <a:t>LE BUDGET</a:t>
            </a:r>
          </a:p>
        </p:txBody>
      </p:sp>
      <p:sp>
        <p:nvSpPr>
          <p:cNvPr id="5" name="Text Placeholder 4"/>
          <p:cNvSpPr>
            <a:spLocks noGrp="1"/>
          </p:cNvSpPr>
          <p:nvPr>
            <p:ph type="body" idx="112"/>
          </p:nvPr>
        </p:nvSpPr>
        <p:spPr/>
        <p:txBody>
          <a:bodyPr/>
          <a:lstStyle/>
          <a:p>
            <a:r>
              <a:t>Une fenêtre finie</a:t>
            </a:r>
          </a:p>
        </p:txBody>
      </p:sp>
      <p:sp>
        <p:nvSpPr>
          <p:cNvPr id="6" name="Text Placeholder 5"/>
          <p:cNvSpPr>
            <a:spLocks noGrp="1"/>
          </p:cNvSpPr>
          <p:nvPr>
            <p:ph type="body" idx="113"/>
          </p:nvPr>
        </p:nvSpPr>
        <p:spPr/>
        <p:txBody>
          <a:bodyPr/>
          <a:lstStyle/>
          <a:p>
            <a:r>
              <a:t>Chaque token coûte en latence et en argent, et trop de contexte dilue l’attention du modèle. Le contexte n’est pas « plus = mieux » : c’est un budget à allouer.</a:t>
            </a:r>
          </a:p>
        </p:txBody>
      </p:sp>
      <p:sp>
        <p:nvSpPr>
          <p:cNvPr id="7" name="Text Placeholder 6"/>
          <p:cNvSpPr>
            <a:spLocks noGrp="1"/>
          </p:cNvSpPr>
          <p:nvPr>
            <p:ph type="body" idx="114"/>
          </p:nvPr>
        </p:nvSpPr>
        <p:spPr/>
        <p:txBody>
          <a:bodyPr/>
          <a:lstStyle/>
          <a:p>
            <a:r>
              <a:t>L’ARBITRAGE</a:t>
            </a:r>
          </a:p>
        </p:txBody>
      </p:sp>
      <p:sp>
        <p:nvSpPr>
          <p:cNvPr id="8" name="Text Placeholder 7"/>
          <p:cNvSpPr>
            <a:spLocks noGrp="1"/>
          </p:cNvSpPr>
          <p:nvPr>
            <p:ph type="body" idx="115"/>
          </p:nvPr>
        </p:nvSpPr>
        <p:spPr/>
        <p:txBody>
          <a:bodyPr/>
          <a:lstStyle/>
          <a:p>
            <a:r>
              <a:t>Le bon contexte, au bon moment</a:t>
            </a:r>
          </a:p>
        </p:txBody>
      </p:sp>
      <p:sp>
        <p:nvSpPr>
          <p:cNvPr id="9" name="Text Placeholder 8"/>
          <p:cNvSpPr>
            <a:spLocks noGrp="1"/>
          </p:cNvSpPr>
          <p:nvPr>
            <p:ph type="body" idx="116"/>
          </p:nvPr>
        </p:nvSpPr>
        <p:spPr/>
        <p:txBody>
          <a:bodyPr/>
          <a:lstStyle/>
          <a:p>
            <a:r>
              <a:t>Mettre le pertinent, à la demande, pas tout d’avance ; récupérer plutôt que pré-charger. C’est précisément ce que permettent MCP (à la demande) et les Skills (chargés quand utiles).</a:t>
            </a:r>
          </a:p>
        </p:txBody>
      </p:sp>
      <p:sp>
        <p:nvSpPr>
          <p:cNvPr id="10" name="Picture Placeholder 9"/>
          <p:cNvSpPr>
            <a:spLocks noGrp="1"/>
          </p:cNvSpPr>
          <p:nvPr>
            <p:ph type="pic" idx="117" sz="quarter"/>
          </p:nvPr>
        </p:nvSpPr>
        <p:spPr/>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vs Skills : outils et savoir-faire</a:t>
            </a:r>
          </a:p>
        </p:txBody>
      </p:sp>
      <p:sp>
        <p:nvSpPr>
          <p:cNvPr id="3" name="Text Placeholder 2"/>
          <p:cNvSpPr>
            <a:spLocks noGrp="1"/>
          </p:cNvSpPr>
          <p:nvPr>
            <p:ph type="body" idx="109"/>
          </p:nvPr>
        </p:nvSpPr>
        <p:spPr/>
        <p:txBody>
          <a:bodyPr/>
          <a:lstStyle/>
          <a:p>
            <a:r>
              <a:t>Deux natures de contexte, complémentaires — pas concurrentes</a:t>
            </a:r>
          </a:p>
        </p:txBody>
      </p:sp>
      <p:sp>
        <p:nvSpPr>
          <p:cNvPr id="4" name="Text Placeholder 3"/>
          <p:cNvSpPr>
            <a:spLocks noGrp="1"/>
          </p:cNvSpPr>
          <p:nvPr>
            <p:ph type="body" idx="111"/>
          </p:nvPr>
        </p:nvSpPr>
        <p:spPr/>
        <p:txBody>
          <a:bodyPr/>
          <a:lstStyle/>
          <a:p>
            <a:r>
              <a:t>MCP</a:t>
            </a:r>
          </a:p>
        </p:txBody>
      </p:sp>
      <p:sp>
        <p:nvSpPr>
          <p:cNvPr id="5" name="Text Placeholder 4"/>
          <p:cNvSpPr>
            <a:spLocks noGrp="1"/>
          </p:cNvSpPr>
          <p:nvPr>
            <p:ph type="body" idx="112"/>
          </p:nvPr>
        </p:nvSpPr>
        <p:spPr/>
        <p:txBody>
          <a:bodyPr/>
          <a:lstStyle/>
          <a:p>
            <a:r>
              <a:t>Les outils — exécuter</a:t>
            </a:r>
          </a:p>
        </p:txBody>
      </p:sp>
      <p:sp>
        <p:nvSpPr>
          <p:cNvPr id="6" name="Text Placeholder 5"/>
          <p:cNvSpPr>
            <a:spLocks noGrp="1"/>
          </p:cNvSpPr>
          <p:nvPr>
            <p:ph type="body" idx="113"/>
          </p:nvPr>
        </p:nvSpPr>
        <p:spPr/>
        <p:txBody>
          <a:bodyPr/>
          <a:lstStyle/>
          <a:p>
            <a:r>
              <a:t>Programmatique : des actions et des données exposées par un serveur. L’agent invoque, le SI répond. Ça fait.</a:t>
            </a:r>
          </a:p>
        </p:txBody>
      </p:sp>
      <p:sp>
        <p:nvSpPr>
          <p:cNvPr id="7" name="Text Placeholder 6"/>
          <p:cNvSpPr>
            <a:spLocks noGrp="1"/>
          </p:cNvSpPr>
          <p:nvPr>
            <p:ph type="body" idx="114"/>
          </p:nvPr>
        </p:nvSpPr>
        <p:spPr/>
        <p:txBody>
          <a:bodyPr/>
          <a:lstStyle/>
          <a:p>
            <a:r>
              <a:t>SKILLS</a:t>
            </a:r>
          </a:p>
        </p:txBody>
      </p:sp>
      <p:sp>
        <p:nvSpPr>
          <p:cNvPr id="8" name="Text Placeholder 7"/>
          <p:cNvSpPr>
            <a:spLocks noGrp="1"/>
          </p:cNvSpPr>
          <p:nvPr>
            <p:ph type="body" idx="115"/>
          </p:nvPr>
        </p:nvSpPr>
        <p:spPr/>
        <p:txBody>
          <a:bodyPr/>
          <a:lstStyle/>
          <a:p>
            <a:r>
              <a:t>Le savoir-faire — guider</a:t>
            </a:r>
          </a:p>
        </p:txBody>
      </p:sp>
      <p:sp>
        <p:nvSpPr>
          <p:cNvPr id="9" name="Text Placeholder 8"/>
          <p:cNvSpPr>
            <a:spLocks noGrp="1"/>
          </p:cNvSpPr>
          <p:nvPr>
            <p:ph type="body" idx="116"/>
          </p:nvPr>
        </p:nvSpPr>
        <p:spPr/>
        <p:txBody>
          <a:bodyPr/>
          <a:lstStyle/>
          <a:p>
            <a:r>
              <a:t>Déclaratif : des instructions réutilisables que l’agent charge quand c’est pertinent. Ça oriente. Un bon Skill orchestre souvent des tools MCP.</a:t>
            </a:r>
          </a:p>
        </p:txBody>
      </p:sp>
      <p:sp>
        <p:nvSpPr>
          <p:cNvPr id="10" name="Picture Placeholder 9"/>
          <p:cNvSpPr>
            <a:spLocks noGrp="1"/>
          </p:cNvSpPr>
          <p:nvPr>
            <p:ph type="pic" idx="117" sz="quarter"/>
          </p:nvPr>
        </p:nvSpPr>
        <p:spPr/>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OpenCode, consommateur agnostique</a:t>
            </a:r>
          </a:p>
        </p:txBody>
      </p:sp>
      <p:sp>
        <p:nvSpPr>
          <p:cNvPr id="3" name="Text Placeholder 2"/>
          <p:cNvSpPr>
            <a:spLocks noGrp="1"/>
          </p:cNvSpPr>
          <p:nvPr>
            <p:ph type="body" idx="105"/>
          </p:nvPr>
        </p:nvSpPr>
        <p:spPr/>
        <p:txBody>
          <a:bodyPr/>
          <a:lstStyle/>
          <a:p>
            <a:r>
              <a:t>Support natif des Skills (SKILL.md), indépendant du fournisseur de LLM</a:t>
            </a:r>
          </a:p>
        </p:txBody>
      </p:sp>
      <p:sp>
        <p:nvSpPr>
          <p:cNvPr id="4" name="Text Placeholder 3"/>
          <p:cNvSpPr>
            <a:spLocks noGrp="1"/>
          </p:cNvSpPr>
          <p:nvPr>
            <p:ph type="body" idx="109"/>
          </p:nvPr>
        </p:nvSpPr>
        <p:spPr/>
        <p:txBody>
          <a:bodyPr/>
          <a:lstStyle/>
          <a:p>
            <a:r>
              <a:t>Découverte</a:t>
            </a:r>
          </a:p>
        </p:txBody>
      </p:sp>
      <p:sp>
        <p:nvSpPr>
          <p:cNvPr id="5" name="Text Placeholder 4"/>
          <p:cNvSpPr>
            <a:spLocks noGrp="1"/>
          </p:cNvSpPr>
          <p:nvPr>
            <p:ph type="body" idx="110"/>
          </p:nvPr>
        </p:nvSpPr>
        <p:spPr/>
        <p:txBody>
          <a:bodyPr/>
          <a:lstStyle/>
          <a:p>
            <a:r>
              <a:t>Scanne des chemins standards (.opencode/skills, .claude/skills…) et liste les Skills disponibles.</a:t>
            </a:r>
          </a:p>
        </p:txBody>
      </p:sp>
      <p:sp>
        <p:nvSpPr>
          <p:cNvPr id="6" name="Text Placeholder 5"/>
          <p:cNvSpPr>
            <a:spLocks noGrp="1"/>
          </p:cNvSpPr>
          <p:nvPr>
            <p:ph type="body" idx="112"/>
          </p:nvPr>
        </p:nvSpPr>
        <p:spPr/>
        <p:txBody>
          <a:bodyPr/>
          <a:lstStyle/>
          <a:p>
            <a:r>
              <a:t>À la demande</a:t>
            </a:r>
          </a:p>
        </p:txBody>
      </p:sp>
      <p:sp>
        <p:nvSpPr>
          <p:cNvPr id="7" name="Text Placeholder 6"/>
          <p:cNvSpPr>
            <a:spLocks noGrp="1"/>
          </p:cNvSpPr>
          <p:nvPr>
            <p:ph type="body" idx="113"/>
          </p:nvPr>
        </p:nvSpPr>
        <p:spPr/>
        <p:txBody>
          <a:bodyPr/>
          <a:lstStyle/>
          <a:p>
            <a:r>
              <a:t>L’agent charge le SKILL.md seulement quand la tâche le justifie — le budget de contexte est préservé.</a:t>
            </a:r>
          </a:p>
        </p:txBody>
      </p:sp>
      <p:sp>
        <p:nvSpPr>
          <p:cNvPr id="8" name="Text Placeholder 7"/>
          <p:cNvSpPr>
            <a:spLocks noGrp="1"/>
          </p:cNvSpPr>
          <p:nvPr>
            <p:ph type="body" idx="115"/>
          </p:nvPr>
        </p:nvSpPr>
        <p:spPr/>
        <p:txBody>
          <a:bodyPr/>
          <a:lstStyle/>
          <a:p>
            <a:r>
              <a:t>Permissions</a:t>
            </a:r>
          </a:p>
        </p:txBody>
      </p:sp>
      <p:sp>
        <p:nvSpPr>
          <p:cNvPr id="9" name="Text Placeholder 8"/>
          <p:cNvSpPr>
            <a:spLocks noGrp="1"/>
          </p:cNvSpPr>
          <p:nvPr>
            <p:ph type="body" idx="116"/>
          </p:nvPr>
        </p:nvSpPr>
        <p:spPr/>
        <p:txBody>
          <a:bodyPr/>
          <a:lstStyle/>
          <a:p>
            <a:r>
              <a:t>Autorisations par agent (allow/deny) : le crochet de gouvernance qu’on exploite en TP4.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TP2 — Écrire le Skill create-quarkus-mcp-server</a:t>
            </a:r>
          </a:p>
        </p:txBody>
      </p:sp>
      <p:sp>
        <p:nvSpPr>
          <p:cNvPr id="3" name="Text Placeholder 2"/>
          <p:cNvSpPr>
            <a:spLocks noGrp="1"/>
          </p:cNvSpPr>
          <p:nvPr>
            <p:ph type="body" idx="11"/>
          </p:nvPr>
        </p:nvSpPr>
        <p:spPr/>
        <p:txBody>
          <a:bodyPr/>
          <a:lstStyle/>
          <a:p>
            <a:r>
              <a:t>Distiller le savoir-faire de TP1 dans un Skill, pour qu’OpenCode produise un serveur MCP Quarkus conforme, de façon répétable.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Repérer les écarts de conformité observés en TP1 (structure, annotations, transport).  Écrire le SKILL.md : frontmatter, conventions Quarkus, annotations @Tool / @Resource / @Prompt, + une référence.  Déposer le Skill dans un chemin de découverte OpenCode.  Dogfood : relancer OpenCode + Skill, régénérer un serveur, comparer au vanilla de TP1.</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t>Un Skill create-quarkus-mcp-server versionné, un serveur régénéré conforme, et le constat de répétabilité face au vanilla de TP1. Poussé sur GitLab (amorce TP4).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2 — Évaluer et gouverner</a:t>
            </a:r>
          </a:p>
        </p:txBody>
      </p:sp>
      <p:sp>
        <p:nvSpPr>
          <p:cNvPr id="3" name="Content Placeholder 2"/>
          <p:cNvSpPr>
            <a:spLocks noGrp="1"/>
          </p:cNvSpPr>
          <p:nvPr>
            <p:ph idx="12" sz="quarter"/>
          </p:nvPr>
        </p:nvSpPr>
        <p:spPr/>
        <p:txBody>
          <a:bodyPr/>
          <a:lstStyle/>
          <a:p>
            <a:r>
              <a:t>Matin — Évaluer les produits IA (stratégie, datasets, scorers), harnais d’éval 100 % Java, exploiter &amp; sécuriser en production.  Après-midi — Gouverner le contexte à l’échelle sur GitLab, puis atelier : le modèle opératoire de l’usine logicielle IA.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M4 — Évaluer les produits IA</a:t>
            </a:r>
          </a:p>
        </p:txBody>
      </p:sp>
      <p:sp>
        <p:nvSpPr>
          <p:cNvPr id="3" name="Content Placeholder 2"/>
          <p:cNvSpPr>
            <a:spLocks noGrp="1"/>
          </p:cNvSpPr>
          <p:nvPr>
            <p:ph idx="12" sz="quarter"/>
          </p:nvPr>
        </p:nvSpPr>
        <p:spPr/>
        <p:txBody>
          <a:bodyPr/>
          <a:lstStyle/>
          <a:p>
            <a:r>
              <a:t>Pourquoi c’est différent, quoi mesurer, et avec quels scorers.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Évaluer un système LLM : ce qui change</a:t>
            </a:r>
          </a:p>
        </p:txBody>
      </p:sp>
      <p:sp>
        <p:nvSpPr>
          <p:cNvPr id="3" name="Text Placeholder 2"/>
          <p:cNvSpPr>
            <a:spLocks noGrp="1"/>
          </p:cNvSpPr>
          <p:nvPr>
            <p:ph type="body" idx="109"/>
          </p:nvPr>
        </p:nvSpPr>
        <p:spPr/>
        <p:txBody>
          <a:bodyPr/>
          <a:lstStyle/>
          <a:p>
            <a:r>
              <a:t>Pas de sortie unique attendue, et une cible qui bouge</a:t>
            </a:r>
          </a:p>
        </p:txBody>
      </p:sp>
      <p:sp>
        <p:nvSpPr>
          <p:cNvPr id="4" name="Text Placeholder 3"/>
          <p:cNvSpPr>
            <a:spLocks noGrp="1"/>
          </p:cNvSpPr>
          <p:nvPr>
            <p:ph type="body" idx="111"/>
          </p:nvPr>
        </p:nvSpPr>
        <p:spPr/>
        <p:txBody>
          <a:bodyPr/>
          <a:lstStyle/>
          <a:p>
            <a:r>
              <a:t>LA DIFFICULTÉ</a:t>
            </a:r>
          </a:p>
        </p:txBody>
      </p:sp>
      <p:sp>
        <p:nvSpPr>
          <p:cNvPr id="5" name="Text Placeholder 4"/>
          <p:cNvSpPr>
            <a:spLocks noGrp="1"/>
          </p:cNvSpPr>
          <p:nvPr>
            <p:ph type="body" idx="112"/>
          </p:nvPr>
        </p:nvSpPr>
        <p:spPr/>
        <p:txBody>
          <a:bodyPr/>
          <a:lstStyle/>
          <a:p>
            <a:r>
              <a:t>Non déterministe, mouvant</a:t>
            </a:r>
          </a:p>
        </p:txBody>
      </p:sp>
      <p:sp>
        <p:nvSpPr>
          <p:cNvPr id="6" name="Text Placeholder 5"/>
          <p:cNvSpPr>
            <a:spLocks noGrp="1"/>
          </p:cNvSpPr>
          <p:nvPr>
            <p:ph type="body" idx="113"/>
          </p:nvPr>
        </p:nvSpPr>
        <p:spPr/>
        <p:txBody>
          <a:bodyPr/>
          <a:lstStyle/>
          <a:p>
            <a:r>
              <a:t>Même entrée, sorties variables ; pas d’oracle unique. Et la cible dérive : changer de modèle ou de prompt déplace le comportement du jour au lendemain.</a:t>
            </a:r>
          </a:p>
        </p:txBody>
      </p:sp>
      <p:sp>
        <p:nvSpPr>
          <p:cNvPr id="7" name="Text Placeholder 6"/>
          <p:cNvSpPr>
            <a:spLocks noGrp="1"/>
          </p:cNvSpPr>
          <p:nvPr>
            <p:ph type="body" idx="114"/>
          </p:nvPr>
        </p:nvSpPr>
        <p:spPr/>
        <p:txBody>
          <a:bodyPr/>
          <a:lstStyle/>
          <a:p>
            <a:r>
              <a:t>LA RÉPONSE</a:t>
            </a:r>
          </a:p>
        </p:txBody>
      </p:sp>
      <p:sp>
        <p:nvSpPr>
          <p:cNvPr id="8" name="Text Placeholder 7"/>
          <p:cNvSpPr>
            <a:spLocks noGrp="1"/>
          </p:cNvSpPr>
          <p:nvPr>
            <p:ph type="body" idx="115"/>
          </p:nvPr>
        </p:nvSpPr>
        <p:spPr/>
        <p:txBody>
          <a:bodyPr/>
          <a:lstStyle/>
          <a:p>
            <a:r>
              <a:t>Évaluer en continu</a:t>
            </a:r>
          </a:p>
        </p:txBody>
      </p:sp>
      <p:sp>
        <p:nvSpPr>
          <p:cNvPr id="9" name="Text Placeholder 8"/>
          <p:cNvSpPr>
            <a:spLocks noGrp="1"/>
          </p:cNvSpPr>
          <p:nvPr>
            <p:ph type="body" idx="116"/>
          </p:nvPr>
        </p:nvSpPr>
        <p:spPr/>
        <p:txBody>
          <a:bodyPr/>
          <a:lstStyle/>
          <a:p>
            <a:r>
              <a:t>On teste sur une distribution de cas, pas un exemple ; on versionne l’éval comme du code ; on accepte un signal statistique plutôt qu’un pass/fail binaire. L’éval est un actif, pas un one-shot.</a:t>
            </a:r>
          </a:p>
        </p:txBody>
      </p:sp>
      <p:sp>
        <p:nvSpPr>
          <p:cNvPr id="10" name="Picture Placeholder 9"/>
          <p:cNvSpPr>
            <a:spLocks noGrp="1"/>
          </p:cNvSpPr>
          <p:nvPr>
            <p:ph type="pic" idx="117" sz="quarter"/>
          </p:nvPr>
        </p:nvSpPr>
        <p:spPr/>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Stratégie : quoi, où, quand</a:t>
            </a:r>
          </a:p>
        </p:txBody>
      </p:sp>
      <p:sp>
        <p:nvSpPr>
          <p:cNvPr id="3" name="Text Placeholder 2"/>
          <p:cNvSpPr>
            <a:spLocks noGrp="1"/>
          </p:cNvSpPr>
          <p:nvPr>
            <p:ph type="body" idx="105"/>
          </p:nvPr>
        </p:nvSpPr>
        <p:spPr/>
        <p:txBody>
          <a:bodyPr/>
          <a:lstStyle/>
          <a:p>
            <a:r>
              <a:t>Cadrer l’évaluation avant d’écrire le premier test</a:t>
            </a:r>
          </a:p>
        </p:txBody>
      </p:sp>
      <p:sp>
        <p:nvSpPr>
          <p:cNvPr id="4" name="Text Placeholder 3"/>
          <p:cNvSpPr>
            <a:spLocks noGrp="1"/>
          </p:cNvSpPr>
          <p:nvPr>
            <p:ph type="body" idx="109"/>
          </p:nvPr>
        </p:nvSpPr>
        <p:spPr/>
        <p:txBody>
          <a:bodyPr/>
          <a:lstStyle/>
          <a:p>
            <a:r>
              <a:t>Quoi</a:t>
            </a:r>
          </a:p>
        </p:txBody>
      </p:sp>
      <p:sp>
        <p:nvSpPr>
          <p:cNvPr id="5" name="Text Placeholder 4"/>
          <p:cNvSpPr>
            <a:spLocks noGrp="1"/>
          </p:cNvSpPr>
          <p:nvPr>
            <p:ph type="body" idx="110"/>
          </p:nvPr>
        </p:nvSpPr>
        <p:spPr/>
        <p:txBody>
          <a:bodyPr/>
          <a:lstStyle/>
          <a:p>
            <a:r>
              <a:t>Les critères : conformité, qualité, coût, latence, robustesse. On priorise ce qui compte pour le produit.</a:t>
            </a:r>
          </a:p>
        </p:txBody>
      </p:sp>
      <p:sp>
        <p:nvSpPr>
          <p:cNvPr id="6" name="Text Placeholder 5"/>
          <p:cNvSpPr>
            <a:spLocks noGrp="1"/>
          </p:cNvSpPr>
          <p:nvPr>
            <p:ph type="body" idx="112"/>
          </p:nvPr>
        </p:nvSpPr>
        <p:spPr/>
        <p:txBody>
          <a:bodyPr/>
          <a:lstStyle/>
          <a:p>
            <a:r>
              <a:t>Où</a:t>
            </a:r>
          </a:p>
        </p:txBody>
      </p:sp>
      <p:sp>
        <p:nvSpPr>
          <p:cNvPr id="7" name="Text Placeholder 6"/>
          <p:cNvSpPr>
            <a:spLocks noGrp="1"/>
          </p:cNvSpPr>
          <p:nvPr>
            <p:ph type="body" idx="113"/>
          </p:nvPr>
        </p:nvSpPr>
        <p:spPr/>
        <p:txBody>
          <a:bodyPr/>
          <a:lstStyle/>
          <a:p>
            <a:r>
              <a:t>En dev (boucle rapide), en CI (non-régression), en prod (monitoring en ligne).</a:t>
            </a:r>
          </a:p>
        </p:txBody>
      </p:sp>
      <p:sp>
        <p:nvSpPr>
          <p:cNvPr id="8" name="Text Placeholder 7"/>
          <p:cNvSpPr>
            <a:spLocks noGrp="1"/>
          </p:cNvSpPr>
          <p:nvPr>
            <p:ph type="body" idx="115"/>
          </p:nvPr>
        </p:nvSpPr>
        <p:spPr/>
        <p:txBody>
          <a:bodyPr/>
          <a:lstStyle/>
          <a:p>
            <a:r>
              <a:t>Quand</a:t>
            </a:r>
          </a:p>
        </p:txBody>
      </p:sp>
      <p:sp>
        <p:nvSpPr>
          <p:cNvPr id="9" name="Text Placeholder 8"/>
          <p:cNvSpPr>
            <a:spLocks noGrp="1"/>
          </p:cNvSpPr>
          <p:nvPr>
            <p:ph type="body" idx="116"/>
          </p:nvPr>
        </p:nvSpPr>
        <p:spPr/>
        <p:txBody>
          <a:bodyPr/>
          <a:lstStyle/>
          <a:p>
            <a:r>
              <a:t>À chaque changement de modèle, de prompt, de Skill. L’éval garde le fil rouge sous contrôle.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dataset : couvrir les trois chemins</a:t>
            </a:r>
          </a:p>
        </p:txBody>
      </p:sp>
      <p:sp>
        <p:nvSpPr>
          <p:cNvPr id="3" name="Text Placeholder 2"/>
          <p:cNvSpPr>
            <a:spLocks noGrp="1"/>
          </p:cNvSpPr>
          <p:nvPr>
            <p:ph type="body" idx="105"/>
          </p:nvPr>
        </p:nvSpPr>
        <p:spPr/>
        <p:txBody>
          <a:bodyPr/>
          <a:lstStyle/>
          <a:p>
            <a:r>
              <a:t>Un jeu de cas représentatif, pas seulement le cas idéal</a:t>
            </a:r>
          </a:p>
        </p:txBody>
      </p:sp>
      <p:sp>
        <p:nvSpPr>
          <p:cNvPr id="4" name="Text Placeholder 3"/>
          <p:cNvSpPr>
            <a:spLocks noGrp="1"/>
          </p:cNvSpPr>
          <p:nvPr>
            <p:ph type="body" idx="109"/>
          </p:nvPr>
        </p:nvSpPr>
        <p:spPr/>
        <p:txBody>
          <a:bodyPr/>
          <a:lstStyle/>
          <a:p>
            <a:r>
              <a:t>Happy path</a:t>
            </a:r>
          </a:p>
        </p:txBody>
      </p:sp>
      <p:sp>
        <p:nvSpPr>
          <p:cNvPr id="5" name="Text Placeholder 4"/>
          <p:cNvSpPr>
            <a:spLocks noGrp="1"/>
          </p:cNvSpPr>
          <p:nvPr>
            <p:ph type="body" idx="110"/>
          </p:nvPr>
        </p:nvSpPr>
        <p:spPr/>
        <p:txBody>
          <a:bodyPr/>
          <a:lstStyle/>
          <a:p>
            <a:r>
              <a:t>Le cas nominal : ce qui doit marcher tous les jours.</a:t>
            </a:r>
          </a:p>
        </p:txBody>
      </p:sp>
      <p:sp>
        <p:nvSpPr>
          <p:cNvPr id="6" name="Text Placeholder 5"/>
          <p:cNvSpPr>
            <a:spLocks noGrp="1"/>
          </p:cNvSpPr>
          <p:nvPr>
            <p:ph type="body" idx="112"/>
          </p:nvPr>
        </p:nvSpPr>
        <p:spPr/>
        <p:txBody>
          <a:bodyPr/>
          <a:lstStyle/>
          <a:p>
            <a:r>
              <a:t>Realistic path</a:t>
            </a:r>
          </a:p>
        </p:txBody>
      </p:sp>
      <p:sp>
        <p:nvSpPr>
          <p:cNvPr id="7" name="Text Placeholder 6"/>
          <p:cNvSpPr>
            <a:spLocks noGrp="1"/>
          </p:cNvSpPr>
          <p:nvPr>
            <p:ph type="body" idx="113"/>
          </p:nvPr>
        </p:nvSpPr>
        <p:spPr/>
        <p:txBody>
          <a:bodyPr/>
          <a:lstStyle/>
          <a:p>
            <a:r>
              <a:t>Les cas réels, ambigus, incomplets — la vraie vie.</a:t>
            </a:r>
          </a:p>
        </p:txBody>
      </p:sp>
      <p:sp>
        <p:nvSpPr>
          <p:cNvPr id="8" name="Text Placeholder 7"/>
          <p:cNvSpPr>
            <a:spLocks noGrp="1"/>
          </p:cNvSpPr>
          <p:nvPr>
            <p:ph type="body" idx="115"/>
          </p:nvPr>
        </p:nvSpPr>
        <p:spPr/>
        <p:txBody>
          <a:bodyPr/>
          <a:lstStyle/>
          <a:p>
            <a:r>
              <a:t>Adverse path</a:t>
            </a:r>
          </a:p>
        </p:txBody>
      </p:sp>
      <p:sp>
        <p:nvSpPr>
          <p:cNvPr id="9" name="Text Placeholder 8"/>
          <p:cNvSpPr>
            <a:spLocks noGrp="1"/>
          </p:cNvSpPr>
          <p:nvPr>
            <p:ph type="body" idx="116"/>
          </p:nvPr>
        </p:nvSpPr>
        <p:spPr/>
        <p:txBody>
          <a:bodyPr/>
          <a:lstStyle/>
          <a:p>
            <a:r>
              <a:t>Les cas limites et hostiles : ce qui doit échouer proprement.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scorers : quatre familles</a:t>
            </a:r>
          </a:p>
        </p:txBody>
      </p:sp>
      <p:sp>
        <p:nvSpPr>
          <p:cNvPr id="3" name="Text Placeholder 2"/>
          <p:cNvSpPr>
            <a:spLocks noGrp="1"/>
          </p:cNvSpPr>
          <p:nvPr>
            <p:ph type="body" idx="105"/>
          </p:nvPr>
        </p:nvSpPr>
        <p:spPr/>
        <p:txBody>
          <a:bodyPr/>
          <a:lstStyle/>
          <a:p>
            <a:r>
              <a:t>Du plus déterministe au plus humain — souvent combinés</a:t>
            </a:r>
          </a:p>
        </p:txBody>
      </p:sp>
      <p:sp>
        <p:nvSpPr>
          <p:cNvPr id="4" name="Text Placeholder 3"/>
          <p:cNvSpPr>
            <a:spLocks noGrp="1"/>
          </p:cNvSpPr>
          <p:nvPr>
            <p:ph type="body" idx="110"/>
          </p:nvPr>
        </p:nvSpPr>
        <p:spPr/>
        <p:txBody>
          <a:bodyPr/>
          <a:lstStyle/>
          <a:p>
            <a:r>
              <a:t>Déterministe</a:t>
            </a:r>
          </a:p>
        </p:txBody>
      </p:sp>
      <p:sp>
        <p:nvSpPr>
          <p:cNvPr id="5" name="Text Placeholder 4"/>
          <p:cNvSpPr>
            <a:spLocks noGrp="1"/>
          </p:cNvSpPr>
          <p:nvPr>
            <p:ph type="body" idx="111"/>
          </p:nvPr>
        </p:nvSpPr>
        <p:spPr/>
        <p:txBody>
          <a:bodyPr/>
          <a:lstStyle/>
          <a:p>
            <a:r>
              <a:t>Assertions exactes : compile, primitives enregistrées, convention respectée. Rapide et fiable.</a:t>
            </a:r>
          </a:p>
        </p:txBody>
      </p:sp>
      <p:sp>
        <p:nvSpPr>
          <p:cNvPr id="6" name="Text Placeholder 5"/>
          <p:cNvSpPr>
            <a:spLocks noGrp="1"/>
          </p:cNvSpPr>
          <p:nvPr>
            <p:ph type="body" idx="115"/>
          </p:nvPr>
        </p:nvSpPr>
        <p:spPr/>
        <p:txBody>
          <a:bodyPr/>
          <a:lstStyle/>
          <a:p>
            <a:r>
              <a:t>Sémantique</a:t>
            </a:r>
          </a:p>
        </p:txBody>
      </p:sp>
      <p:sp>
        <p:nvSpPr>
          <p:cNvPr id="7" name="Text Placeholder 6"/>
          <p:cNvSpPr>
            <a:spLocks noGrp="1"/>
          </p:cNvSpPr>
          <p:nvPr>
            <p:ph type="body" idx="116"/>
          </p:nvPr>
        </p:nvSpPr>
        <p:spPr/>
        <p:txBody>
          <a:bodyPr/>
          <a:lstStyle/>
          <a:p>
            <a:r>
              <a:t>Similarité de sens (embeddings) : la sortie est-elle proche de l’attendu ?</a:t>
            </a:r>
          </a:p>
        </p:txBody>
      </p:sp>
      <p:sp>
        <p:nvSpPr>
          <p:cNvPr id="8" name="Text Placeholder 7"/>
          <p:cNvSpPr>
            <a:spLocks noGrp="1"/>
          </p:cNvSpPr>
          <p:nvPr>
            <p:ph type="body" idx="120"/>
          </p:nvPr>
        </p:nvSpPr>
        <p:spPr/>
        <p:txBody>
          <a:bodyPr/>
          <a:lstStyle/>
          <a:p>
            <a:r>
              <a:t>LLM-as-a-Judge</a:t>
            </a:r>
          </a:p>
        </p:txBody>
      </p:sp>
      <p:sp>
        <p:nvSpPr>
          <p:cNvPr id="9" name="Text Placeholder 8"/>
          <p:cNvSpPr>
            <a:spLocks noGrp="1"/>
          </p:cNvSpPr>
          <p:nvPr>
            <p:ph type="body" idx="121"/>
          </p:nvPr>
        </p:nvSpPr>
        <p:spPr/>
        <p:txBody>
          <a:bodyPr/>
          <a:lstStyle/>
          <a:p>
            <a:r>
              <a:t>Un modèle note selon une grille : utile pour le flou (qualité, conformité nuancée).</a:t>
            </a:r>
          </a:p>
        </p:txBody>
      </p:sp>
      <p:sp>
        <p:nvSpPr>
          <p:cNvPr id="10" name="Text Placeholder 9"/>
          <p:cNvSpPr>
            <a:spLocks noGrp="1"/>
          </p:cNvSpPr>
          <p:nvPr>
            <p:ph type="body" idx="125"/>
          </p:nvPr>
        </p:nvSpPr>
        <p:spPr/>
        <p:txBody>
          <a:bodyPr/>
          <a:lstStyle/>
          <a:p>
            <a:r>
              <a:t>Humain</a:t>
            </a:r>
          </a:p>
        </p:txBody>
      </p:sp>
      <p:sp>
        <p:nvSpPr>
          <p:cNvPr id="11" name="Text Placeholder 10"/>
          <p:cNvSpPr>
            <a:spLocks noGrp="1"/>
          </p:cNvSpPr>
          <p:nvPr>
            <p:ph type="body" idx="126"/>
          </p:nvPr>
        </p:nvSpPr>
        <p:spPr/>
        <p:txBody>
          <a:bodyPr/>
          <a:lstStyle/>
          <a:p>
            <a:r>
              <a:t>L’arbitre ultime sur les cas sensibles ; sert à calibrer les autres scorers.</a:t>
            </a:r>
          </a:p>
        </p:txBody>
      </p:sp>
      <p:sp>
        <p:nvSpPr>
          <p:cNvPr id="12" name="Picture Placeholder 11"/>
          <p:cNvSpPr>
            <a:spLocks noGrp="1"/>
          </p:cNvSpPr>
          <p:nvPr>
            <p:ph type="pic" idx="127" sz="quarter"/>
          </p:nvPr>
        </p:nvSpPr>
        <p:spPr/>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TP3 — Évaluer le Skill create-quarkus-mcp-server</a:t>
            </a:r>
          </a:p>
        </p:txBody>
      </p:sp>
      <p:sp>
        <p:nvSpPr>
          <p:cNvPr id="3" name="Text Placeholder 2"/>
          <p:cNvSpPr>
            <a:spLocks noGrp="1"/>
          </p:cNvSpPr>
          <p:nvPr>
            <p:ph type="body" idx="11"/>
          </p:nvPr>
        </p:nvSpPr>
        <p:spPr/>
        <p:txBody>
          <a:bodyPr/>
          <a:lstStyle/>
          <a:p>
            <a:r>
              <a:t>Mesurer si OpenCode + Skill produit un serveur MCP Quarkus conforme, sur le domaine catalogue de services. Harnais 100 % Java.</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Partir du squelette JUnit fourni (fixtures = serveur généré, runner, appel LLM-as-a-Judge déjà câblé).  Écrire les scorers déterministes : primitives enregistrées au build (find_service, get_owner), resource service://{name}, conventions de nommage.  Rédiger la grille du juge (LLM-as-a-Judge) pour la conformité nuancée, sur un mini-dataset happy / realistic / adverse.  Lancer l’éval sur plusieurs générations du Skill et lire le signal.</a:t>
            </a:r>
          </a:p>
        </p:txBody>
      </p:sp>
      <p:sp>
        <p:nvSpPr>
          <p:cNvPr id="6" name="Text Placeholder 5"/>
          <p:cNvSpPr>
            <a:spLocks noGrp="1"/>
          </p:cNvSpPr>
          <p:nvPr>
            <p:ph type="body" idx="14"/>
          </p:nvPr>
        </p:nvSpPr>
        <p:spPr/>
        <p:txBody>
          <a:bodyPr/>
          <a:lstStyle/>
          <a:p>
            <a:r>
              <a:t>Ce que vous écrivez</a:t>
            </a:r>
          </a:p>
        </p:txBody>
      </p:sp>
      <p:sp>
        <p:nvSpPr>
          <p:cNvPr id="7" name="Text Placeholder 6"/>
          <p:cNvSpPr>
            <a:spLocks noGrp="1"/>
          </p:cNvSpPr>
          <p:nvPr>
            <p:ph type="body" idx="15"/>
          </p:nvPr>
        </p:nvSpPr>
        <p:spPr/>
        <p:txBody>
          <a:bodyPr/>
          <a:lstStyle/>
          <a:p>
            <a:r>
              <a:t>Le squelette fournit la plomberie ; vous écrivez ce qui porte du jugement — les assertions de conformité et la grille du juge. On délègue la création, on garde la vérification.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M5 — Exploiter &amp; sécuriser en production</a:t>
            </a:r>
          </a:p>
        </p:txBody>
      </p:sp>
      <p:sp>
        <p:nvSpPr>
          <p:cNvPr id="3" name="Content Placeholder 2"/>
          <p:cNvSpPr>
            <a:spLocks noGrp="1"/>
          </p:cNvSpPr>
          <p:nvPr>
            <p:ph idx="12" sz="quarter"/>
          </p:nvPr>
        </p:nvSpPr>
        <p:spPr/>
        <p:txBody>
          <a:bodyPr/>
          <a:lstStyle/>
          <a:p>
            <a:r>
              <a:t>Observabilité, guardrails, et la sécurité des accès MCP.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Observabilité</a:t>
            </a:r>
          </a:p>
        </p:txBody>
      </p:sp>
      <p:sp>
        <p:nvSpPr>
          <p:cNvPr id="3" name="Text Placeholder 2"/>
          <p:cNvSpPr>
            <a:spLocks noGrp="1"/>
          </p:cNvSpPr>
          <p:nvPr>
            <p:ph type="body" idx="105"/>
          </p:nvPr>
        </p:nvSpPr>
        <p:spPr/>
        <p:txBody>
          <a:bodyPr/>
          <a:lstStyle/>
          <a:p>
            <a:r>
              <a:t>Voir ce que fait l’agent en production — et ce qu’il coûte</a:t>
            </a:r>
          </a:p>
        </p:txBody>
      </p:sp>
      <p:sp>
        <p:nvSpPr>
          <p:cNvPr id="4" name="Text Placeholder 3"/>
          <p:cNvSpPr>
            <a:spLocks noGrp="1"/>
          </p:cNvSpPr>
          <p:nvPr>
            <p:ph type="body" idx="109"/>
          </p:nvPr>
        </p:nvSpPr>
        <p:spPr/>
        <p:txBody>
          <a:bodyPr/>
          <a:lstStyle/>
          <a:p>
            <a:r>
              <a:t>Traces &amp; logs</a:t>
            </a:r>
          </a:p>
        </p:txBody>
      </p:sp>
      <p:sp>
        <p:nvSpPr>
          <p:cNvPr id="5" name="Text Placeholder 4"/>
          <p:cNvSpPr>
            <a:spLocks noGrp="1"/>
          </p:cNvSpPr>
          <p:nvPr>
            <p:ph type="body" idx="110"/>
          </p:nvPr>
        </p:nvSpPr>
        <p:spPr/>
        <p:txBody>
          <a:bodyPr/>
          <a:lstStyle/>
          <a:p>
            <a:r>
              <a:t>Chaque appel de tool, chaque prompt : tracés et corrélés.</a:t>
            </a:r>
          </a:p>
        </p:txBody>
      </p:sp>
      <p:sp>
        <p:nvSpPr>
          <p:cNvPr id="6" name="Text Placeholder 5"/>
          <p:cNvSpPr>
            <a:spLocks noGrp="1"/>
          </p:cNvSpPr>
          <p:nvPr>
            <p:ph type="body" idx="112"/>
          </p:nvPr>
        </p:nvSpPr>
        <p:spPr/>
        <p:txBody>
          <a:bodyPr/>
          <a:lstStyle/>
          <a:p>
            <a:r>
              <a:t>Latence &amp; coût</a:t>
            </a:r>
          </a:p>
        </p:txBody>
      </p:sp>
      <p:sp>
        <p:nvSpPr>
          <p:cNvPr id="7" name="Text Placeholder 6"/>
          <p:cNvSpPr>
            <a:spLocks noGrp="1"/>
          </p:cNvSpPr>
          <p:nvPr>
            <p:ph type="body" idx="113"/>
          </p:nvPr>
        </p:nvSpPr>
        <p:spPr/>
        <p:txBody>
          <a:bodyPr/>
          <a:lstStyle/>
          <a:p>
            <a:r>
              <a:t>Tokens, temps de réponse, coût par requête — les métriques qui pilotent.</a:t>
            </a:r>
          </a:p>
        </p:txBody>
      </p:sp>
      <p:sp>
        <p:nvSpPr>
          <p:cNvPr id="8" name="Text Placeholder 7"/>
          <p:cNvSpPr>
            <a:spLocks noGrp="1"/>
          </p:cNvSpPr>
          <p:nvPr>
            <p:ph type="body" idx="115"/>
          </p:nvPr>
        </p:nvSpPr>
        <p:spPr/>
        <p:txBody>
          <a:bodyPr/>
          <a:lstStyle/>
          <a:p>
            <a:r>
              <a:t>Alerting</a:t>
            </a:r>
          </a:p>
        </p:txBody>
      </p:sp>
      <p:sp>
        <p:nvSpPr>
          <p:cNvPr id="9" name="Text Placeholder 8"/>
          <p:cNvSpPr>
            <a:spLocks noGrp="1"/>
          </p:cNvSpPr>
          <p:nvPr>
            <p:ph type="body" idx="116"/>
          </p:nvPr>
        </p:nvSpPr>
        <p:spPr/>
        <p:txBody>
          <a:bodyPr/>
          <a:lstStyle/>
          <a:p>
            <a:r>
              <a:t>Seuils sur les dérives de qualité, de coût et d’erreurs.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Guardrails : la frontière avec l’éval</a:t>
            </a:r>
          </a:p>
        </p:txBody>
      </p:sp>
      <p:sp>
        <p:nvSpPr>
          <p:cNvPr id="3" name="Text Placeholder 2"/>
          <p:cNvSpPr>
            <a:spLocks noGrp="1"/>
          </p:cNvSpPr>
          <p:nvPr>
            <p:ph type="body" idx="109"/>
          </p:nvPr>
        </p:nvSpPr>
        <p:spPr/>
        <p:txBody>
          <a:bodyPr/>
          <a:lstStyle/>
          <a:p>
            <a:r>
              <a:t>Évaluer, c’est hors-ligne ; garder, c’est en temps réel</a:t>
            </a:r>
          </a:p>
        </p:txBody>
      </p:sp>
      <p:sp>
        <p:nvSpPr>
          <p:cNvPr id="4" name="Text Placeholder 3"/>
          <p:cNvSpPr>
            <a:spLocks noGrp="1"/>
          </p:cNvSpPr>
          <p:nvPr>
            <p:ph type="body" idx="111"/>
          </p:nvPr>
        </p:nvSpPr>
        <p:spPr/>
        <p:txBody>
          <a:bodyPr/>
          <a:lstStyle/>
          <a:p>
            <a:r>
              <a:t>ÉVAL</a:t>
            </a:r>
          </a:p>
        </p:txBody>
      </p:sp>
      <p:sp>
        <p:nvSpPr>
          <p:cNvPr id="5" name="Text Placeholder 4"/>
          <p:cNvSpPr>
            <a:spLocks noGrp="1"/>
          </p:cNvSpPr>
          <p:nvPr>
            <p:ph type="body" idx="112"/>
          </p:nvPr>
        </p:nvSpPr>
        <p:spPr/>
        <p:txBody>
          <a:bodyPr/>
          <a:lstStyle/>
          <a:p>
            <a:r>
              <a:t>Avant / hors-ligne</a:t>
            </a:r>
          </a:p>
        </p:txBody>
      </p:sp>
      <p:sp>
        <p:nvSpPr>
          <p:cNvPr id="6" name="Text Placeholder 5"/>
          <p:cNvSpPr>
            <a:spLocks noGrp="1"/>
          </p:cNvSpPr>
          <p:nvPr>
            <p:ph type="body" idx="113"/>
          </p:nvPr>
        </p:nvSpPr>
        <p:spPr/>
        <p:txBody>
          <a:bodyPr/>
          <a:lstStyle/>
          <a:p>
            <a:r>
              <a:t>On mesure la qualité sur un dataset, à froid, pour décider si on déploie. C’est TP3.</a:t>
            </a:r>
          </a:p>
        </p:txBody>
      </p:sp>
      <p:sp>
        <p:nvSpPr>
          <p:cNvPr id="7" name="Text Placeholder 6"/>
          <p:cNvSpPr>
            <a:spLocks noGrp="1"/>
          </p:cNvSpPr>
          <p:nvPr>
            <p:ph type="body" idx="114"/>
          </p:nvPr>
        </p:nvSpPr>
        <p:spPr/>
        <p:txBody>
          <a:bodyPr/>
          <a:lstStyle/>
          <a:p>
            <a:r>
              <a:t>GUARDRAILS</a:t>
            </a:r>
          </a:p>
        </p:txBody>
      </p:sp>
      <p:sp>
        <p:nvSpPr>
          <p:cNvPr id="8" name="Text Placeholder 7"/>
          <p:cNvSpPr>
            <a:spLocks noGrp="1"/>
          </p:cNvSpPr>
          <p:nvPr>
            <p:ph type="body" idx="115"/>
          </p:nvPr>
        </p:nvSpPr>
        <p:spPr/>
        <p:txBody>
          <a:bodyPr/>
          <a:lstStyle/>
          <a:p>
            <a:r>
              <a:t>Pendant / temps réel</a:t>
            </a:r>
          </a:p>
        </p:txBody>
      </p:sp>
      <p:sp>
        <p:nvSpPr>
          <p:cNvPr id="9" name="Text Placeholder 8"/>
          <p:cNvSpPr>
            <a:spLocks noGrp="1"/>
          </p:cNvSpPr>
          <p:nvPr>
            <p:ph type="body" idx="116"/>
          </p:nvPr>
        </p:nvSpPr>
        <p:spPr/>
        <p:txBody>
          <a:bodyPr/>
          <a:lstStyle/>
          <a:p>
            <a:r>
              <a:t>On intercepte en direct : filtrer une entrée dangereuse, bloquer une sortie non conforme, couper une boucle. Complémentaire de l’éval, pas un substitut.</a:t>
            </a:r>
          </a:p>
        </p:txBody>
      </p:sp>
      <p:sp>
        <p:nvSpPr>
          <p:cNvPr id="10" name="Picture Placeholder 9"/>
          <p:cNvSpPr>
            <a:spLocks noGrp="1"/>
          </p:cNvSpPr>
          <p:nvPr>
            <p:ph type="pic" idx="117" sz="quarter"/>
          </p:nvPr>
        </p:nvSpPr>
        <p:spPr/>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Sécuriser les accès MCP : le gateway</a:t>
            </a:r>
          </a:p>
        </p:txBody>
      </p:sp>
      <p:sp>
        <p:nvSpPr>
          <p:cNvPr id="3" name="Text Placeholder 2"/>
          <p:cNvSpPr>
            <a:spLocks noGrp="1"/>
          </p:cNvSpPr>
          <p:nvPr>
            <p:ph type="body" idx="109"/>
          </p:nvPr>
        </p:nvSpPr>
        <p:spPr/>
        <p:txBody>
          <a:bodyPr/>
          <a:lstStyle/>
          <a:p>
            <a:r>
              <a:t>Le « col du sablier » de M0, rendu concret</a:t>
            </a:r>
          </a:p>
        </p:txBody>
      </p:sp>
      <p:sp>
        <p:nvSpPr>
          <p:cNvPr id="4" name="Text Placeholder 3"/>
          <p:cNvSpPr>
            <a:spLocks noGrp="1"/>
          </p:cNvSpPr>
          <p:nvPr>
            <p:ph type="body" idx="111"/>
          </p:nvPr>
        </p:nvSpPr>
        <p:spPr/>
        <p:txBody>
          <a:bodyPr/>
          <a:lstStyle/>
          <a:p>
            <a:r>
              <a:t>LE PATTERN</a:t>
            </a:r>
          </a:p>
        </p:txBody>
      </p:sp>
      <p:sp>
        <p:nvSpPr>
          <p:cNvPr id="5" name="Text Placeholder 4"/>
          <p:cNvSpPr>
            <a:spLocks noGrp="1"/>
          </p:cNvSpPr>
          <p:nvPr>
            <p:ph type="body" idx="112"/>
          </p:nvPr>
        </p:nvSpPr>
        <p:spPr/>
        <p:txBody>
          <a:bodyPr/>
          <a:lstStyle/>
          <a:p>
            <a:r>
              <a:t>Un frontal unique</a:t>
            </a:r>
          </a:p>
        </p:txBody>
      </p:sp>
      <p:sp>
        <p:nvSpPr>
          <p:cNvPr id="6" name="Text Placeholder 5"/>
          <p:cNvSpPr>
            <a:spLocks noGrp="1"/>
          </p:cNvSpPr>
          <p:nvPr>
            <p:ph type="body" idx="113"/>
          </p:nvPr>
        </p:nvSpPr>
        <p:spPr/>
        <p:txBody>
          <a:bodyPr/>
          <a:lstStyle/>
          <a:p>
            <a:r>
              <a:t>Tous les clients passent par un gateway devant les serveurs MCP, plutôt que des accès directs dispersés.</a:t>
            </a:r>
          </a:p>
        </p:txBody>
      </p:sp>
      <p:sp>
        <p:nvSpPr>
          <p:cNvPr id="7" name="Text Placeholder 6"/>
          <p:cNvSpPr>
            <a:spLocks noGrp="1"/>
          </p:cNvSpPr>
          <p:nvPr>
            <p:ph type="body" idx="114"/>
          </p:nvPr>
        </p:nvSpPr>
        <p:spPr/>
        <p:txBody>
          <a:bodyPr/>
          <a:lstStyle/>
          <a:p>
            <a:r>
              <a:t>CE QU’IL CENTRALISE</a:t>
            </a:r>
          </a:p>
        </p:txBody>
      </p:sp>
      <p:sp>
        <p:nvSpPr>
          <p:cNvPr id="8" name="Text Placeholder 7"/>
          <p:cNvSpPr>
            <a:spLocks noGrp="1"/>
          </p:cNvSpPr>
          <p:nvPr>
            <p:ph type="body" idx="115"/>
          </p:nvPr>
        </p:nvSpPr>
        <p:spPr/>
        <p:txBody>
          <a:bodyPr/>
          <a:lstStyle/>
          <a:p>
            <a:r>
              <a:t>Auth, audit, autorisation</a:t>
            </a:r>
          </a:p>
        </p:txBody>
      </p:sp>
      <p:sp>
        <p:nvSpPr>
          <p:cNvPr id="9" name="Text Placeholder 8"/>
          <p:cNvSpPr>
            <a:spLocks noGrp="1"/>
          </p:cNvSpPr>
          <p:nvPr>
            <p:ph type="body" idx="116"/>
          </p:nvPr>
        </p:nvSpPr>
        <p:spPr/>
        <p:txBody>
          <a:bodyPr/>
          <a:lstStyle/>
          <a:p>
            <a:r>
              <a:t>Authentification (OAuth2 / API key), journal d’audit, autorisation par outil, rate limiting. Un seul endroit à gouverner.</a:t>
            </a:r>
          </a:p>
        </p:txBody>
      </p:sp>
      <p:sp>
        <p:nvSpPr>
          <p:cNvPr id="10" name="Picture Placeholder 9"/>
          <p:cNvSpPr>
            <a:spLocks noGrp="1"/>
          </p:cNvSpPr>
          <p:nvPr>
            <p:ph type="pic" idx="117" sz="quarter"/>
          </p:nvPr>
        </p:nvSpPr>
        <p:spPr/>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M6 — Gouverner le contexte à l’échelle (GitLab)</a:t>
            </a:r>
          </a:p>
        </p:txBody>
      </p:sp>
      <p:sp>
        <p:nvSpPr>
          <p:cNvPr id="3" name="Content Placeholder 2"/>
          <p:cNvSpPr>
            <a:spLocks noGrp="1"/>
          </p:cNvSpPr>
          <p:nvPr>
            <p:ph idx="12" sz="quarter"/>
          </p:nvPr>
        </p:nvSpPr>
        <p:spPr/>
        <p:txBody>
          <a:bodyPr/>
          <a:lstStyle/>
          <a:p>
            <a:r>
              <a:t>Le contexte est du code : le versionner, le revoir, le protéger.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Gouverner le contexte comme du code</a:t>
            </a:r>
          </a:p>
        </p:txBody>
      </p:sp>
      <p:sp>
        <p:nvSpPr>
          <p:cNvPr id="3" name="Text Placeholder 2"/>
          <p:cNvSpPr>
            <a:spLocks noGrp="1"/>
          </p:cNvSpPr>
          <p:nvPr>
            <p:ph type="body" idx="105"/>
          </p:nvPr>
        </p:nvSpPr>
        <p:spPr/>
        <p:txBody>
          <a:bodyPr/>
          <a:lstStyle/>
          <a:p>
            <a:r>
              <a:t>Quatre leviers, tous portés par GitLab</a:t>
            </a:r>
          </a:p>
        </p:txBody>
      </p:sp>
      <p:sp>
        <p:nvSpPr>
          <p:cNvPr id="4" name="Text Placeholder 3"/>
          <p:cNvSpPr>
            <a:spLocks noGrp="1"/>
          </p:cNvSpPr>
          <p:nvPr>
            <p:ph type="body" idx="110"/>
          </p:nvPr>
        </p:nvSpPr>
        <p:spPr/>
        <p:txBody>
          <a:bodyPr/>
          <a:lstStyle/>
          <a:p>
            <a:r>
              <a:t>Versioning</a:t>
            </a:r>
          </a:p>
        </p:txBody>
      </p:sp>
      <p:sp>
        <p:nvSpPr>
          <p:cNvPr id="5" name="Text Placeholder 4"/>
          <p:cNvSpPr>
            <a:spLocks noGrp="1"/>
          </p:cNvSpPr>
          <p:nvPr>
            <p:ph type="body" idx="111"/>
          </p:nvPr>
        </p:nvSpPr>
        <p:spPr/>
        <p:txBody>
          <a:bodyPr/>
          <a:lstStyle/>
          <a:p>
            <a:r>
              <a:t>MR + branch protection : aucun changement de Skill sans revue.</a:t>
            </a:r>
          </a:p>
        </p:txBody>
      </p:sp>
      <p:sp>
        <p:nvSpPr>
          <p:cNvPr id="6" name="Text Placeholder 5"/>
          <p:cNvSpPr>
            <a:spLocks noGrp="1"/>
          </p:cNvSpPr>
          <p:nvPr>
            <p:ph type="body" idx="115"/>
          </p:nvPr>
        </p:nvSpPr>
        <p:spPr/>
        <p:txBody>
          <a:bodyPr/>
          <a:lstStyle/>
          <a:p>
            <a:r>
              <a:t>Permissions</a:t>
            </a:r>
          </a:p>
        </p:txBody>
      </p:sp>
      <p:sp>
        <p:nvSpPr>
          <p:cNvPr id="7" name="Text Placeholder 6"/>
          <p:cNvSpPr>
            <a:spLocks noGrp="1"/>
          </p:cNvSpPr>
          <p:nvPr>
            <p:ph type="body" idx="116"/>
          </p:nvPr>
        </p:nvSpPr>
        <p:spPr/>
        <p:txBody>
          <a:bodyPr/>
          <a:lstStyle/>
          <a:p>
            <a:r>
              <a:t>Par agent (allow/deny) : qui a le droit d’utiliser quel Skill.</a:t>
            </a:r>
          </a:p>
        </p:txBody>
      </p:sp>
      <p:sp>
        <p:nvSpPr>
          <p:cNvPr id="8" name="Text Placeholder 7"/>
          <p:cNvSpPr>
            <a:spLocks noGrp="1"/>
          </p:cNvSpPr>
          <p:nvPr>
            <p:ph type="body" idx="120"/>
          </p:nvPr>
        </p:nvSpPr>
        <p:spPr/>
        <p:txBody>
          <a:bodyPr/>
          <a:lstStyle/>
          <a:p>
            <a:r>
              <a:t>Données sensibles</a:t>
            </a:r>
          </a:p>
        </p:txBody>
      </p:sp>
      <p:sp>
        <p:nvSpPr>
          <p:cNvPr id="9" name="Text Placeholder 8"/>
          <p:cNvSpPr>
            <a:spLocks noGrp="1"/>
          </p:cNvSpPr>
          <p:nvPr>
            <p:ph type="body" idx="121"/>
          </p:nvPr>
        </p:nvSpPr>
        <p:spPr/>
        <p:txBody>
          <a:bodyPr/>
          <a:lstStyle/>
          <a:p>
            <a:r>
              <a:t>Ce qui n’entre jamais dans le contexte partagé : secrets, PII.</a:t>
            </a:r>
          </a:p>
        </p:txBody>
      </p:sp>
      <p:sp>
        <p:nvSpPr>
          <p:cNvPr id="10" name="Text Placeholder 9"/>
          <p:cNvSpPr>
            <a:spLocks noGrp="1"/>
          </p:cNvSpPr>
          <p:nvPr>
            <p:ph type="body" idx="125"/>
          </p:nvPr>
        </p:nvSpPr>
        <p:spPr/>
        <p:txBody>
          <a:bodyPr/>
          <a:lstStyle/>
          <a:p>
            <a:r>
              <a:t>Drift</a:t>
            </a:r>
          </a:p>
        </p:txBody>
      </p:sp>
      <p:sp>
        <p:nvSpPr>
          <p:cNvPr id="11" name="Text Placeholder 10"/>
          <p:cNvSpPr>
            <a:spLocks noGrp="1"/>
          </p:cNvSpPr>
          <p:nvPr>
            <p:ph type="body" idx="126"/>
          </p:nvPr>
        </p:nvSpPr>
        <p:spPr/>
        <p:txBody>
          <a:bodyPr/>
          <a:lstStyle/>
          <a:p>
            <a:r>
              <a:t>Le test de suppression en revue : le Skill doit rétrécir, pas grossir.</a:t>
            </a:r>
          </a:p>
        </p:txBody>
      </p:sp>
      <p:sp>
        <p:nvSpPr>
          <p:cNvPr id="12" name="Picture Placeholder 11"/>
          <p:cNvSpPr>
            <a:spLocks noGrp="1"/>
          </p:cNvSpPr>
          <p:nvPr>
            <p:ph type="pic" idx="127" sz="quarter"/>
          </p:nvPr>
        </p:nvSpPr>
        <p:spPr/>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boucle de gouvernance</a:t>
            </a:r>
          </a:p>
        </p:txBody>
      </p:sp>
      <p:sp>
        <p:nvSpPr>
          <p:cNvPr id="3" name="Text Placeholder 2"/>
          <p:cNvSpPr>
            <a:spLocks noGrp="1"/>
          </p:cNvSpPr>
          <p:nvPr>
            <p:ph type="body" idx="11"/>
          </p:nvPr>
        </p:nvSpPr>
        <p:spPr/>
        <p:txBody>
          <a:bodyPr/>
          <a:lstStyle/>
          <a:p>
            <a:r>
              <a:t>Le Skill vit sur GitLab. Toute évolution passe par une merge request : la CI rejoue l’éval de TP3, CODEOWNERS impose la revue de la platform team, la branch protection interdit le push direct. Une modification qui casse la conformité est bloquée avant le merge — le Skill reste sûr à faire évoluer.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TP4 — Gouverner le Skill sur GitLab</a:t>
            </a:r>
          </a:p>
        </p:txBody>
      </p:sp>
      <p:sp>
        <p:nvSpPr>
          <p:cNvPr id="3" name="Text Placeholder 2"/>
          <p:cNvSpPr>
            <a:spLocks noGrp="1"/>
          </p:cNvSpPr>
          <p:nvPr>
            <p:ph type="body" idx="11"/>
          </p:nvPr>
        </p:nvSpPr>
        <p:spPr/>
        <p:txBody>
          <a:bodyPr/>
          <a:lstStyle/>
          <a:p>
            <a:r>
              <a:t>Mettre le Skill create-quarkus-mcp-server sous gouvernance : versioning, revue, protection, permissions.</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Pousser le Skill sur GitLab, branch protection sur main.  CODEOWNERS : la platform team revoit tout changement de Skill.  .gitlab-ci.yml rejoue l’éval de TP3 sur chaque merge request.  Régler les permissions de skill par agent (allow/deny).  Appliquer le test de suppression en revue.</a:t>
            </a:r>
          </a:p>
        </p:txBody>
      </p:sp>
      <p:sp>
        <p:nvSpPr>
          <p:cNvPr id="6" name="Text Placeholder 5"/>
          <p:cNvSpPr>
            <a:spLocks noGrp="1"/>
          </p:cNvSpPr>
          <p:nvPr>
            <p:ph type="body" idx="14"/>
          </p:nvPr>
        </p:nvSpPr>
        <p:spPr/>
        <p:txBody>
          <a:bodyPr/>
          <a:lstStyle/>
          <a:p>
            <a:r>
              <a:t>Le principe</a:t>
            </a:r>
          </a:p>
        </p:txBody>
      </p:sp>
      <p:sp>
        <p:nvSpPr>
          <p:cNvPr id="7" name="Text Placeholder 6"/>
          <p:cNvSpPr>
            <a:spLocks noGrp="1"/>
          </p:cNvSpPr>
          <p:nvPr>
            <p:ph type="body" idx="15"/>
          </p:nvPr>
        </p:nvSpPr>
        <p:spPr/>
        <p:txBody>
          <a:bodyPr/>
          <a:lstStyle/>
          <a:p>
            <a:r>
              <a:t>Une modif qui casse la conformité est bloquée avant le merge. Le Skill doit rétrécir avec le temps (test de suppression), pas grossir.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M7 — Atelier : le modèle opératoire de l’usine logicielle IA</a:t>
            </a:r>
          </a:p>
        </p:txBody>
      </p:sp>
      <p:sp>
        <p:nvSpPr>
          <p:cNvPr id="3" name="Content Placeholder 2"/>
          <p:cNvSpPr>
            <a:spLocks noGrp="1"/>
          </p:cNvSpPr>
          <p:nvPr>
            <p:ph idx="12" sz="quarter"/>
          </p:nvPr>
        </p:nvSpPr>
        <p:spPr/>
        <p:txBody>
          <a:bodyPr/>
          <a:lstStyle/>
          <a:p>
            <a:r>
              <a:t>La platform team comme route pavée — et l’atelier de synthèse.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La platform team comme route pavée</a:t>
            </a:r>
          </a:p>
        </p:txBody>
      </p:sp>
      <p:sp>
        <p:nvSpPr>
          <p:cNvPr id="3" name="Text Placeholder 2"/>
          <p:cNvSpPr>
            <a:spLocks noGrp="1"/>
          </p:cNvSpPr>
          <p:nvPr>
            <p:ph type="body" idx="109"/>
          </p:nvPr>
        </p:nvSpPr>
        <p:spPr/>
        <p:txBody>
          <a:bodyPr/>
          <a:lstStyle/>
          <a:p>
            <a:r>
              <a:t>Vous fournissez des capacités ; les équipes les consomment en libre-service</a:t>
            </a:r>
          </a:p>
        </p:txBody>
      </p:sp>
      <p:sp>
        <p:nvSpPr>
          <p:cNvPr id="4" name="Text Placeholder 3"/>
          <p:cNvSpPr>
            <a:spLocks noGrp="1"/>
          </p:cNvSpPr>
          <p:nvPr>
            <p:ph type="body" idx="111"/>
          </p:nvPr>
        </p:nvSpPr>
        <p:spPr/>
        <p:txBody>
          <a:bodyPr/>
          <a:lstStyle/>
          <a:p>
            <a:r>
              <a:t>VOUS FOURNISSEZ</a:t>
            </a:r>
          </a:p>
        </p:txBody>
      </p:sp>
      <p:sp>
        <p:nvSpPr>
          <p:cNvPr id="5" name="Text Placeholder 4"/>
          <p:cNvSpPr>
            <a:spLocks noGrp="1"/>
          </p:cNvSpPr>
          <p:nvPr>
            <p:ph type="body" idx="112"/>
          </p:nvPr>
        </p:nvSpPr>
        <p:spPr/>
        <p:txBody>
          <a:bodyPr/>
          <a:lstStyle/>
          <a:p>
            <a:r>
              <a:t>Un catalogue de capacités</a:t>
            </a:r>
          </a:p>
        </p:txBody>
      </p:sp>
      <p:sp>
        <p:nvSpPr>
          <p:cNvPr id="6" name="Text Placeholder 5"/>
          <p:cNvSpPr>
            <a:spLocks noGrp="1"/>
          </p:cNvSpPr>
          <p:nvPr>
            <p:ph type="body" idx="113"/>
          </p:nvPr>
        </p:nvSpPr>
        <p:spPr/>
        <p:txBody>
          <a:bodyPr/>
          <a:lstStyle/>
          <a:p>
            <a:r>
              <a:t>Serveurs MCP, Skills, scorers réutilisables — construits, évalués, gouvernés. Le fil rouge de ces deux jours en est un exemplaire.</a:t>
            </a:r>
          </a:p>
        </p:txBody>
      </p:sp>
      <p:sp>
        <p:nvSpPr>
          <p:cNvPr id="7" name="Text Placeholder 6"/>
          <p:cNvSpPr>
            <a:spLocks noGrp="1"/>
          </p:cNvSpPr>
          <p:nvPr>
            <p:ph type="body" idx="114"/>
          </p:nvPr>
        </p:nvSpPr>
        <p:spPr/>
        <p:txBody>
          <a:bodyPr/>
          <a:lstStyle/>
          <a:p>
            <a:r>
              <a:t>LES ÉQUIPES CONSOMMENT</a:t>
            </a:r>
          </a:p>
        </p:txBody>
      </p:sp>
      <p:sp>
        <p:nvSpPr>
          <p:cNvPr id="8" name="Text Placeholder 7"/>
          <p:cNvSpPr>
            <a:spLocks noGrp="1"/>
          </p:cNvSpPr>
          <p:nvPr>
            <p:ph type="body" idx="115"/>
          </p:nvPr>
        </p:nvSpPr>
        <p:spPr/>
        <p:txBody>
          <a:bodyPr/>
          <a:lstStyle/>
          <a:p>
            <a:r>
              <a:t>Conforme par défaut</a:t>
            </a:r>
          </a:p>
        </p:txBody>
      </p:sp>
      <p:sp>
        <p:nvSpPr>
          <p:cNvPr id="9" name="Text Placeholder 8"/>
          <p:cNvSpPr>
            <a:spLocks noGrp="1"/>
          </p:cNvSpPr>
          <p:nvPr>
            <p:ph type="body" idx="116"/>
          </p:nvPr>
        </p:nvSpPr>
        <p:spPr/>
        <p:txBody>
          <a:bodyPr/>
          <a:lstStyle/>
          <a:p>
            <a:r>
              <a:t>Elles partent du catalogue plutôt que de la page blanche. La conformité est fournie, pas imposée après coup.</a:t>
            </a:r>
          </a:p>
        </p:txBody>
      </p:sp>
      <p:sp>
        <p:nvSpPr>
          <p:cNvPr id="10" name="Picture Placeholder 9"/>
          <p:cNvSpPr>
            <a:spLocks noGrp="1"/>
          </p:cNvSpPr>
          <p:nvPr>
            <p:ph type="pic" idx="117" sz="quarter"/>
          </p:nvPr>
        </p:nvSpPr>
        <p:spPr/>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cycle de vie d’une capacité</a:t>
            </a:r>
          </a:p>
        </p:txBody>
      </p:sp>
      <p:sp>
        <p:nvSpPr>
          <p:cNvPr id="3" name="Text Placeholder 2"/>
          <p:cNvSpPr>
            <a:spLocks noGrp="1"/>
          </p:cNvSpPr>
          <p:nvPr>
            <p:ph type="body" idx="105"/>
          </p:nvPr>
        </p:nvSpPr>
        <p:spPr/>
        <p:txBody>
          <a:bodyPr/>
          <a:lstStyle/>
          <a:p>
            <a:r>
              <a:t>Une capacité se gère comme un produit — jusqu’à sa fin</a:t>
            </a:r>
          </a:p>
        </p:txBody>
      </p:sp>
      <p:sp>
        <p:nvSpPr>
          <p:cNvPr id="4" name="Text Placeholder 3"/>
          <p:cNvSpPr>
            <a:spLocks noGrp="1"/>
          </p:cNvSpPr>
          <p:nvPr>
            <p:ph type="body" idx="110"/>
          </p:nvPr>
        </p:nvSpPr>
        <p:spPr/>
        <p:txBody>
          <a:bodyPr/>
          <a:lstStyle/>
          <a:p>
            <a:r>
              <a:t>Contribution</a:t>
            </a:r>
          </a:p>
        </p:txBody>
      </p:sp>
      <p:sp>
        <p:nvSpPr>
          <p:cNvPr id="5" name="Text Placeholder 4"/>
          <p:cNvSpPr>
            <a:spLocks noGrp="1"/>
          </p:cNvSpPr>
          <p:nvPr>
            <p:ph type="body" idx="111"/>
          </p:nvPr>
        </p:nvSpPr>
        <p:spPr/>
        <p:txBody>
          <a:bodyPr/>
          <a:lstStyle/>
          <a:p>
            <a:r>
              <a:t>Une équipe propose une capacité (serveur MCP, Skill).</a:t>
            </a:r>
          </a:p>
        </p:txBody>
      </p:sp>
      <p:sp>
        <p:nvSpPr>
          <p:cNvPr id="6" name="Text Placeholder 5"/>
          <p:cNvSpPr>
            <a:spLocks noGrp="1"/>
          </p:cNvSpPr>
          <p:nvPr>
            <p:ph type="body" idx="115"/>
          </p:nvPr>
        </p:nvSpPr>
        <p:spPr/>
        <p:txBody>
          <a:bodyPr/>
          <a:lstStyle/>
          <a:p>
            <a:r>
              <a:t>Revue</a:t>
            </a:r>
          </a:p>
        </p:txBody>
      </p:sp>
      <p:sp>
        <p:nvSpPr>
          <p:cNvPr id="7" name="Text Placeholder 6"/>
          <p:cNvSpPr>
            <a:spLocks noGrp="1"/>
          </p:cNvSpPr>
          <p:nvPr>
            <p:ph type="body" idx="116"/>
          </p:nvPr>
        </p:nvSpPr>
        <p:spPr/>
        <p:txBody>
          <a:bodyPr/>
          <a:lstStyle/>
          <a:p>
            <a:r>
              <a:t>La platform team valide : conformité, éval, sécurité.</a:t>
            </a:r>
          </a:p>
        </p:txBody>
      </p:sp>
      <p:sp>
        <p:nvSpPr>
          <p:cNvPr id="8" name="Text Placeholder 7"/>
          <p:cNvSpPr>
            <a:spLocks noGrp="1"/>
          </p:cNvSpPr>
          <p:nvPr>
            <p:ph type="body" idx="120"/>
          </p:nvPr>
        </p:nvSpPr>
        <p:spPr/>
        <p:txBody>
          <a:bodyPr/>
          <a:lstStyle/>
          <a:p>
            <a:r>
              <a:t>Distribution</a:t>
            </a:r>
          </a:p>
        </p:txBody>
      </p:sp>
      <p:sp>
        <p:nvSpPr>
          <p:cNvPr id="9" name="Text Placeholder 8"/>
          <p:cNvSpPr>
            <a:spLocks noGrp="1"/>
          </p:cNvSpPr>
          <p:nvPr>
            <p:ph type="body" idx="121"/>
          </p:nvPr>
        </p:nvSpPr>
        <p:spPr/>
        <p:txBody>
          <a:bodyPr/>
          <a:lstStyle/>
          <a:p>
            <a:r>
              <a:t>Publiée au catalogue, versionnée, consommable en libre-service.</a:t>
            </a:r>
          </a:p>
        </p:txBody>
      </p:sp>
      <p:sp>
        <p:nvSpPr>
          <p:cNvPr id="10" name="Text Placeholder 9"/>
          <p:cNvSpPr>
            <a:spLocks noGrp="1"/>
          </p:cNvSpPr>
          <p:nvPr>
            <p:ph type="body" idx="125"/>
          </p:nvPr>
        </p:nvSpPr>
        <p:spPr/>
        <p:txBody>
          <a:bodyPr/>
          <a:lstStyle/>
          <a:p>
            <a:r>
              <a:t>Dépréciation</a:t>
            </a:r>
          </a:p>
        </p:txBody>
      </p:sp>
      <p:sp>
        <p:nvSpPr>
          <p:cNvPr id="11" name="Text Placeholder 10"/>
          <p:cNvSpPr>
            <a:spLocks noGrp="1"/>
          </p:cNvSpPr>
          <p:nvPr>
            <p:ph type="body" idx="126"/>
          </p:nvPr>
        </p:nvSpPr>
        <p:spPr/>
        <p:txBody>
          <a:bodyPr/>
          <a:lstStyle/>
          <a:p>
            <a:r>
              <a:t>Le test de suppression : quand le socle l’absorbe, on la retire.</a:t>
            </a:r>
          </a:p>
        </p:txBody>
      </p:sp>
      <p:sp>
        <p:nvSpPr>
          <p:cNvPr id="12" name="Picture Placeholder 11"/>
          <p:cNvSpPr>
            <a:spLocks noGrp="1"/>
          </p:cNvSpPr>
          <p:nvPr>
            <p:ph type="pic" idx="127" sz="quarter"/>
          </p:nvPr>
        </p:nvSpPr>
        <p:spPr/>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Atelier — esquisser la cible du groupe</a:t>
            </a:r>
          </a:p>
        </p:txBody>
      </p:sp>
      <p:sp>
        <p:nvSpPr>
          <p:cNvPr id="3" name="Text Placeholder 2"/>
          <p:cNvSpPr>
            <a:spLocks noGrp="1"/>
          </p:cNvSpPr>
          <p:nvPr>
            <p:ph type="body" idx="11"/>
          </p:nvPr>
        </p:nvSpPr>
        <p:spPr/>
        <p:txBody>
          <a:bodyPr/>
          <a:lstStyle/>
          <a:p>
            <a:r>
              <a:t>Traduire les deux jours en un premier modèle opératoire d’usine logicielle IA pour votre groupe.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Cartographier les capacités déjà bricolées dans les équipes.  Choisir la première à cataloguer (un serveur MCP ou un Skill).  Définir qui décide quoi : contribution, revue, dépréciation.  Appliquer le test de suppression à une capacité maison existante.</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t>Une esquisse de la cible « usine + gouvernance » et un premier pas concret, applicable dès le retour.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résumé</a:t>
            </a:r>
          </a:p>
        </p:txBody>
      </p:sp>
      <p:sp>
        <p:nvSpPr>
          <p:cNvPr id="3" name="Text Placeholder 2"/>
          <p:cNvSpPr>
            <a:spLocks noGrp="1"/>
          </p:cNvSpPr>
          <p:nvPr>
            <p:ph type="body" idx="12"/>
          </p:nvPr>
        </p:nvSpPr>
        <p:spPr/>
        <p:txBody>
          <a:bodyPr/>
          <a:lstStyle/>
          <a:p>
            <a:r>
              <a:t>Et ensuite</a:t>
            </a:r>
          </a:p>
        </p:txBody>
      </p:sp>
      <p:sp>
        <p:nvSpPr>
          <p:cNvPr id="4" name="Text Placeholder 3"/>
          <p:cNvSpPr>
            <a:spLocks noGrp="1"/>
          </p:cNvSpPr>
          <p:nvPr>
            <p:ph type="body" idx="13"/>
          </p:nvPr>
        </p:nvSpPr>
        <p:spPr/>
        <p:txBody>
          <a:bodyPr/>
          <a:lstStyle/>
          <a:p>
            <a:r>
              <a:t>Détailler les TP, figer le framework (Quarkus) et le modèle LLM des ateliers, puis produire les supports complets M2 à M7.</a:t>
            </a:r>
          </a:p>
        </p:txBody>
      </p:sp>
      <p:sp>
        <p:nvSpPr>
          <p:cNvPr id="5" name="Text Placeholder 4"/>
          <p:cNvSpPr>
            <a:spLocks noGrp="1"/>
          </p:cNvSpPr>
          <p:nvPr>
            <p:ph type="body" idx="14" sz="quarter"/>
          </p:nvPr>
        </p:nvSpPr>
        <p:spPr/>
        <p:txBody>
          <a:bodyPr/>
          <a:lstStyle/>
          <a:p>
            <a:r>
              <a:t>Deux jours, un fil rouge : construire un serveur MCP, partager son contexte, l’évaluer, le gouverner.  La ligne de flottaison reste le fil conducteur — bâtir haut, au-dessus de ce que le socle absorbera, et garder la main sur ce qui ne sera jamais absorbé.</a:t>
            </a:r>
          </a:p>
        </p:txBody>
      </p:sp>
    </p:spTree>
  </p:cSld>
  <p:clrMapOvr>
    <a:masterClrMapping/>
  </p:clrMapOvr>
</p:sld>
</file>

<file path=ppt/theme/theme1.xml><?xml version="1.0" encoding="utf-8"?>
<a:theme xmlns:a="http://schemas.openxmlformats.org/drawingml/2006/main" name="SCIAM colors:   # Surface &amp; background">
  <a:themeElements>
    <a:clrScheme name="Personnalisé 13">
      <a:dk1>
        <a:srgbClr val="16100E"/>
      </a:dk1>
      <a:lt1>
        <a:srgbClr val="FFFFFF"/>
      </a:lt1>
      <a:dk2>
        <a:srgbClr val="222D45"/>
      </a:dk2>
      <a:lt2>
        <a:srgbClr val="FFFFFF"/>
      </a:lt2>
      <a:accent1>
        <a:srgbClr val="222D45"/>
      </a:accent1>
      <a:accent2>
        <a:srgbClr val="504C49"/>
      </a:accent2>
      <a:accent3>
        <a:srgbClr val="FFFFFF"/>
      </a:accent3>
      <a:accent4>
        <a:srgbClr val="16100E"/>
      </a:accent4>
      <a:accent5>
        <a:srgbClr val="FFC000"/>
      </a:accent5>
      <a:accent6>
        <a:srgbClr val="E0DDDA"/>
      </a:accent6>
      <a:hlink>
        <a:srgbClr val="222D45"/>
      </a:hlink>
      <a:folHlink>
        <a:srgbClr val="504C49"/>
      </a:folHlink>
    </a:clrScheme>
    <a:fontScheme name="SCIAM colors:   # Surface &amp; background">
      <a:majorFont>
        <a:latin typeface="DM Serif Text"/>
        <a:ea typeface=""/>
        <a:cs typeface=""/>
      </a:majorFont>
      <a:minorFont>
        <a:latin typeface="DM Sans"/>
        <a:ea typeface=""/>
        <a:cs typeface=""/>
      </a:minorFont>
    </a:fontScheme>
    <a:fmtScheme name="Office">
      <a:fillStyleLst>
        <a:solidFill>
          <a:schemeClr val="phClr"/>
        </a:solidFill>
        <a:gradFill rotWithShape="1">
          <a:gsLst>
            <a:gs pos="0">
              <a:schemeClr val="phClr"/>
            </a:gs>
            <a:gs pos="100000">
              <a:schemeClr val="phClr">
                <a:shade val="85000"/>
              </a:schemeClr>
            </a:gs>
          </a:gsLst>
          <a:lin ang="5400000" scaled="0"/>
        </a:gradFill>
        <a:gradFill rotWithShape="1">
          <a:gsLst>
            <a:gs pos="0">
              <a:schemeClr val="phClr">
                <a:tint val="80000"/>
              </a:schemeClr>
            </a:gs>
            <a:gs pos="100000">
              <a:schemeClr val="phClr">
                <a:shade val="80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objectDefaults/>
  <a:extraClrSchemeLst/>
  <a:extLst>
    <a:ext uri="{05A4C25C-085E-4340-85A3-A5531E510DB2}">
      <thm15:themeFamily xmlns:thm15="http://schemas.microsoft.com/office/thememl/2012/main" name="Modele_SCIAM_DESIGN_v2.0" id="{1D7A38D8-AC19-4F45-A6C7-418676066534}" vid="{2DBF16DA-9F93-412D-A3F5-5D7943BEB230}"/>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C71040-C1FF-4136-A7C7-46492B432F12}">
  <we:reference id="WA200010001" version="1.0.0.1" store="Omex" storeType="OMEX"/>
  <we:alternateReferences>
    <we:reference id="WA200010001" version="1.0.0.1" store="WA200010001" storeType="OMEX"/>
  </we:alternateReferences>
  <we:properties>
    <we:property name="claude.fileId" value="&quot;3018b23d-a3de-443a-9a89-3a3f4544974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TotalTime>
  <Words>724</Words>
  <Application>Microsoft Office PowerPoint</Application>
  <PresentationFormat>Grand écran</PresentationFormat>
  <Paragraphs>147</Paragraphs>
  <Slides>12</Slides>
  <Notes>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vt:i4>
      </vt:variant>
    </vt:vector>
  </HeadingPairs>
  <TitlesOfParts>
    <vt:vector size="16" baseType="lpstr">
      <vt:lpstr>Aptos</vt:lpstr>
      <vt:lpstr>Arial</vt:lpstr>
      <vt:lpstr>DM Sans</vt:lpstr>
      <vt:lpstr>SCIAM colors:   # Surface &amp; background</vt:lpstr>
      <vt:lpstr>Charte Graphique 2.0 SCIAM</vt:lpstr>
      <vt:lpstr>Sommaire</vt:lpstr>
      <vt:lpstr>Contexte &amp; enjeux</vt:lpstr>
      <vt:lpstr>Contexte &amp; enjeux</vt:lpstr>
      <vt:lpstr>Nos valeurs</vt:lpstr>
      <vt:lpstr>Notre Proposition</vt:lpstr>
      <vt:lpstr>Notre Proposition</vt:lpstr>
      <vt:lpstr>Nos équipes</vt:lpstr>
      <vt:lpstr>Pourquoi choisir SCIAM ?</vt:lpstr>
      <vt:lpstr>Des experts reconnus à l’échelle mondiale</vt:lpstr>
      <vt:lpstr>Comment nous travaillons</vt:lpstr>
      <vt:lpstr>Conseil, expertise &amp; accompagnement technologique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SCIAM PowerPoint Template</dc:subject>
  <dc:creator>Pierre Lepagnol</dc:creator>
  <cp:lastModifiedBy>Pierre Lepagnol</cp:lastModifiedBy>
  <cp:revision>6</cp:revision>
  <dcterms:created xsi:type="dcterms:W3CDTF">2026-07-06T13:55:42Z</dcterms:created>
  <dcterms:modified xsi:type="dcterms:W3CDTF">2026-07-06T14:00:42Z</dcterms:modified>
</cp:coreProperties>
</file>